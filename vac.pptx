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7" r:id="rId2"/>
    <p:sldId id="256" r:id="rId3"/>
    <p:sldId id="258" r:id="rId4"/>
    <p:sldId id="259" r:id="rId5"/>
    <p:sldId id="260" r:id="rId6"/>
    <p:sldId id="261" r:id="rId7"/>
    <p:sldId id="262" r:id="rId8"/>
    <p:sldId id="263"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9" r:id="rId22"/>
    <p:sldId id="278" r:id="rId23"/>
    <p:sldId id="264" r:id="rId24"/>
    <p:sldId id="265"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033" autoAdjust="0"/>
  </p:normalViewPr>
  <p:slideViewPr>
    <p:cSldViewPr snapToGrid="0">
      <p:cViewPr varScale="1">
        <p:scale>
          <a:sx n="78" d="100"/>
          <a:sy n="78" d="100"/>
        </p:scale>
        <p:origin x="85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F68269-6367-42FB-B0BA-66DEA560E031}" type="datetimeFigureOut">
              <a:rPr lang="en-US" smtClean="0"/>
              <a:t>7/9/2026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55B135-87C1-498A-8E4A-A8D9C43F6C1D}" type="slidenum">
              <a:rPr lang="en-US" smtClean="0"/>
              <a:t>‹#›</a:t>
            </a:fld>
            <a:endParaRPr lang="en-US"/>
          </a:p>
        </p:txBody>
      </p:sp>
    </p:spTree>
    <p:extLst>
      <p:ext uri="{BB962C8B-B14F-4D97-AF65-F5344CB8AC3E}">
        <p14:creationId xmlns:p14="http://schemas.microsoft.com/office/powerpoint/2010/main" val="1079226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t>واکسیناسیون درمانی از این واقعیت بهره می‌برد که آنتی‌ژن‌های خاصی به طور مداوم در بیماری بیان می‌شوند - انکوژن‌های ویروسی مانند </a:t>
            </a:r>
            <a:r>
              <a:rPr lang="en-US" dirty="0"/>
              <a:t>E6/E7 </a:t>
            </a:r>
            <a:r>
              <a:rPr lang="ar-SA" dirty="0"/>
              <a:t>در ضایعات ناشی از </a:t>
            </a:r>
            <a:r>
              <a:rPr lang="en-US" dirty="0"/>
              <a:t>HPV، HBsAg </a:t>
            </a:r>
            <a:r>
              <a:rPr lang="ar-SA" dirty="0"/>
              <a:t>در </a:t>
            </a:r>
            <a:r>
              <a:rPr lang="en-US" dirty="0"/>
              <a:t>HBV </a:t>
            </a:r>
            <a:r>
              <a:rPr lang="ar-SA" dirty="0"/>
              <a:t>مزمن و نئوآنتی‌ژن‌ها در سرطان. اگر بتوانیم این آنتی‌ژن‌ها را با زمینه مناسب ارائه دهیم، می‌توانیم سلول‌های </a:t>
            </a:r>
            <a:r>
              <a:rPr lang="en-US" dirty="0"/>
              <a:t>T </a:t>
            </a:r>
            <a:r>
              <a:rPr lang="ar-SA" dirty="0"/>
              <a:t>اختصاصی اپی‌توپ را که قادر به حرکت به ضایعات و واسطه‌گری پاکسازی هستند، یا پاسخ‌های سلول‌های </a:t>
            </a:r>
            <a:r>
              <a:rPr lang="en-US" dirty="0"/>
              <a:t>B </a:t>
            </a:r>
            <a:r>
              <a:rPr lang="ar-SA" dirty="0"/>
              <a:t>که آنتی‌بادی‌های خنثی‌کننده تولید می‌کنند، القا کنیم. کار اولیه واکسن </a:t>
            </a:r>
            <a:r>
              <a:rPr lang="en-US" dirty="0"/>
              <a:t>E7 </a:t>
            </a:r>
            <a:r>
              <a:rPr lang="ar-SA" dirty="0"/>
              <a:t>اثبات مفهومی قوی از مکانیسم آن ارائه داد.</a:t>
            </a:r>
            <a:endParaRPr lang="en-US" dirty="0"/>
          </a:p>
        </p:txBody>
      </p:sp>
      <p:sp>
        <p:nvSpPr>
          <p:cNvPr id="4" name="Slide Number Placeholder 3"/>
          <p:cNvSpPr>
            <a:spLocks noGrp="1"/>
          </p:cNvSpPr>
          <p:nvPr>
            <p:ph type="sldNum" sz="quarter" idx="5"/>
          </p:nvPr>
        </p:nvSpPr>
        <p:spPr/>
        <p:txBody>
          <a:bodyPr/>
          <a:lstStyle/>
          <a:p>
            <a:fld id="{2955B135-87C1-498A-8E4A-A8D9C43F6C1D}" type="slidenum">
              <a:rPr lang="en-US" smtClean="0"/>
              <a:t>4</a:t>
            </a:fld>
            <a:endParaRPr lang="en-US"/>
          </a:p>
        </p:txBody>
      </p:sp>
    </p:spTree>
    <p:extLst>
      <p:ext uri="{BB962C8B-B14F-4D97-AF65-F5344CB8AC3E}">
        <p14:creationId xmlns:p14="http://schemas.microsoft.com/office/powerpoint/2010/main" val="24264899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platforms are attractive because they combine antigen delivery with strong innate activation. Bacterial vectors such as Listeria can promote intracellular processing and antigen presentation, whereas viral vectors such as MVA or adenovirus are potent drivers of T-cell immunity. Clinically, these platforms have generated measurable HPV-specific T-cell responses and early efficacy signals in cervical and other HPV-associated lesions.</a:t>
            </a:r>
          </a:p>
        </p:txBody>
      </p:sp>
      <p:sp>
        <p:nvSpPr>
          <p:cNvPr id="4" name="Slide Number Placeholder 3"/>
          <p:cNvSpPr>
            <a:spLocks noGrp="1"/>
          </p:cNvSpPr>
          <p:nvPr>
            <p:ph type="sldNum" sz="quarter" idx="5"/>
          </p:nvPr>
        </p:nvSpPr>
        <p:spPr/>
        <p:txBody>
          <a:bodyPr/>
          <a:lstStyle/>
          <a:p>
            <a:fld id="{2955B135-87C1-498A-8E4A-A8D9C43F6C1D}" type="slidenum">
              <a:rPr lang="en-US" smtClean="0"/>
              <a:t>8</a:t>
            </a:fld>
            <a:endParaRPr lang="en-US"/>
          </a:p>
        </p:txBody>
      </p:sp>
    </p:spTree>
    <p:extLst>
      <p:ext uri="{BB962C8B-B14F-4D97-AF65-F5344CB8AC3E}">
        <p14:creationId xmlns:p14="http://schemas.microsoft.com/office/powerpoint/2010/main" val="1009148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Peptide vaccines offer precision and manufacturing simplicity, but often need strong adjuvant systems to overcome weak immunogenicity. ISA101 is one of the best examples of clinically meaningful activity, especially when combined with checkpoint blockade. Protein vaccines broaden epitope content and can be engineered for improved APC targeting, but they often need careful formulation to bias the response toward potent cellular immunity.</a:t>
            </a:r>
          </a:p>
        </p:txBody>
      </p:sp>
      <p:sp>
        <p:nvSpPr>
          <p:cNvPr id="4" name="Slide Number Placeholder 3"/>
          <p:cNvSpPr>
            <a:spLocks noGrp="1"/>
          </p:cNvSpPr>
          <p:nvPr>
            <p:ph type="sldNum" sz="quarter" idx="5"/>
          </p:nvPr>
        </p:nvSpPr>
        <p:spPr/>
        <p:txBody>
          <a:bodyPr/>
          <a:lstStyle/>
          <a:p>
            <a:fld id="{2955B135-87C1-498A-8E4A-A8D9C43F6C1D}" type="slidenum">
              <a:rPr lang="en-US" smtClean="0"/>
              <a:t>9</a:t>
            </a:fld>
            <a:endParaRPr lang="en-US"/>
          </a:p>
        </p:txBody>
      </p:sp>
    </p:spTree>
    <p:extLst>
      <p:ext uri="{BB962C8B-B14F-4D97-AF65-F5344CB8AC3E}">
        <p14:creationId xmlns:p14="http://schemas.microsoft.com/office/powerpoint/2010/main" val="6506036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DNA vaccines are especially appealing in HPV because they support repeated administration and can be rationally engineered to improve antigen presentation. Among these, VGX-3100 and GX-188E are leading examples with meaningful regression and viral clearance signals. Overall, the field suggests that effective HPV therapy depends on durable E6/E7-specific cellular immunity, and combination strategies may be essential for maximal benefit.</a:t>
            </a:r>
          </a:p>
        </p:txBody>
      </p:sp>
      <p:sp>
        <p:nvSpPr>
          <p:cNvPr id="4" name="Slide Number Placeholder 3"/>
          <p:cNvSpPr>
            <a:spLocks noGrp="1"/>
          </p:cNvSpPr>
          <p:nvPr>
            <p:ph type="sldNum" sz="quarter" idx="5"/>
          </p:nvPr>
        </p:nvSpPr>
        <p:spPr/>
        <p:txBody>
          <a:bodyPr/>
          <a:lstStyle/>
          <a:p>
            <a:fld id="{2955B135-87C1-498A-8E4A-A8D9C43F6C1D}" type="slidenum">
              <a:rPr lang="en-US" smtClean="0"/>
              <a:t>10</a:t>
            </a:fld>
            <a:endParaRPr lang="en-US"/>
          </a:p>
        </p:txBody>
      </p:sp>
    </p:spTree>
    <p:extLst>
      <p:ext uri="{BB962C8B-B14F-4D97-AF65-F5344CB8AC3E}">
        <p14:creationId xmlns:p14="http://schemas.microsoft.com/office/powerpoint/2010/main" val="37932189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Protein and peptide vaccines have yielded some of the most advanced clinical candidates. While the yeast-based GS-4774 succeeded in boosting CD8 T cells but fell short of reducing HBsAg significantly as a monotherapy, </a:t>
            </a:r>
            <a:r>
              <a:rPr lang="en-US" dirty="0" err="1"/>
              <a:t>HeberNasvac</a:t>
            </a:r>
            <a:r>
              <a:rPr lang="en-US" dirty="0"/>
              <a:t>—a formulation containing both surface and core antigens—demonstrated superior viral control compared to pegylated interferon, leading to its regulatory approval in Cuba in 2015.</a:t>
            </a:r>
          </a:p>
        </p:txBody>
      </p:sp>
      <p:sp>
        <p:nvSpPr>
          <p:cNvPr id="4" name="Slide Number Placeholder 3"/>
          <p:cNvSpPr>
            <a:spLocks noGrp="1"/>
          </p:cNvSpPr>
          <p:nvPr>
            <p:ph type="sldNum" sz="quarter" idx="5"/>
          </p:nvPr>
        </p:nvSpPr>
        <p:spPr/>
        <p:txBody>
          <a:bodyPr/>
          <a:lstStyle/>
          <a:p>
            <a:fld id="{2955B135-87C1-498A-8E4A-A8D9C43F6C1D}" type="slidenum">
              <a:rPr lang="en-US" smtClean="0"/>
              <a:t>12</a:t>
            </a:fld>
            <a:endParaRPr lang="en-US"/>
          </a:p>
        </p:txBody>
      </p:sp>
    </p:spTree>
    <p:extLst>
      <p:ext uri="{BB962C8B-B14F-4D97-AF65-F5344CB8AC3E}">
        <p14:creationId xmlns:p14="http://schemas.microsoft.com/office/powerpoint/2010/main" val="1419961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DNA-based vaccines represent the final major class. They are highly customizable, allowing the co-delivery of genetic adjuvants. For instance, combining the DNA vaccine INO-1800 with an IL-12-encoding plasmid significantly rescues and enhances CTL activation. This strategy of combining conserved antigens with local cytokine signaling is key to overcoming the deep immune tolerance seen in chronic hepatitis B.</a:t>
            </a:r>
          </a:p>
        </p:txBody>
      </p:sp>
      <p:sp>
        <p:nvSpPr>
          <p:cNvPr id="4" name="Slide Number Placeholder 3"/>
          <p:cNvSpPr>
            <a:spLocks noGrp="1"/>
          </p:cNvSpPr>
          <p:nvPr>
            <p:ph type="sldNum" sz="quarter" idx="5"/>
          </p:nvPr>
        </p:nvSpPr>
        <p:spPr/>
        <p:txBody>
          <a:bodyPr/>
          <a:lstStyle/>
          <a:p>
            <a:fld id="{2955B135-87C1-498A-8E4A-A8D9C43F6C1D}" type="slidenum">
              <a:rPr lang="en-US" smtClean="0"/>
              <a:t>13</a:t>
            </a:fld>
            <a:endParaRPr lang="en-US"/>
          </a:p>
        </p:txBody>
      </p:sp>
    </p:spTree>
    <p:extLst>
      <p:ext uri="{BB962C8B-B14F-4D97-AF65-F5344CB8AC3E}">
        <p14:creationId xmlns:p14="http://schemas.microsoft.com/office/powerpoint/2010/main" val="29356690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Peptide and protein vaccines are highly specific but historically limited by poor immunogenicity. For instance, the peptide vaccine IC41 induced T-cell responses, but they were initially too weak to lower viral RNA until dosing was intensified and delivered intradermally. Another interesting platform is GI-5005, a yeast-vector vaccine expressing an NS3-Core fusion protein. GI-5005 successfully generated cellular immunity in preclinical models and progressed through Phase I and Phase II trials to evaluate its efficacy alongside standard-of-care therapy.</a:t>
            </a:r>
          </a:p>
        </p:txBody>
      </p:sp>
      <p:sp>
        <p:nvSpPr>
          <p:cNvPr id="4" name="Slide Number Placeholder 3"/>
          <p:cNvSpPr>
            <a:spLocks noGrp="1"/>
          </p:cNvSpPr>
          <p:nvPr>
            <p:ph type="sldNum" sz="quarter" idx="5"/>
          </p:nvPr>
        </p:nvSpPr>
        <p:spPr/>
        <p:txBody>
          <a:bodyPr/>
          <a:lstStyle/>
          <a:p>
            <a:fld id="{2955B135-87C1-498A-8E4A-A8D9C43F6C1D}" type="slidenum">
              <a:rPr lang="en-US" smtClean="0"/>
              <a:t>15</a:t>
            </a:fld>
            <a:endParaRPr lang="en-US"/>
          </a:p>
        </p:txBody>
      </p:sp>
    </p:spTree>
    <p:extLst>
      <p:ext uri="{BB962C8B-B14F-4D97-AF65-F5344CB8AC3E}">
        <p14:creationId xmlns:p14="http://schemas.microsoft.com/office/powerpoint/2010/main" val="39946691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DNA and viral vector platforms represent highly potent methods to deliver HCV antigens. DNA vaccines like CIGB-230 and </a:t>
            </a:r>
            <a:r>
              <a:rPr lang="en-US" dirty="0" err="1"/>
              <a:t>ChronVac</a:t>
            </a:r>
            <a:r>
              <a:rPr lang="en-US" dirty="0"/>
              <a:t>-C target multiple viral segments, with researchers even mutating active domains of NS3 to ensure the vaccine plasmids don’t disrupt host cellular machinery. On the viral vector front, replication-defective adenoviruses, like Ad6, and Modified Vaccinia Ankara, like TG4040, have demonstrated great potency in driving long-lasting, cross-reactive T-cell responses, and are being combined with traditional antivirals in Phase II trials.</a:t>
            </a:r>
          </a:p>
        </p:txBody>
      </p:sp>
      <p:sp>
        <p:nvSpPr>
          <p:cNvPr id="4" name="Slide Number Placeholder 3"/>
          <p:cNvSpPr>
            <a:spLocks noGrp="1"/>
          </p:cNvSpPr>
          <p:nvPr>
            <p:ph type="sldNum" sz="quarter" idx="5"/>
          </p:nvPr>
        </p:nvSpPr>
        <p:spPr/>
        <p:txBody>
          <a:bodyPr/>
          <a:lstStyle/>
          <a:p>
            <a:fld id="{2955B135-87C1-498A-8E4A-A8D9C43F6C1D}" type="slidenum">
              <a:rPr lang="en-US" smtClean="0"/>
              <a:t>16</a:t>
            </a:fld>
            <a:endParaRPr lang="en-US"/>
          </a:p>
        </p:txBody>
      </p:sp>
    </p:spTree>
    <p:extLst>
      <p:ext uri="{BB962C8B-B14F-4D97-AF65-F5344CB8AC3E}">
        <p14:creationId xmlns:p14="http://schemas.microsoft.com/office/powerpoint/2010/main" val="20268170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955B135-87C1-498A-8E4A-A8D9C43F6C1D}" type="slidenum">
              <a:rPr lang="en-US" smtClean="0"/>
              <a:t>17</a:t>
            </a:fld>
            <a:endParaRPr lang="en-US"/>
          </a:p>
        </p:txBody>
      </p:sp>
    </p:spTree>
    <p:extLst>
      <p:ext uri="{BB962C8B-B14F-4D97-AF65-F5344CB8AC3E}">
        <p14:creationId xmlns:p14="http://schemas.microsoft.com/office/powerpoint/2010/main" val="343267422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99F93A-8075-AAE1-D205-29FDB84B3D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2312BA9-1B81-0C9B-955B-092D4B2A42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DAE537E-7189-E130-E77C-8B8B033D5D6A}"/>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5" name="Footer Placeholder 4">
            <a:extLst>
              <a:ext uri="{FF2B5EF4-FFF2-40B4-BE49-F238E27FC236}">
                <a16:creationId xmlns:a16="http://schemas.microsoft.com/office/drawing/2014/main" id="{E5F9DBF0-D1C5-A2F7-7C6B-BC93C1EB5D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7FCA41-F53E-C171-54E3-EE4F5C545FC9}"/>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1545000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FE62D-1EA6-A271-F7DC-1C43356B256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AEA37-61EB-10F0-AFB4-B01D27C8E6A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116C3-084B-2658-AD03-ADD71E24DC54}"/>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5" name="Footer Placeholder 4">
            <a:extLst>
              <a:ext uri="{FF2B5EF4-FFF2-40B4-BE49-F238E27FC236}">
                <a16:creationId xmlns:a16="http://schemas.microsoft.com/office/drawing/2014/main" id="{7DC5D0FC-37B0-2572-0A8E-706A683FC27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796034E-6EC5-DF49-0BE2-77922F86F6B5}"/>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197659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A7E45C-2962-AFB1-8A6C-08A56D16CBD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0E9A4833-11C7-2A2D-F686-9FF9EF095A3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CD948D1-4320-B95C-B9D6-86E565F933B2}"/>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5" name="Footer Placeholder 4">
            <a:extLst>
              <a:ext uri="{FF2B5EF4-FFF2-40B4-BE49-F238E27FC236}">
                <a16:creationId xmlns:a16="http://schemas.microsoft.com/office/drawing/2014/main" id="{43F3103E-4918-6101-60DF-F12AF16BCF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A2CFEDF-C137-CE50-B0A9-297398E8422B}"/>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36747933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2D569-A5D7-510E-7021-6F7615CB185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648F183-013C-15C4-28AF-58C8614B0DE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160CA0-0571-8849-DAA9-AB0A3F21FC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9B659E5-71CC-265E-81A5-D2F169836842}"/>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6" name="Footer Placeholder 5">
            <a:extLst>
              <a:ext uri="{FF2B5EF4-FFF2-40B4-BE49-F238E27FC236}">
                <a16:creationId xmlns:a16="http://schemas.microsoft.com/office/drawing/2014/main" id="{B1C2C310-567A-8195-0C9E-EAF82430ABE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61AEB30-682B-5730-D7A8-90EF24D40A59}"/>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38998554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A0434-7D13-EB85-B59B-932E8121BE7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BC7456-F71E-64CE-E038-9AB52E76FB9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C2A7A0A-1C90-5E42-0246-E524CD9921A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73F98C8-E588-3140-59B8-D2F99893C81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7F447C8-0B37-54AF-EAE7-3EA554A7F5F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1C8521E-F9BD-CE86-0F7A-E5B4433E4CDD}"/>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8" name="Footer Placeholder 7">
            <a:extLst>
              <a:ext uri="{FF2B5EF4-FFF2-40B4-BE49-F238E27FC236}">
                <a16:creationId xmlns:a16="http://schemas.microsoft.com/office/drawing/2014/main" id="{BF2FC2D2-94EB-F2BA-C55C-CBBA83DEA37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823B38B-4622-11E4-ADCC-5C449E3EE5C3}"/>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898646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19D3A3-1FB0-6DE1-67EE-B5A1B4303CF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3F8925F-0259-2E32-E0D7-1C503EAAA02E}"/>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4" name="Footer Placeholder 3">
            <a:extLst>
              <a:ext uri="{FF2B5EF4-FFF2-40B4-BE49-F238E27FC236}">
                <a16:creationId xmlns:a16="http://schemas.microsoft.com/office/drawing/2014/main" id="{B0A911F5-D00F-01E3-09A4-96AC65421F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FBA14AD-EFED-40A0-F7E9-DF040A0651F8}"/>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2550627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FA4718-D7AA-D3EA-D50A-204D36DC16A3}"/>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3" name="Footer Placeholder 2">
            <a:extLst>
              <a:ext uri="{FF2B5EF4-FFF2-40B4-BE49-F238E27FC236}">
                <a16:creationId xmlns:a16="http://schemas.microsoft.com/office/drawing/2014/main" id="{B89816CB-2159-2B80-EE45-90F7C185B5C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07AED91-64EF-46D8-2E47-1AD4B6A5AAD5}"/>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29148544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1F895-0072-82BC-146F-60A0D197CCF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6ADC815-80B6-0E81-DC27-8F3EA525258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D7C0134-6252-57D2-7E3C-4203C93617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BB7007-5372-07DD-0561-A824C1477031}"/>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6" name="Footer Placeholder 5">
            <a:extLst>
              <a:ext uri="{FF2B5EF4-FFF2-40B4-BE49-F238E27FC236}">
                <a16:creationId xmlns:a16="http://schemas.microsoft.com/office/drawing/2014/main" id="{168633F9-4D76-B399-5A51-3858EAFD7A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7DC5F0-DB53-EEF5-30F9-76AD4001CCBF}"/>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6669664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866D-6F90-4E7A-FB2D-1E237955FE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8E629FC-8846-5AF5-B266-7F06D38E484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6354E91-A194-04A2-D773-7759D4EA4C3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8F76F2C-BACF-612D-5A53-61E36CC86127}"/>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6" name="Footer Placeholder 5">
            <a:extLst>
              <a:ext uri="{FF2B5EF4-FFF2-40B4-BE49-F238E27FC236}">
                <a16:creationId xmlns:a16="http://schemas.microsoft.com/office/drawing/2014/main" id="{4EC75264-B3C0-4013-A395-CB8C0F22E22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EA9D41-9DF4-F313-D4FF-E50B6084C82A}"/>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33160735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96AE8-6398-2A4D-68DB-48B70335EB3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7B49DFD-B7C3-918D-04D2-ABE498C4DA8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C4B552-FE82-DAEC-C6D7-63088A750604}"/>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5" name="Footer Placeholder 4">
            <a:extLst>
              <a:ext uri="{FF2B5EF4-FFF2-40B4-BE49-F238E27FC236}">
                <a16:creationId xmlns:a16="http://schemas.microsoft.com/office/drawing/2014/main" id="{53E4BB88-BF96-0A64-69A8-17C58D35B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70015E9-AF84-3559-CB68-8324D7D3FB8F}"/>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41432423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03BAACF-ACAC-B54E-ADFB-4AE54D3E9A5E}"/>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80C483B-7086-DF8B-42DA-3E34A9FC338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0923ECB-73D0-7469-4C69-0F86DADB75D4}"/>
              </a:ext>
            </a:extLst>
          </p:cNvPr>
          <p:cNvSpPr>
            <a:spLocks noGrp="1"/>
          </p:cNvSpPr>
          <p:nvPr>
            <p:ph type="dt" sz="half" idx="10"/>
          </p:nvPr>
        </p:nvSpPr>
        <p:spPr/>
        <p:txBody>
          <a:bodyPr/>
          <a:lstStyle/>
          <a:p>
            <a:fld id="{0A5562AF-4CB5-4FA6-8C0B-ACE0C697340A}" type="datetimeFigureOut">
              <a:rPr lang="en-US" smtClean="0"/>
              <a:t>7/9/2026</a:t>
            </a:fld>
            <a:endParaRPr lang="en-US"/>
          </a:p>
        </p:txBody>
      </p:sp>
      <p:sp>
        <p:nvSpPr>
          <p:cNvPr id="5" name="Footer Placeholder 4">
            <a:extLst>
              <a:ext uri="{FF2B5EF4-FFF2-40B4-BE49-F238E27FC236}">
                <a16:creationId xmlns:a16="http://schemas.microsoft.com/office/drawing/2014/main" id="{E0AD2AE2-F294-D8CB-6EE8-9B9AAE332AF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7937FC3-0F43-1B0E-0CC3-2EF372B07375}"/>
              </a:ext>
            </a:extLst>
          </p:cNvPr>
          <p:cNvSpPr>
            <a:spLocks noGrp="1"/>
          </p:cNvSpPr>
          <p:nvPr>
            <p:ph type="sldNum" sz="quarter" idx="12"/>
          </p:nvPr>
        </p:nvSpPr>
        <p:spPr/>
        <p:txBody>
          <a:bodyPr/>
          <a:lstStyle/>
          <a:p>
            <a:fld id="{35448D40-D522-40CE-B9CB-3688FFD722CE}" type="slidenum">
              <a:rPr lang="en-US" smtClean="0"/>
              <a:t>‹#›</a:t>
            </a:fld>
            <a:endParaRPr lang="en-US"/>
          </a:p>
        </p:txBody>
      </p:sp>
    </p:spTree>
    <p:extLst>
      <p:ext uri="{BB962C8B-B14F-4D97-AF65-F5344CB8AC3E}">
        <p14:creationId xmlns:p14="http://schemas.microsoft.com/office/powerpoint/2010/main" val="8678447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810146-AD7B-C0F0-82B9-C6E5531B09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0E285A4-3CE3-C105-867C-AB52D94B7D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23256E-A4A5-DFDD-A3B3-6A976032B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A5562AF-4CB5-4FA6-8C0B-ACE0C697340A}" type="datetimeFigureOut">
              <a:rPr lang="en-US" smtClean="0"/>
              <a:t>7/9/2026</a:t>
            </a:fld>
            <a:endParaRPr lang="en-US"/>
          </a:p>
        </p:txBody>
      </p:sp>
      <p:sp>
        <p:nvSpPr>
          <p:cNvPr id="5" name="Footer Placeholder 4">
            <a:extLst>
              <a:ext uri="{FF2B5EF4-FFF2-40B4-BE49-F238E27FC236}">
                <a16:creationId xmlns:a16="http://schemas.microsoft.com/office/drawing/2014/main" id="{BC92466A-861B-42F0-72F7-31734384D9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97247B1-0843-3B0D-6ED1-085DE370E4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5448D40-D522-40CE-B9CB-3688FFD722CE}" type="slidenum">
              <a:rPr lang="en-US" smtClean="0"/>
              <a:t>‹#›</a:t>
            </a:fld>
            <a:endParaRPr lang="en-US"/>
          </a:p>
        </p:txBody>
      </p:sp>
    </p:spTree>
    <p:extLst>
      <p:ext uri="{BB962C8B-B14F-4D97-AF65-F5344CB8AC3E}">
        <p14:creationId xmlns:p14="http://schemas.microsoft.com/office/powerpoint/2010/main" val="358971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09AEBD2-E743-6051-B727-87B35D9CED70}"/>
              </a:ext>
            </a:extLst>
          </p:cNvPr>
          <p:cNvSpPr txBox="1"/>
          <p:nvPr/>
        </p:nvSpPr>
        <p:spPr>
          <a:xfrm>
            <a:off x="3146323" y="2598003"/>
            <a:ext cx="6961239" cy="830997"/>
          </a:xfrm>
          <a:prstGeom prst="rect">
            <a:avLst/>
          </a:prstGeom>
          <a:noFill/>
        </p:spPr>
        <p:txBody>
          <a:bodyPr wrap="square" rtlCol="0">
            <a:spAutoFit/>
          </a:bodyPr>
          <a:lstStyle/>
          <a:p>
            <a:r>
              <a:rPr lang="en-US" sz="4800" dirty="0"/>
              <a:t>Therapeutic Vaccines</a:t>
            </a:r>
          </a:p>
        </p:txBody>
      </p:sp>
      <p:sp>
        <p:nvSpPr>
          <p:cNvPr id="3" name="TextBox 2">
            <a:extLst>
              <a:ext uri="{FF2B5EF4-FFF2-40B4-BE49-F238E27FC236}">
                <a16:creationId xmlns:a16="http://schemas.microsoft.com/office/drawing/2014/main" id="{FD843D9D-11F8-A9D2-2B9E-46DA3F906172}"/>
              </a:ext>
            </a:extLst>
          </p:cNvPr>
          <p:cNvSpPr txBox="1"/>
          <p:nvPr/>
        </p:nvSpPr>
        <p:spPr>
          <a:xfrm>
            <a:off x="378542" y="5062198"/>
            <a:ext cx="5535561" cy="1384995"/>
          </a:xfrm>
          <a:prstGeom prst="rect">
            <a:avLst/>
          </a:prstGeom>
          <a:noFill/>
        </p:spPr>
        <p:txBody>
          <a:bodyPr wrap="square" rtlCol="0">
            <a:spAutoFit/>
          </a:bodyPr>
          <a:lstStyle/>
          <a:p>
            <a:r>
              <a:rPr lang="en-US" sz="2800" dirty="0"/>
              <a:t>Advisor: Dr. Abedian</a:t>
            </a:r>
          </a:p>
          <a:p>
            <a:br>
              <a:rPr lang="en-US" sz="2800" dirty="0"/>
            </a:br>
            <a:r>
              <a:rPr lang="en-US" sz="2800" dirty="0"/>
              <a:t>Presenter: Ali Rahmati </a:t>
            </a:r>
          </a:p>
        </p:txBody>
      </p:sp>
    </p:spTree>
    <p:extLst>
      <p:ext uri="{BB962C8B-B14F-4D97-AF65-F5344CB8AC3E}">
        <p14:creationId xmlns:p14="http://schemas.microsoft.com/office/powerpoint/2010/main" val="23415094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9485C4B-C3D9-0499-0911-0FD95725432F}"/>
              </a:ext>
            </a:extLst>
          </p:cNvPr>
          <p:cNvSpPr txBox="1"/>
          <p:nvPr/>
        </p:nvSpPr>
        <p:spPr>
          <a:xfrm>
            <a:off x="334295" y="334405"/>
            <a:ext cx="10628671" cy="5539978"/>
          </a:xfrm>
          <a:prstGeom prst="rect">
            <a:avLst/>
          </a:prstGeom>
          <a:noFill/>
        </p:spPr>
        <p:txBody>
          <a:bodyPr wrap="square">
            <a:spAutoFit/>
          </a:bodyPr>
          <a:lstStyle/>
          <a:p>
            <a:pPr>
              <a:buNone/>
            </a:pPr>
            <a:r>
              <a:rPr lang="en-US" sz="2400" b="1" dirty="0"/>
              <a:t>Vaccines and Unmet Medical Needs</a:t>
            </a:r>
            <a:endParaRPr lang="en-US" sz="2400" dirty="0"/>
          </a:p>
          <a:p>
            <a:pPr>
              <a:buFont typeface="Arial" panose="020B0604020202020204" pitchFamily="34" charset="0"/>
              <a:buChar char="•"/>
            </a:pPr>
            <a:endParaRPr lang="en-US" sz="2000" dirty="0"/>
          </a:p>
          <a:p>
            <a:pPr>
              <a:buFont typeface="Arial" panose="020B0604020202020204" pitchFamily="34" charset="0"/>
              <a:buChar char="•"/>
            </a:pPr>
            <a:r>
              <a:rPr lang="en-US" sz="2000" dirty="0"/>
              <a:t>Infectious diseases were historically a major cause of death.</a:t>
            </a:r>
          </a:p>
          <a:p>
            <a:pPr>
              <a:buFont typeface="Arial" panose="020B0604020202020204" pitchFamily="34" charset="0"/>
              <a:buChar char="•"/>
            </a:pPr>
            <a:endParaRPr lang="en-US" sz="2000" dirty="0"/>
          </a:p>
          <a:p>
            <a:pPr>
              <a:buFont typeface="Arial" panose="020B0604020202020204" pitchFamily="34" charset="0"/>
              <a:buChar char="•"/>
            </a:pPr>
            <a:r>
              <a:rPr lang="en-US" sz="2000" dirty="0"/>
              <a:t>Vaccination has greatly reduced morbidity and mortality from diseases such as:</a:t>
            </a:r>
          </a:p>
          <a:p>
            <a:r>
              <a:rPr lang="en-US" sz="2000" dirty="0"/>
              <a:t> </a:t>
            </a:r>
          </a:p>
          <a:p>
            <a:pPr marL="742950" lvl="1" indent="-285750">
              <a:lnSpc>
                <a:spcPct val="150000"/>
              </a:lnSpc>
              <a:buFont typeface="Arial" panose="020B0604020202020204" pitchFamily="34" charset="0"/>
              <a:buChar char="•"/>
            </a:pPr>
            <a:r>
              <a:rPr lang="en-US" sz="2000" dirty="0"/>
              <a:t>smallpox</a:t>
            </a:r>
          </a:p>
          <a:p>
            <a:pPr marL="742950" lvl="1" indent="-285750">
              <a:lnSpc>
                <a:spcPct val="150000"/>
              </a:lnSpc>
              <a:buFont typeface="Arial" panose="020B0604020202020204" pitchFamily="34" charset="0"/>
              <a:buChar char="•"/>
            </a:pPr>
            <a:r>
              <a:rPr lang="en-US" sz="2000" dirty="0"/>
              <a:t>poliomyelitis</a:t>
            </a:r>
          </a:p>
          <a:p>
            <a:pPr marL="742950" lvl="1" indent="-285750">
              <a:lnSpc>
                <a:spcPct val="150000"/>
              </a:lnSpc>
              <a:buFont typeface="Arial" panose="020B0604020202020204" pitchFamily="34" charset="0"/>
              <a:buChar char="•"/>
            </a:pPr>
            <a:r>
              <a:rPr lang="en-US" sz="2000" dirty="0"/>
              <a:t>diphtheria</a:t>
            </a:r>
          </a:p>
          <a:p>
            <a:pPr marL="742950" lvl="1" indent="-285750">
              <a:lnSpc>
                <a:spcPct val="150000"/>
              </a:lnSpc>
              <a:buFont typeface="Arial" panose="020B0604020202020204" pitchFamily="34" charset="0"/>
              <a:buChar char="•"/>
            </a:pPr>
            <a:r>
              <a:rPr lang="en-US" sz="2000" dirty="0"/>
              <a:t>tetanus</a:t>
            </a:r>
          </a:p>
          <a:p>
            <a:pPr marL="742950" lvl="1" indent="-285750">
              <a:lnSpc>
                <a:spcPct val="150000"/>
              </a:lnSpc>
              <a:buFont typeface="Arial" panose="020B0604020202020204" pitchFamily="34" charset="0"/>
              <a:buChar char="•"/>
            </a:pPr>
            <a:r>
              <a:rPr lang="en-US" sz="2000" dirty="0"/>
              <a:t>Measles</a:t>
            </a:r>
          </a:p>
          <a:p>
            <a:pPr lvl="1"/>
            <a:endParaRPr lang="en-US" sz="2000" dirty="0"/>
          </a:p>
          <a:p>
            <a:pPr>
              <a:buFont typeface="Arial" panose="020B0604020202020204" pitchFamily="34" charset="0"/>
              <a:buChar char="•"/>
            </a:pPr>
            <a:r>
              <a:rPr lang="en-US" sz="2000" dirty="0"/>
              <a:t>COVID-19 vaccines showed high efficacy in preventing severe disease</a:t>
            </a:r>
          </a:p>
          <a:p>
            <a:endParaRPr lang="en-US" sz="2000" dirty="0"/>
          </a:p>
          <a:p>
            <a:pPr>
              <a:buFont typeface="Arial" panose="020B0604020202020204" pitchFamily="34" charset="0"/>
              <a:buChar char="•"/>
            </a:pPr>
            <a:r>
              <a:rPr lang="en-US" sz="2000" dirty="0"/>
              <a:t>However, infectious diseases still remain a major global health burden.</a:t>
            </a:r>
          </a:p>
        </p:txBody>
      </p:sp>
    </p:spTree>
    <p:extLst>
      <p:ext uri="{BB962C8B-B14F-4D97-AF65-F5344CB8AC3E}">
        <p14:creationId xmlns:p14="http://schemas.microsoft.com/office/powerpoint/2010/main" val="717867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7132D569-6F65-E6C9-C204-0064AD5D6424}"/>
              </a:ext>
            </a:extLst>
          </p:cNvPr>
          <p:cNvSpPr txBox="1"/>
          <p:nvPr/>
        </p:nvSpPr>
        <p:spPr>
          <a:xfrm>
            <a:off x="393290" y="237779"/>
            <a:ext cx="11110452" cy="5557740"/>
          </a:xfrm>
          <a:prstGeom prst="rect">
            <a:avLst/>
          </a:prstGeom>
          <a:noFill/>
        </p:spPr>
        <p:txBody>
          <a:bodyPr wrap="square">
            <a:spAutoFit/>
          </a:bodyPr>
          <a:lstStyle/>
          <a:p>
            <a:pPr>
              <a:lnSpc>
                <a:spcPct val="200000"/>
              </a:lnSpc>
              <a:buNone/>
            </a:pPr>
            <a:r>
              <a:rPr lang="en-US" b="1" dirty="0"/>
              <a:t>Why Preventive Vaccines Are Not Enough</a:t>
            </a:r>
            <a:endParaRPr lang="en-US" dirty="0"/>
          </a:p>
          <a:p>
            <a:pPr>
              <a:lnSpc>
                <a:spcPct val="200000"/>
              </a:lnSpc>
              <a:buFont typeface="Arial" panose="020B0604020202020204" pitchFamily="34" charset="0"/>
              <a:buChar char="•"/>
            </a:pPr>
            <a:r>
              <a:rPr lang="en-US" dirty="0"/>
              <a:t>Despite highly effective COVID-19 vaccines, many individuals still developed SARS-CoV-2 infection.</a:t>
            </a:r>
          </a:p>
          <a:p>
            <a:pPr>
              <a:lnSpc>
                <a:spcPct val="200000"/>
              </a:lnSpc>
              <a:buFont typeface="Arial" panose="020B0604020202020204" pitchFamily="34" charset="0"/>
              <a:buChar char="•"/>
            </a:pPr>
            <a:r>
              <a:rPr lang="en-US" dirty="0"/>
              <a:t>Key limitations include: </a:t>
            </a:r>
          </a:p>
          <a:p>
            <a:pPr marL="742950" lvl="1" indent="-285750">
              <a:lnSpc>
                <a:spcPct val="200000"/>
              </a:lnSpc>
              <a:buFont typeface="Arial" panose="020B0604020202020204" pitchFamily="34" charset="0"/>
              <a:buChar char="•"/>
            </a:pPr>
            <a:r>
              <a:rPr lang="en-US" dirty="0"/>
              <a:t>limited vaccine acceptance</a:t>
            </a:r>
          </a:p>
          <a:p>
            <a:pPr marL="742950" lvl="1" indent="-285750">
              <a:lnSpc>
                <a:spcPct val="200000"/>
              </a:lnSpc>
              <a:buFont typeface="Arial" panose="020B0604020202020204" pitchFamily="34" charset="0"/>
              <a:buChar char="•"/>
            </a:pPr>
            <a:r>
              <a:rPr lang="en-US" dirty="0"/>
              <a:t>inequitable global distribution</a:t>
            </a:r>
          </a:p>
          <a:p>
            <a:pPr marL="742950" lvl="1" indent="-285750">
              <a:lnSpc>
                <a:spcPct val="200000"/>
              </a:lnSpc>
              <a:buFont typeface="Arial" panose="020B0604020202020204" pitchFamily="34" charset="0"/>
              <a:buChar char="•"/>
            </a:pPr>
            <a:r>
              <a:rPr lang="en-US" dirty="0"/>
              <a:t>short duration of protection</a:t>
            </a:r>
          </a:p>
          <a:p>
            <a:pPr marL="742950" lvl="1" indent="-285750">
              <a:lnSpc>
                <a:spcPct val="200000"/>
              </a:lnSpc>
              <a:buFont typeface="Arial" panose="020B0604020202020204" pitchFamily="34" charset="0"/>
              <a:buChar char="•"/>
            </a:pPr>
            <a:r>
              <a:rPr lang="en-US" dirty="0"/>
              <a:t>limited cross-protection</a:t>
            </a:r>
          </a:p>
          <a:p>
            <a:pPr marL="742950" lvl="1" indent="-285750">
              <a:lnSpc>
                <a:spcPct val="200000"/>
              </a:lnSpc>
              <a:buFont typeface="Arial" panose="020B0604020202020204" pitchFamily="34" charset="0"/>
              <a:buChar char="•"/>
            </a:pPr>
            <a:r>
              <a:rPr lang="en-US" dirty="0"/>
              <a:t>viral variants</a:t>
            </a:r>
          </a:p>
          <a:p>
            <a:pPr marL="742950" lvl="1" indent="-285750">
              <a:lnSpc>
                <a:spcPct val="200000"/>
              </a:lnSpc>
              <a:buFont typeface="Arial" panose="020B0604020202020204" pitchFamily="34" charset="0"/>
              <a:buChar char="•"/>
            </a:pPr>
            <a:r>
              <a:rPr lang="en-US" dirty="0"/>
              <a:t>immunosuppression in some individuals</a:t>
            </a:r>
          </a:p>
          <a:p>
            <a:pPr>
              <a:lnSpc>
                <a:spcPct val="200000"/>
              </a:lnSpc>
              <a:buFont typeface="Arial" panose="020B0604020202020204" pitchFamily="34" charset="0"/>
              <a:buChar char="•"/>
            </a:pPr>
            <a:r>
              <a:rPr lang="en-US" dirty="0"/>
              <a:t>Other infectious diseases such as HPV, HBV, HIV, HCV, and influenza continue to cause mortality.</a:t>
            </a:r>
          </a:p>
        </p:txBody>
      </p:sp>
    </p:spTree>
    <p:extLst>
      <p:ext uri="{BB962C8B-B14F-4D97-AF65-F5344CB8AC3E}">
        <p14:creationId xmlns:p14="http://schemas.microsoft.com/office/powerpoint/2010/main" val="15210802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2C4E1E-C42D-417A-906D-DD194EEB383F}"/>
              </a:ext>
            </a:extLst>
          </p:cNvPr>
          <p:cNvSpPr txBox="1"/>
          <p:nvPr/>
        </p:nvSpPr>
        <p:spPr>
          <a:xfrm>
            <a:off x="167149" y="158274"/>
            <a:ext cx="12162503" cy="5557740"/>
          </a:xfrm>
          <a:prstGeom prst="rect">
            <a:avLst/>
          </a:prstGeom>
          <a:noFill/>
        </p:spPr>
        <p:txBody>
          <a:bodyPr wrap="square">
            <a:spAutoFit/>
          </a:bodyPr>
          <a:lstStyle/>
          <a:p>
            <a:pPr>
              <a:lnSpc>
                <a:spcPct val="200000"/>
              </a:lnSpc>
              <a:buNone/>
            </a:pPr>
            <a:r>
              <a:rPr lang="en-US" b="1" dirty="0"/>
              <a:t>Therapeutic Vaccine Concept: Targeting Persistent/Unique Antigens</a:t>
            </a:r>
          </a:p>
          <a:p>
            <a:pPr>
              <a:lnSpc>
                <a:spcPct val="200000"/>
              </a:lnSpc>
              <a:buNone/>
            </a:pPr>
            <a:endParaRPr lang="en-US" dirty="0"/>
          </a:p>
          <a:p>
            <a:pPr>
              <a:lnSpc>
                <a:spcPct val="200000"/>
              </a:lnSpc>
              <a:buFont typeface="Arial" panose="020B0604020202020204" pitchFamily="34" charset="0"/>
              <a:buChar char="•"/>
            </a:pPr>
            <a:r>
              <a:rPr lang="en-US" dirty="0"/>
              <a:t>Established diseases often show </a:t>
            </a:r>
            <a:r>
              <a:rPr lang="en-US" b="1" dirty="0"/>
              <a:t>constant or unique antigen expression</a:t>
            </a:r>
            <a:r>
              <a:rPr lang="en-US" dirty="0"/>
              <a:t>.</a:t>
            </a:r>
          </a:p>
          <a:p>
            <a:pPr>
              <a:lnSpc>
                <a:spcPct val="200000"/>
              </a:lnSpc>
              <a:buFont typeface="Arial" panose="020B0604020202020204" pitchFamily="34" charset="0"/>
              <a:buChar char="•"/>
            </a:pPr>
            <a:r>
              <a:rPr lang="en-US" dirty="0"/>
              <a:t>Example targets: </a:t>
            </a:r>
          </a:p>
          <a:p>
            <a:pPr marL="742950" lvl="1" indent="-285750">
              <a:lnSpc>
                <a:spcPct val="200000"/>
              </a:lnSpc>
              <a:buFont typeface="Arial" panose="020B0604020202020204" pitchFamily="34" charset="0"/>
              <a:buChar char="•"/>
            </a:pPr>
            <a:r>
              <a:rPr lang="en-US" b="1" dirty="0"/>
              <a:t>HPV E6/E7</a:t>
            </a:r>
            <a:endParaRPr lang="en-US" dirty="0"/>
          </a:p>
          <a:p>
            <a:pPr marL="742950" lvl="1" indent="-285750">
              <a:lnSpc>
                <a:spcPct val="200000"/>
              </a:lnSpc>
              <a:buFont typeface="Arial" panose="020B0604020202020204" pitchFamily="34" charset="0"/>
              <a:buChar char="•"/>
            </a:pPr>
            <a:r>
              <a:rPr lang="en-US" b="1" dirty="0"/>
              <a:t>tumor neoantigens</a:t>
            </a:r>
            <a:endParaRPr lang="en-US" dirty="0"/>
          </a:p>
          <a:p>
            <a:pPr marL="742950" lvl="1" indent="-285750">
              <a:lnSpc>
                <a:spcPct val="200000"/>
              </a:lnSpc>
              <a:buFont typeface="Arial" panose="020B0604020202020204" pitchFamily="34" charset="0"/>
              <a:buChar char="•"/>
            </a:pPr>
            <a:r>
              <a:rPr lang="en-US" b="1" dirty="0"/>
              <a:t>HBsAg</a:t>
            </a:r>
            <a:r>
              <a:rPr lang="en-US" dirty="0"/>
              <a:t> (HBV)</a:t>
            </a:r>
          </a:p>
          <a:p>
            <a:pPr>
              <a:lnSpc>
                <a:spcPct val="200000"/>
              </a:lnSpc>
              <a:buFont typeface="Arial" panose="020B0604020202020204" pitchFamily="34" charset="0"/>
              <a:buChar char="•"/>
            </a:pPr>
            <a:r>
              <a:rPr lang="en-US" dirty="0"/>
              <a:t>Goal: induce </a:t>
            </a:r>
            <a:r>
              <a:rPr lang="en-US" b="1" dirty="0"/>
              <a:t>epitope‑specific effector T cells</a:t>
            </a:r>
            <a:r>
              <a:rPr lang="en-US" dirty="0"/>
              <a:t> and/or </a:t>
            </a:r>
            <a:r>
              <a:rPr lang="en-US" b="1" dirty="0"/>
              <a:t>neutralizing antibodies</a:t>
            </a:r>
            <a:r>
              <a:rPr lang="en-US" dirty="0"/>
              <a:t>.</a:t>
            </a:r>
          </a:p>
          <a:p>
            <a:pPr>
              <a:lnSpc>
                <a:spcPct val="200000"/>
              </a:lnSpc>
              <a:buFont typeface="Arial" panose="020B0604020202020204" pitchFamily="34" charset="0"/>
              <a:buChar char="•"/>
            </a:pPr>
            <a:r>
              <a:rPr lang="en-US" dirty="0"/>
              <a:t>Preclinical proof-of-concept: </a:t>
            </a:r>
          </a:p>
          <a:p>
            <a:pPr marL="742950" lvl="1" indent="-285750">
              <a:lnSpc>
                <a:spcPct val="200000"/>
              </a:lnSpc>
              <a:buFont typeface="Arial" panose="020B0604020202020204" pitchFamily="34" charset="0"/>
              <a:buChar char="•"/>
            </a:pPr>
            <a:r>
              <a:rPr lang="en-US" b="1" dirty="0"/>
              <a:t>E7 protein vaccine</a:t>
            </a:r>
            <a:r>
              <a:rPr lang="en-US" dirty="0"/>
              <a:t> induced strong cellular immunity → </a:t>
            </a:r>
            <a:r>
              <a:rPr lang="en-US" b="1" dirty="0"/>
              <a:t>rejection of established tumors</a:t>
            </a:r>
            <a:endParaRPr lang="en-US" dirty="0"/>
          </a:p>
        </p:txBody>
      </p:sp>
    </p:spTree>
    <p:extLst>
      <p:ext uri="{BB962C8B-B14F-4D97-AF65-F5344CB8AC3E}">
        <p14:creationId xmlns:p14="http://schemas.microsoft.com/office/powerpoint/2010/main" val="9815304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58254117-A814-2E0E-21D9-18EABC6569F0}"/>
              </a:ext>
            </a:extLst>
          </p:cNvPr>
          <p:cNvPicPr>
            <a:picLocks noChangeAspect="1"/>
          </p:cNvPicPr>
          <p:nvPr/>
        </p:nvPicPr>
        <p:blipFill>
          <a:blip r:embed="rId2"/>
          <a:stretch>
            <a:fillRect/>
          </a:stretch>
        </p:blipFill>
        <p:spPr>
          <a:xfrm>
            <a:off x="2463902" y="426400"/>
            <a:ext cx="7264195" cy="6162516"/>
          </a:xfrm>
          <a:prstGeom prst="rect">
            <a:avLst/>
          </a:prstGeom>
        </p:spPr>
      </p:pic>
      <p:sp>
        <p:nvSpPr>
          <p:cNvPr id="7" name="TextBox 6">
            <a:extLst>
              <a:ext uri="{FF2B5EF4-FFF2-40B4-BE49-F238E27FC236}">
                <a16:creationId xmlns:a16="http://schemas.microsoft.com/office/drawing/2014/main" id="{B9ED873A-4BEB-1E19-67EE-0D4475CA0B6F}"/>
              </a:ext>
            </a:extLst>
          </p:cNvPr>
          <p:cNvSpPr txBox="1"/>
          <p:nvPr/>
        </p:nvSpPr>
        <p:spPr>
          <a:xfrm>
            <a:off x="2271251" y="-358882"/>
            <a:ext cx="9635613" cy="1754326"/>
          </a:xfrm>
          <a:prstGeom prst="rect">
            <a:avLst/>
          </a:prstGeom>
          <a:noFill/>
        </p:spPr>
        <p:txBody>
          <a:bodyPr wrap="square">
            <a:spAutoFit/>
          </a:bodyPr>
          <a:lstStyle/>
          <a:p>
            <a:r>
              <a:rPr lang="en-US" sz="2000" b="1" i="0" dirty="0">
                <a:solidFill>
                  <a:srgbClr val="000000"/>
                </a:solidFill>
                <a:effectLst/>
                <a:latin typeface="MyriadPro-Light"/>
              </a:rPr>
              <a:t>An overview of therapeutic vaccine types in preclinical and clinical trials.</a:t>
            </a:r>
            <a:r>
              <a:rPr lang="en-US" sz="5400" b="1" dirty="0"/>
              <a:t> </a:t>
            </a:r>
            <a:br>
              <a:rPr lang="en-US" sz="5400" b="1" dirty="0"/>
            </a:br>
            <a:endParaRPr lang="en-US" sz="5400" b="1" dirty="0"/>
          </a:p>
        </p:txBody>
      </p:sp>
    </p:spTree>
    <p:extLst>
      <p:ext uri="{BB962C8B-B14F-4D97-AF65-F5344CB8AC3E}">
        <p14:creationId xmlns:p14="http://schemas.microsoft.com/office/powerpoint/2010/main" val="41423504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21312D5-7C82-32A8-DE38-6BBC51EF9BE1}"/>
              </a:ext>
            </a:extLst>
          </p:cNvPr>
          <p:cNvPicPr>
            <a:picLocks noChangeAspect="1"/>
          </p:cNvPicPr>
          <p:nvPr/>
        </p:nvPicPr>
        <p:blipFill>
          <a:blip r:embed="rId2"/>
          <a:stretch>
            <a:fillRect/>
          </a:stretch>
        </p:blipFill>
        <p:spPr>
          <a:xfrm>
            <a:off x="2271731" y="88491"/>
            <a:ext cx="7648538" cy="6526622"/>
          </a:xfrm>
          <a:prstGeom prst="rect">
            <a:avLst/>
          </a:prstGeom>
        </p:spPr>
      </p:pic>
    </p:spTree>
    <p:extLst>
      <p:ext uri="{BB962C8B-B14F-4D97-AF65-F5344CB8AC3E}">
        <p14:creationId xmlns:p14="http://schemas.microsoft.com/office/powerpoint/2010/main" val="33247005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C71923D-2629-AAB6-BD1B-FCF9EDA2A840}"/>
              </a:ext>
            </a:extLst>
          </p:cNvPr>
          <p:cNvSpPr txBox="1"/>
          <p:nvPr/>
        </p:nvSpPr>
        <p:spPr>
          <a:xfrm>
            <a:off x="383458" y="245916"/>
            <a:ext cx="10176387" cy="5453865"/>
          </a:xfrm>
          <a:prstGeom prst="rect">
            <a:avLst/>
          </a:prstGeom>
          <a:noFill/>
        </p:spPr>
        <p:txBody>
          <a:bodyPr wrap="square">
            <a:spAutoFit/>
          </a:bodyPr>
          <a:lstStyle/>
          <a:p>
            <a:pPr>
              <a:lnSpc>
                <a:spcPct val="150000"/>
              </a:lnSpc>
              <a:buNone/>
            </a:pPr>
            <a:r>
              <a:rPr lang="en-US" b="1" dirty="0"/>
              <a:t>Immunologic Basis of Therapeutic HPV Vaccination</a:t>
            </a:r>
            <a:endParaRPr lang="en-US" dirty="0"/>
          </a:p>
          <a:p>
            <a:pPr>
              <a:lnSpc>
                <a:spcPct val="150000"/>
              </a:lnSpc>
              <a:buNone/>
            </a:pPr>
            <a:endParaRPr lang="en-US" b="1" dirty="0"/>
          </a:p>
          <a:p>
            <a:pPr>
              <a:lnSpc>
                <a:spcPct val="150000"/>
              </a:lnSpc>
              <a:buNone/>
            </a:pPr>
            <a:r>
              <a:rPr lang="en-US" dirty="0"/>
              <a:t>Therapeutic HPV vaccines aim to induce: </a:t>
            </a:r>
          </a:p>
          <a:p>
            <a:pPr marL="742950" lvl="1" indent="-285750">
              <a:lnSpc>
                <a:spcPct val="150000"/>
              </a:lnSpc>
              <a:buFont typeface="Arial" panose="020B0604020202020204" pitchFamily="34" charset="0"/>
              <a:buChar char="•"/>
            </a:pPr>
            <a:r>
              <a:rPr lang="en-US" b="1" dirty="0"/>
              <a:t>strong Th1-type responses</a:t>
            </a:r>
            <a:endParaRPr lang="en-US" dirty="0"/>
          </a:p>
          <a:p>
            <a:pPr marL="742950" lvl="1" indent="-285750">
              <a:lnSpc>
                <a:spcPct val="150000"/>
              </a:lnSpc>
              <a:buFont typeface="Arial" panose="020B0604020202020204" pitchFamily="34" charset="0"/>
              <a:buChar char="•"/>
            </a:pPr>
            <a:r>
              <a:rPr lang="en-US" b="1" dirty="0"/>
              <a:t>cytotoxic CD8+ T-cell responses</a:t>
            </a:r>
            <a:endParaRPr lang="en-US" dirty="0"/>
          </a:p>
          <a:p>
            <a:pPr>
              <a:lnSpc>
                <a:spcPct val="150000"/>
              </a:lnSpc>
              <a:buFont typeface="Arial" panose="020B0604020202020204" pitchFamily="34" charset="0"/>
              <a:buChar char="•"/>
            </a:pPr>
            <a:r>
              <a:rPr lang="en-US" dirty="0"/>
              <a:t>Goal: eliminate </a:t>
            </a:r>
            <a:r>
              <a:rPr lang="en-US" b="1" dirty="0"/>
              <a:t>HPV-infected</a:t>
            </a:r>
            <a:r>
              <a:rPr lang="en-US" dirty="0"/>
              <a:t> and </a:t>
            </a:r>
            <a:r>
              <a:rPr lang="en-US" b="1" dirty="0"/>
              <a:t>transformed cells</a:t>
            </a:r>
            <a:endParaRPr lang="en-US" dirty="0"/>
          </a:p>
          <a:p>
            <a:pPr>
              <a:lnSpc>
                <a:spcPct val="150000"/>
              </a:lnSpc>
              <a:buFont typeface="Arial" panose="020B0604020202020204" pitchFamily="34" charset="0"/>
              <a:buChar char="•"/>
            </a:pPr>
            <a:r>
              <a:rPr lang="en-US" dirty="0"/>
              <a:t>An ideal target antigen should be: </a:t>
            </a:r>
          </a:p>
          <a:p>
            <a:pPr marL="742950" lvl="1" indent="-285750">
              <a:lnSpc>
                <a:spcPct val="150000"/>
              </a:lnSpc>
              <a:buFont typeface="Arial" panose="020B0604020202020204" pitchFamily="34" charset="0"/>
              <a:buChar char="•"/>
            </a:pPr>
            <a:r>
              <a:rPr lang="en-US" dirty="0"/>
              <a:t>essential for malignant transformation and maintenance</a:t>
            </a:r>
          </a:p>
          <a:p>
            <a:pPr marL="742950" lvl="1" indent="-285750">
              <a:lnSpc>
                <a:spcPct val="150000"/>
              </a:lnSpc>
              <a:buFont typeface="Arial" panose="020B0604020202020204" pitchFamily="34" charset="0"/>
              <a:buChar char="•"/>
            </a:pPr>
            <a:r>
              <a:rPr lang="en-US" dirty="0"/>
              <a:t>constitutively expressed</a:t>
            </a:r>
          </a:p>
          <a:p>
            <a:pPr marL="742950" lvl="1" indent="-285750">
              <a:lnSpc>
                <a:spcPct val="150000"/>
              </a:lnSpc>
              <a:buFont typeface="Arial" panose="020B0604020202020204" pitchFamily="34" charset="0"/>
              <a:buChar char="•"/>
            </a:pPr>
            <a:r>
              <a:rPr lang="en-US" dirty="0"/>
              <a:t>highly expressed</a:t>
            </a:r>
          </a:p>
          <a:p>
            <a:pPr marL="742950" lvl="1" indent="-285750">
              <a:lnSpc>
                <a:spcPct val="150000"/>
              </a:lnSpc>
              <a:buFont typeface="Arial" panose="020B0604020202020204" pitchFamily="34" charset="0"/>
              <a:buChar char="•"/>
            </a:pPr>
            <a:r>
              <a:rPr lang="en-US" dirty="0"/>
              <a:t>minimally mutable</a:t>
            </a:r>
          </a:p>
          <a:p>
            <a:pPr>
              <a:lnSpc>
                <a:spcPct val="150000"/>
              </a:lnSpc>
              <a:buFont typeface="Arial" panose="020B0604020202020204" pitchFamily="34" charset="0"/>
              <a:buChar char="•"/>
            </a:pPr>
            <a:r>
              <a:rPr lang="en-US" b="1" dirty="0"/>
              <a:t>HPV E6 and E7 oncoproteins</a:t>
            </a:r>
            <a:r>
              <a:rPr lang="en-US" dirty="0"/>
              <a:t> are near-ideal targets</a:t>
            </a:r>
          </a:p>
          <a:p>
            <a:pPr>
              <a:lnSpc>
                <a:spcPct val="150000"/>
              </a:lnSpc>
              <a:buFont typeface="Arial" panose="020B0604020202020204" pitchFamily="34" charset="0"/>
              <a:buChar char="•"/>
            </a:pPr>
            <a:r>
              <a:rPr lang="en-US" dirty="0"/>
              <a:t>Therefore, most HPV therapeutic vaccines are designed around </a:t>
            </a:r>
            <a:r>
              <a:rPr lang="en-US" b="1" dirty="0"/>
              <a:t>E6/E7</a:t>
            </a:r>
            <a:endParaRPr lang="en-US" dirty="0"/>
          </a:p>
        </p:txBody>
      </p:sp>
    </p:spTree>
    <p:extLst>
      <p:ext uri="{BB962C8B-B14F-4D97-AF65-F5344CB8AC3E}">
        <p14:creationId xmlns:p14="http://schemas.microsoft.com/office/powerpoint/2010/main" val="30806609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2698DC2-5574-78E5-3412-28E65F4D03DA}"/>
              </a:ext>
            </a:extLst>
          </p:cNvPr>
          <p:cNvSpPr txBox="1"/>
          <p:nvPr/>
        </p:nvSpPr>
        <p:spPr>
          <a:xfrm>
            <a:off x="353962" y="197346"/>
            <a:ext cx="11838038" cy="6463308"/>
          </a:xfrm>
          <a:prstGeom prst="rect">
            <a:avLst/>
          </a:prstGeom>
          <a:noFill/>
        </p:spPr>
        <p:txBody>
          <a:bodyPr wrap="square">
            <a:spAutoFit/>
          </a:bodyPr>
          <a:lstStyle/>
          <a:p>
            <a:pPr>
              <a:buNone/>
            </a:pPr>
            <a:r>
              <a:rPr lang="en-US" b="1" dirty="0"/>
              <a:t>Vector-Based HPV Therapeutic Vaccines</a:t>
            </a:r>
            <a:endParaRPr lang="en-US" dirty="0"/>
          </a:p>
          <a:p>
            <a:pPr>
              <a:buNone/>
            </a:pPr>
            <a:endParaRPr lang="en-US" b="1" dirty="0"/>
          </a:p>
          <a:p>
            <a:pPr>
              <a:buNone/>
            </a:pPr>
            <a:r>
              <a:rPr lang="en-US" b="1" dirty="0">
                <a:solidFill>
                  <a:srgbClr val="FF0000"/>
                </a:solidFill>
              </a:rPr>
              <a:t>Bacterial vectors</a:t>
            </a:r>
            <a:endParaRPr lang="en-US" dirty="0">
              <a:solidFill>
                <a:srgbClr val="FF0000"/>
              </a:solidFill>
            </a:endParaRPr>
          </a:p>
          <a:p>
            <a:pPr>
              <a:buFont typeface="Arial" panose="020B0604020202020204" pitchFamily="34" charset="0"/>
              <a:buChar char="•"/>
            </a:pPr>
            <a:r>
              <a:rPr lang="en-US" dirty="0"/>
              <a:t>Examples: </a:t>
            </a:r>
            <a:r>
              <a:rPr lang="en-US" b="1" dirty="0"/>
              <a:t>Listeria monocytogenes, Lactobacillus casei, Lactococcus/Lactobacillus, Salmonella</a:t>
            </a:r>
            <a:endParaRPr lang="en-US" dirty="0"/>
          </a:p>
          <a:p>
            <a:pPr>
              <a:buFont typeface="Arial" panose="020B0604020202020204" pitchFamily="34" charset="0"/>
              <a:buChar char="•"/>
            </a:pPr>
            <a:r>
              <a:rPr lang="en-US" dirty="0"/>
              <a:t>Advantages: </a:t>
            </a:r>
          </a:p>
          <a:p>
            <a:pPr marL="742950" lvl="1" indent="-285750">
              <a:buFont typeface="Arial" panose="020B0604020202020204" pitchFamily="34" charset="0"/>
              <a:buChar char="•"/>
            </a:pPr>
            <a:r>
              <a:rPr lang="en-US" dirty="0"/>
              <a:t>intrinsic adjuvant activity</a:t>
            </a:r>
          </a:p>
          <a:p>
            <a:pPr marL="742950" lvl="1" indent="-285750">
              <a:buFont typeface="Arial" panose="020B0604020202020204" pitchFamily="34" charset="0"/>
              <a:buChar char="•"/>
            </a:pPr>
            <a:r>
              <a:rPr lang="en-US" dirty="0"/>
              <a:t>MHC I / MHC II antigen presentation</a:t>
            </a:r>
          </a:p>
          <a:p>
            <a:pPr marL="742950" lvl="1" indent="-285750">
              <a:buFont typeface="Arial" panose="020B0604020202020204" pitchFamily="34" charset="0"/>
              <a:buChar char="•"/>
            </a:pPr>
            <a:r>
              <a:rPr lang="en-US" dirty="0"/>
              <a:t>activation of </a:t>
            </a:r>
            <a:r>
              <a:rPr lang="en-US" b="1" dirty="0"/>
              <a:t>CD8+</a:t>
            </a:r>
            <a:r>
              <a:rPr lang="en-US" dirty="0"/>
              <a:t> and </a:t>
            </a:r>
            <a:r>
              <a:rPr lang="en-US" b="1" dirty="0"/>
              <a:t>CD4+</a:t>
            </a:r>
            <a:r>
              <a:rPr lang="en-US" dirty="0"/>
              <a:t> T cells</a:t>
            </a:r>
          </a:p>
          <a:p>
            <a:pPr>
              <a:buNone/>
            </a:pPr>
            <a:r>
              <a:rPr lang="en-US" b="1" dirty="0"/>
              <a:t>Key examples</a:t>
            </a:r>
            <a:endParaRPr lang="en-US" dirty="0"/>
          </a:p>
          <a:p>
            <a:pPr>
              <a:buFont typeface="Arial" panose="020B0604020202020204" pitchFamily="34" charset="0"/>
              <a:buChar char="•"/>
            </a:pPr>
            <a:r>
              <a:rPr lang="en-US" b="1" dirty="0"/>
              <a:t>ADXS11-001</a:t>
            </a:r>
            <a:r>
              <a:rPr lang="en-US" dirty="0"/>
              <a:t>: attenuated </a:t>
            </a:r>
            <a:r>
              <a:rPr lang="en-US" i="1" dirty="0"/>
              <a:t>Listeria</a:t>
            </a:r>
            <a:r>
              <a:rPr lang="en-US" dirty="0"/>
              <a:t> expressing </a:t>
            </a:r>
            <a:r>
              <a:rPr lang="en-US" b="1" dirty="0"/>
              <a:t>HPV16 E7-LLO</a:t>
            </a:r>
            <a:r>
              <a:rPr lang="en-US" dirty="0"/>
              <a:t> </a:t>
            </a:r>
          </a:p>
          <a:p>
            <a:pPr marL="742950" lvl="1" indent="-285750">
              <a:buFont typeface="Arial" panose="020B0604020202020204" pitchFamily="34" charset="0"/>
              <a:buChar char="•"/>
            </a:pPr>
            <a:r>
              <a:rPr lang="en-US" dirty="0"/>
              <a:t>acceptable safety in phase I</a:t>
            </a:r>
          </a:p>
          <a:p>
            <a:pPr marL="742950" lvl="1" indent="-285750">
              <a:buFont typeface="Arial" panose="020B0604020202020204" pitchFamily="34" charset="0"/>
              <a:buChar char="•"/>
            </a:pPr>
            <a:r>
              <a:rPr lang="en-US" dirty="0"/>
              <a:t>induced HPV16 E7-specific T-cell responses</a:t>
            </a:r>
          </a:p>
          <a:p>
            <a:pPr marL="742950" lvl="1" indent="-285750">
              <a:buFont typeface="Arial" panose="020B0604020202020204" pitchFamily="34" charset="0"/>
              <a:buChar char="•"/>
            </a:pPr>
            <a:r>
              <a:rPr lang="en-US" dirty="0"/>
              <a:t>phase II showed improved 12-month survival in advanced cervical cancer</a:t>
            </a:r>
          </a:p>
          <a:p>
            <a:pPr marL="742950" lvl="1" indent="-285750">
              <a:buFont typeface="Arial" panose="020B0604020202020204" pitchFamily="34" charset="0"/>
              <a:buChar char="•"/>
            </a:pPr>
            <a:r>
              <a:rPr lang="en-US" dirty="0"/>
              <a:t>phase III ongoing</a:t>
            </a:r>
          </a:p>
          <a:p>
            <a:pPr>
              <a:buFont typeface="Arial" panose="020B0604020202020204" pitchFamily="34" charset="0"/>
              <a:buChar char="•"/>
            </a:pPr>
            <a:r>
              <a:rPr lang="en-US" b="1" dirty="0"/>
              <a:t>GLBL101c</a:t>
            </a:r>
            <a:r>
              <a:rPr lang="en-US" dirty="0"/>
              <a:t> / </a:t>
            </a:r>
            <a:r>
              <a:rPr lang="en-US" b="1" dirty="0"/>
              <a:t>NZ8123-HPV16-optiE6</a:t>
            </a:r>
            <a:r>
              <a:rPr lang="en-US" dirty="0"/>
              <a:t> </a:t>
            </a:r>
          </a:p>
          <a:p>
            <a:pPr marL="742950" lvl="1" indent="-285750">
              <a:buFont typeface="Arial" panose="020B0604020202020204" pitchFamily="34" charset="0"/>
              <a:buChar char="•"/>
            </a:pPr>
            <a:r>
              <a:rPr lang="en-US" dirty="0"/>
              <a:t>induced mucosal or E6-specific immune responses</a:t>
            </a:r>
          </a:p>
          <a:p>
            <a:pPr marL="742950" lvl="1" indent="-285750">
              <a:buFont typeface="Arial" panose="020B0604020202020204" pitchFamily="34" charset="0"/>
              <a:buChar char="•"/>
            </a:pPr>
            <a:r>
              <a:rPr lang="en-US" dirty="0"/>
              <a:t>showed encouraging early clinical activity</a:t>
            </a:r>
          </a:p>
          <a:p>
            <a:pPr>
              <a:buNone/>
            </a:pPr>
            <a:r>
              <a:rPr lang="en-US" b="1" dirty="0">
                <a:solidFill>
                  <a:srgbClr val="FF0000"/>
                </a:solidFill>
              </a:rPr>
              <a:t>Viral vectors</a:t>
            </a:r>
            <a:endParaRPr lang="en-US" dirty="0">
              <a:solidFill>
                <a:srgbClr val="FF0000"/>
              </a:solidFill>
            </a:endParaRPr>
          </a:p>
          <a:p>
            <a:pPr>
              <a:buFont typeface="Arial" panose="020B0604020202020204" pitchFamily="34" charset="0"/>
              <a:buChar char="•"/>
            </a:pPr>
            <a:r>
              <a:rPr lang="en-US" dirty="0"/>
              <a:t>Platforms: </a:t>
            </a:r>
            <a:r>
              <a:rPr lang="en-US" b="1" dirty="0"/>
              <a:t>MVA, adenovirus, chimpanzee adenovirus, Semliki Forest virus, arenavirus</a:t>
            </a:r>
            <a:endParaRPr lang="en-US" dirty="0"/>
          </a:p>
          <a:p>
            <a:pPr>
              <a:buFont typeface="Arial" panose="020B0604020202020204" pitchFamily="34" charset="0"/>
              <a:buChar char="•"/>
            </a:pPr>
            <a:r>
              <a:rPr lang="en-US" b="1" dirty="0"/>
              <a:t>TA-HPV</a:t>
            </a:r>
            <a:r>
              <a:rPr lang="en-US" dirty="0"/>
              <a:t> and </a:t>
            </a:r>
            <a:r>
              <a:rPr lang="en-US" b="1" dirty="0" err="1"/>
              <a:t>Tipapkinogen</a:t>
            </a:r>
            <a:r>
              <a:rPr lang="en-US" b="1" dirty="0"/>
              <a:t> </a:t>
            </a:r>
            <a:r>
              <a:rPr lang="en-US" b="1" dirty="0" err="1"/>
              <a:t>Sovacivec</a:t>
            </a:r>
            <a:r>
              <a:rPr lang="en-US" dirty="0"/>
              <a:t> </a:t>
            </a:r>
          </a:p>
          <a:p>
            <a:pPr marL="742950" lvl="1" indent="-285750">
              <a:buFont typeface="Arial" panose="020B0604020202020204" pitchFamily="34" charset="0"/>
              <a:buChar char="•"/>
            </a:pPr>
            <a:r>
              <a:rPr lang="en-US" dirty="0"/>
              <a:t>safe, immunogenic</a:t>
            </a:r>
          </a:p>
          <a:p>
            <a:pPr marL="742950" lvl="1" indent="-285750">
              <a:buFont typeface="Arial" panose="020B0604020202020204" pitchFamily="34" charset="0"/>
              <a:buChar char="•"/>
            </a:pPr>
            <a:r>
              <a:rPr lang="en-US" dirty="0"/>
              <a:t>induced HPV-specific CTLs</a:t>
            </a:r>
          </a:p>
          <a:p>
            <a:pPr marL="742950" lvl="1" indent="-285750">
              <a:buFont typeface="Arial" panose="020B0604020202020204" pitchFamily="34" charset="0"/>
              <a:buChar char="•"/>
            </a:pPr>
            <a:r>
              <a:rPr lang="en-US" dirty="0"/>
              <a:t>associated with viral DNA clearance / lesion resolution in some studies</a:t>
            </a:r>
          </a:p>
        </p:txBody>
      </p:sp>
    </p:spTree>
    <p:extLst>
      <p:ext uri="{BB962C8B-B14F-4D97-AF65-F5344CB8AC3E}">
        <p14:creationId xmlns:p14="http://schemas.microsoft.com/office/powerpoint/2010/main" val="2723583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93C02D8-DABA-38CC-50B5-AAA0C351C457}"/>
                  </a:ext>
                </a:extLst>
              </p:cNvPr>
              <p:cNvSpPr txBox="1"/>
              <p:nvPr/>
            </p:nvSpPr>
            <p:spPr>
              <a:xfrm>
                <a:off x="150470" y="42111"/>
                <a:ext cx="12303889" cy="6463308"/>
              </a:xfrm>
              <a:prstGeom prst="rect">
                <a:avLst/>
              </a:prstGeom>
              <a:noFill/>
            </p:spPr>
            <p:txBody>
              <a:bodyPr wrap="square">
                <a:spAutoFit/>
              </a:bodyPr>
              <a:lstStyle/>
              <a:p>
                <a:pPr>
                  <a:buNone/>
                </a:pPr>
                <a:r>
                  <a:rPr lang="en-US" b="1" dirty="0"/>
                  <a:t>Peptide- and Protein-Based HPV Vaccines</a:t>
                </a:r>
                <a:endParaRPr lang="en-US" dirty="0"/>
              </a:p>
              <a:p>
                <a:pPr>
                  <a:buNone/>
                </a:pPr>
                <a:r>
                  <a:rPr lang="en-US" b="1" dirty="0">
                    <a:solidFill>
                      <a:srgbClr val="FF0000"/>
                    </a:solidFill>
                  </a:rPr>
                  <a:t>Peptide vaccines</a:t>
                </a:r>
                <a:endParaRPr lang="en-US" dirty="0">
                  <a:solidFill>
                    <a:srgbClr val="FF0000"/>
                  </a:solidFill>
                </a:endParaRPr>
              </a:p>
              <a:p>
                <a:pPr>
                  <a:buFont typeface="Arial" panose="020B0604020202020204" pitchFamily="34" charset="0"/>
                  <a:buChar char="•"/>
                </a:pPr>
                <a:r>
                  <a:rPr lang="en-US" dirty="0"/>
                  <a:t>Advantages: </a:t>
                </a:r>
              </a:p>
              <a:p>
                <a:pPr marL="742950" lvl="1" indent="-285750">
                  <a:buFont typeface="Arial" panose="020B0604020202020204" pitchFamily="34" charset="0"/>
                  <a:buChar char="•"/>
                </a:pPr>
                <a:r>
                  <a:rPr lang="en-US" dirty="0"/>
                  <a:t>easy to manufacture</a:t>
                </a:r>
              </a:p>
              <a:p>
                <a:pPr marL="742950" lvl="1" indent="-285750">
                  <a:buFont typeface="Arial" panose="020B0604020202020204" pitchFamily="34" charset="0"/>
                  <a:buChar char="•"/>
                </a:pPr>
                <a:r>
                  <a:rPr lang="en-US" dirty="0"/>
                  <a:t>epitope-specific</a:t>
                </a:r>
              </a:p>
              <a:p>
                <a:pPr>
                  <a:buFont typeface="Arial" panose="020B0604020202020204" pitchFamily="34" charset="0"/>
                  <a:buChar char="•"/>
                </a:pPr>
                <a:r>
                  <a:rPr lang="en-US" dirty="0"/>
                  <a:t>Limitation: </a:t>
                </a:r>
              </a:p>
              <a:p>
                <a:pPr marL="742950" lvl="1" indent="-285750">
                  <a:buFont typeface="Arial" panose="020B0604020202020204" pitchFamily="34" charset="0"/>
                  <a:buChar char="•"/>
                </a:pPr>
                <a:r>
                  <a:rPr lang="en-US" dirty="0"/>
                  <a:t>low intrinsic immunogenicity</a:t>
                </a:r>
              </a:p>
              <a:p>
                <a:pPr marL="742950" lvl="1" indent="-285750">
                  <a:buFont typeface="Arial" panose="020B0604020202020204" pitchFamily="34" charset="0"/>
                  <a:buChar char="•"/>
                </a:pPr>
                <a:r>
                  <a:rPr lang="en-US" dirty="0"/>
                  <a:t>usually require </a:t>
                </a:r>
                <a:r>
                  <a:rPr lang="en-US" b="1" dirty="0"/>
                  <a:t>adjuvants</a:t>
                </a:r>
                <a:r>
                  <a:rPr lang="en-US" dirty="0"/>
                  <a:t> (e.g. cytokines, TLR ligands, </a:t>
                </a:r>
                <a:r>
                  <a:rPr lang="en-US" dirty="0" err="1"/>
                  <a:t>Montanide</a:t>
                </a:r>
                <a:r>
                  <a:rPr lang="en-US" dirty="0"/>
                  <a:t>)</a:t>
                </a:r>
              </a:p>
              <a:p>
                <a:pPr>
                  <a:buNone/>
                </a:pPr>
                <a:r>
                  <a:rPr lang="en-US" b="1" dirty="0"/>
                  <a:t>Key example: ISA101</a:t>
                </a:r>
                <a:endParaRPr lang="en-US" dirty="0"/>
              </a:p>
              <a:p>
                <a:pPr>
                  <a:buFont typeface="Arial" panose="020B0604020202020204" pitchFamily="34" charset="0"/>
                  <a:buChar char="•"/>
                </a:pPr>
                <a:r>
                  <a:rPr lang="en-US" dirty="0"/>
                  <a:t>Synthetic long-peptide vaccine targeting </a:t>
                </a:r>
                <a:r>
                  <a:rPr lang="en-US" b="1" dirty="0"/>
                  <a:t>HPV16 E6/E7</a:t>
                </a:r>
                <a:endParaRPr lang="en-US" dirty="0"/>
              </a:p>
              <a:p>
                <a:pPr>
                  <a:buFont typeface="Arial" panose="020B0604020202020204" pitchFamily="34" charset="0"/>
                  <a:buChar char="•"/>
                </a:pPr>
                <a:r>
                  <a:rPr lang="en-US" dirty="0"/>
                  <a:t>In high-grade vulvar intraepithelial neoplasia: </a:t>
                </a:r>
              </a:p>
              <a:p>
                <a:pPr marL="742950" lvl="1" indent="-285750">
                  <a:buFont typeface="Arial" panose="020B0604020202020204" pitchFamily="34" charset="0"/>
                  <a:buChar char="•"/>
                </a:pPr>
                <a:r>
                  <a:rPr lang="en-US" dirty="0"/>
                  <a:t>clinical response in </a:t>
                </a:r>
                <a:r>
                  <a:rPr lang="en-US" b="1" dirty="0"/>
                  <a:t>79%</a:t>
                </a:r>
                <a:endParaRPr lang="en-US" dirty="0"/>
              </a:p>
              <a:p>
                <a:pPr marL="742950" lvl="1" indent="-285750">
                  <a:buFont typeface="Arial" panose="020B0604020202020204" pitchFamily="34" charset="0"/>
                  <a:buChar char="•"/>
                </a:pPr>
                <a:r>
                  <a:rPr lang="en-US" dirty="0"/>
                  <a:t>complete response in </a:t>
                </a:r>
                <a:r>
                  <a:rPr lang="en-US" b="1" dirty="0"/>
                  <a:t>47%</a:t>
                </a:r>
                <a:endParaRPr lang="en-US" dirty="0"/>
              </a:p>
              <a:p>
                <a:pPr>
                  <a:buFont typeface="Arial" panose="020B0604020202020204" pitchFamily="34" charset="0"/>
                  <a:buChar char="•"/>
                </a:pPr>
                <a:r>
                  <a:rPr lang="en-US" dirty="0"/>
                  <a:t>Response correlated with stronger </a:t>
                </a:r>
                <a:r>
                  <a:rPr lang="en-US" b="1" dirty="0"/>
                  <a:t>CD4+ / CD8+ IFN-</a:t>
                </a:r>
                <a14:m>
                  <m:oMath xmlns:m="http://schemas.openxmlformats.org/officeDocument/2006/math">
                    <m:r>
                      <a:rPr lang="en-US" i="1">
                        <a:latin typeface="Cambria Math" panose="02040503050406030204" pitchFamily="18" charset="0"/>
                      </a:rPr>
                      <m:t>𝛾</m:t>
                    </m:r>
                  </m:oMath>
                </a14:m>
                <a:r>
                  <a:rPr lang="en-US" dirty="0"/>
                  <a:t> responses</a:t>
                </a:r>
              </a:p>
              <a:p>
                <a:pPr>
                  <a:buFont typeface="Arial" panose="020B0604020202020204" pitchFamily="34" charset="0"/>
                  <a:buChar char="•"/>
                </a:pPr>
                <a:r>
                  <a:rPr lang="en-US" dirty="0"/>
                  <a:t>Combination with </a:t>
                </a:r>
                <a:r>
                  <a:rPr lang="en-US" b="1" dirty="0"/>
                  <a:t>nivolumab</a:t>
                </a:r>
                <a:r>
                  <a:rPr lang="en-US" dirty="0"/>
                  <a:t> showed promising survival data in incurable HPV16 cancer</a:t>
                </a:r>
              </a:p>
              <a:p>
                <a:pPr>
                  <a:buNone/>
                </a:pPr>
                <a:r>
                  <a:rPr lang="en-US" b="1" dirty="0">
                    <a:solidFill>
                      <a:srgbClr val="FF0000"/>
                    </a:solidFill>
                  </a:rPr>
                  <a:t>Protein vaccines</a:t>
                </a:r>
                <a:endParaRPr lang="en-US" dirty="0">
                  <a:solidFill>
                    <a:srgbClr val="FF0000"/>
                  </a:solidFill>
                </a:endParaRPr>
              </a:p>
              <a:p>
                <a:pPr>
                  <a:buFont typeface="Arial" panose="020B0604020202020204" pitchFamily="34" charset="0"/>
                  <a:buChar char="•"/>
                </a:pPr>
                <a:r>
                  <a:rPr lang="en-US" dirty="0"/>
                  <a:t>Broader epitope content than peptides</a:t>
                </a:r>
              </a:p>
              <a:p>
                <a:pPr>
                  <a:buFont typeface="Arial" panose="020B0604020202020204" pitchFamily="34" charset="0"/>
                  <a:buChar char="•"/>
                </a:pPr>
                <a:r>
                  <a:rPr lang="en-US" dirty="0"/>
                  <a:t>Often more humoral-biased unless specifically engineered</a:t>
                </a:r>
              </a:p>
              <a:p>
                <a:pPr>
                  <a:buFont typeface="Arial" panose="020B0604020202020204" pitchFamily="34" charset="0"/>
                  <a:buChar char="•"/>
                </a:pPr>
                <a:r>
                  <a:rPr lang="en-US" dirty="0"/>
                  <a:t>Examples: </a:t>
                </a:r>
              </a:p>
              <a:p>
                <a:pPr marL="742950" lvl="1" indent="-285750">
                  <a:buFont typeface="Arial" panose="020B0604020202020204" pitchFamily="34" charset="0"/>
                  <a:buChar char="•"/>
                </a:pPr>
                <a:r>
                  <a:rPr lang="en-US" b="1" dirty="0"/>
                  <a:t>GTL001</a:t>
                </a:r>
                <a:endParaRPr lang="en-US" dirty="0"/>
              </a:p>
              <a:p>
                <a:pPr marL="742950" lvl="1" indent="-285750">
                  <a:buFont typeface="Arial" panose="020B0604020202020204" pitchFamily="34" charset="0"/>
                  <a:buChar char="•"/>
                </a:pPr>
                <a:r>
                  <a:rPr lang="en-US" b="1" dirty="0"/>
                  <a:t>SCN-00101</a:t>
                </a:r>
                <a:endParaRPr lang="en-US" dirty="0"/>
              </a:p>
              <a:p>
                <a:pPr marL="742950" lvl="1" indent="-285750">
                  <a:buFont typeface="Arial" panose="020B0604020202020204" pitchFamily="34" charset="0"/>
                  <a:buChar char="•"/>
                </a:pPr>
                <a:r>
                  <a:rPr lang="en-US" b="1" dirty="0"/>
                  <a:t>TVGV-1</a:t>
                </a:r>
                <a:endParaRPr lang="en-US" dirty="0"/>
              </a:p>
              <a:p>
                <a:pPr>
                  <a:buFont typeface="Arial" panose="020B0604020202020204" pitchFamily="34" charset="0"/>
                  <a:buChar char="•"/>
                </a:pPr>
                <a:r>
                  <a:rPr lang="en-US" dirty="0"/>
                  <a:t>Fusion strategies enhance APC targeting and immunogenicity</a:t>
                </a:r>
              </a:p>
            </p:txBody>
          </p:sp>
        </mc:Choice>
        <mc:Fallback>
          <p:sp>
            <p:nvSpPr>
              <p:cNvPr id="3" name="TextBox 2">
                <a:extLst>
                  <a:ext uri="{FF2B5EF4-FFF2-40B4-BE49-F238E27FC236}">
                    <a16:creationId xmlns:a16="http://schemas.microsoft.com/office/drawing/2014/main" id="{493C02D8-DABA-38CC-50B5-AAA0C351C457}"/>
                  </a:ext>
                </a:extLst>
              </p:cNvPr>
              <p:cNvSpPr txBox="1">
                <a:spLocks noRot="1" noChangeAspect="1" noMove="1" noResize="1" noEditPoints="1" noAdjustHandles="1" noChangeArrowheads="1" noChangeShapeType="1" noTextEdit="1"/>
              </p:cNvSpPr>
              <p:nvPr/>
            </p:nvSpPr>
            <p:spPr>
              <a:xfrm>
                <a:off x="150470" y="42111"/>
                <a:ext cx="12303889" cy="6463308"/>
              </a:xfrm>
              <a:prstGeom prst="rect">
                <a:avLst/>
              </a:prstGeom>
              <a:blipFill>
                <a:blip r:embed="rId3"/>
                <a:stretch>
                  <a:fillRect l="-446" t="-472" b="-660"/>
                </a:stretch>
              </a:blipFill>
            </p:spPr>
            <p:txBody>
              <a:bodyPr/>
              <a:lstStyle/>
              <a:p>
                <a:r>
                  <a:rPr lang="en-US">
                    <a:noFill/>
                  </a:rPr>
                  <a:t> </a:t>
                </a:r>
              </a:p>
            </p:txBody>
          </p:sp>
        </mc:Fallback>
      </mc:AlternateContent>
    </p:spTree>
    <p:extLst>
      <p:ext uri="{BB962C8B-B14F-4D97-AF65-F5344CB8AC3E}">
        <p14:creationId xmlns:p14="http://schemas.microsoft.com/office/powerpoint/2010/main" val="41947916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E06D8E-B05C-1159-113B-DE60F5ABC101}"/>
              </a:ext>
            </a:extLst>
          </p:cNvPr>
          <p:cNvSpPr txBox="1"/>
          <p:nvPr/>
        </p:nvSpPr>
        <p:spPr>
          <a:xfrm>
            <a:off x="141044" y="254114"/>
            <a:ext cx="6094070" cy="400110"/>
          </a:xfrm>
          <a:prstGeom prst="rect">
            <a:avLst/>
          </a:prstGeom>
          <a:noFill/>
        </p:spPr>
        <p:txBody>
          <a:bodyPr wrap="square">
            <a:spAutoFit/>
          </a:bodyPr>
          <a:lstStyle/>
          <a:p>
            <a:r>
              <a:rPr lang="en-US" sz="2000" b="1" dirty="0"/>
              <a:t>DNA Vaccines and Clinical Outlook in HPV</a:t>
            </a:r>
          </a:p>
        </p:txBody>
      </p:sp>
      <p:sp>
        <p:nvSpPr>
          <p:cNvPr id="5" name="TextBox 4">
            <a:extLst>
              <a:ext uri="{FF2B5EF4-FFF2-40B4-BE49-F238E27FC236}">
                <a16:creationId xmlns:a16="http://schemas.microsoft.com/office/drawing/2014/main" id="{31A6CCF1-84E0-D04A-B46A-2082EFE8E294}"/>
              </a:ext>
            </a:extLst>
          </p:cNvPr>
          <p:cNvSpPr txBox="1"/>
          <p:nvPr/>
        </p:nvSpPr>
        <p:spPr>
          <a:xfrm>
            <a:off x="397648" y="1109582"/>
            <a:ext cx="8449518" cy="5003742"/>
          </a:xfrm>
          <a:prstGeom prst="rect">
            <a:avLst/>
          </a:prstGeom>
          <a:noFill/>
        </p:spPr>
        <p:txBody>
          <a:bodyPr wrap="square">
            <a:spAutoFit/>
          </a:bodyPr>
          <a:lstStyle/>
          <a:p>
            <a:pPr>
              <a:lnSpc>
                <a:spcPct val="200000"/>
              </a:lnSpc>
              <a:buFont typeface="Arial" panose="020B0604020202020204" pitchFamily="34" charset="0"/>
              <a:buChar char="•"/>
            </a:pPr>
            <a:r>
              <a:rPr lang="en-US" b="1" dirty="0"/>
              <a:t>VGX-3100</a:t>
            </a:r>
            <a:r>
              <a:rPr lang="en-US" dirty="0"/>
              <a:t> (HPV16/18 E6/E7 DNA vaccine) </a:t>
            </a:r>
          </a:p>
          <a:p>
            <a:pPr lvl="1">
              <a:lnSpc>
                <a:spcPct val="200000"/>
              </a:lnSpc>
              <a:buFont typeface="Arial" panose="020B0604020202020204" pitchFamily="34" charset="0"/>
              <a:buChar char="•"/>
            </a:pPr>
            <a:r>
              <a:rPr lang="en-US" dirty="0"/>
              <a:t>phase I: strong </a:t>
            </a:r>
            <a:r>
              <a:rPr lang="en-US" b="1" dirty="0"/>
              <a:t>Th1-biased</a:t>
            </a:r>
            <a:r>
              <a:rPr lang="en-US" dirty="0"/>
              <a:t> responses</a:t>
            </a:r>
          </a:p>
          <a:p>
            <a:pPr lvl="1">
              <a:lnSpc>
                <a:spcPct val="200000"/>
              </a:lnSpc>
              <a:buFont typeface="Arial" panose="020B0604020202020204" pitchFamily="34" charset="0"/>
              <a:buChar char="•"/>
            </a:pPr>
            <a:r>
              <a:rPr lang="en-US" dirty="0"/>
              <a:t>phase II: higher histopathologic regression than placebo</a:t>
            </a:r>
          </a:p>
          <a:p>
            <a:pPr lvl="1">
              <a:lnSpc>
                <a:spcPct val="200000"/>
              </a:lnSpc>
              <a:buFont typeface="Arial" panose="020B0604020202020204" pitchFamily="34" charset="0"/>
              <a:buChar char="•"/>
            </a:pPr>
            <a:r>
              <a:rPr lang="en-US" dirty="0"/>
              <a:t>phase III completed; results pending</a:t>
            </a:r>
          </a:p>
          <a:p>
            <a:pPr>
              <a:lnSpc>
                <a:spcPct val="200000"/>
              </a:lnSpc>
              <a:buFont typeface="Arial" panose="020B0604020202020204" pitchFamily="34" charset="0"/>
              <a:buChar char="•"/>
            </a:pPr>
            <a:r>
              <a:rPr lang="en-US" b="1" dirty="0"/>
              <a:t>GX-188E</a:t>
            </a:r>
            <a:r>
              <a:rPr lang="en-US" dirty="0"/>
              <a:t> fused with </a:t>
            </a:r>
            <a:r>
              <a:rPr lang="en-US" b="1" dirty="0"/>
              <a:t>Flt3L</a:t>
            </a:r>
          </a:p>
          <a:p>
            <a:pPr lvl="1">
              <a:lnSpc>
                <a:spcPct val="200000"/>
              </a:lnSpc>
              <a:buFont typeface="Arial" panose="020B0604020202020204" pitchFamily="34" charset="0"/>
              <a:buChar char="•"/>
            </a:pPr>
            <a:r>
              <a:rPr lang="en-US" dirty="0"/>
              <a:t> to enhance antigen presentation</a:t>
            </a:r>
          </a:p>
          <a:p>
            <a:pPr lvl="1">
              <a:lnSpc>
                <a:spcPct val="200000"/>
              </a:lnSpc>
              <a:buFont typeface="Arial" panose="020B0604020202020204" pitchFamily="34" charset="0"/>
              <a:buChar char="•"/>
            </a:pPr>
            <a:r>
              <a:rPr lang="en-US" dirty="0"/>
              <a:t>induced strong polyfunctional </a:t>
            </a:r>
            <a:r>
              <a:rPr lang="en-US" b="1" dirty="0"/>
              <a:t>E6/E7-specific T-cell responses</a:t>
            </a:r>
            <a:endParaRPr lang="en-US" dirty="0"/>
          </a:p>
          <a:p>
            <a:pPr lvl="1">
              <a:lnSpc>
                <a:spcPct val="200000"/>
              </a:lnSpc>
              <a:buFont typeface="Arial" panose="020B0604020202020204" pitchFamily="34" charset="0"/>
              <a:buChar char="•"/>
            </a:pPr>
            <a:r>
              <a:rPr lang="en-US" dirty="0"/>
              <a:t>associated with HPV clearance and CIN3 regression</a:t>
            </a:r>
          </a:p>
          <a:p>
            <a:pPr>
              <a:lnSpc>
                <a:spcPct val="200000"/>
              </a:lnSpc>
              <a:buNone/>
            </a:pPr>
            <a:r>
              <a:rPr lang="en-US" dirty="0"/>
              <a:t>Other candidates: </a:t>
            </a:r>
            <a:r>
              <a:rPr lang="en-US" b="1" dirty="0"/>
              <a:t>pNGVL4a-CRT-E7</a:t>
            </a:r>
            <a:r>
              <a:rPr lang="en-US" dirty="0"/>
              <a:t>, </a:t>
            </a:r>
            <a:r>
              <a:rPr lang="en-US" b="1" dirty="0"/>
              <a:t>ZYC101</a:t>
            </a:r>
            <a:endParaRPr lang="en-US" dirty="0"/>
          </a:p>
        </p:txBody>
      </p:sp>
    </p:spTree>
    <p:extLst>
      <p:ext uri="{BB962C8B-B14F-4D97-AF65-F5344CB8AC3E}">
        <p14:creationId xmlns:p14="http://schemas.microsoft.com/office/powerpoint/2010/main" val="14814956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FE8945F-8001-780E-8743-E0B21F1A83A5}"/>
              </a:ext>
            </a:extLst>
          </p:cNvPr>
          <p:cNvSpPr txBox="1"/>
          <p:nvPr/>
        </p:nvSpPr>
        <p:spPr>
          <a:xfrm>
            <a:off x="0" y="395023"/>
            <a:ext cx="6094070" cy="369332"/>
          </a:xfrm>
          <a:prstGeom prst="rect">
            <a:avLst/>
          </a:prstGeom>
          <a:noFill/>
        </p:spPr>
        <p:txBody>
          <a:bodyPr wrap="square">
            <a:spAutoFit/>
          </a:bodyPr>
          <a:lstStyle/>
          <a:p>
            <a:r>
              <a:rPr lang="en-US" b="1" dirty="0"/>
              <a:t>Viral Vector Platforms for HBV Immunotherapy</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9A91391-F7C3-BBD5-7383-868BE44D13EA}"/>
                  </a:ext>
                </a:extLst>
              </p:cNvPr>
              <p:cNvSpPr txBox="1"/>
              <p:nvPr/>
            </p:nvSpPr>
            <p:spPr>
              <a:xfrm>
                <a:off x="289367" y="1089903"/>
                <a:ext cx="12639554" cy="5003742"/>
              </a:xfrm>
              <a:prstGeom prst="rect">
                <a:avLst/>
              </a:prstGeom>
              <a:noFill/>
            </p:spPr>
            <p:txBody>
              <a:bodyPr wrap="square">
                <a:spAutoFit/>
              </a:bodyPr>
              <a:lstStyle/>
              <a:p>
                <a:pPr>
                  <a:lnSpc>
                    <a:spcPct val="200000"/>
                  </a:lnSpc>
                  <a:buFont typeface="Arial" panose="020B0604020202020204" pitchFamily="34" charset="0"/>
                  <a:buChar char="•"/>
                </a:pPr>
                <a:r>
                  <a:rPr lang="en-US" b="1" dirty="0"/>
                  <a:t>Adenoviral Vectors:</a:t>
                </a:r>
                <a:r>
                  <a:rPr lang="en-US" dirty="0"/>
                  <a:t> Strong inducer of innate signaling pathways; promotes robust humoral and cellular responses.</a:t>
                </a:r>
              </a:p>
              <a:p>
                <a:pPr>
                  <a:lnSpc>
                    <a:spcPct val="200000"/>
                  </a:lnSpc>
                  <a:buFont typeface="Arial" panose="020B0604020202020204" pitchFamily="34" charset="0"/>
                  <a:buChar char="•"/>
                </a:pPr>
                <a:r>
                  <a:rPr lang="en-US" b="1" dirty="0"/>
                  <a:t>TG1050 Vaccine:</a:t>
                </a:r>
                <a:r>
                  <a:rPr lang="en-US" dirty="0"/>
                  <a:t> </a:t>
                </a:r>
              </a:p>
              <a:p>
                <a:pPr marL="742950" lvl="1" indent="-285750">
                  <a:lnSpc>
                    <a:spcPct val="200000"/>
                  </a:lnSpc>
                  <a:buFont typeface="Arial" panose="020B0604020202020204" pitchFamily="34" charset="0"/>
                  <a:buChar char="•"/>
                </a:pPr>
                <a:r>
                  <a:rPr lang="en-US" dirty="0"/>
                  <a:t>Non-replicative adenoviral vector encoding HBV core, polymerase, and envelope domains.</a:t>
                </a:r>
              </a:p>
              <a:p>
                <a:pPr marL="742950" lvl="1" indent="-285750">
                  <a:lnSpc>
                    <a:spcPct val="200000"/>
                  </a:lnSpc>
                  <a:buFont typeface="Arial" panose="020B0604020202020204" pitchFamily="34" charset="0"/>
                  <a:buChar char="•"/>
                </a:pPr>
                <a:r>
                  <a:rPr lang="en-US" dirty="0"/>
                  <a:t>Preclinical: Activated T-cell cytolytic activity and showed antiviral effects.</a:t>
                </a:r>
              </a:p>
              <a:p>
                <a:pPr marL="742950" lvl="1" indent="-285750">
                  <a:lnSpc>
                    <a:spcPct val="200000"/>
                  </a:lnSpc>
                  <a:buFont typeface="Arial" panose="020B0604020202020204" pitchFamily="34" charset="0"/>
                  <a:buChar char="•"/>
                </a:pPr>
                <a:r>
                  <a:rPr lang="en-US" dirty="0"/>
                  <a:t>Phase I Trial (NCT02428400): Well-tolerated, induced IFN-</a:t>
                </a:r>
                <a14:m>
                  <m:oMath xmlns:m="http://schemas.openxmlformats.org/officeDocument/2006/math">
                    <m:r>
                      <a:rPr lang="en-US" i="1">
                        <a:latin typeface="Cambria Math" panose="02040503050406030204" pitchFamily="18" charset="0"/>
                      </a:rPr>
                      <m:t>𝛾</m:t>
                    </m:r>
                  </m:oMath>
                </a14:m>
                <a:r>
                  <a:rPr lang="en-US" dirty="0"/>
                  <a:t>-producing T cells, and synergized with NUC therapy.</a:t>
                </a:r>
              </a:p>
              <a:p>
                <a:pPr>
                  <a:lnSpc>
                    <a:spcPct val="200000"/>
                  </a:lnSpc>
                  <a:buFont typeface="Arial" panose="020B0604020202020204" pitchFamily="34" charset="0"/>
                  <a:buChar char="•"/>
                </a:pPr>
                <a:r>
                  <a:rPr lang="en-US" b="1" dirty="0"/>
                  <a:t>Heterologous Prime-Boost Strategies:</a:t>
                </a:r>
                <a:r>
                  <a:rPr lang="en-US" dirty="0"/>
                  <a:t> </a:t>
                </a:r>
              </a:p>
              <a:p>
                <a:pPr marL="742950" lvl="1" indent="-285750">
                  <a:lnSpc>
                    <a:spcPct val="200000"/>
                  </a:lnSpc>
                  <a:buFont typeface="Arial" panose="020B0604020202020204" pitchFamily="34" charset="0"/>
                  <a:buChar char="•"/>
                </a:pPr>
                <a:r>
                  <a:rPr lang="en-US" dirty="0"/>
                  <a:t>Chimpanzee Adenovirus (Prime) followed by </a:t>
                </a:r>
                <a:r>
                  <a:rPr lang="en-US" b="1" dirty="0"/>
                  <a:t>MVA</a:t>
                </a:r>
                <a:r>
                  <a:rPr lang="en-US" dirty="0"/>
                  <a:t> (Boost) encoding multiple HBV antigens.</a:t>
                </a:r>
              </a:p>
              <a:p>
                <a:pPr marL="742950" lvl="1" indent="-285750">
                  <a:lnSpc>
                    <a:spcPct val="200000"/>
                  </a:lnSpc>
                  <a:buFont typeface="Arial" panose="020B0604020202020204" pitchFamily="34" charset="0"/>
                  <a:buChar char="•"/>
                </a:pPr>
                <a:r>
                  <a:rPr lang="en-US" dirty="0"/>
                  <a:t>Co-ordinated enhancement of polyfunctional HBV-specific CD8+ and CD4+ T-cell responses in vivo.</a:t>
                </a:r>
              </a:p>
              <a:p>
                <a:pPr>
                  <a:lnSpc>
                    <a:spcPct val="200000"/>
                  </a:lnSpc>
                  <a:buFont typeface="Arial" panose="020B0604020202020204" pitchFamily="34" charset="0"/>
                  <a:buChar char="•"/>
                </a:pPr>
                <a:r>
                  <a:rPr lang="en-US" b="1" dirty="0"/>
                  <a:t>Gene Editing Delivery:</a:t>
                </a:r>
                <a:r>
                  <a:rPr lang="en-US" dirty="0"/>
                  <a:t> Utilizing adenovirus vectors to deliver CRISPR/Cas9 systems targeting the HBV genome.</a:t>
                </a:r>
              </a:p>
            </p:txBody>
          </p:sp>
        </mc:Choice>
        <mc:Fallback xmlns="">
          <p:sp>
            <p:nvSpPr>
              <p:cNvPr id="5" name="TextBox 4">
                <a:extLst>
                  <a:ext uri="{FF2B5EF4-FFF2-40B4-BE49-F238E27FC236}">
                    <a16:creationId xmlns:a16="http://schemas.microsoft.com/office/drawing/2014/main" id="{D9A91391-F7C3-BBD5-7383-868BE44D13EA}"/>
                  </a:ext>
                </a:extLst>
              </p:cNvPr>
              <p:cNvSpPr txBox="1">
                <a:spLocks noRot="1" noChangeAspect="1" noMove="1" noResize="1" noEditPoints="1" noAdjustHandles="1" noChangeArrowheads="1" noChangeShapeType="1" noTextEdit="1"/>
              </p:cNvSpPr>
              <p:nvPr/>
            </p:nvSpPr>
            <p:spPr>
              <a:xfrm>
                <a:off x="289367" y="1089903"/>
                <a:ext cx="12639554" cy="5003742"/>
              </a:xfrm>
              <a:prstGeom prst="rect">
                <a:avLst/>
              </a:prstGeom>
              <a:blipFill>
                <a:blip r:embed="rId2"/>
                <a:stretch>
                  <a:fillRect l="-289" b="-1096"/>
                </a:stretch>
              </a:blipFill>
            </p:spPr>
            <p:txBody>
              <a:bodyPr/>
              <a:lstStyle/>
              <a:p>
                <a:r>
                  <a:rPr lang="en-US">
                    <a:noFill/>
                  </a:rPr>
                  <a:t> </a:t>
                </a:r>
              </a:p>
            </p:txBody>
          </p:sp>
        </mc:Fallback>
      </mc:AlternateContent>
    </p:spTree>
    <p:extLst>
      <p:ext uri="{BB962C8B-B14F-4D97-AF65-F5344CB8AC3E}">
        <p14:creationId xmlns:p14="http://schemas.microsoft.com/office/powerpoint/2010/main" val="8483577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5631627-DB8D-F360-D09A-4E1763D77427}"/>
              </a:ext>
            </a:extLst>
          </p:cNvPr>
          <p:cNvSpPr txBox="1"/>
          <p:nvPr/>
        </p:nvSpPr>
        <p:spPr>
          <a:xfrm>
            <a:off x="1930" y="284597"/>
            <a:ext cx="6094070" cy="461665"/>
          </a:xfrm>
          <a:prstGeom prst="rect">
            <a:avLst/>
          </a:prstGeom>
          <a:noFill/>
        </p:spPr>
        <p:txBody>
          <a:bodyPr wrap="square">
            <a:spAutoFit/>
          </a:bodyPr>
          <a:lstStyle/>
          <a:p>
            <a:r>
              <a:rPr lang="en-US" sz="2400" dirty="0"/>
              <a:t>Protein- and Peptide-Based HBV Vaccines</a:t>
            </a:r>
          </a:p>
        </p:txBody>
      </p:sp>
      <p:sp>
        <p:nvSpPr>
          <p:cNvPr id="5" name="TextBox 4">
            <a:extLst>
              <a:ext uri="{FF2B5EF4-FFF2-40B4-BE49-F238E27FC236}">
                <a16:creationId xmlns:a16="http://schemas.microsoft.com/office/drawing/2014/main" id="{C4FF3127-12B4-2D2D-3E56-6C08454BE0EB}"/>
              </a:ext>
            </a:extLst>
          </p:cNvPr>
          <p:cNvSpPr txBox="1"/>
          <p:nvPr/>
        </p:nvSpPr>
        <p:spPr>
          <a:xfrm>
            <a:off x="117676" y="746262"/>
            <a:ext cx="11956648" cy="6111738"/>
          </a:xfrm>
          <a:prstGeom prst="rect">
            <a:avLst/>
          </a:prstGeom>
          <a:noFill/>
        </p:spPr>
        <p:txBody>
          <a:bodyPr wrap="square">
            <a:spAutoFit/>
          </a:bodyPr>
          <a:lstStyle/>
          <a:p>
            <a:pPr>
              <a:lnSpc>
                <a:spcPct val="200000"/>
              </a:lnSpc>
              <a:buFont typeface="Arial" panose="020B0604020202020204" pitchFamily="34" charset="0"/>
              <a:buChar char="•"/>
            </a:pPr>
            <a:r>
              <a:rPr lang="en-US" b="1" dirty="0" err="1"/>
              <a:t>Theravax</a:t>
            </a:r>
            <a:r>
              <a:rPr lang="en-US" b="1" dirty="0"/>
              <a:t> (DV-601):</a:t>
            </a:r>
            <a:r>
              <a:rPr lang="en-US" dirty="0"/>
              <a:t> Recombinant HBsAg and </a:t>
            </a:r>
            <a:r>
              <a:rPr lang="en-US" dirty="0" err="1"/>
              <a:t>HBcAg</a:t>
            </a:r>
            <a:r>
              <a:rPr lang="en-US" dirty="0"/>
              <a:t> with saponin-based ISCOMATRIX adjuvant; induced lymphoproliferative and T-cell responses. </a:t>
            </a:r>
          </a:p>
          <a:p>
            <a:pPr>
              <a:lnSpc>
                <a:spcPct val="200000"/>
              </a:lnSpc>
              <a:buFont typeface="Arial" panose="020B0604020202020204" pitchFamily="34" charset="0"/>
              <a:buChar char="•"/>
            </a:pPr>
            <a:r>
              <a:rPr lang="en-US" b="1" dirty="0"/>
              <a:t>GS-4774:</a:t>
            </a:r>
            <a:r>
              <a:rPr lang="en-US" dirty="0"/>
              <a:t> Engineered yeast expressing an HBsAg-</a:t>
            </a:r>
            <a:r>
              <a:rPr lang="en-US" dirty="0" err="1"/>
              <a:t>HBcAg</a:t>
            </a:r>
            <a:r>
              <a:rPr lang="en-US" dirty="0"/>
              <a:t>-</a:t>
            </a:r>
            <a:r>
              <a:rPr lang="en-US" dirty="0" err="1"/>
              <a:t>HBx</a:t>
            </a:r>
            <a:r>
              <a:rPr lang="en-US" dirty="0"/>
              <a:t> fusion.</a:t>
            </a:r>
          </a:p>
          <a:p>
            <a:pPr marL="285750" indent="-285750">
              <a:lnSpc>
                <a:spcPct val="200000"/>
              </a:lnSpc>
              <a:buFont typeface="Courier New" panose="02070309020205020404" pitchFamily="49" charset="0"/>
              <a:buChar char="o"/>
            </a:pPr>
            <a:r>
              <a:rPr lang="en-US" dirty="0"/>
              <a:t> Yeast cell wall acts as a strong adjuvant for DC presentation.</a:t>
            </a:r>
          </a:p>
          <a:p>
            <a:pPr marL="285750" indent="-285750">
              <a:lnSpc>
                <a:spcPct val="200000"/>
              </a:lnSpc>
              <a:buFont typeface="Courier New" panose="02070309020205020404" pitchFamily="49" charset="0"/>
              <a:buChar char="o"/>
            </a:pPr>
            <a:r>
              <a:rPr lang="en-US" dirty="0"/>
              <a:t>Phase II trials showed GS-4774 was safe and boosted CD8+ T cells, but did not significantly reduce serum HBsAg alone.</a:t>
            </a:r>
          </a:p>
          <a:p>
            <a:pPr>
              <a:lnSpc>
                <a:spcPct val="200000"/>
              </a:lnSpc>
              <a:buFont typeface="Arial" panose="020B0604020202020204" pitchFamily="34" charset="0"/>
              <a:buChar char="•"/>
            </a:pPr>
            <a:r>
              <a:rPr lang="en-US" b="1" dirty="0" err="1"/>
              <a:t>HeberNasvac</a:t>
            </a:r>
            <a:r>
              <a:rPr lang="en-US" b="1" dirty="0"/>
              <a:t> (Approved Candidate):</a:t>
            </a:r>
            <a:r>
              <a:rPr lang="en-US" dirty="0"/>
              <a:t> </a:t>
            </a:r>
          </a:p>
          <a:p>
            <a:pPr marL="285750" indent="-285750">
              <a:lnSpc>
                <a:spcPct val="200000"/>
              </a:lnSpc>
              <a:buFont typeface="Courier New" panose="02070309020205020404" pitchFamily="49" charset="0"/>
              <a:buChar char="o"/>
            </a:pPr>
            <a:r>
              <a:rPr lang="en-US" dirty="0"/>
              <a:t>Contains both HBsAg and </a:t>
            </a:r>
            <a:r>
              <a:rPr lang="en-US" dirty="0" err="1"/>
              <a:t>HBcAg</a:t>
            </a:r>
            <a:r>
              <a:rPr lang="en-US" dirty="0"/>
              <a:t> (nasal/subcutaneous delivery).</a:t>
            </a:r>
          </a:p>
          <a:p>
            <a:pPr marL="285750" indent="-285750">
              <a:lnSpc>
                <a:spcPct val="200000"/>
              </a:lnSpc>
              <a:buFont typeface="Courier New" panose="02070309020205020404" pitchFamily="49" charset="0"/>
              <a:buChar char="o"/>
            </a:pPr>
            <a:r>
              <a:rPr lang="en-US" dirty="0"/>
              <a:t>Phase III trial vs. Peg-IFN: Induced superior reduction in HBV DNA load (undetectable levels).</a:t>
            </a:r>
          </a:p>
          <a:p>
            <a:pPr marL="285750" indent="-285750">
              <a:lnSpc>
                <a:spcPct val="200000"/>
              </a:lnSpc>
              <a:buFont typeface="Courier New" panose="02070309020205020404" pitchFamily="49" charset="0"/>
              <a:buChar char="o"/>
            </a:pPr>
            <a:r>
              <a:rPr lang="en-US" dirty="0"/>
              <a:t>Approved by the Cuban Regulatory Authority (2015); evaluated as adjunct to NUCs (NCT02249988).</a:t>
            </a:r>
          </a:p>
          <a:p>
            <a:pPr>
              <a:lnSpc>
                <a:spcPct val="200000"/>
              </a:lnSpc>
              <a:buNone/>
            </a:pPr>
            <a:r>
              <a:rPr lang="en-US" b="1" dirty="0" err="1"/>
              <a:t>HepTcell</a:t>
            </a:r>
            <a:r>
              <a:rPr lang="en-US" b="1" dirty="0"/>
              <a:t>:</a:t>
            </a:r>
            <a:r>
              <a:rPr lang="en-US" dirty="0"/>
              <a:t> 9 synthetic CD4+/CD8+ peptides derived from conserved HBV domains + IC31 adjuvant.</a:t>
            </a:r>
          </a:p>
        </p:txBody>
      </p:sp>
    </p:spTree>
    <p:extLst>
      <p:ext uri="{BB962C8B-B14F-4D97-AF65-F5344CB8AC3E}">
        <p14:creationId xmlns:p14="http://schemas.microsoft.com/office/powerpoint/2010/main" val="19172030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D7C580A-F7CC-AFD8-7766-CAC95F6CDB95}"/>
              </a:ext>
            </a:extLst>
          </p:cNvPr>
          <p:cNvSpPr txBox="1"/>
          <p:nvPr/>
        </p:nvSpPr>
        <p:spPr>
          <a:xfrm>
            <a:off x="384858" y="798155"/>
            <a:ext cx="11004631" cy="5557740"/>
          </a:xfrm>
          <a:prstGeom prst="rect">
            <a:avLst/>
          </a:prstGeom>
          <a:noFill/>
        </p:spPr>
        <p:txBody>
          <a:bodyPr wrap="square">
            <a:spAutoFit/>
          </a:bodyPr>
          <a:lstStyle/>
          <a:p>
            <a:pPr>
              <a:lnSpc>
                <a:spcPct val="200000"/>
              </a:lnSpc>
              <a:buFont typeface="Arial" panose="020B0604020202020204" pitchFamily="34" charset="0"/>
              <a:buChar char="•"/>
            </a:pPr>
            <a:r>
              <a:rPr lang="en-US" b="1" dirty="0"/>
              <a:t>Mechanism:</a:t>
            </a:r>
            <a:r>
              <a:rPr lang="en-US" dirty="0"/>
              <a:t> Plasmids encoding HBV antigens directly transfect host cells to drive endogenously processed antigen expression. </a:t>
            </a:r>
          </a:p>
          <a:p>
            <a:pPr>
              <a:lnSpc>
                <a:spcPct val="200000"/>
              </a:lnSpc>
              <a:buFont typeface="Arial" panose="020B0604020202020204" pitchFamily="34" charset="0"/>
              <a:buChar char="•"/>
            </a:pPr>
            <a:r>
              <a:rPr lang="en-US" b="1" dirty="0"/>
              <a:t>Key Candidates:</a:t>
            </a:r>
            <a:r>
              <a:rPr lang="en-US" dirty="0"/>
              <a:t> </a:t>
            </a:r>
          </a:p>
          <a:p>
            <a:pPr lvl="1">
              <a:lnSpc>
                <a:spcPct val="200000"/>
              </a:lnSpc>
              <a:buFont typeface="Arial" panose="020B0604020202020204" pitchFamily="34" charset="0"/>
              <a:buChar char="•"/>
            </a:pPr>
            <a:r>
              <a:rPr lang="en-US" b="1" dirty="0"/>
              <a:t>INO-1800:</a:t>
            </a:r>
            <a:r>
              <a:rPr lang="en-US" dirty="0"/>
              <a:t> Synthetic DNA vaccine encoding HBsAg and consensus </a:t>
            </a:r>
            <a:r>
              <a:rPr lang="en-US" dirty="0" err="1"/>
              <a:t>HBcAg</a:t>
            </a:r>
            <a:r>
              <a:rPr lang="en-US" dirty="0"/>
              <a:t>.</a:t>
            </a:r>
          </a:p>
          <a:p>
            <a:pPr lvl="1">
              <a:lnSpc>
                <a:spcPct val="200000"/>
              </a:lnSpc>
              <a:buFont typeface="Arial" panose="020B0604020202020204" pitchFamily="34" charset="0"/>
              <a:buChar char="•"/>
            </a:pPr>
            <a:r>
              <a:rPr lang="en-US" b="1" dirty="0"/>
              <a:t>INO-9112 (Co-delivery):</a:t>
            </a:r>
            <a:r>
              <a:rPr lang="en-US" dirty="0"/>
              <a:t> Plasmid expressing </a:t>
            </a:r>
            <a:r>
              <a:rPr lang="en-US" b="1" dirty="0"/>
              <a:t>IL-12</a:t>
            </a:r>
            <a:r>
              <a:rPr lang="en-US" dirty="0"/>
              <a:t> co-administered with INO-1800 to boost cytotoxic T lymphocyte (CTL) activation.</a:t>
            </a:r>
          </a:p>
          <a:p>
            <a:pPr lvl="1">
              <a:lnSpc>
                <a:spcPct val="200000"/>
              </a:lnSpc>
              <a:buFont typeface="Arial" panose="020B0604020202020204" pitchFamily="34" charset="0"/>
              <a:buChar char="•"/>
            </a:pPr>
            <a:r>
              <a:rPr lang="en-US" b="1" dirty="0"/>
              <a:t>HB-110:</a:t>
            </a:r>
            <a:r>
              <a:rPr lang="en-US" dirty="0"/>
              <a:t> Multivalent plasmid encoding HBs, PreS1, HBc, </a:t>
            </a:r>
            <a:r>
              <a:rPr lang="en-US" dirty="0" err="1"/>
              <a:t>Hbpol</a:t>
            </a:r>
            <a:r>
              <a:rPr lang="en-US" dirty="0"/>
              <a:t>, and IL-12; showed strong antibody and T-cell responses in preclinical models.</a:t>
            </a:r>
          </a:p>
          <a:p>
            <a:pPr>
              <a:lnSpc>
                <a:spcPct val="200000"/>
              </a:lnSpc>
              <a:buNone/>
            </a:pPr>
            <a:r>
              <a:rPr lang="en-US" b="1" dirty="0"/>
              <a:t>Outlook:</a:t>
            </a:r>
            <a:r>
              <a:rPr lang="en-US" dirty="0"/>
              <a:t> DNA platforms benefit from manufacturing ease and the ability to easily co-deliver genetic adjuvants (like IL-12) to rescue exhausted T cells.</a:t>
            </a:r>
          </a:p>
        </p:txBody>
      </p:sp>
      <p:sp>
        <p:nvSpPr>
          <p:cNvPr id="5" name="TextBox 4">
            <a:extLst>
              <a:ext uri="{FF2B5EF4-FFF2-40B4-BE49-F238E27FC236}">
                <a16:creationId xmlns:a16="http://schemas.microsoft.com/office/drawing/2014/main" id="{4106F5CD-92C3-C335-F578-05F4C813D41E}"/>
              </a:ext>
            </a:extLst>
          </p:cNvPr>
          <p:cNvSpPr txBox="1"/>
          <p:nvPr/>
        </p:nvSpPr>
        <p:spPr>
          <a:xfrm>
            <a:off x="222813" y="317439"/>
            <a:ext cx="6094070" cy="400110"/>
          </a:xfrm>
          <a:prstGeom prst="rect">
            <a:avLst/>
          </a:prstGeom>
          <a:noFill/>
        </p:spPr>
        <p:txBody>
          <a:bodyPr wrap="square">
            <a:spAutoFit/>
          </a:bodyPr>
          <a:lstStyle/>
          <a:p>
            <a:r>
              <a:rPr lang="en-US" sz="2000" b="1" dirty="0"/>
              <a:t>DNA-Based HBV Vaccines: Adjuvants &amp; Synergy</a:t>
            </a:r>
          </a:p>
        </p:txBody>
      </p:sp>
    </p:spTree>
    <p:extLst>
      <p:ext uri="{BB962C8B-B14F-4D97-AF65-F5344CB8AC3E}">
        <p14:creationId xmlns:p14="http://schemas.microsoft.com/office/powerpoint/2010/main" val="1104637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D2DA8F-1660-6EE4-3A86-672E05E9F3B6}"/>
              </a:ext>
            </a:extLst>
          </p:cNvPr>
          <p:cNvSpPr txBox="1"/>
          <p:nvPr/>
        </p:nvSpPr>
        <p:spPr>
          <a:xfrm>
            <a:off x="221848" y="197346"/>
            <a:ext cx="11748304" cy="6463308"/>
          </a:xfrm>
          <a:prstGeom prst="rect">
            <a:avLst/>
          </a:prstGeom>
          <a:noFill/>
        </p:spPr>
        <p:txBody>
          <a:bodyPr wrap="square">
            <a:spAutoFit/>
          </a:bodyPr>
          <a:lstStyle/>
          <a:p>
            <a:pPr>
              <a:buNone/>
            </a:pPr>
            <a:r>
              <a:rPr lang="en-US" b="1" dirty="0"/>
              <a:t>DC-based vaccines</a:t>
            </a:r>
          </a:p>
          <a:p>
            <a:pPr>
              <a:buFont typeface="Arial" panose="020B0604020202020204" pitchFamily="34" charset="0"/>
              <a:buChar char="•"/>
            </a:pPr>
            <a:r>
              <a:rPr lang="en-US" b="1" dirty="0"/>
              <a:t>AGS-004</a:t>
            </a:r>
            <a:r>
              <a:rPr lang="en-US" dirty="0"/>
              <a:t> </a:t>
            </a:r>
          </a:p>
          <a:p>
            <a:pPr marL="742950" lvl="1" indent="-285750">
              <a:buFont typeface="Arial" panose="020B0604020202020204" pitchFamily="34" charset="0"/>
              <a:buChar char="•"/>
            </a:pPr>
            <a:r>
              <a:rPr lang="en-US" dirty="0"/>
              <a:t>Autologous DC vaccine loaded with RNA encoding </a:t>
            </a:r>
            <a:r>
              <a:rPr lang="en-US" b="1" dirty="0"/>
              <a:t>Gag, Nef, Rev, and </a:t>
            </a:r>
            <a:r>
              <a:rPr lang="en-US" b="1" dirty="0" err="1"/>
              <a:t>Vpr</a:t>
            </a:r>
            <a:endParaRPr lang="en-US" dirty="0"/>
          </a:p>
          <a:p>
            <a:pPr marL="742950" lvl="1" indent="-285750">
              <a:buFont typeface="Arial" panose="020B0604020202020204" pitchFamily="34" charset="0"/>
              <a:buChar char="•"/>
            </a:pPr>
            <a:r>
              <a:rPr lang="en-US" b="1" dirty="0"/>
              <a:t>Phase IIB</a:t>
            </a:r>
            <a:r>
              <a:rPr lang="en-US" dirty="0"/>
              <a:t> trial: </a:t>
            </a:r>
            <a:r>
              <a:rPr lang="en-US" b="1" dirty="0"/>
              <a:t>NCT00672191</a:t>
            </a:r>
            <a:endParaRPr lang="en-US" dirty="0"/>
          </a:p>
          <a:p>
            <a:pPr marL="742950" lvl="1" indent="-285750">
              <a:buFont typeface="Arial" panose="020B0604020202020204" pitchFamily="34" charset="0"/>
              <a:buChar char="•"/>
            </a:pPr>
            <a:r>
              <a:rPr lang="en-US" dirty="0"/>
              <a:t>Induced </a:t>
            </a:r>
            <a:r>
              <a:rPr lang="en-US" b="1" dirty="0"/>
              <a:t>HIV-specific effector/memory CD8 T-cell response</a:t>
            </a:r>
            <a:endParaRPr lang="en-US" dirty="0"/>
          </a:p>
          <a:p>
            <a:pPr marL="742950" lvl="1" indent="-285750">
              <a:buFont typeface="Arial" panose="020B0604020202020204" pitchFamily="34" charset="0"/>
              <a:buChar char="•"/>
            </a:pPr>
            <a:r>
              <a:rPr lang="en-US" dirty="0"/>
              <a:t>But showed </a:t>
            </a:r>
            <a:r>
              <a:rPr lang="en-US" b="1" dirty="0"/>
              <a:t>no clear antiviral effect</a:t>
            </a:r>
            <a:endParaRPr lang="en-US" dirty="0"/>
          </a:p>
          <a:p>
            <a:pPr>
              <a:buFont typeface="Arial" panose="020B0604020202020204" pitchFamily="34" charset="0"/>
              <a:buChar char="•"/>
            </a:pPr>
            <a:r>
              <a:rPr lang="en-US" dirty="0"/>
              <a:t>In a small immunogenicity study: </a:t>
            </a:r>
          </a:p>
          <a:p>
            <a:pPr marL="742950" lvl="1" indent="-285750">
              <a:buFont typeface="Arial" panose="020B0604020202020204" pitchFamily="34" charset="0"/>
              <a:buChar char="•"/>
            </a:pPr>
            <a:r>
              <a:rPr lang="en-US" dirty="0"/>
              <a:t>Induced </a:t>
            </a:r>
            <a:r>
              <a:rPr lang="en-US" b="1" dirty="0"/>
              <a:t>multifunctional HIV-specific CTLs</a:t>
            </a:r>
            <a:endParaRPr lang="en-US" dirty="0"/>
          </a:p>
          <a:p>
            <a:pPr marL="742950" lvl="1" indent="-285750">
              <a:buFont typeface="Arial" panose="020B0604020202020204" pitchFamily="34" charset="0"/>
              <a:buChar char="•"/>
            </a:pPr>
            <a:r>
              <a:rPr lang="en-US" dirty="0"/>
              <a:t>Associated with </a:t>
            </a:r>
            <a:r>
              <a:rPr lang="en-US" b="1" dirty="0"/>
              <a:t>longer time to viral rebound</a:t>
            </a:r>
            <a:endParaRPr lang="en-US" dirty="0"/>
          </a:p>
          <a:p>
            <a:pPr>
              <a:buFont typeface="Arial" panose="020B0604020202020204" pitchFamily="34" charset="0"/>
              <a:buChar char="•"/>
            </a:pPr>
            <a:r>
              <a:rPr lang="en-US" b="1" dirty="0"/>
              <a:t>HIV-1 </a:t>
            </a:r>
            <a:r>
              <a:rPr lang="en-US" b="1" dirty="0" err="1"/>
              <a:t>ApB</a:t>
            </a:r>
            <a:r>
              <a:rPr lang="en-US" b="1" dirty="0"/>
              <a:t> DC vaccine</a:t>
            </a:r>
            <a:r>
              <a:rPr lang="en-US" dirty="0"/>
              <a:t> </a:t>
            </a:r>
          </a:p>
          <a:p>
            <a:pPr marL="742950" lvl="1" indent="-285750">
              <a:buFont typeface="Arial" panose="020B0604020202020204" pitchFamily="34" charset="0"/>
              <a:buChar char="•"/>
            </a:pPr>
            <a:r>
              <a:rPr lang="en-US" dirty="0"/>
              <a:t>Autologous DCs loaded with </a:t>
            </a:r>
            <a:r>
              <a:rPr lang="en-US" b="1" dirty="0"/>
              <a:t>autologous HIV-1-infected apoptotic cells</a:t>
            </a:r>
            <a:endParaRPr lang="en-US" dirty="0"/>
          </a:p>
          <a:p>
            <a:pPr marL="742950" lvl="1" indent="-285750">
              <a:buFont typeface="Arial" panose="020B0604020202020204" pitchFamily="34" charset="0"/>
              <a:buChar char="•"/>
            </a:pPr>
            <a:r>
              <a:rPr lang="en-US" b="1" dirty="0"/>
              <a:t>Phase I/II</a:t>
            </a:r>
            <a:r>
              <a:rPr lang="en-US" dirty="0"/>
              <a:t>: </a:t>
            </a:r>
            <a:r>
              <a:rPr lang="en-US" b="1" dirty="0"/>
              <a:t>NCT00510497</a:t>
            </a:r>
            <a:endParaRPr lang="en-US" dirty="0"/>
          </a:p>
          <a:p>
            <a:pPr marL="742950" lvl="1" indent="-285750">
              <a:buFont typeface="Arial" panose="020B0604020202020204" pitchFamily="34" charset="0"/>
              <a:buChar char="•"/>
            </a:pPr>
            <a:r>
              <a:rPr lang="en-US" dirty="0"/>
              <a:t>Safe and well tolerated</a:t>
            </a:r>
          </a:p>
          <a:p>
            <a:pPr marL="742950" lvl="1" indent="-285750">
              <a:buFont typeface="Arial" panose="020B0604020202020204" pitchFamily="34" charset="0"/>
              <a:buChar char="•"/>
            </a:pPr>
            <a:r>
              <a:rPr lang="en-US" dirty="0"/>
              <a:t>Did </a:t>
            </a:r>
            <a:r>
              <a:rPr lang="en-US" b="1" dirty="0"/>
              <a:t>not prevent viral rebound</a:t>
            </a:r>
            <a:endParaRPr lang="en-US" dirty="0"/>
          </a:p>
          <a:p>
            <a:pPr>
              <a:buNone/>
            </a:pPr>
            <a:r>
              <a:rPr lang="en-US" b="1" dirty="0"/>
              <a:t>mRNA-based vaccine</a:t>
            </a:r>
          </a:p>
          <a:p>
            <a:pPr>
              <a:buFont typeface="Arial" panose="020B0604020202020204" pitchFamily="34" charset="0"/>
              <a:buChar char="•"/>
            </a:pPr>
            <a:r>
              <a:rPr lang="en-US" dirty="0"/>
              <a:t>First-in-human phase I study: </a:t>
            </a:r>
            <a:r>
              <a:rPr lang="en-US" b="1" dirty="0"/>
              <a:t>NCT02413645</a:t>
            </a:r>
            <a:endParaRPr lang="en-US" dirty="0"/>
          </a:p>
          <a:p>
            <a:pPr>
              <a:buFont typeface="Arial" panose="020B0604020202020204" pitchFamily="34" charset="0"/>
              <a:buChar char="•"/>
            </a:pPr>
            <a:r>
              <a:rPr lang="en-US" dirty="0"/>
              <a:t>Naked mRNA encoded: </a:t>
            </a:r>
          </a:p>
          <a:p>
            <a:pPr marL="742950" lvl="1" indent="-285750">
              <a:buFont typeface="Arial" panose="020B0604020202020204" pitchFamily="34" charset="0"/>
              <a:buChar char="•"/>
            </a:pPr>
            <a:r>
              <a:rPr lang="en-US" dirty="0"/>
              <a:t>A novel HIV immunogen</a:t>
            </a:r>
          </a:p>
          <a:p>
            <a:pPr marL="742950" lvl="1" indent="-285750">
              <a:buFont typeface="Arial" panose="020B0604020202020204" pitchFamily="34" charset="0"/>
              <a:buChar char="•"/>
            </a:pPr>
            <a:r>
              <a:rPr lang="en-US" dirty="0"/>
              <a:t>Activation molecules: </a:t>
            </a:r>
            <a:r>
              <a:rPr lang="en-US" b="1" dirty="0"/>
              <a:t>CD40L, CD70, caTLR4</a:t>
            </a:r>
            <a:endParaRPr lang="en-US" dirty="0"/>
          </a:p>
          <a:p>
            <a:pPr>
              <a:buFont typeface="Arial" panose="020B0604020202020204" pitchFamily="34" charset="0"/>
              <a:buChar char="•"/>
            </a:pPr>
            <a:r>
              <a:rPr lang="en-US" dirty="0"/>
              <a:t>Findings: </a:t>
            </a:r>
          </a:p>
          <a:p>
            <a:pPr marL="742950" lvl="1" indent="-285750">
              <a:buFont typeface="Arial" panose="020B0604020202020204" pitchFamily="34" charset="0"/>
              <a:buChar char="•"/>
            </a:pPr>
            <a:r>
              <a:rPr lang="en-US" dirty="0"/>
              <a:t>Safe</a:t>
            </a:r>
          </a:p>
          <a:p>
            <a:pPr marL="742950" lvl="1" indent="-285750">
              <a:buFont typeface="Arial" panose="020B0604020202020204" pitchFamily="34" charset="0"/>
              <a:buChar char="•"/>
            </a:pPr>
            <a:r>
              <a:rPr lang="en-US" dirty="0"/>
              <a:t>Activated </a:t>
            </a:r>
            <a:r>
              <a:rPr lang="en-US" b="1" dirty="0"/>
              <a:t>HIV-specific T-cell responses</a:t>
            </a:r>
            <a:endParaRPr lang="en-US" dirty="0"/>
          </a:p>
          <a:p>
            <a:pPr>
              <a:buFont typeface="Arial" panose="020B0604020202020204" pitchFamily="34" charset="0"/>
              <a:buChar char="•"/>
            </a:pPr>
            <a:r>
              <a:rPr lang="en-US" dirty="0"/>
              <a:t>But phase IIa interim analysis (</a:t>
            </a:r>
            <a:r>
              <a:rPr lang="en-US" b="1" dirty="0"/>
              <a:t>NCT02888756</a:t>
            </a:r>
            <a:r>
              <a:rPr lang="en-US" dirty="0"/>
              <a:t>) showed </a:t>
            </a:r>
            <a:r>
              <a:rPr lang="en-US" b="1" dirty="0"/>
              <a:t>insufficient immunogenicity vs placebo</a:t>
            </a:r>
            <a:endParaRPr lang="en-US" dirty="0"/>
          </a:p>
        </p:txBody>
      </p:sp>
    </p:spTree>
    <p:extLst>
      <p:ext uri="{BB962C8B-B14F-4D97-AF65-F5344CB8AC3E}">
        <p14:creationId xmlns:p14="http://schemas.microsoft.com/office/powerpoint/2010/main" val="46050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737CB13-EFA1-C84F-C496-5CA7E49CF582}"/>
              </a:ext>
            </a:extLst>
          </p:cNvPr>
          <p:cNvSpPr txBox="1"/>
          <p:nvPr/>
        </p:nvSpPr>
        <p:spPr>
          <a:xfrm>
            <a:off x="308658" y="316383"/>
            <a:ext cx="11574684" cy="6284862"/>
          </a:xfrm>
          <a:prstGeom prst="rect">
            <a:avLst/>
          </a:prstGeom>
          <a:noFill/>
        </p:spPr>
        <p:txBody>
          <a:bodyPr wrap="square">
            <a:spAutoFit/>
          </a:bodyPr>
          <a:lstStyle/>
          <a:p>
            <a:pPr>
              <a:lnSpc>
                <a:spcPct val="150000"/>
              </a:lnSpc>
              <a:buNone/>
            </a:pPr>
            <a:r>
              <a:rPr lang="en-US" b="1" dirty="0"/>
              <a:t>Peptide, Protein, &amp; Yeast-Based Platforms for HCV</a:t>
            </a:r>
          </a:p>
          <a:p>
            <a:pPr>
              <a:lnSpc>
                <a:spcPct val="150000"/>
              </a:lnSpc>
              <a:buNone/>
            </a:pPr>
            <a:endParaRPr lang="en-US" dirty="0"/>
          </a:p>
          <a:p>
            <a:pPr>
              <a:lnSpc>
                <a:spcPct val="150000"/>
              </a:lnSpc>
              <a:buFont typeface="Arial" panose="020B0604020202020204" pitchFamily="34" charset="0"/>
              <a:buChar char="•"/>
            </a:pPr>
            <a:r>
              <a:rPr lang="en-US" b="1" dirty="0"/>
              <a:t>Peptide/Protein Vaccines:</a:t>
            </a:r>
            <a:r>
              <a:rPr lang="en-US" dirty="0"/>
              <a:t> </a:t>
            </a:r>
          </a:p>
          <a:p>
            <a:pPr marL="742950" lvl="1" indent="-285750">
              <a:lnSpc>
                <a:spcPct val="150000"/>
              </a:lnSpc>
              <a:buFont typeface="Arial" panose="020B0604020202020204" pitchFamily="34" charset="0"/>
              <a:buChar char="•"/>
            </a:pPr>
            <a:r>
              <a:rPr lang="en-US" dirty="0"/>
              <a:t>Relatively easy to manufacture but often suffer from HLA-restriction and low immunogenicity.</a:t>
            </a:r>
          </a:p>
          <a:p>
            <a:pPr marL="742950" lvl="1" indent="-285750">
              <a:lnSpc>
                <a:spcPct val="150000"/>
              </a:lnSpc>
              <a:buFont typeface="Arial" panose="020B0604020202020204" pitchFamily="34" charset="0"/>
              <a:buChar char="•"/>
            </a:pPr>
            <a:r>
              <a:rPr lang="en-US" b="1" dirty="0"/>
              <a:t>IC41 Vaccine:</a:t>
            </a:r>
            <a:r>
              <a:rPr lang="en-US" dirty="0"/>
              <a:t> 5 synthetic peptides (Core, NS3, NS4) + poly-L-arginine adjuvant.</a:t>
            </a:r>
          </a:p>
          <a:p>
            <a:pPr>
              <a:lnSpc>
                <a:spcPct val="150000"/>
              </a:lnSpc>
              <a:buFont typeface="Arial" panose="020B0604020202020204" pitchFamily="34" charset="0"/>
              <a:buChar char="•"/>
            </a:pPr>
            <a:r>
              <a:rPr lang="en-US" i="1" dirty="0"/>
              <a:t>Phase I (HLA-A2+):</a:t>
            </a:r>
            <a:r>
              <a:rPr lang="en-US" dirty="0"/>
              <a:t> Safe and immunogenic, but T-cell responses were too weak to clear viral RNA.</a:t>
            </a:r>
          </a:p>
          <a:p>
            <a:pPr>
              <a:lnSpc>
                <a:spcPct val="150000"/>
              </a:lnSpc>
              <a:buFont typeface="Arial" panose="020B0604020202020204" pitchFamily="34" charset="0"/>
              <a:buChar char="•"/>
            </a:pPr>
            <a:r>
              <a:rPr lang="en-US" i="1" dirty="0"/>
              <a:t>Intensified/Intradermal Dosing:</a:t>
            </a:r>
            <a:r>
              <a:rPr lang="en-US" dirty="0"/>
              <a:t> Showed improved, more robust immune responses. </a:t>
            </a:r>
          </a:p>
          <a:p>
            <a:pPr marL="742950" lvl="1" indent="-285750">
              <a:lnSpc>
                <a:spcPct val="150000"/>
              </a:lnSpc>
              <a:buFont typeface="Arial" panose="020B0604020202020204" pitchFamily="34" charset="0"/>
              <a:buChar char="•"/>
            </a:pPr>
            <a:r>
              <a:rPr lang="en-US" b="1" dirty="0"/>
              <a:t>HCV Core (C35–44) + ISA51:</a:t>
            </a:r>
            <a:r>
              <a:rPr lang="en-US" dirty="0"/>
              <a:t> Safe and well-tolerated in Phase I.</a:t>
            </a:r>
          </a:p>
          <a:p>
            <a:pPr marL="742950" lvl="1" indent="-285750">
              <a:lnSpc>
                <a:spcPct val="150000"/>
              </a:lnSpc>
              <a:buFont typeface="Arial" panose="020B0604020202020204" pitchFamily="34" charset="0"/>
              <a:buChar char="•"/>
            </a:pPr>
            <a:r>
              <a:rPr lang="en-US" b="1" dirty="0"/>
              <a:t>NCT00445419:</a:t>
            </a:r>
            <a:r>
              <a:rPr lang="en-US" dirty="0"/>
              <a:t> Virosome-based vaccine containing NS3 peptides (Phase I completed).</a:t>
            </a:r>
          </a:p>
          <a:p>
            <a:pPr marL="742950" lvl="1" indent="-285750">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b="1" dirty="0"/>
              <a:t>Yeast Vector Vaccine:</a:t>
            </a:r>
            <a:r>
              <a:rPr lang="en-US" dirty="0"/>
              <a:t> </a:t>
            </a:r>
          </a:p>
          <a:p>
            <a:pPr marL="742950" lvl="1" indent="-285750">
              <a:lnSpc>
                <a:spcPct val="150000"/>
              </a:lnSpc>
              <a:buFont typeface="Arial" panose="020B0604020202020204" pitchFamily="34" charset="0"/>
              <a:buChar char="•"/>
            </a:pPr>
            <a:r>
              <a:rPr lang="en-US" b="1" dirty="0"/>
              <a:t>GI-5005:</a:t>
            </a:r>
            <a:r>
              <a:rPr lang="en-US" dirty="0"/>
              <a:t> Yeast-vector expressing an </a:t>
            </a:r>
            <a:r>
              <a:rPr lang="en-US" b="1" dirty="0"/>
              <a:t>NS3-Core fusion protein</a:t>
            </a:r>
            <a:r>
              <a:rPr lang="en-US" dirty="0"/>
              <a:t>.</a:t>
            </a:r>
          </a:p>
          <a:p>
            <a:pPr>
              <a:lnSpc>
                <a:spcPct val="150000"/>
              </a:lnSpc>
              <a:buFont typeface="Arial" panose="020B0604020202020204" pitchFamily="34" charset="0"/>
              <a:buChar char="•"/>
            </a:pPr>
            <a:r>
              <a:rPr lang="en-US" i="1" dirty="0"/>
              <a:t>Preclinical:</a:t>
            </a:r>
            <a:r>
              <a:rPr lang="en-US" dirty="0"/>
              <a:t> Induced robust NS3- and core-specific cellular responses.</a:t>
            </a:r>
          </a:p>
          <a:p>
            <a:pPr>
              <a:lnSpc>
                <a:spcPct val="150000"/>
              </a:lnSpc>
              <a:buFont typeface="Arial" panose="020B0604020202020204" pitchFamily="34" charset="0"/>
              <a:buChar char="•"/>
            </a:pPr>
            <a:r>
              <a:rPr lang="en-US" i="1" dirty="0"/>
              <a:t>Phase I (NCT00124215):</a:t>
            </a:r>
            <a:r>
              <a:rPr lang="en-US" dirty="0"/>
              <a:t> Safe, well-tolerated, and induced significant HCV-specific immunity.</a:t>
            </a:r>
          </a:p>
          <a:p>
            <a:pPr>
              <a:lnSpc>
                <a:spcPct val="150000"/>
              </a:lnSpc>
              <a:buFont typeface="Arial" panose="020B0604020202020204" pitchFamily="34" charset="0"/>
              <a:buChar char="•"/>
            </a:pPr>
            <a:r>
              <a:rPr lang="en-US" i="1" dirty="0"/>
              <a:t>Phase II (NCT00606086):</a:t>
            </a:r>
            <a:r>
              <a:rPr lang="en-US" dirty="0"/>
              <a:t> Evaluated combined efficacy with standard-of-care</a:t>
            </a:r>
          </a:p>
        </p:txBody>
      </p:sp>
    </p:spTree>
    <p:extLst>
      <p:ext uri="{BB962C8B-B14F-4D97-AF65-F5344CB8AC3E}">
        <p14:creationId xmlns:p14="http://schemas.microsoft.com/office/powerpoint/2010/main" val="13815703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86AE705-B61A-D34B-1BEE-9E4E9668EE0F}"/>
              </a:ext>
            </a:extLst>
          </p:cNvPr>
          <p:cNvSpPr txBox="1"/>
          <p:nvPr/>
        </p:nvSpPr>
        <p:spPr>
          <a:xfrm>
            <a:off x="245963" y="272533"/>
            <a:ext cx="6094070" cy="369332"/>
          </a:xfrm>
          <a:prstGeom prst="rect">
            <a:avLst/>
          </a:prstGeom>
          <a:noFill/>
        </p:spPr>
        <p:txBody>
          <a:bodyPr wrap="square">
            <a:spAutoFit/>
          </a:bodyPr>
          <a:lstStyle/>
          <a:p>
            <a:r>
              <a:rPr lang="en-US" dirty="0"/>
              <a:t>DNA-Based &amp; Recombinant Viral Vector Vaccines for HCV</a:t>
            </a:r>
          </a:p>
        </p:txBody>
      </p:sp>
      <p:sp>
        <p:nvSpPr>
          <p:cNvPr id="5" name="TextBox 4">
            <a:extLst>
              <a:ext uri="{FF2B5EF4-FFF2-40B4-BE49-F238E27FC236}">
                <a16:creationId xmlns:a16="http://schemas.microsoft.com/office/drawing/2014/main" id="{51CFA6FC-200A-BBBA-B995-F39990F5F7E6}"/>
              </a:ext>
            </a:extLst>
          </p:cNvPr>
          <p:cNvSpPr txBox="1"/>
          <p:nvPr/>
        </p:nvSpPr>
        <p:spPr>
          <a:xfrm>
            <a:off x="245963" y="974553"/>
            <a:ext cx="11768559" cy="5078313"/>
          </a:xfrm>
          <a:prstGeom prst="rect">
            <a:avLst/>
          </a:prstGeom>
          <a:noFill/>
        </p:spPr>
        <p:txBody>
          <a:bodyPr wrap="square">
            <a:spAutoFit/>
          </a:bodyPr>
          <a:lstStyle/>
          <a:p>
            <a:pPr>
              <a:buFont typeface="Arial" panose="020B0604020202020204" pitchFamily="34" charset="0"/>
              <a:buChar char="•"/>
            </a:pPr>
            <a:r>
              <a:rPr lang="en-US" b="1" dirty="0"/>
              <a:t>DNA Vaccines:</a:t>
            </a:r>
            <a:r>
              <a:rPr lang="en-US" dirty="0"/>
              <a:t> Designed to express structural/non-structural proteins (NS3, NS4, NS5, Core, E1/E2) to trigger both humoral and cellular immunity.</a:t>
            </a:r>
          </a:p>
          <a:p>
            <a:endParaRPr lang="en-US" dirty="0"/>
          </a:p>
          <a:p>
            <a:pPr lvl="1">
              <a:buFont typeface="Arial" panose="020B0604020202020204" pitchFamily="34" charset="0"/>
              <a:buChar char="•"/>
            </a:pPr>
            <a:r>
              <a:rPr lang="en-US" b="1" dirty="0"/>
              <a:t>CIGB-230:</a:t>
            </a:r>
            <a:r>
              <a:rPr lang="en-US" dirty="0"/>
              <a:t> First therapeutic DNA vaccine evaluated in clinical trials; contains a mixture of core/E1/E2-expressing plasmids.</a:t>
            </a:r>
          </a:p>
          <a:p>
            <a:pPr lvl="1">
              <a:buFont typeface="Arial" panose="020B0604020202020204" pitchFamily="34" charset="0"/>
              <a:buChar char="•"/>
            </a:pPr>
            <a:r>
              <a:rPr lang="en-US" b="1" dirty="0" err="1"/>
              <a:t>ChronVac</a:t>
            </a:r>
            <a:r>
              <a:rPr lang="en-US" b="1" dirty="0"/>
              <a:t>-C (NCT01335711):</a:t>
            </a:r>
            <a:r>
              <a:rPr lang="en-US" dirty="0"/>
              <a:t> Phase II trial; encodes conserved NS3/NS4a regions. Initial data confirmed safety and immunogenicity.</a:t>
            </a:r>
          </a:p>
          <a:p>
            <a:pPr lvl="1">
              <a:buFont typeface="Arial" panose="020B0604020202020204" pitchFamily="34" charset="0"/>
              <a:buChar char="•"/>
            </a:pPr>
            <a:r>
              <a:rPr lang="en-US" b="1" dirty="0"/>
              <a:t>Modified NS3 DNA Vaccines:</a:t>
            </a:r>
            <a:r>
              <a:rPr lang="en-US" dirty="0"/>
              <a:t> Engineered mutations in the catalytic triad/helicase domains to prevent the vaccine antigen from interfering with normal host cell functions.</a:t>
            </a:r>
          </a:p>
          <a:p>
            <a:pPr lvl="1"/>
            <a:endParaRPr lang="en-US" dirty="0"/>
          </a:p>
          <a:p>
            <a:pPr>
              <a:buFont typeface="Arial" panose="020B0604020202020204" pitchFamily="34" charset="0"/>
              <a:buChar char="•"/>
            </a:pPr>
            <a:r>
              <a:rPr lang="en-US" b="1" dirty="0"/>
              <a:t>Viral Vector-Based Vaccines:</a:t>
            </a:r>
          </a:p>
          <a:p>
            <a:endParaRPr lang="en-US" b="1" dirty="0"/>
          </a:p>
          <a:p>
            <a:pPr lvl="1">
              <a:buFont typeface="Arial" panose="020B0604020202020204" pitchFamily="34" charset="0"/>
              <a:buChar char="•"/>
            </a:pPr>
            <a:r>
              <a:rPr lang="en-US" dirty="0"/>
              <a:t> </a:t>
            </a:r>
            <a:r>
              <a:rPr lang="en-US" b="1" dirty="0"/>
              <a:t>Ad6-based vaccine:</a:t>
            </a:r>
            <a:r>
              <a:rPr lang="en-US" dirty="0"/>
              <a:t> Encodes NS3, NS4A, NS4B, NS5A, and inactive NS5B.</a:t>
            </a:r>
          </a:p>
          <a:p>
            <a:pPr>
              <a:buFont typeface="Arial" panose="020B0604020202020204" pitchFamily="34" charset="0"/>
              <a:buChar char="•"/>
            </a:pPr>
            <a:r>
              <a:rPr lang="en-US" i="1" dirty="0"/>
              <a:t>Trial (NCT01094873):</a:t>
            </a:r>
            <a:r>
              <a:rPr lang="en-US" dirty="0"/>
              <a:t> Safe and highly immunogenic in Phase I (previously validated in mice, macaques, and chimpanzees).</a:t>
            </a:r>
          </a:p>
          <a:p>
            <a:endParaRPr lang="en-US" dirty="0"/>
          </a:p>
          <a:p>
            <a:pPr lvl="1">
              <a:buFont typeface="Arial" panose="020B0604020202020204" pitchFamily="34" charset="0"/>
              <a:buChar char="•"/>
            </a:pPr>
            <a:r>
              <a:rPr lang="en-US" dirty="0"/>
              <a:t> </a:t>
            </a:r>
            <a:r>
              <a:rPr lang="en-US" b="1" dirty="0"/>
              <a:t>TG4040 (MVA-based):</a:t>
            </a:r>
            <a:r>
              <a:rPr lang="en-US" dirty="0"/>
              <a:t> Expresses NS3/4/5B. Induces potent, long-lasting T-cell responses. Evaluated in Phase II (NCT01055821) in combination with PEG-IFN/Ribavirin.</a:t>
            </a:r>
          </a:p>
        </p:txBody>
      </p:sp>
    </p:spTree>
    <p:extLst>
      <p:ext uri="{BB962C8B-B14F-4D97-AF65-F5344CB8AC3E}">
        <p14:creationId xmlns:p14="http://schemas.microsoft.com/office/powerpoint/2010/main" val="41319256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76D701-984E-E39C-C001-412A7BAFCD96}"/>
              </a:ext>
            </a:extLst>
          </p:cNvPr>
          <p:cNvSpPr txBox="1"/>
          <p:nvPr/>
        </p:nvSpPr>
        <p:spPr>
          <a:xfrm>
            <a:off x="431655" y="566918"/>
            <a:ext cx="9646409" cy="3376374"/>
          </a:xfrm>
          <a:prstGeom prst="rect">
            <a:avLst/>
          </a:prstGeom>
          <a:noFill/>
        </p:spPr>
        <p:txBody>
          <a:bodyPr wrap="square">
            <a:spAutoFit/>
          </a:bodyPr>
          <a:lstStyle/>
          <a:p>
            <a:pPr>
              <a:lnSpc>
                <a:spcPct val="150000"/>
              </a:lnSpc>
              <a:buFont typeface="Arial" panose="020B0604020202020204" pitchFamily="34" charset="0"/>
              <a:buChar char="•"/>
            </a:pPr>
            <a:r>
              <a:rPr lang="en-US" b="1" dirty="0"/>
              <a:t>Dendritic Cell (DC) Vaccines for HCV:</a:t>
            </a:r>
            <a:r>
              <a:rPr lang="en-US" dirty="0"/>
              <a:t> Autologous DCs loaded and activated </a:t>
            </a:r>
            <a:r>
              <a:rPr lang="en-US" i="1" dirty="0"/>
              <a:t>ex vivo</a:t>
            </a:r>
            <a:r>
              <a:rPr lang="en-US" dirty="0"/>
              <a:t> with HCV HLA-A2 restricted T-cell epitopes.</a:t>
            </a:r>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b="1" dirty="0"/>
              <a:t>Clinical Trial Results:</a:t>
            </a:r>
            <a:r>
              <a:rPr lang="en-US" dirty="0"/>
              <a:t> Tested in chronic HCV patients; showed safety but only weak HCV-specific CD8+ T-cell responses.</a:t>
            </a:r>
          </a:p>
          <a:p>
            <a:pPr>
              <a:lnSpc>
                <a:spcPct val="150000"/>
              </a:lnSpc>
              <a:buFont typeface="Arial" panose="020B0604020202020204" pitchFamily="34" charset="0"/>
              <a:buChar char="•"/>
            </a:pPr>
            <a:endParaRPr lang="en-US" dirty="0"/>
          </a:p>
          <a:p>
            <a:pPr>
              <a:lnSpc>
                <a:spcPct val="150000"/>
              </a:lnSpc>
              <a:buFont typeface="Arial" panose="020B0604020202020204" pitchFamily="34" charset="0"/>
              <a:buChar char="•"/>
            </a:pPr>
            <a:r>
              <a:rPr lang="en-US" b="1" dirty="0"/>
              <a:t>Future Need:</a:t>
            </a:r>
            <a:r>
              <a:rPr lang="en-US" dirty="0"/>
              <a:t> Optimization of dosing regimens, adjuvants, or alternative routes of administration to enhance efficacy.</a:t>
            </a:r>
          </a:p>
        </p:txBody>
      </p:sp>
    </p:spTree>
    <p:extLst>
      <p:ext uri="{BB962C8B-B14F-4D97-AF65-F5344CB8AC3E}">
        <p14:creationId xmlns:p14="http://schemas.microsoft.com/office/powerpoint/2010/main" val="27207458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48641FF-DD13-1C3D-44A9-C8A2A5B32902}"/>
              </a:ext>
            </a:extLst>
          </p:cNvPr>
          <p:cNvSpPr txBox="1"/>
          <p:nvPr/>
        </p:nvSpPr>
        <p:spPr>
          <a:xfrm>
            <a:off x="408724" y="0"/>
            <a:ext cx="12107741" cy="6700360"/>
          </a:xfrm>
          <a:prstGeom prst="rect">
            <a:avLst/>
          </a:prstGeom>
          <a:noFill/>
        </p:spPr>
        <p:txBody>
          <a:bodyPr wrap="square">
            <a:spAutoFit/>
          </a:bodyPr>
          <a:lstStyle/>
          <a:p>
            <a:pPr>
              <a:lnSpc>
                <a:spcPct val="150000"/>
              </a:lnSpc>
              <a:buNone/>
            </a:pPr>
            <a:r>
              <a:rPr lang="en-US" b="1" dirty="0"/>
              <a:t>Therapeutic Vaccines Against Noncommunicable Diseases</a:t>
            </a:r>
            <a:endParaRPr lang="en-US" dirty="0"/>
          </a:p>
          <a:p>
            <a:pPr>
              <a:lnSpc>
                <a:spcPct val="150000"/>
              </a:lnSpc>
              <a:buFont typeface="Arial" panose="020B0604020202020204" pitchFamily="34" charset="0"/>
              <a:buChar char="•"/>
            </a:pPr>
            <a:r>
              <a:rPr lang="en-US" dirty="0"/>
              <a:t>Cancers are increasingly viewed as </a:t>
            </a:r>
            <a:r>
              <a:rPr lang="en-US" b="1" dirty="0"/>
              <a:t>chronic, controllable diseases</a:t>
            </a:r>
            <a:r>
              <a:rPr lang="en-US" dirty="0"/>
              <a:t>.</a:t>
            </a:r>
          </a:p>
          <a:p>
            <a:pPr>
              <a:lnSpc>
                <a:spcPct val="150000"/>
              </a:lnSpc>
              <a:buFont typeface="Arial" panose="020B0604020202020204" pitchFamily="34" charset="0"/>
              <a:buChar char="•"/>
            </a:pPr>
            <a:r>
              <a:rPr lang="en-US" dirty="0"/>
              <a:t>Therapeutic vaccines are being explored as immunotherapies for: </a:t>
            </a:r>
          </a:p>
          <a:p>
            <a:pPr marL="742950" lvl="1" indent="-285750">
              <a:lnSpc>
                <a:spcPct val="150000"/>
              </a:lnSpc>
              <a:buFont typeface="Arial" panose="020B0604020202020204" pitchFamily="34" charset="0"/>
              <a:buChar char="•"/>
            </a:pPr>
            <a:r>
              <a:rPr lang="en-US" b="1" dirty="0"/>
              <a:t>Cancer</a:t>
            </a:r>
            <a:endParaRPr lang="en-US" dirty="0"/>
          </a:p>
          <a:p>
            <a:pPr marL="742950" lvl="1" indent="-285750">
              <a:lnSpc>
                <a:spcPct val="150000"/>
              </a:lnSpc>
              <a:buFont typeface="Arial" panose="020B0604020202020204" pitchFamily="34" charset="0"/>
              <a:buChar char="•"/>
            </a:pPr>
            <a:r>
              <a:rPr lang="en-US" dirty="0"/>
              <a:t>Hypertension</a:t>
            </a:r>
          </a:p>
          <a:p>
            <a:pPr marL="742950" lvl="1" indent="-285750">
              <a:lnSpc>
                <a:spcPct val="150000"/>
              </a:lnSpc>
              <a:buFont typeface="Arial" panose="020B0604020202020204" pitchFamily="34" charset="0"/>
              <a:buChar char="•"/>
            </a:pPr>
            <a:r>
              <a:rPr lang="en-US" dirty="0"/>
              <a:t>Dyslipidemia</a:t>
            </a:r>
          </a:p>
          <a:p>
            <a:pPr marL="742950" lvl="1" indent="-285750">
              <a:lnSpc>
                <a:spcPct val="150000"/>
              </a:lnSpc>
              <a:buFont typeface="Arial" panose="020B0604020202020204" pitchFamily="34" charset="0"/>
              <a:buChar char="•"/>
            </a:pPr>
            <a:r>
              <a:rPr lang="en-US" dirty="0"/>
              <a:t>Alzheimer’s disease</a:t>
            </a:r>
          </a:p>
          <a:p>
            <a:pPr marL="742950" lvl="1" indent="-285750">
              <a:lnSpc>
                <a:spcPct val="150000"/>
              </a:lnSpc>
              <a:buFont typeface="Arial" panose="020B0604020202020204" pitchFamily="34" charset="0"/>
              <a:buChar char="•"/>
            </a:pPr>
            <a:r>
              <a:rPr lang="en-US" dirty="0"/>
              <a:t>Amyotrophic lateral sclerosis (ALS)</a:t>
            </a:r>
          </a:p>
          <a:p>
            <a:pPr marL="742950" lvl="1" indent="-285750">
              <a:lnSpc>
                <a:spcPct val="150000"/>
              </a:lnSpc>
              <a:buFont typeface="Arial" panose="020B0604020202020204" pitchFamily="34" charset="0"/>
              <a:buChar char="•"/>
            </a:pPr>
            <a:r>
              <a:rPr lang="en-US" dirty="0"/>
              <a:t>Diabetes</a:t>
            </a:r>
          </a:p>
          <a:p>
            <a:pPr>
              <a:lnSpc>
                <a:spcPct val="150000"/>
              </a:lnSpc>
              <a:buFont typeface="Arial" panose="020B0604020202020204" pitchFamily="34" charset="0"/>
              <a:buChar char="•"/>
            </a:pPr>
            <a:r>
              <a:rPr lang="en-US" dirty="0"/>
              <a:t>Cancer vaccines have shown </a:t>
            </a:r>
            <a:r>
              <a:rPr lang="en-US" b="1" dirty="0"/>
              <a:t>modest clinical benefit</a:t>
            </a:r>
            <a:r>
              <a:rPr lang="en-US" dirty="0"/>
              <a:t> so far.</a:t>
            </a:r>
          </a:p>
          <a:p>
            <a:pPr>
              <a:lnSpc>
                <a:spcPct val="150000"/>
              </a:lnSpc>
              <a:buFont typeface="Arial" panose="020B0604020202020204" pitchFamily="34" charset="0"/>
              <a:buChar char="•"/>
            </a:pPr>
            <a:r>
              <a:rPr lang="en-US" dirty="0"/>
              <a:t>Recent progress is driven by better understanding of: </a:t>
            </a:r>
          </a:p>
          <a:p>
            <a:pPr marL="742950" lvl="1" indent="-285750">
              <a:lnSpc>
                <a:spcPct val="150000"/>
              </a:lnSpc>
              <a:buFont typeface="Arial" panose="020B0604020202020204" pitchFamily="34" charset="0"/>
              <a:buChar char="•"/>
            </a:pPr>
            <a:r>
              <a:rPr lang="en-US" dirty="0"/>
              <a:t>Tumor-associated antigens</a:t>
            </a:r>
          </a:p>
          <a:p>
            <a:pPr marL="742950" lvl="1" indent="-285750">
              <a:lnSpc>
                <a:spcPct val="150000"/>
              </a:lnSpc>
              <a:buFont typeface="Arial" panose="020B0604020202020204" pitchFamily="34" charset="0"/>
              <a:buChar char="•"/>
            </a:pPr>
            <a:r>
              <a:rPr lang="en-US" dirty="0"/>
              <a:t>Neoantigens</a:t>
            </a:r>
          </a:p>
          <a:p>
            <a:pPr marL="742950" lvl="1" indent="-285750">
              <a:lnSpc>
                <a:spcPct val="150000"/>
              </a:lnSpc>
              <a:buFont typeface="Arial" panose="020B0604020202020204" pitchFamily="34" charset="0"/>
              <a:buChar char="•"/>
            </a:pPr>
            <a:r>
              <a:rPr lang="en-US" dirty="0"/>
              <a:t>Tumor microenvironment</a:t>
            </a:r>
          </a:p>
          <a:p>
            <a:pPr marL="742950" lvl="1" indent="-285750">
              <a:lnSpc>
                <a:spcPct val="150000"/>
              </a:lnSpc>
              <a:buFont typeface="Arial" panose="020B0604020202020204" pitchFamily="34" charset="0"/>
              <a:buChar char="•"/>
            </a:pPr>
            <a:r>
              <a:rPr lang="en-US" dirty="0"/>
              <a:t>Immune checkpoint inhibitors</a:t>
            </a:r>
          </a:p>
          <a:p>
            <a:pPr>
              <a:lnSpc>
                <a:spcPct val="150000"/>
              </a:lnSpc>
              <a:buFont typeface="Arial" panose="020B0604020202020204" pitchFamily="34" charset="0"/>
              <a:buChar char="•"/>
            </a:pPr>
            <a:r>
              <a:rPr lang="en-US" dirty="0"/>
              <a:t>Therapeutic vaccines may become an alternative strategy for chronic lifestyle-related diseases.</a:t>
            </a:r>
          </a:p>
        </p:txBody>
      </p:sp>
    </p:spTree>
    <p:extLst>
      <p:ext uri="{BB962C8B-B14F-4D97-AF65-F5344CB8AC3E}">
        <p14:creationId xmlns:p14="http://schemas.microsoft.com/office/powerpoint/2010/main" val="38565934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4D5836-020D-3480-B925-F6E7C52EC7F6}"/>
              </a:ext>
            </a:extLst>
          </p:cNvPr>
          <p:cNvSpPr txBox="1"/>
          <p:nvPr/>
        </p:nvSpPr>
        <p:spPr>
          <a:xfrm>
            <a:off x="350133" y="411827"/>
            <a:ext cx="10514511" cy="400110"/>
          </a:xfrm>
          <a:prstGeom prst="rect">
            <a:avLst/>
          </a:prstGeom>
          <a:noFill/>
        </p:spPr>
        <p:txBody>
          <a:bodyPr wrap="square">
            <a:spAutoFit/>
          </a:bodyPr>
          <a:lstStyle/>
          <a:p>
            <a:r>
              <a:rPr lang="en-US" sz="2000" b="1" dirty="0"/>
              <a:t>Cancer Vaccine Immunology: From Antigen Presentation to Tumor Killing</a:t>
            </a:r>
          </a:p>
        </p:txBody>
      </p:sp>
      <p:sp>
        <p:nvSpPr>
          <p:cNvPr id="5" name="TextBox 4">
            <a:extLst>
              <a:ext uri="{FF2B5EF4-FFF2-40B4-BE49-F238E27FC236}">
                <a16:creationId xmlns:a16="http://schemas.microsoft.com/office/drawing/2014/main" id="{C0FD4708-29B2-5323-C78A-44F077859D89}"/>
              </a:ext>
            </a:extLst>
          </p:cNvPr>
          <p:cNvSpPr txBox="1"/>
          <p:nvPr/>
        </p:nvSpPr>
        <p:spPr>
          <a:xfrm>
            <a:off x="448799" y="1117565"/>
            <a:ext cx="11330246" cy="5126275"/>
          </a:xfrm>
          <a:prstGeom prst="rect">
            <a:avLst/>
          </a:prstGeom>
          <a:noFill/>
        </p:spPr>
        <p:txBody>
          <a:bodyPr wrap="square">
            <a:spAutoFit/>
          </a:bodyPr>
          <a:lstStyle/>
          <a:p>
            <a:pPr>
              <a:lnSpc>
                <a:spcPct val="150000"/>
              </a:lnSpc>
              <a:buFont typeface="Arial" panose="020B0604020202020204" pitchFamily="34" charset="0"/>
              <a:buChar char="•"/>
            </a:pPr>
            <a:r>
              <a:rPr lang="en-US" sz="2000" dirty="0"/>
              <a:t>Effective antitumor immunity requires: Tumor antigen release and presentation</a:t>
            </a:r>
          </a:p>
          <a:p>
            <a:pPr>
              <a:lnSpc>
                <a:spcPct val="150000"/>
              </a:lnSpc>
              <a:buFont typeface="Arial" panose="020B0604020202020204" pitchFamily="34" charset="0"/>
              <a:buChar char="•"/>
            </a:pPr>
            <a:r>
              <a:rPr lang="en-US" sz="2000" dirty="0"/>
              <a:t>T-cell priming and activation</a:t>
            </a:r>
          </a:p>
          <a:p>
            <a:pPr>
              <a:lnSpc>
                <a:spcPct val="150000"/>
              </a:lnSpc>
              <a:buFont typeface="Arial" panose="020B0604020202020204" pitchFamily="34" charset="0"/>
              <a:buChar char="•"/>
            </a:pPr>
            <a:r>
              <a:rPr lang="en-US" sz="2000" dirty="0"/>
              <a:t>Recognition of tumor cells by T cells</a:t>
            </a:r>
          </a:p>
          <a:p>
            <a:pPr>
              <a:lnSpc>
                <a:spcPct val="150000"/>
              </a:lnSpc>
              <a:buFont typeface="Arial" panose="020B0604020202020204" pitchFamily="34" charset="0"/>
              <a:buChar char="•"/>
            </a:pPr>
            <a:r>
              <a:rPr lang="en-US" sz="2000" dirty="0"/>
              <a:t>Effector mechanisms for tumor elimination</a:t>
            </a:r>
          </a:p>
          <a:p>
            <a:pPr>
              <a:lnSpc>
                <a:spcPct val="150000"/>
              </a:lnSpc>
              <a:buFont typeface="Arial" panose="020B0604020202020204" pitchFamily="34" charset="0"/>
              <a:buChar char="•"/>
            </a:pPr>
            <a:r>
              <a:rPr lang="en-US" sz="2000" dirty="0"/>
              <a:t>In the </a:t>
            </a:r>
            <a:r>
              <a:rPr lang="en-US" sz="2000" b="1" dirty="0"/>
              <a:t>tumor microenvironment (TME)</a:t>
            </a:r>
            <a:r>
              <a:rPr lang="en-US" sz="2000" dirty="0"/>
              <a:t>: TLRs recognize </a:t>
            </a:r>
            <a:r>
              <a:rPr lang="en-US" sz="2000" b="1" dirty="0"/>
              <a:t>PAMPs</a:t>
            </a:r>
            <a:r>
              <a:rPr lang="en-US" sz="2000" dirty="0"/>
              <a:t> and </a:t>
            </a:r>
            <a:r>
              <a:rPr lang="en-US" sz="2000" b="1" dirty="0"/>
              <a:t>DAMPs</a:t>
            </a:r>
            <a:endParaRPr lang="en-US" sz="2000" dirty="0"/>
          </a:p>
          <a:p>
            <a:pPr>
              <a:lnSpc>
                <a:spcPct val="150000"/>
              </a:lnSpc>
              <a:buFont typeface="Arial" panose="020B0604020202020204" pitchFamily="34" charset="0"/>
              <a:buChar char="•"/>
            </a:pPr>
            <a:r>
              <a:rPr lang="en-US" sz="2000" dirty="0"/>
              <a:t>Cytokines and chemokines recruit immune cells</a:t>
            </a:r>
          </a:p>
          <a:p>
            <a:pPr>
              <a:lnSpc>
                <a:spcPct val="150000"/>
              </a:lnSpc>
              <a:buFont typeface="Arial" panose="020B0604020202020204" pitchFamily="34" charset="0"/>
              <a:buChar char="•"/>
            </a:pPr>
            <a:r>
              <a:rPr lang="en-US" sz="2000" dirty="0"/>
              <a:t>Innate immunity supports adaptive immunity</a:t>
            </a:r>
          </a:p>
          <a:p>
            <a:pPr>
              <a:lnSpc>
                <a:spcPct val="150000"/>
              </a:lnSpc>
              <a:buFont typeface="Arial" panose="020B0604020202020204" pitchFamily="34" charset="0"/>
              <a:buChar char="•"/>
            </a:pPr>
            <a:r>
              <a:rPr lang="en-US" sz="2000" b="1" dirty="0"/>
              <a:t>Dendritic cells (DCs)</a:t>
            </a:r>
            <a:r>
              <a:rPr lang="en-US" sz="2000" dirty="0"/>
              <a:t> are central APCs: Capture tumor antigens</a:t>
            </a:r>
          </a:p>
          <a:p>
            <a:pPr>
              <a:lnSpc>
                <a:spcPct val="150000"/>
              </a:lnSpc>
              <a:buFont typeface="Arial" panose="020B0604020202020204" pitchFamily="34" charset="0"/>
              <a:buChar char="•"/>
            </a:pPr>
            <a:r>
              <a:rPr lang="en-US" sz="2000" dirty="0"/>
              <a:t>Mature and migrate to lymphoid organs</a:t>
            </a:r>
          </a:p>
          <a:p>
            <a:pPr>
              <a:lnSpc>
                <a:spcPct val="150000"/>
              </a:lnSpc>
              <a:buFont typeface="Arial" panose="020B0604020202020204" pitchFamily="34" charset="0"/>
              <a:buChar char="•"/>
            </a:pPr>
            <a:r>
              <a:rPr lang="en-US" sz="2000" dirty="0"/>
              <a:t>Present antigens through </a:t>
            </a:r>
            <a:r>
              <a:rPr lang="en-US" sz="2000" b="1" dirty="0"/>
              <a:t>MHC molecules</a:t>
            </a:r>
            <a:endParaRPr lang="en-US" sz="2000" dirty="0"/>
          </a:p>
          <a:p>
            <a:pPr>
              <a:lnSpc>
                <a:spcPct val="150000"/>
              </a:lnSpc>
              <a:buNone/>
            </a:pPr>
            <a:r>
              <a:rPr lang="en-US" sz="2000" dirty="0"/>
              <a:t>Activated </a:t>
            </a:r>
            <a:r>
              <a:rPr lang="en-US" sz="2000" b="1" dirty="0"/>
              <a:t>CD4+ and CD8+ T cells</a:t>
            </a:r>
            <a:r>
              <a:rPr lang="en-US" sz="2000" dirty="0"/>
              <a:t> return to the tumor and mediate tumor killing.</a:t>
            </a:r>
          </a:p>
        </p:txBody>
      </p:sp>
    </p:spTree>
    <p:extLst>
      <p:ext uri="{BB962C8B-B14F-4D97-AF65-F5344CB8AC3E}">
        <p14:creationId xmlns:p14="http://schemas.microsoft.com/office/powerpoint/2010/main" val="763384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A1A8F4B-BBCA-3C2B-147A-A29504878E06}"/>
              </a:ext>
            </a:extLst>
          </p:cNvPr>
          <p:cNvSpPr txBox="1"/>
          <p:nvPr/>
        </p:nvSpPr>
        <p:spPr>
          <a:xfrm>
            <a:off x="326985" y="237810"/>
            <a:ext cx="6094070" cy="400110"/>
          </a:xfrm>
          <a:prstGeom prst="rect">
            <a:avLst/>
          </a:prstGeom>
          <a:noFill/>
        </p:spPr>
        <p:txBody>
          <a:bodyPr wrap="square">
            <a:spAutoFit/>
          </a:bodyPr>
          <a:lstStyle/>
          <a:p>
            <a:r>
              <a:rPr lang="en-US" sz="2000" b="1" dirty="0"/>
              <a:t>Why Earlier Cancer Vaccines Had Limited Success</a:t>
            </a:r>
          </a:p>
        </p:txBody>
      </p:sp>
      <p:sp>
        <p:nvSpPr>
          <p:cNvPr id="5" name="TextBox 4">
            <a:extLst>
              <a:ext uri="{FF2B5EF4-FFF2-40B4-BE49-F238E27FC236}">
                <a16:creationId xmlns:a16="http://schemas.microsoft.com/office/drawing/2014/main" id="{FBAECB0F-2502-3E4C-0E01-6C6EFD00942B}"/>
              </a:ext>
            </a:extLst>
          </p:cNvPr>
          <p:cNvSpPr txBox="1"/>
          <p:nvPr/>
        </p:nvSpPr>
        <p:spPr>
          <a:xfrm>
            <a:off x="585268" y="717623"/>
            <a:ext cx="11021463" cy="5587940"/>
          </a:xfrm>
          <a:prstGeom prst="rect">
            <a:avLst/>
          </a:prstGeom>
          <a:noFill/>
        </p:spPr>
        <p:txBody>
          <a:bodyPr wrap="square">
            <a:spAutoFit/>
          </a:bodyPr>
          <a:lstStyle/>
          <a:p>
            <a:pPr>
              <a:lnSpc>
                <a:spcPct val="150000"/>
              </a:lnSpc>
              <a:buFont typeface="Arial" panose="020B0604020202020204" pitchFamily="34" charset="0"/>
              <a:buChar char="•"/>
            </a:pPr>
            <a:r>
              <a:rPr lang="en-US" sz="2000" dirty="0"/>
              <a:t>Early cancer vaccines mainly aimed to activate tumor-specific T cells. Clinical outcomes were often limited: </a:t>
            </a:r>
            <a:r>
              <a:rPr lang="en-US" sz="2000" b="1" dirty="0" err="1"/>
              <a:t>Sipuleucel</a:t>
            </a:r>
            <a:r>
              <a:rPr lang="en-US" sz="2000" b="1" dirty="0"/>
              <a:t>-T</a:t>
            </a:r>
            <a:r>
              <a:rPr lang="en-US" sz="2000" dirty="0"/>
              <a:t>: FDA-approved in 2010 for metastatic castration-resistant prostate cancer; survival benefit in a subset of patients.</a:t>
            </a:r>
          </a:p>
          <a:p>
            <a:pPr>
              <a:lnSpc>
                <a:spcPct val="150000"/>
              </a:lnSpc>
              <a:buFont typeface="Arial" panose="020B0604020202020204" pitchFamily="34" charset="0"/>
              <a:buChar char="•"/>
            </a:pPr>
            <a:r>
              <a:rPr lang="en-US" sz="2000" b="1" dirty="0"/>
              <a:t>MAGE-A3 immunotherapeutic</a:t>
            </a:r>
            <a:endParaRPr lang="en-US" sz="2000" dirty="0"/>
          </a:p>
          <a:p>
            <a:pPr>
              <a:lnSpc>
                <a:spcPct val="150000"/>
              </a:lnSpc>
              <a:buFont typeface="Arial" panose="020B0604020202020204" pitchFamily="34" charset="0"/>
              <a:buChar char="•"/>
            </a:pPr>
            <a:r>
              <a:rPr lang="en-US" sz="2000" b="1" dirty="0" err="1"/>
              <a:t>Belagenpumatucel</a:t>
            </a:r>
            <a:r>
              <a:rPr lang="en-US" sz="2000" b="1" dirty="0"/>
              <a:t>-L</a:t>
            </a:r>
            <a:endParaRPr lang="en-US" sz="2000" dirty="0"/>
          </a:p>
          <a:p>
            <a:pPr>
              <a:lnSpc>
                <a:spcPct val="150000"/>
              </a:lnSpc>
              <a:buFont typeface="Arial" panose="020B0604020202020204" pitchFamily="34" charset="0"/>
              <a:buChar char="•"/>
            </a:pPr>
            <a:r>
              <a:rPr lang="en-US" sz="2000" b="1" dirty="0" err="1"/>
              <a:t>Tecemotide</a:t>
            </a:r>
            <a:r>
              <a:rPr lang="en-US" sz="2000" b="1" dirty="0"/>
              <a:t> / L-BLP25</a:t>
            </a:r>
            <a:endParaRPr lang="en-US" sz="2000" dirty="0"/>
          </a:p>
          <a:p>
            <a:pPr>
              <a:lnSpc>
                <a:spcPct val="150000"/>
              </a:lnSpc>
              <a:buFont typeface="Arial" panose="020B0604020202020204" pitchFamily="34" charset="0"/>
              <a:buChar char="•"/>
            </a:pPr>
            <a:r>
              <a:rPr lang="en-US" sz="2000" b="1" dirty="0"/>
              <a:t>IMA901</a:t>
            </a:r>
            <a:endParaRPr lang="en-US" sz="2000" dirty="0"/>
          </a:p>
          <a:p>
            <a:pPr>
              <a:lnSpc>
                <a:spcPct val="150000"/>
              </a:lnSpc>
              <a:buFont typeface="Arial" panose="020B0604020202020204" pitchFamily="34" charset="0"/>
              <a:buChar char="•"/>
            </a:pPr>
            <a:r>
              <a:rPr lang="en-US" sz="2000" dirty="0"/>
              <a:t>Major causes of failure: Tumor heterogeneity</a:t>
            </a:r>
          </a:p>
          <a:p>
            <a:pPr>
              <a:lnSpc>
                <a:spcPct val="150000"/>
              </a:lnSpc>
              <a:buFont typeface="Arial" panose="020B0604020202020204" pitchFamily="34" charset="0"/>
              <a:buChar char="•"/>
            </a:pPr>
            <a:r>
              <a:rPr lang="en-US" sz="2000" dirty="0"/>
              <a:t>Immunosuppressive TME</a:t>
            </a:r>
          </a:p>
          <a:p>
            <a:pPr>
              <a:lnSpc>
                <a:spcPct val="150000"/>
              </a:lnSpc>
              <a:buFont typeface="Arial" panose="020B0604020202020204" pitchFamily="34" charset="0"/>
              <a:buChar char="•"/>
            </a:pPr>
            <a:r>
              <a:rPr lang="en-US" sz="2000" dirty="0"/>
              <a:t>Insufficient T-cell durability</a:t>
            </a:r>
          </a:p>
          <a:p>
            <a:pPr>
              <a:lnSpc>
                <a:spcPct val="150000"/>
              </a:lnSpc>
              <a:buFont typeface="Arial" panose="020B0604020202020204" pitchFamily="34" charset="0"/>
              <a:buChar char="•"/>
            </a:pPr>
            <a:r>
              <a:rPr lang="en-US" sz="2000" dirty="0"/>
              <a:t>Poor T-cell infiltration into tumor core</a:t>
            </a:r>
          </a:p>
          <a:p>
            <a:pPr>
              <a:lnSpc>
                <a:spcPct val="150000"/>
              </a:lnSpc>
              <a:buFont typeface="Arial" panose="020B0604020202020204" pitchFamily="34" charset="0"/>
              <a:buChar char="•"/>
            </a:pPr>
            <a:r>
              <a:rPr lang="en-US" sz="2000" dirty="0"/>
              <a:t>Immune escape and resistance</a:t>
            </a:r>
          </a:p>
        </p:txBody>
      </p:sp>
    </p:spTree>
    <p:extLst>
      <p:ext uri="{BB962C8B-B14F-4D97-AF65-F5344CB8AC3E}">
        <p14:creationId xmlns:p14="http://schemas.microsoft.com/office/powerpoint/2010/main" val="118846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048A4BF-3EB3-1FE0-EED1-0AA18AAAECCD}"/>
              </a:ext>
            </a:extLst>
          </p:cNvPr>
          <p:cNvPicPr>
            <a:picLocks noChangeAspect="1"/>
          </p:cNvPicPr>
          <p:nvPr/>
        </p:nvPicPr>
        <p:blipFill>
          <a:blip r:embed="rId2"/>
          <a:stretch>
            <a:fillRect/>
          </a:stretch>
        </p:blipFill>
        <p:spPr>
          <a:xfrm rot="5400000">
            <a:off x="2625572" y="-1607001"/>
            <a:ext cx="6765865" cy="10188211"/>
          </a:xfrm>
          <a:prstGeom prst="rect">
            <a:avLst/>
          </a:prstGeom>
        </p:spPr>
      </p:pic>
    </p:spTree>
    <p:extLst>
      <p:ext uri="{BB962C8B-B14F-4D97-AF65-F5344CB8AC3E}">
        <p14:creationId xmlns:p14="http://schemas.microsoft.com/office/powerpoint/2010/main" val="343265164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9588861-D6E4-F7AE-67B0-BF365B355020}"/>
              </a:ext>
            </a:extLst>
          </p:cNvPr>
          <p:cNvSpPr txBox="1"/>
          <p:nvPr/>
        </p:nvSpPr>
        <p:spPr>
          <a:xfrm>
            <a:off x="234387" y="229420"/>
            <a:ext cx="9499921" cy="400110"/>
          </a:xfrm>
          <a:prstGeom prst="rect">
            <a:avLst/>
          </a:prstGeom>
          <a:noFill/>
        </p:spPr>
        <p:txBody>
          <a:bodyPr wrap="square">
            <a:spAutoFit/>
          </a:bodyPr>
          <a:lstStyle/>
          <a:p>
            <a:r>
              <a:rPr lang="en-US" sz="2000" b="1" dirty="0"/>
              <a:t>Neoantigen-Based Cancer Vaccines: Toward Personalized Immunotherapy</a:t>
            </a:r>
          </a:p>
        </p:txBody>
      </p:sp>
      <p:sp>
        <p:nvSpPr>
          <p:cNvPr id="5" name="TextBox 4">
            <a:extLst>
              <a:ext uri="{FF2B5EF4-FFF2-40B4-BE49-F238E27FC236}">
                <a16:creationId xmlns:a16="http://schemas.microsoft.com/office/drawing/2014/main" id="{107EC903-B272-A219-B328-CADC76282202}"/>
              </a:ext>
            </a:extLst>
          </p:cNvPr>
          <p:cNvSpPr txBox="1"/>
          <p:nvPr/>
        </p:nvSpPr>
        <p:spPr>
          <a:xfrm>
            <a:off x="0" y="892823"/>
            <a:ext cx="12192000" cy="5355312"/>
          </a:xfrm>
          <a:prstGeom prst="rect">
            <a:avLst/>
          </a:prstGeom>
          <a:noFill/>
        </p:spPr>
        <p:txBody>
          <a:bodyPr wrap="square">
            <a:spAutoFit/>
          </a:bodyPr>
          <a:lstStyle/>
          <a:p>
            <a:pPr>
              <a:buFont typeface="Arial" panose="020B0604020202020204" pitchFamily="34" charset="0"/>
              <a:buChar char="•"/>
            </a:pPr>
            <a:r>
              <a:rPr lang="en-US" dirty="0"/>
              <a:t>Successful cancer vaccination depends on: High-quality antigen selection</a:t>
            </a:r>
          </a:p>
          <a:p>
            <a:pPr lvl="1">
              <a:buFont typeface="Arial" panose="020B0604020202020204" pitchFamily="34" charset="0"/>
              <a:buChar char="•"/>
            </a:pPr>
            <a:r>
              <a:rPr lang="en-US" dirty="0"/>
              <a:t>Efficient uptake by DCs</a:t>
            </a:r>
          </a:p>
          <a:p>
            <a:pPr lvl="1">
              <a:buFont typeface="Arial" panose="020B0604020202020204" pitchFamily="34" charset="0"/>
              <a:buChar char="•"/>
            </a:pPr>
            <a:r>
              <a:rPr lang="en-US" dirty="0"/>
              <a:t>Sustained CD4+ and CD8+ T-cell activation</a:t>
            </a:r>
          </a:p>
          <a:p>
            <a:pPr lvl="1">
              <a:buFont typeface="Arial" panose="020B0604020202020204" pitchFamily="34" charset="0"/>
              <a:buChar char="•"/>
            </a:pPr>
            <a:r>
              <a:rPr lang="en-US" dirty="0"/>
              <a:t>T-cell infiltration into the TME</a:t>
            </a:r>
          </a:p>
          <a:p>
            <a:pPr lvl="1">
              <a:buFont typeface="Arial" panose="020B0604020202020204" pitchFamily="34" charset="0"/>
              <a:buChar char="•"/>
            </a:pPr>
            <a:r>
              <a:rPr lang="en-US" dirty="0"/>
              <a:t>Persistent immune memory</a:t>
            </a:r>
          </a:p>
          <a:p>
            <a:pPr>
              <a:buFont typeface="Arial" panose="020B0604020202020204" pitchFamily="34" charset="0"/>
              <a:buChar char="•"/>
            </a:pPr>
            <a:r>
              <a:rPr lang="en-US" dirty="0"/>
              <a:t>Earlier vaccines focused on </a:t>
            </a:r>
            <a:r>
              <a:rPr lang="en-US" b="1" dirty="0"/>
              <a:t>tumor-associated antigens (TAAs)</a:t>
            </a:r>
            <a:r>
              <a:rPr lang="en-US" dirty="0"/>
              <a:t>: Cancer-testis antigens: </a:t>
            </a:r>
            <a:r>
              <a:rPr lang="en-US" b="1" dirty="0"/>
              <a:t>MAGE-A1, MAGE-A3, NY-ESO-1</a:t>
            </a:r>
            <a:endParaRPr lang="en-US" dirty="0"/>
          </a:p>
          <a:p>
            <a:pPr lvl="1">
              <a:buFont typeface="Arial" panose="020B0604020202020204" pitchFamily="34" charset="0"/>
              <a:buChar char="•"/>
            </a:pPr>
            <a:r>
              <a:rPr lang="en-US" dirty="0"/>
              <a:t>Differentiation antigens: </a:t>
            </a:r>
            <a:r>
              <a:rPr lang="en-US" b="1" dirty="0"/>
              <a:t>tyrosinase, gp100, MART-1, PSA, PAP</a:t>
            </a:r>
            <a:endParaRPr lang="en-US" dirty="0"/>
          </a:p>
          <a:p>
            <a:pPr lvl="1">
              <a:buFont typeface="Arial" panose="020B0604020202020204" pitchFamily="34" charset="0"/>
              <a:buChar char="•"/>
            </a:pPr>
            <a:r>
              <a:rPr lang="en-US" dirty="0"/>
              <a:t>Overexpressed antigens: </a:t>
            </a:r>
            <a:r>
              <a:rPr lang="en-US" b="1" dirty="0"/>
              <a:t>HER2, hTERT, MUC-1, mesothelin</a:t>
            </a:r>
            <a:endParaRPr lang="en-US" dirty="0"/>
          </a:p>
          <a:p>
            <a:pPr lvl="1">
              <a:buFont typeface="Arial" panose="020B0604020202020204" pitchFamily="34" charset="0"/>
              <a:buChar char="•"/>
            </a:pPr>
            <a:r>
              <a:rPr lang="en-US" dirty="0" err="1"/>
              <a:t>Oncoviral</a:t>
            </a:r>
            <a:r>
              <a:rPr lang="en-US" dirty="0"/>
              <a:t> antigens: </a:t>
            </a:r>
            <a:r>
              <a:rPr lang="en-US" b="1" dirty="0"/>
              <a:t>HPV E6/E7</a:t>
            </a:r>
            <a:endParaRPr lang="en-US" dirty="0"/>
          </a:p>
          <a:p>
            <a:pPr>
              <a:buFont typeface="Arial" panose="020B0604020202020204" pitchFamily="34" charset="0"/>
              <a:buChar char="•"/>
            </a:pPr>
            <a:r>
              <a:rPr lang="en-US" dirty="0"/>
              <a:t>Limitations of TAAs: Immune tolerance</a:t>
            </a:r>
          </a:p>
          <a:p>
            <a:pPr lvl="1">
              <a:buFont typeface="Arial" panose="020B0604020202020204" pitchFamily="34" charset="0"/>
              <a:buChar char="•"/>
            </a:pPr>
            <a:r>
              <a:rPr lang="en-US" dirty="0"/>
              <a:t>Antigen loss</a:t>
            </a:r>
          </a:p>
          <a:p>
            <a:pPr lvl="1">
              <a:buFont typeface="Arial" panose="020B0604020202020204" pitchFamily="34" charset="0"/>
              <a:buChar char="•"/>
            </a:pPr>
            <a:r>
              <a:rPr lang="en-US" dirty="0"/>
              <a:t>Expression in some normal tissues</a:t>
            </a:r>
          </a:p>
          <a:p>
            <a:pPr lvl="1">
              <a:buFont typeface="Arial" panose="020B0604020202020204" pitchFamily="34" charset="0"/>
              <a:buChar char="•"/>
            </a:pPr>
            <a:r>
              <a:rPr lang="en-US" dirty="0"/>
              <a:t>Collateral tissue damage</a:t>
            </a:r>
          </a:p>
          <a:p>
            <a:pPr>
              <a:buFont typeface="Arial" panose="020B0604020202020204" pitchFamily="34" charset="0"/>
              <a:buChar char="•"/>
            </a:pPr>
            <a:r>
              <a:rPr lang="en-US" b="1" dirty="0"/>
              <a:t>Neoantigens</a:t>
            </a:r>
            <a:r>
              <a:rPr lang="en-US" dirty="0"/>
              <a:t> arise from tumor-specific mutations: Nonsynonymous mutations</a:t>
            </a:r>
          </a:p>
          <a:p>
            <a:pPr lvl="1">
              <a:buFont typeface="Arial" panose="020B0604020202020204" pitchFamily="34" charset="0"/>
              <a:buChar char="•"/>
            </a:pPr>
            <a:r>
              <a:rPr lang="en-US" dirty="0"/>
              <a:t>Frameshifts</a:t>
            </a:r>
          </a:p>
          <a:p>
            <a:pPr lvl="1">
              <a:buFont typeface="Arial" panose="020B0604020202020204" pitchFamily="34" charset="0"/>
              <a:buChar char="•"/>
            </a:pPr>
            <a:r>
              <a:rPr lang="en-US" dirty="0"/>
              <a:t>Insertions/deletions</a:t>
            </a:r>
          </a:p>
          <a:p>
            <a:pPr lvl="1">
              <a:buFont typeface="Arial" panose="020B0604020202020204" pitchFamily="34" charset="0"/>
              <a:buChar char="•"/>
            </a:pPr>
            <a:r>
              <a:rPr lang="en-US" dirty="0"/>
              <a:t>Alternative splicing</a:t>
            </a:r>
          </a:p>
          <a:p>
            <a:pPr lvl="1">
              <a:buFont typeface="Arial" panose="020B0604020202020204" pitchFamily="34" charset="0"/>
              <a:buChar char="•"/>
            </a:pPr>
            <a:r>
              <a:rPr lang="en-US" dirty="0"/>
              <a:t>Gene fusions</a:t>
            </a:r>
          </a:p>
          <a:p>
            <a:pPr>
              <a:buNone/>
            </a:pPr>
            <a:r>
              <a:rPr lang="en-US" dirty="0"/>
              <a:t>Neoantigen vaccines support </a:t>
            </a:r>
            <a:r>
              <a:rPr lang="en-US" b="1" dirty="0"/>
              <a:t>personalized cancer immunotherapy</a:t>
            </a:r>
            <a:r>
              <a:rPr lang="en-US" dirty="0"/>
              <a:t>, often combined with checkpoint blockade.</a:t>
            </a:r>
          </a:p>
        </p:txBody>
      </p:sp>
    </p:spTree>
    <p:extLst>
      <p:ext uri="{BB962C8B-B14F-4D97-AF65-F5344CB8AC3E}">
        <p14:creationId xmlns:p14="http://schemas.microsoft.com/office/powerpoint/2010/main" val="413742390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A82C1C-8A08-305A-2CBD-45841A898D09}"/>
              </a:ext>
            </a:extLst>
          </p:cNvPr>
          <p:cNvPicPr>
            <a:picLocks noChangeAspect="1"/>
          </p:cNvPicPr>
          <p:nvPr/>
        </p:nvPicPr>
        <p:blipFill>
          <a:blip r:embed="rId2"/>
          <a:srcRect l="15053" r="1348" b="394"/>
          <a:stretch>
            <a:fillRect/>
          </a:stretch>
        </p:blipFill>
        <p:spPr>
          <a:xfrm rot="16200000">
            <a:off x="2581847" y="13519"/>
            <a:ext cx="7178248" cy="6830961"/>
          </a:xfrm>
          <a:prstGeom prst="rect">
            <a:avLst/>
          </a:prstGeom>
        </p:spPr>
      </p:pic>
    </p:spTree>
    <p:extLst>
      <p:ext uri="{BB962C8B-B14F-4D97-AF65-F5344CB8AC3E}">
        <p14:creationId xmlns:p14="http://schemas.microsoft.com/office/powerpoint/2010/main" val="277522357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5FDEB79-4BDD-9E80-2DBD-5EB97821E42F}"/>
              </a:ext>
            </a:extLst>
          </p:cNvPr>
          <p:cNvPicPr>
            <a:picLocks noChangeAspect="1"/>
          </p:cNvPicPr>
          <p:nvPr/>
        </p:nvPicPr>
        <p:blipFill>
          <a:blip r:embed="rId2"/>
          <a:stretch>
            <a:fillRect/>
          </a:stretch>
        </p:blipFill>
        <p:spPr>
          <a:xfrm rot="16200000">
            <a:off x="2088970" y="-220844"/>
            <a:ext cx="7177089" cy="7618770"/>
          </a:xfrm>
          <a:prstGeom prst="rect">
            <a:avLst/>
          </a:prstGeom>
        </p:spPr>
      </p:pic>
    </p:spTree>
    <p:extLst>
      <p:ext uri="{BB962C8B-B14F-4D97-AF65-F5344CB8AC3E}">
        <p14:creationId xmlns:p14="http://schemas.microsoft.com/office/powerpoint/2010/main" val="80872387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4B6176-307E-98DD-ACE4-B806168E733D}"/>
              </a:ext>
            </a:extLst>
          </p:cNvPr>
          <p:cNvPicPr>
            <a:picLocks noChangeAspect="1"/>
          </p:cNvPicPr>
          <p:nvPr/>
        </p:nvPicPr>
        <p:blipFill>
          <a:blip r:embed="rId2"/>
          <a:stretch>
            <a:fillRect/>
          </a:stretch>
        </p:blipFill>
        <p:spPr>
          <a:xfrm rot="5400000">
            <a:off x="2768241" y="-2272104"/>
            <a:ext cx="6655518" cy="11604690"/>
          </a:xfrm>
          <a:prstGeom prst="rect">
            <a:avLst/>
          </a:prstGeom>
        </p:spPr>
      </p:pic>
    </p:spTree>
    <p:extLst>
      <p:ext uri="{BB962C8B-B14F-4D97-AF65-F5344CB8AC3E}">
        <p14:creationId xmlns:p14="http://schemas.microsoft.com/office/powerpoint/2010/main" val="634989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9BAEB9E-C74A-138D-ECDC-8F88663992AB}"/>
              </a:ext>
            </a:extLst>
          </p:cNvPr>
          <p:cNvSpPr txBox="1"/>
          <p:nvPr/>
        </p:nvSpPr>
        <p:spPr>
          <a:xfrm>
            <a:off x="255638" y="256938"/>
            <a:ext cx="10294376" cy="400110"/>
          </a:xfrm>
          <a:prstGeom prst="rect">
            <a:avLst/>
          </a:prstGeom>
          <a:noFill/>
        </p:spPr>
        <p:txBody>
          <a:bodyPr wrap="square">
            <a:spAutoFit/>
          </a:bodyPr>
          <a:lstStyle/>
          <a:p>
            <a:r>
              <a:rPr lang="en-US" sz="2000" b="1" dirty="0"/>
              <a:t>Neoantigen Vaccines: Rationale for Personalized Cancer Immunotherapy</a:t>
            </a:r>
          </a:p>
        </p:txBody>
      </p:sp>
      <p:sp>
        <p:nvSpPr>
          <p:cNvPr id="5" name="TextBox 4">
            <a:extLst>
              <a:ext uri="{FF2B5EF4-FFF2-40B4-BE49-F238E27FC236}">
                <a16:creationId xmlns:a16="http://schemas.microsoft.com/office/drawing/2014/main" id="{7F730331-BAAD-F1F7-D8D6-FDCFA7977D09}"/>
              </a:ext>
            </a:extLst>
          </p:cNvPr>
          <p:cNvSpPr txBox="1"/>
          <p:nvPr/>
        </p:nvSpPr>
        <p:spPr>
          <a:xfrm>
            <a:off x="255638" y="759486"/>
            <a:ext cx="11779045" cy="5557740"/>
          </a:xfrm>
          <a:prstGeom prst="rect">
            <a:avLst/>
          </a:prstGeom>
          <a:noFill/>
        </p:spPr>
        <p:txBody>
          <a:bodyPr wrap="square">
            <a:spAutoFit/>
          </a:bodyPr>
          <a:lstStyle/>
          <a:p>
            <a:pPr>
              <a:lnSpc>
                <a:spcPct val="200000"/>
              </a:lnSpc>
              <a:buFont typeface="Arial" panose="020B0604020202020204" pitchFamily="34" charset="0"/>
              <a:buChar char="•"/>
            </a:pPr>
            <a:r>
              <a:rPr lang="en-US" dirty="0"/>
              <a:t>Neoantigens are </a:t>
            </a:r>
            <a:r>
              <a:rPr lang="en-US" b="1" dirty="0"/>
              <a:t>tumor-specific, non-self antigens</a:t>
            </a:r>
            <a:r>
              <a:rPr lang="en-US" dirty="0"/>
              <a:t> arising from somatic mutations.</a:t>
            </a:r>
          </a:p>
          <a:p>
            <a:pPr>
              <a:lnSpc>
                <a:spcPct val="200000"/>
              </a:lnSpc>
              <a:buFont typeface="Arial" panose="020B0604020202020204" pitchFamily="34" charset="0"/>
              <a:buChar char="•"/>
            </a:pPr>
            <a:r>
              <a:rPr lang="en-US" dirty="0"/>
              <a:t>They are expressed only in malignant cells, reducing off-target toxicity in normal tissues.</a:t>
            </a:r>
          </a:p>
          <a:p>
            <a:pPr>
              <a:lnSpc>
                <a:spcPct val="200000"/>
              </a:lnSpc>
              <a:buFont typeface="Arial" panose="020B0604020202020204" pitchFamily="34" charset="0"/>
              <a:buChar char="•"/>
            </a:pPr>
            <a:r>
              <a:rPr lang="en-US" dirty="0"/>
              <a:t>Their strong immunogenicity helps bypass </a:t>
            </a:r>
            <a:r>
              <a:rPr lang="en-US" b="1" dirty="0"/>
              <a:t>central tolerance</a:t>
            </a:r>
            <a:r>
              <a:rPr lang="en-US" dirty="0"/>
              <a:t>.</a:t>
            </a:r>
          </a:p>
          <a:p>
            <a:pPr>
              <a:lnSpc>
                <a:spcPct val="200000"/>
              </a:lnSpc>
              <a:buFont typeface="Arial" panose="020B0604020202020204" pitchFamily="34" charset="0"/>
              <a:buChar char="•"/>
            </a:pPr>
            <a:r>
              <a:rPr lang="en-US" dirty="0"/>
              <a:t>Key determinants of neoantigen quality: </a:t>
            </a:r>
          </a:p>
          <a:p>
            <a:pPr marL="742950" lvl="1" indent="-285750">
              <a:lnSpc>
                <a:spcPct val="200000"/>
              </a:lnSpc>
              <a:buFont typeface="Arial" panose="020B0604020202020204" pitchFamily="34" charset="0"/>
              <a:buChar char="•"/>
            </a:pPr>
            <a:r>
              <a:rPr lang="en-US" dirty="0"/>
              <a:t>Tumor mutational burden (TMB)</a:t>
            </a:r>
          </a:p>
          <a:p>
            <a:pPr marL="742950" lvl="1" indent="-285750">
              <a:lnSpc>
                <a:spcPct val="200000"/>
              </a:lnSpc>
              <a:buFont typeface="Arial" panose="020B0604020202020204" pitchFamily="34" charset="0"/>
              <a:buChar char="•"/>
            </a:pPr>
            <a:r>
              <a:rPr lang="en-US" dirty="0"/>
              <a:t>Clonality of mutations</a:t>
            </a:r>
          </a:p>
          <a:p>
            <a:pPr marL="742950" lvl="1" indent="-285750">
              <a:lnSpc>
                <a:spcPct val="200000"/>
              </a:lnSpc>
              <a:buFont typeface="Arial" panose="020B0604020202020204" pitchFamily="34" charset="0"/>
              <a:buChar char="•"/>
            </a:pPr>
            <a:r>
              <a:rPr lang="en-US" dirty="0"/>
              <a:t>TCR affinity</a:t>
            </a:r>
          </a:p>
          <a:p>
            <a:pPr marL="742950" lvl="1" indent="-285750">
              <a:lnSpc>
                <a:spcPct val="200000"/>
              </a:lnSpc>
              <a:buFont typeface="Arial" panose="020B0604020202020204" pitchFamily="34" charset="0"/>
              <a:buChar char="•"/>
            </a:pPr>
            <a:r>
              <a:rPr lang="en-US" dirty="0"/>
              <a:t>HLA class I/II genotype</a:t>
            </a:r>
          </a:p>
          <a:p>
            <a:pPr>
              <a:lnSpc>
                <a:spcPct val="200000"/>
              </a:lnSpc>
              <a:buFont typeface="Arial" panose="020B0604020202020204" pitchFamily="34" charset="0"/>
              <a:buChar char="•"/>
            </a:pPr>
            <a:r>
              <a:rPr lang="en-US" dirty="0"/>
              <a:t>Accurate neoantigen prediction is essential for clinical success.</a:t>
            </a:r>
          </a:p>
          <a:p>
            <a:pPr>
              <a:lnSpc>
                <a:spcPct val="200000"/>
              </a:lnSpc>
              <a:buFont typeface="Arial" panose="020B0604020202020204" pitchFamily="34" charset="0"/>
              <a:buChar char="•"/>
            </a:pPr>
            <a:r>
              <a:rPr lang="en-US" dirty="0"/>
              <a:t>Next-generation sequencing and MHC-epitope prediction algorithms enable personalized vaccine design.</a:t>
            </a:r>
          </a:p>
        </p:txBody>
      </p:sp>
    </p:spTree>
    <p:extLst>
      <p:ext uri="{BB962C8B-B14F-4D97-AF65-F5344CB8AC3E}">
        <p14:creationId xmlns:p14="http://schemas.microsoft.com/office/powerpoint/2010/main" val="39863968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B9A6F12-9A69-C2E7-1B89-332A1E52C335}"/>
              </a:ext>
            </a:extLst>
          </p:cNvPr>
          <p:cNvSpPr txBox="1"/>
          <p:nvPr/>
        </p:nvSpPr>
        <p:spPr>
          <a:xfrm>
            <a:off x="117988" y="207777"/>
            <a:ext cx="7482348" cy="400110"/>
          </a:xfrm>
          <a:prstGeom prst="rect">
            <a:avLst/>
          </a:prstGeom>
          <a:noFill/>
        </p:spPr>
        <p:txBody>
          <a:bodyPr wrap="square">
            <a:spAutoFit/>
          </a:bodyPr>
          <a:lstStyle/>
          <a:p>
            <a:r>
              <a:rPr lang="en-US" sz="2000" b="1" dirty="0"/>
              <a:t>Clinical Platforms: RNA, Peptide, and DC Neoantigen Vaccines</a:t>
            </a:r>
          </a:p>
        </p:txBody>
      </p:sp>
      <p:sp>
        <p:nvSpPr>
          <p:cNvPr id="5" name="TextBox 4">
            <a:extLst>
              <a:ext uri="{FF2B5EF4-FFF2-40B4-BE49-F238E27FC236}">
                <a16:creationId xmlns:a16="http://schemas.microsoft.com/office/drawing/2014/main" id="{385073DC-ACEA-1BDB-7A84-3FD834451986}"/>
              </a:ext>
            </a:extLst>
          </p:cNvPr>
          <p:cNvSpPr txBox="1"/>
          <p:nvPr/>
        </p:nvSpPr>
        <p:spPr>
          <a:xfrm>
            <a:off x="481781" y="1397137"/>
            <a:ext cx="10028903" cy="3791872"/>
          </a:xfrm>
          <a:prstGeom prst="rect">
            <a:avLst/>
          </a:prstGeom>
          <a:noFill/>
        </p:spPr>
        <p:txBody>
          <a:bodyPr wrap="square">
            <a:spAutoFit/>
          </a:bodyPr>
          <a:lstStyle/>
          <a:p>
            <a:pPr>
              <a:lnSpc>
                <a:spcPct val="150000"/>
              </a:lnSpc>
              <a:buFont typeface="Arial" panose="020B0604020202020204" pitchFamily="34" charset="0"/>
              <a:buChar char="•"/>
            </a:pPr>
            <a:r>
              <a:rPr lang="en-US" b="1" dirty="0"/>
              <a:t>DC-loaded neoantigen vaccines</a:t>
            </a:r>
            <a:r>
              <a:rPr lang="en-US" dirty="0"/>
              <a:t> Monocyte-derived dendritic cells loaded with personalized neoantigens induced T-cell-specific immune responses in melanoma.</a:t>
            </a:r>
          </a:p>
          <a:p>
            <a:pPr>
              <a:lnSpc>
                <a:spcPct val="150000"/>
              </a:lnSpc>
              <a:buFont typeface="Arial" panose="020B0604020202020204" pitchFamily="34" charset="0"/>
              <a:buChar char="•"/>
            </a:pPr>
            <a:r>
              <a:rPr lang="en-US" b="1" dirty="0"/>
              <a:t>RNA-based vaccines</a:t>
            </a:r>
            <a:r>
              <a:rPr lang="en-US" dirty="0"/>
              <a:t> Flexible manufacturing and endogenous antigen expression</a:t>
            </a:r>
          </a:p>
          <a:p>
            <a:pPr>
              <a:lnSpc>
                <a:spcPct val="150000"/>
              </a:lnSpc>
              <a:buFont typeface="Arial" panose="020B0604020202020204" pitchFamily="34" charset="0"/>
              <a:buChar char="•"/>
            </a:pPr>
            <a:r>
              <a:rPr lang="en-US" b="1" dirty="0"/>
              <a:t>NCT02035956</a:t>
            </a:r>
            <a:r>
              <a:rPr lang="en-US" dirty="0"/>
              <a:t>: RNA </a:t>
            </a:r>
            <a:r>
              <a:rPr lang="en-US" dirty="0" err="1"/>
              <a:t>polyneoepitope</a:t>
            </a:r>
            <a:r>
              <a:rPr lang="en-US" dirty="0"/>
              <a:t> vaccine in melanoma</a:t>
            </a:r>
          </a:p>
          <a:p>
            <a:pPr>
              <a:lnSpc>
                <a:spcPct val="150000"/>
              </a:lnSpc>
              <a:buFont typeface="Arial" panose="020B0604020202020204" pitchFamily="34" charset="0"/>
              <a:buChar char="•"/>
            </a:pPr>
            <a:r>
              <a:rPr lang="en-US" dirty="0"/>
              <a:t>Induced both </a:t>
            </a:r>
            <a:r>
              <a:rPr lang="en-US" b="1" dirty="0"/>
              <a:t>CD4+</a:t>
            </a:r>
            <a:r>
              <a:rPr lang="en-US" dirty="0"/>
              <a:t> and </a:t>
            </a:r>
            <a:r>
              <a:rPr lang="en-US" b="1" dirty="0"/>
              <a:t>CD8+</a:t>
            </a:r>
            <a:r>
              <a:rPr lang="en-US" dirty="0"/>
              <a:t> T-cell responses</a:t>
            </a:r>
          </a:p>
          <a:p>
            <a:pPr>
              <a:lnSpc>
                <a:spcPct val="150000"/>
              </a:lnSpc>
              <a:buFont typeface="Arial" panose="020B0604020202020204" pitchFamily="34" charset="0"/>
              <a:buChar char="•"/>
            </a:pPr>
            <a:r>
              <a:rPr lang="en-US" dirty="0"/>
              <a:t>8/13 patients had no recurrence at 12 months</a:t>
            </a:r>
          </a:p>
          <a:p>
            <a:pPr>
              <a:lnSpc>
                <a:spcPct val="150000"/>
              </a:lnSpc>
              <a:buFont typeface="Arial" panose="020B0604020202020204" pitchFamily="34" charset="0"/>
              <a:buChar char="•"/>
            </a:pPr>
            <a:r>
              <a:rPr lang="en-US" b="1" dirty="0"/>
              <a:t>Peptide-based vaccines</a:t>
            </a:r>
            <a:r>
              <a:rPr lang="en-US" dirty="0"/>
              <a:t> Personalized neoantigen peptides + </a:t>
            </a:r>
            <a:r>
              <a:rPr lang="en-US" b="1" dirty="0"/>
              <a:t>poly-ICLC</a:t>
            </a:r>
            <a:endParaRPr lang="en-US" dirty="0"/>
          </a:p>
          <a:p>
            <a:pPr>
              <a:lnSpc>
                <a:spcPct val="150000"/>
              </a:lnSpc>
              <a:buFont typeface="Arial" panose="020B0604020202020204" pitchFamily="34" charset="0"/>
              <a:buChar char="•"/>
            </a:pPr>
            <a:r>
              <a:rPr lang="en-US" dirty="0"/>
              <a:t>In melanoma, ~</a:t>
            </a:r>
            <a:r>
              <a:rPr lang="en-US" b="1" dirty="0"/>
              <a:t>60%</a:t>
            </a:r>
            <a:r>
              <a:rPr lang="en-US" dirty="0"/>
              <a:t> of neoantigens activated CD4+ T cells and </a:t>
            </a:r>
            <a:r>
              <a:rPr lang="en-US" b="1" dirty="0"/>
              <a:t>16%</a:t>
            </a:r>
            <a:r>
              <a:rPr lang="en-US" dirty="0"/>
              <a:t> activated CD8+ T cells</a:t>
            </a:r>
          </a:p>
          <a:p>
            <a:pPr>
              <a:lnSpc>
                <a:spcPct val="150000"/>
              </a:lnSpc>
              <a:buFont typeface="Arial" panose="020B0604020202020204" pitchFamily="34" charset="0"/>
              <a:buChar char="•"/>
            </a:pPr>
            <a:r>
              <a:rPr lang="en-US" dirty="0"/>
              <a:t>4/6 untreated high-risk melanoma patients remained recurrence-free at 25 months</a:t>
            </a:r>
          </a:p>
        </p:txBody>
      </p:sp>
    </p:spTree>
    <p:extLst>
      <p:ext uri="{BB962C8B-B14F-4D97-AF65-F5344CB8AC3E}">
        <p14:creationId xmlns:p14="http://schemas.microsoft.com/office/powerpoint/2010/main" val="9359894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AFE23AE-2DEB-6144-B8EF-421E6F1C5BE9}"/>
              </a:ext>
            </a:extLst>
          </p:cNvPr>
          <p:cNvSpPr txBox="1"/>
          <p:nvPr/>
        </p:nvSpPr>
        <p:spPr>
          <a:xfrm>
            <a:off x="0" y="257785"/>
            <a:ext cx="7541343" cy="369332"/>
          </a:xfrm>
          <a:prstGeom prst="rect">
            <a:avLst/>
          </a:prstGeom>
          <a:noFill/>
        </p:spPr>
        <p:txBody>
          <a:bodyPr wrap="square">
            <a:spAutoFit/>
          </a:bodyPr>
          <a:lstStyle/>
          <a:p>
            <a:r>
              <a:rPr lang="en-US" b="1" dirty="0"/>
              <a:t>Clinical Impact in “Cold” Tumors: Glioblastoma and Beyond</a:t>
            </a:r>
          </a:p>
        </p:txBody>
      </p:sp>
      <p:sp>
        <p:nvSpPr>
          <p:cNvPr id="5" name="TextBox 4">
            <a:extLst>
              <a:ext uri="{FF2B5EF4-FFF2-40B4-BE49-F238E27FC236}">
                <a16:creationId xmlns:a16="http://schemas.microsoft.com/office/drawing/2014/main" id="{6C67B857-456B-12F5-F615-6BCC90F81BDD}"/>
              </a:ext>
            </a:extLst>
          </p:cNvPr>
          <p:cNvSpPr txBox="1"/>
          <p:nvPr/>
        </p:nvSpPr>
        <p:spPr>
          <a:xfrm>
            <a:off x="255638" y="1010289"/>
            <a:ext cx="11562735" cy="5078313"/>
          </a:xfrm>
          <a:prstGeom prst="rect">
            <a:avLst/>
          </a:prstGeom>
          <a:noFill/>
        </p:spPr>
        <p:txBody>
          <a:bodyPr wrap="square">
            <a:spAutoFit/>
          </a:bodyPr>
          <a:lstStyle/>
          <a:p>
            <a:r>
              <a:rPr lang="en-US" dirty="0"/>
              <a:t>Neoantigen vaccines are being tested in multiple cancers:</a:t>
            </a:r>
            <a:endParaRPr lang="fa-IR" dirty="0"/>
          </a:p>
          <a:p>
            <a:pPr marL="285750" indent="-285750">
              <a:buFont typeface="Arial" panose="020B0604020202020204" pitchFamily="34" charset="0"/>
              <a:buChar char="•"/>
            </a:pPr>
            <a:r>
              <a:rPr lang="en-US" dirty="0"/>
              <a:t>Melanoma</a:t>
            </a:r>
          </a:p>
          <a:p>
            <a:pPr>
              <a:buFont typeface="Arial" panose="020B0604020202020204" pitchFamily="34" charset="0"/>
              <a:buChar char="•"/>
            </a:pPr>
            <a:r>
              <a:rPr lang="en-US" dirty="0"/>
              <a:t>Pancreatic cancer</a:t>
            </a:r>
          </a:p>
          <a:p>
            <a:pPr>
              <a:buFont typeface="Arial" panose="020B0604020202020204" pitchFamily="34" charset="0"/>
              <a:buChar char="•"/>
            </a:pPr>
            <a:r>
              <a:rPr lang="en-US" dirty="0"/>
              <a:t>Breast cancer</a:t>
            </a:r>
          </a:p>
          <a:p>
            <a:pPr>
              <a:buFont typeface="Arial" panose="020B0604020202020204" pitchFamily="34" charset="0"/>
              <a:buChar char="•"/>
            </a:pPr>
            <a:r>
              <a:rPr lang="en-US" dirty="0"/>
              <a:t>Lung cancer</a:t>
            </a:r>
          </a:p>
          <a:p>
            <a:pPr>
              <a:buFont typeface="Arial" panose="020B0604020202020204" pitchFamily="34" charset="0"/>
              <a:buChar char="•"/>
            </a:pPr>
            <a:r>
              <a:rPr lang="en-US" dirty="0"/>
              <a:t>Glioblastoma</a:t>
            </a:r>
          </a:p>
          <a:p>
            <a:pPr>
              <a:buFont typeface="Arial" panose="020B0604020202020204" pitchFamily="34" charset="0"/>
              <a:buChar char="•"/>
            </a:pPr>
            <a:r>
              <a:rPr lang="en-US" b="1" dirty="0"/>
              <a:t>Glioblastoma</a:t>
            </a:r>
            <a:r>
              <a:rPr lang="en-US" dirty="0"/>
              <a:t> is a key example because it has: low mutation burden</a:t>
            </a:r>
          </a:p>
          <a:p>
            <a:pPr>
              <a:buFont typeface="Arial" panose="020B0604020202020204" pitchFamily="34" charset="0"/>
              <a:buChar char="•"/>
            </a:pPr>
            <a:r>
              <a:rPr lang="en-US" dirty="0"/>
              <a:t>immunologically “cold” TME</a:t>
            </a:r>
          </a:p>
          <a:p>
            <a:pPr>
              <a:buFont typeface="Arial" panose="020B0604020202020204" pitchFamily="34" charset="0"/>
              <a:buChar char="•"/>
            </a:pPr>
            <a:r>
              <a:rPr lang="en-US" dirty="0"/>
              <a:t>weak response to ICIs</a:t>
            </a:r>
          </a:p>
          <a:p>
            <a:pPr>
              <a:buFont typeface="Arial" panose="020B0604020202020204" pitchFamily="34" charset="0"/>
              <a:buChar char="•"/>
            </a:pPr>
            <a:r>
              <a:rPr lang="en-US" b="1" dirty="0"/>
              <a:t>APVAC1 / APVAC2</a:t>
            </a:r>
            <a:r>
              <a:rPr lang="en-US" dirty="0"/>
              <a:t> </a:t>
            </a:r>
            <a:endParaRPr lang="fa-IR" dirty="0"/>
          </a:p>
          <a:p>
            <a:pPr>
              <a:buFont typeface="Arial" panose="020B0604020202020204" pitchFamily="34" charset="0"/>
              <a:buChar char="•"/>
            </a:pPr>
            <a:r>
              <a:rPr lang="en-US" dirty="0"/>
              <a:t>APVAC1: unmutated antigens</a:t>
            </a:r>
          </a:p>
          <a:p>
            <a:pPr>
              <a:buFont typeface="Arial" panose="020B0604020202020204" pitchFamily="34" charset="0"/>
              <a:buChar char="•"/>
            </a:pPr>
            <a:r>
              <a:rPr lang="en-US" dirty="0"/>
              <a:t>APVAC2: neoantigens</a:t>
            </a:r>
          </a:p>
          <a:p>
            <a:pPr>
              <a:buFont typeface="Arial" panose="020B0604020202020204" pitchFamily="34" charset="0"/>
              <a:buChar char="•"/>
            </a:pPr>
            <a:r>
              <a:rPr lang="en-US" dirty="0"/>
              <a:t>15 glioblastoma patients treated sequentially</a:t>
            </a:r>
          </a:p>
          <a:p>
            <a:pPr>
              <a:buFont typeface="Arial" panose="020B0604020202020204" pitchFamily="34" charset="0"/>
              <a:buChar char="•"/>
            </a:pPr>
            <a:r>
              <a:rPr lang="en-US" dirty="0"/>
              <a:t>CD8+ response in 50% with APVAC1</a:t>
            </a:r>
          </a:p>
          <a:p>
            <a:pPr>
              <a:buFont typeface="Arial" panose="020B0604020202020204" pitchFamily="34" charset="0"/>
              <a:buChar char="•"/>
            </a:pPr>
            <a:r>
              <a:rPr lang="en-US" dirty="0"/>
              <a:t>CD4+ response in 84.7% with APVAC2</a:t>
            </a:r>
          </a:p>
          <a:p>
            <a:pPr>
              <a:buFont typeface="Arial" panose="020B0604020202020204" pitchFamily="34" charset="0"/>
              <a:buChar char="•"/>
            </a:pPr>
            <a:r>
              <a:rPr lang="en-US" dirty="0"/>
              <a:t>OS 29.0 months; PFS 14.2 months</a:t>
            </a:r>
          </a:p>
          <a:p>
            <a:pPr>
              <a:buFont typeface="Arial" panose="020B0604020202020204" pitchFamily="34" charset="0"/>
              <a:buChar char="•"/>
            </a:pPr>
            <a:r>
              <a:rPr lang="en-US" dirty="0"/>
              <a:t>Overall message: Neoantigen vaccines can induce </a:t>
            </a:r>
            <a:r>
              <a:rPr lang="en-US" b="1" dirty="0"/>
              <a:t>CD4+ / CD8+ responses</a:t>
            </a:r>
            <a:r>
              <a:rPr lang="en-US" dirty="0"/>
              <a:t> and improve T-cell infiltration into tumors.</a:t>
            </a:r>
          </a:p>
        </p:txBody>
      </p:sp>
    </p:spTree>
    <p:extLst>
      <p:ext uri="{BB962C8B-B14F-4D97-AF65-F5344CB8AC3E}">
        <p14:creationId xmlns:p14="http://schemas.microsoft.com/office/powerpoint/2010/main" val="330565396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82478E9D-3F7E-3499-E918-A239C96EEFD1}"/>
                  </a:ext>
                </a:extLst>
              </p:cNvPr>
              <p:cNvSpPr txBox="1"/>
              <p:nvPr/>
            </p:nvSpPr>
            <p:spPr>
              <a:xfrm>
                <a:off x="147483" y="137762"/>
                <a:ext cx="11080955" cy="5280741"/>
              </a:xfrm>
              <a:prstGeom prst="rect">
                <a:avLst/>
              </a:prstGeom>
              <a:noFill/>
            </p:spPr>
            <p:txBody>
              <a:bodyPr wrap="square">
                <a:spAutoFit/>
              </a:bodyPr>
              <a:lstStyle/>
              <a:p>
                <a:pPr>
                  <a:buNone/>
                </a:pPr>
                <a:r>
                  <a:rPr lang="en-US" b="1" dirty="0"/>
                  <a:t>Why Combine Neoantigen Vaccines with Immunotherapy?</a:t>
                </a:r>
                <a:endParaRPr lang="en-US" dirty="0"/>
              </a:p>
              <a:p>
                <a:pPr>
                  <a:lnSpc>
                    <a:spcPct val="200000"/>
                  </a:lnSpc>
                  <a:buFont typeface="Arial" panose="020B0604020202020204" pitchFamily="34" charset="0"/>
                  <a:buChar char="•"/>
                </a:pPr>
                <a:endParaRPr lang="en-US" b="1" dirty="0"/>
              </a:p>
              <a:p>
                <a:pPr>
                  <a:lnSpc>
                    <a:spcPct val="200000"/>
                  </a:lnSpc>
                  <a:buFont typeface="Arial" panose="020B0604020202020204" pitchFamily="34" charset="0"/>
                  <a:buChar char="•"/>
                </a:pPr>
                <a:r>
                  <a:rPr lang="en-US" b="1" dirty="0"/>
                  <a:t>Neoantigen vaccines alone are usually insufficient</a:t>
                </a:r>
                <a:r>
                  <a:rPr lang="en-US" dirty="0"/>
                  <a:t> for complete tumor eradication.</a:t>
                </a:r>
              </a:p>
              <a:p>
                <a:pPr>
                  <a:lnSpc>
                    <a:spcPct val="200000"/>
                  </a:lnSpc>
                  <a:buFont typeface="Arial" panose="020B0604020202020204" pitchFamily="34" charset="0"/>
                  <a:buChar char="•"/>
                </a:pPr>
                <a:r>
                  <a:rPr lang="en-US" dirty="0"/>
                  <a:t>Vaccine-induced </a:t>
                </a:r>
                <a:r>
                  <a:rPr lang="en-US" b="1" dirty="0"/>
                  <a:t>CD4+ / CD8+ T-cell activation</a:t>
                </a:r>
                <a:r>
                  <a:rPr lang="en-US" dirty="0"/>
                  <a:t> increases </a:t>
                </a:r>
                <a:r>
                  <a:rPr lang="en-US" b="1" dirty="0"/>
                  <a:t>IFN-</a:t>
                </a:r>
                <a14:m>
                  <m:oMath xmlns:m="http://schemas.openxmlformats.org/officeDocument/2006/math">
                    <m:r>
                      <a:rPr lang="en-US" i="1">
                        <a:latin typeface="Cambria Math" panose="02040503050406030204" pitchFamily="18" charset="0"/>
                      </a:rPr>
                      <m:t>𝛾</m:t>
                    </m:r>
                  </m:oMath>
                </a14:m>
                <a:r>
                  <a:rPr lang="en-US" dirty="0"/>
                  <a:t> production.</a:t>
                </a:r>
              </a:p>
              <a:p>
                <a:pPr>
                  <a:lnSpc>
                    <a:spcPct val="200000"/>
                  </a:lnSpc>
                  <a:buFont typeface="Arial" panose="020B0604020202020204" pitchFamily="34" charset="0"/>
                  <a:buChar char="•"/>
                </a:pPr>
                <a:r>
                  <a:rPr lang="en-US" dirty="0"/>
                  <a:t>However, </a:t>
                </a:r>
                <a:r>
                  <a:rPr lang="en-US" b="1" dirty="0"/>
                  <a:t>IFN-</a:t>
                </a:r>
                <a14:m>
                  <m:oMath xmlns:m="http://schemas.openxmlformats.org/officeDocument/2006/math">
                    <m:r>
                      <a:rPr lang="en-US" i="1">
                        <a:latin typeface="Cambria Math" panose="02040503050406030204" pitchFamily="18" charset="0"/>
                      </a:rPr>
                      <m:t>𝛾</m:t>
                    </m:r>
                  </m:oMath>
                </a14:m>
                <a:r>
                  <a:rPr lang="en-US" dirty="0"/>
                  <a:t> can induce </a:t>
                </a:r>
                <a:r>
                  <a:rPr lang="en-US" b="1" dirty="0"/>
                  <a:t>PD-L1 upregulation</a:t>
                </a:r>
                <a:r>
                  <a:rPr lang="en-US" dirty="0"/>
                  <a:t> in the tumor microenvironment (TME).</a:t>
                </a:r>
              </a:p>
              <a:p>
                <a:pPr>
                  <a:lnSpc>
                    <a:spcPct val="200000"/>
                  </a:lnSpc>
                  <a:buFont typeface="Arial" panose="020B0604020202020204" pitchFamily="34" charset="0"/>
                  <a:buChar char="•"/>
                </a:pPr>
                <a:r>
                  <a:rPr lang="en-US" dirty="0"/>
                  <a:t>Post-vaccination neoantigen-specific T cells often express </a:t>
                </a:r>
                <a:r>
                  <a:rPr lang="en-US" b="1" dirty="0"/>
                  <a:t>PD-1</a:t>
                </a:r>
                <a:r>
                  <a:rPr lang="en-US" dirty="0"/>
                  <a:t> and </a:t>
                </a:r>
                <a:r>
                  <a:rPr lang="en-US" b="1" dirty="0"/>
                  <a:t>TIM-3</a:t>
                </a:r>
                <a:r>
                  <a:rPr lang="en-US" dirty="0"/>
                  <a:t>, indicating </a:t>
                </a:r>
                <a:r>
                  <a:rPr lang="en-US" b="1" dirty="0"/>
                  <a:t>T-cell exhaustion</a:t>
                </a:r>
                <a:r>
                  <a:rPr lang="en-US" dirty="0"/>
                  <a:t>.</a:t>
                </a:r>
              </a:p>
              <a:p>
                <a:pPr>
                  <a:lnSpc>
                    <a:spcPct val="200000"/>
                  </a:lnSpc>
                  <a:buFont typeface="Arial" panose="020B0604020202020204" pitchFamily="34" charset="0"/>
                  <a:buChar char="•"/>
                </a:pPr>
                <a:r>
                  <a:rPr lang="en-US" dirty="0"/>
                  <a:t>Therefore, combination strategies aim to: </a:t>
                </a:r>
              </a:p>
              <a:p>
                <a:pPr marL="742950" lvl="1" indent="-285750">
                  <a:lnSpc>
                    <a:spcPct val="200000"/>
                  </a:lnSpc>
                  <a:buFont typeface="Arial" panose="020B0604020202020204" pitchFamily="34" charset="0"/>
                  <a:buChar char="•"/>
                </a:pPr>
                <a:r>
                  <a:rPr lang="en-US" dirty="0"/>
                  <a:t>reverse the </a:t>
                </a:r>
                <a:r>
                  <a:rPr lang="en-US" b="1" dirty="0"/>
                  <a:t>immunosuppressive TME</a:t>
                </a:r>
                <a:endParaRPr lang="en-US" dirty="0"/>
              </a:p>
              <a:p>
                <a:pPr marL="742950" lvl="1" indent="-285750">
                  <a:lnSpc>
                    <a:spcPct val="200000"/>
                  </a:lnSpc>
                  <a:buFont typeface="Arial" panose="020B0604020202020204" pitchFamily="34" charset="0"/>
                  <a:buChar char="•"/>
                </a:pPr>
                <a:r>
                  <a:rPr lang="en-US" dirty="0"/>
                  <a:t>enhance </a:t>
                </a:r>
                <a:r>
                  <a:rPr lang="en-US" b="1" dirty="0"/>
                  <a:t>T-cell expansion and persistence</a:t>
                </a:r>
                <a:endParaRPr lang="en-US" dirty="0"/>
              </a:p>
              <a:p>
                <a:pPr marL="742950" lvl="1" indent="-285750">
                  <a:lnSpc>
                    <a:spcPct val="200000"/>
                  </a:lnSpc>
                  <a:buFont typeface="Arial" panose="020B0604020202020204" pitchFamily="34" charset="0"/>
                  <a:buChar char="•"/>
                </a:pPr>
                <a:r>
                  <a:rPr lang="en-US" dirty="0"/>
                  <a:t>improve </a:t>
                </a:r>
                <a:r>
                  <a:rPr lang="en-US" b="1" dirty="0"/>
                  <a:t>tumor infiltration and cytotoxicity</a:t>
                </a:r>
                <a:endParaRPr lang="en-US" dirty="0"/>
              </a:p>
            </p:txBody>
          </p:sp>
        </mc:Choice>
        <mc:Fallback>
          <p:sp>
            <p:nvSpPr>
              <p:cNvPr id="3" name="TextBox 2">
                <a:extLst>
                  <a:ext uri="{FF2B5EF4-FFF2-40B4-BE49-F238E27FC236}">
                    <a16:creationId xmlns:a16="http://schemas.microsoft.com/office/drawing/2014/main" id="{82478E9D-3F7E-3499-E918-A239C96EEFD1}"/>
                  </a:ext>
                </a:extLst>
              </p:cNvPr>
              <p:cNvSpPr txBox="1">
                <a:spLocks noRot="1" noChangeAspect="1" noMove="1" noResize="1" noEditPoints="1" noAdjustHandles="1" noChangeArrowheads="1" noChangeShapeType="1" noTextEdit="1"/>
              </p:cNvSpPr>
              <p:nvPr/>
            </p:nvSpPr>
            <p:spPr>
              <a:xfrm>
                <a:off x="147483" y="137762"/>
                <a:ext cx="11080955" cy="5280741"/>
              </a:xfrm>
              <a:prstGeom prst="rect">
                <a:avLst/>
              </a:prstGeom>
              <a:blipFill>
                <a:blip r:embed="rId2"/>
                <a:stretch>
                  <a:fillRect l="-440" t="-577" b="-1039"/>
                </a:stretch>
              </a:blipFill>
            </p:spPr>
            <p:txBody>
              <a:bodyPr/>
              <a:lstStyle/>
              <a:p>
                <a:r>
                  <a:rPr lang="en-US">
                    <a:noFill/>
                  </a:rPr>
                  <a:t> </a:t>
                </a:r>
              </a:p>
            </p:txBody>
          </p:sp>
        </mc:Fallback>
      </mc:AlternateContent>
    </p:spTree>
    <p:extLst>
      <p:ext uri="{BB962C8B-B14F-4D97-AF65-F5344CB8AC3E}">
        <p14:creationId xmlns:p14="http://schemas.microsoft.com/office/powerpoint/2010/main" val="4283231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62C88A-5D4F-A62B-B2F4-6686B74F04F6}"/>
              </a:ext>
            </a:extLst>
          </p:cNvPr>
          <p:cNvPicPr>
            <a:picLocks noChangeAspect="1"/>
          </p:cNvPicPr>
          <p:nvPr/>
        </p:nvPicPr>
        <p:blipFill>
          <a:blip r:embed="rId2"/>
          <a:stretch>
            <a:fillRect/>
          </a:stretch>
        </p:blipFill>
        <p:spPr>
          <a:xfrm>
            <a:off x="1453034" y="0"/>
            <a:ext cx="9285931" cy="6858000"/>
          </a:xfrm>
          <a:prstGeom prst="rect">
            <a:avLst/>
          </a:prstGeom>
        </p:spPr>
      </p:pic>
    </p:spTree>
    <p:extLst>
      <p:ext uri="{BB962C8B-B14F-4D97-AF65-F5344CB8AC3E}">
        <p14:creationId xmlns:p14="http://schemas.microsoft.com/office/powerpoint/2010/main" val="401784815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B719FA6A-0B2A-C4FF-138C-E4615AA61238}"/>
              </a:ext>
            </a:extLst>
          </p:cNvPr>
          <p:cNvSpPr txBox="1"/>
          <p:nvPr/>
        </p:nvSpPr>
        <p:spPr>
          <a:xfrm>
            <a:off x="629265" y="122299"/>
            <a:ext cx="12949083" cy="769441"/>
          </a:xfrm>
          <a:prstGeom prst="rect">
            <a:avLst/>
          </a:prstGeom>
          <a:noFill/>
        </p:spPr>
        <p:txBody>
          <a:bodyPr wrap="square">
            <a:spAutoFit/>
          </a:bodyPr>
          <a:lstStyle/>
          <a:p>
            <a:r>
              <a:rPr lang="en-US" sz="4400" b="1" dirty="0"/>
              <a:t>Expanded Program on Immunization (EPI)</a:t>
            </a:r>
            <a:endParaRPr lang="en-US" dirty="0"/>
          </a:p>
        </p:txBody>
      </p:sp>
      <p:sp>
        <p:nvSpPr>
          <p:cNvPr id="6" name="TextBox 5">
            <a:extLst>
              <a:ext uri="{FF2B5EF4-FFF2-40B4-BE49-F238E27FC236}">
                <a16:creationId xmlns:a16="http://schemas.microsoft.com/office/drawing/2014/main" id="{F75C57BB-D64D-5D92-DBA8-00612837C6CC}"/>
              </a:ext>
            </a:extLst>
          </p:cNvPr>
          <p:cNvSpPr txBox="1"/>
          <p:nvPr/>
        </p:nvSpPr>
        <p:spPr>
          <a:xfrm>
            <a:off x="471948" y="1759376"/>
            <a:ext cx="10520517" cy="3339247"/>
          </a:xfrm>
          <a:prstGeom prst="rect">
            <a:avLst/>
          </a:prstGeom>
          <a:noFill/>
        </p:spPr>
        <p:txBody>
          <a:bodyPr wrap="square">
            <a:spAutoFit/>
          </a:bodyPr>
          <a:lstStyle/>
          <a:p>
            <a:pPr>
              <a:lnSpc>
                <a:spcPct val="200000"/>
              </a:lnSpc>
              <a:buFont typeface="Arial" panose="020B0604020202020204" pitchFamily="34" charset="0"/>
              <a:buChar char="•"/>
            </a:pPr>
            <a:r>
              <a:rPr lang="en-US" b="1" dirty="0"/>
              <a:t>Launch Context:</a:t>
            </a:r>
            <a:r>
              <a:rPr lang="en-US" dirty="0"/>
              <a:t> Established in 1974, leveraging the momentum of successful smallpox eradication.</a:t>
            </a:r>
          </a:p>
          <a:p>
            <a:pPr>
              <a:lnSpc>
                <a:spcPct val="200000"/>
              </a:lnSpc>
              <a:buFont typeface="Arial" panose="020B0604020202020204" pitchFamily="34" charset="0"/>
              <a:buChar char="•"/>
            </a:pPr>
            <a:r>
              <a:rPr lang="en-US" b="1" dirty="0"/>
              <a:t>Formal Foundation:</a:t>
            </a:r>
            <a:r>
              <a:rPr lang="en-US" dirty="0"/>
              <a:t> Mandated by World Health Assembly resolution </a:t>
            </a:r>
            <a:r>
              <a:rPr lang="en-US" b="1" dirty="0"/>
              <a:t>WHA27.57</a:t>
            </a:r>
            <a:r>
              <a:rPr lang="en-US" dirty="0"/>
              <a:t> (May 1974).</a:t>
            </a:r>
          </a:p>
          <a:p>
            <a:pPr>
              <a:lnSpc>
                <a:spcPct val="200000"/>
              </a:lnSpc>
              <a:buFont typeface="Arial" panose="020B0604020202020204" pitchFamily="34" charset="0"/>
              <a:buChar char="•"/>
            </a:pPr>
            <a:r>
              <a:rPr lang="en-US" b="1" dirty="0"/>
              <a:t>Primary Mission:</a:t>
            </a:r>
            <a:r>
              <a:rPr lang="en-US" dirty="0"/>
              <a:t> Ensuring universal access to life-saving vaccines for children in all nations.</a:t>
            </a:r>
          </a:p>
          <a:p>
            <a:pPr rtl="1">
              <a:lnSpc>
                <a:spcPct val="200000"/>
              </a:lnSpc>
              <a:buNone/>
            </a:pPr>
            <a:endParaRPr lang="fa-IR" dirty="0"/>
          </a:p>
          <a:p>
            <a:pPr rtl="1">
              <a:lnSpc>
                <a:spcPct val="200000"/>
              </a:lnSpc>
              <a:buNone/>
            </a:pPr>
            <a:r>
              <a:rPr lang="fa-IR" dirty="0"/>
              <a:t>برنامه توسعه ایمن‌سازی (EPI) در سال ۱۹۷۴ متولد شد. این برنامه نه تنها پاسخی به موفقیت ریشه‌کنی آبله بود، بلکه یک تلاش جهانی هماهنگ برای اطمینان از دسترسی برابر کودکان در سراسر جهان به واکسن‌های حیاتی است که با قطعنامه WHA27.57 رسمیت یافت.</a:t>
            </a:r>
          </a:p>
        </p:txBody>
      </p:sp>
    </p:spTree>
    <p:extLst>
      <p:ext uri="{BB962C8B-B14F-4D97-AF65-F5344CB8AC3E}">
        <p14:creationId xmlns:p14="http://schemas.microsoft.com/office/powerpoint/2010/main" val="3413655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87D0E36-341F-D04B-7D76-DDB716D67C28}"/>
              </a:ext>
            </a:extLst>
          </p:cNvPr>
          <p:cNvSpPr txBox="1"/>
          <p:nvPr/>
        </p:nvSpPr>
        <p:spPr>
          <a:xfrm>
            <a:off x="403123" y="289679"/>
            <a:ext cx="11670890" cy="4611519"/>
          </a:xfrm>
          <a:prstGeom prst="rect">
            <a:avLst/>
          </a:prstGeom>
          <a:noFill/>
        </p:spPr>
        <p:txBody>
          <a:bodyPr wrap="square">
            <a:spAutoFit/>
          </a:bodyPr>
          <a:lstStyle/>
          <a:p>
            <a:pPr>
              <a:lnSpc>
                <a:spcPct val="150000"/>
              </a:lnSpc>
              <a:buNone/>
            </a:pPr>
            <a:r>
              <a:rPr lang="en-US" b="1" dirty="0"/>
              <a:t>Core Goals of the EPI (Set in 1977)</a:t>
            </a:r>
            <a:endParaRPr lang="fa-IR" b="1" dirty="0"/>
          </a:p>
          <a:p>
            <a:pPr>
              <a:lnSpc>
                <a:spcPct val="150000"/>
              </a:lnSpc>
              <a:buNone/>
            </a:pPr>
            <a:endParaRPr lang="fa-IR" b="1" dirty="0"/>
          </a:p>
          <a:p>
            <a:pPr>
              <a:lnSpc>
                <a:spcPct val="150000"/>
              </a:lnSpc>
              <a:buNone/>
            </a:pPr>
            <a:endParaRPr lang="en-US" dirty="0"/>
          </a:p>
          <a:p>
            <a:pPr>
              <a:lnSpc>
                <a:spcPct val="150000"/>
              </a:lnSpc>
              <a:buFont typeface="Arial" panose="020B0604020202020204" pitchFamily="34" charset="0"/>
              <a:buChar char="•"/>
            </a:pPr>
            <a:endParaRPr lang="fa-IR" b="1" dirty="0"/>
          </a:p>
          <a:p>
            <a:pPr>
              <a:lnSpc>
                <a:spcPct val="150000"/>
              </a:lnSpc>
              <a:buFont typeface="Arial" panose="020B0604020202020204" pitchFamily="34" charset="0"/>
              <a:buChar char="•"/>
            </a:pPr>
            <a:r>
              <a:rPr lang="en-US" b="1" dirty="0"/>
              <a:t>Universal Coverage:</a:t>
            </a:r>
            <a:r>
              <a:rPr lang="en-US" dirty="0"/>
              <a:t> Goal to provide immunization against 6 core diseases (Diphtheria, Pertussis, Tetanus, Polio, Measles, Tuberculosis) globally by 1990.</a:t>
            </a:r>
          </a:p>
          <a:p>
            <a:pPr>
              <a:lnSpc>
                <a:spcPct val="150000"/>
              </a:lnSpc>
              <a:buFont typeface="Arial" panose="020B0604020202020204" pitchFamily="34" charset="0"/>
              <a:buChar char="•"/>
            </a:pPr>
            <a:r>
              <a:rPr lang="en-US" b="1" dirty="0"/>
              <a:t>National Capability:</a:t>
            </a:r>
            <a:r>
              <a:rPr lang="en-US" dirty="0"/>
              <a:t> Fostering “self-reliance” in delivering immunization services within local health systems.</a:t>
            </a:r>
          </a:p>
          <a:p>
            <a:pPr>
              <a:lnSpc>
                <a:spcPct val="150000"/>
              </a:lnSpc>
              <a:buFont typeface="Arial" panose="020B0604020202020204" pitchFamily="34" charset="0"/>
              <a:buChar char="•"/>
            </a:pPr>
            <a:r>
              <a:rPr lang="en-US" b="1" dirty="0"/>
              <a:t>Regional Production:</a:t>
            </a:r>
            <a:r>
              <a:rPr lang="en-US" dirty="0"/>
              <a:t> Strengthening regional capacity for vaccine manufacturing and quality control.</a:t>
            </a:r>
          </a:p>
          <a:p>
            <a:pPr rtl="1">
              <a:lnSpc>
                <a:spcPct val="150000"/>
              </a:lnSpc>
              <a:buNone/>
            </a:pPr>
            <a:endParaRPr lang="fa-IR" dirty="0"/>
          </a:p>
          <a:p>
            <a:pPr rtl="1">
              <a:lnSpc>
                <a:spcPct val="150000"/>
              </a:lnSpc>
              <a:buNone/>
            </a:pPr>
            <a:r>
              <a:rPr lang="fa-IR" dirty="0"/>
              <a:t>در سال ۱۹۷۷، اهداف بلندپروازانه‌ای برای سال ۱۹۹۰ تعیین شد. تمرکز فقط بر تزریق واکسن نبود، بلکه استقلال کشورها در ارائه خدمات بهداشتی و توانمندی تولید واکسن در مناطق مختلف جهان به عنوان دو رکن اصلی «خودکفایی» مطرح شد.</a:t>
            </a:r>
          </a:p>
        </p:txBody>
      </p:sp>
    </p:spTree>
    <p:extLst>
      <p:ext uri="{BB962C8B-B14F-4D97-AF65-F5344CB8AC3E}">
        <p14:creationId xmlns:p14="http://schemas.microsoft.com/office/powerpoint/2010/main" val="4273916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FC33570-FAB8-65EC-AF56-2DB27FC3CF59}"/>
              </a:ext>
            </a:extLst>
          </p:cNvPr>
          <p:cNvSpPr txBox="1"/>
          <p:nvPr/>
        </p:nvSpPr>
        <p:spPr>
          <a:xfrm>
            <a:off x="368709" y="518676"/>
            <a:ext cx="11454581" cy="5027017"/>
          </a:xfrm>
          <a:prstGeom prst="rect">
            <a:avLst/>
          </a:prstGeom>
          <a:noFill/>
        </p:spPr>
        <p:txBody>
          <a:bodyPr wrap="square">
            <a:spAutoFit/>
          </a:bodyPr>
          <a:lstStyle/>
          <a:p>
            <a:pPr>
              <a:buNone/>
            </a:pPr>
            <a:r>
              <a:rPr lang="en-US" b="1" dirty="0"/>
              <a:t>Global Progress &amp; Evolving Scope</a:t>
            </a:r>
            <a:endParaRPr lang="fa-IR" b="1" dirty="0"/>
          </a:p>
          <a:p>
            <a:pPr>
              <a:buNone/>
            </a:pPr>
            <a:endParaRPr lang="en-US" dirty="0"/>
          </a:p>
          <a:p>
            <a:pPr>
              <a:buFont typeface="Arial" panose="020B0604020202020204" pitchFamily="34" charset="0"/>
              <a:buChar char="•"/>
            </a:pPr>
            <a:endParaRPr lang="fa-IR" b="1" dirty="0"/>
          </a:p>
          <a:p>
            <a:pPr>
              <a:lnSpc>
                <a:spcPct val="150000"/>
              </a:lnSpc>
              <a:buFont typeface="Arial" panose="020B0604020202020204" pitchFamily="34" charset="0"/>
              <a:buChar char="•"/>
            </a:pPr>
            <a:r>
              <a:rPr lang="en-US" b="1" dirty="0"/>
              <a:t>Achievement (2012):</a:t>
            </a:r>
            <a:r>
              <a:rPr lang="en-US" dirty="0"/>
              <a:t> Global coverage for full DTP vaccination reached approximately </a:t>
            </a:r>
            <a:r>
              <a:rPr lang="en-US" b="1" dirty="0"/>
              <a:t>83%</a:t>
            </a:r>
            <a:r>
              <a:rPr lang="en-US" dirty="0"/>
              <a:t> of infants.</a:t>
            </a:r>
          </a:p>
          <a:p>
            <a:pPr>
              <a:lnSpc>
                <a:spcPct val="150000"/>
              </a:lnSpc>
              <a:buFont typeface="Arial" panose="020B0604020202020204" pitchFamily="34" charset="0"/>
              <a:buChar char="•"/>
            </a:pPr>
            <a:r>
              <a:rPr lang="en-US" b="1" dirty="0"/>
              <a:t>Modern Expansion:</a:t>
            </a:r>
            <a:r>
              <a:rPr lang="en-US" dirty="0"/>
              <a:t> Routine inclusion of newer vaccines (Hepatitis B, Hib) with support from global partners like GAVI.</a:t>
            </a:r>
          </a:p>
          <a:p>
            <a:pPr>
              <a:lnSpc>
                <a:spcPct val="150000"/>
              </a:lnSpc>
              <a:buFont typeface="Arial" panose="020B0604020202020204" pitchFamily="34" charset="0"/>
              <a:buChar char="•"/>
            </a:pPr>
            <a:r>
              <a:rPr lang="en-US" b="1" dirty="0"/>
              <a:t>Future Development:</a:t>
            </a:r>
            <a:r>
              <a:rPr lang="en-US" dirty="0"/>
              <a:t> Moving beyond traditional targets to include vaccines for Malaria, Dengue, and new-generation Tuberculosis/Typhoid vaccines.</a:t>
            </a:r>
          </a:p>
          <a:p>
            <a:pPr>
              <a:lnSpc>
                <a:spcPct val="150000"/>
              </a:lnSpc>
              <a:buFont typeface="Arial" panose="020B0604020202020204" pitchFamily="34" charset="0"/>
              <a:buChar char="•"/>
            </a:pPr>
            <a:r>
              <a:rPr lang="en-US" b="1" dirty="0"/>
              <a:t>Specific Needs:</a:t>
            </a:r>
            <a:r>
              <a:rPr lang="en-US" dirty="0"/>
              <a:t> Ongoing introduction of targeted vaccines (Yellow Fever, JE) for endemic regions.</a:t>
            </a:r>
          </a:p>
          <a:p>
            <a:pPr algn="just" rtl="1">
              <a:lnSpc>
                <a:spcPct val="150000"/>
              </a:lnSpc>
              <a:buNone/>
            </a:pPr>
            <a:endParaRPr lang="fa-IR" dirty="0"/>
          </a:p>
          <a:p>
            <a:pPr algn="just" rtl="1">
              <a:lnSpc>
                <a:spcPct val="150000"/>
              </a:lnSpc>
              <a:buNone/>
            </a:pPr>
            <a:r>
              <a:rPr lang="fa-IR" dirty="0"/>
              <a:t>تا سال ۲۰۱۲، ۸۳٪ کودکان جهان دوز کامل DTP را دریافت کردند که شاخصی از عملکرد قوی این برنامه است. اکنون برنامه EPI فراتر از شش بیماری اصلی رفته و با ورود واکسن‌های جدید (مثل HepB و Hib) و برنامه‌ریزی برای واکسن‌های آینده (مثل مالاریا و دنگی)، به سمت مقابله با بیماری‌های پیچیده‌تر حرکت می‌کند.</a:t>
            </a:r>
          </a:p>
        </p:txBody>
      </p:sp>
    </p:spTree>
    <p:extLst>
      <p:ext uri="{BB962C8B-B14F-4D97-AF65-F5344CB8AC3E}">
        <p14:creationId xmlns:p14="http://schemas.microsoft.com/office/powerpoint/2010/main" val="32293021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674;p43">
            <a:extLst>
              <a:ext uri="{FF2B5EF4-FFF2-40B4-BE49-F238E27FC236}">
                <a16:creationId xmlns:a16="http://schemas.microsoft.com/office/drawing/2014/main" id="{1FF22FA3-4F77-D9CD-A110-FD1333FD0735}"/>
              </a:ext>
            </a:extLst>
          </p:cNvPr>
          <p:cNvSpPr txBox="1">
            <a:spLocks/>
          </p:cNvSpPr>
          <p:nvPr/>
        </p:nvSpPr>
        <p:spPr>
          <a:xfrm>
            <a:off x="-120299" y="98323"/>
            <a:ext cx="12607267" cy="763600"/>
          </a:xfrm>
          <a:prstGeom prst="rect">
            <a:avLst/>
          </a:prstGeom>
        </p:spPr>
        <p:txBody>
          <a:bodyPr spcFirstLastPara="1" wrap="square" lIns="121900" tIns="121900" rIns="121900" bIns="121900" anchor="t" anchorCtr="0">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4000" dirty="0"/>
              <a:t>Problems encountered by the Program have included:</a:t>
            </a:r>
          </a:p>
        </p:txBody>
      </p:sp>
      <p:sp>
        <p:nvSpPr>
          <p:cNvPr id="3" name="Google Shape;2675;p43">
            <a:extLst>
              <a:ext uri="{FF2B5EF4-FFF2-40B4-BE49-F238E27FC236}">
                <a16:creationId xmlns:a16="http://schemas.microsoft.com/office/drawing/2014/main" id="{165A9FC6-65B0-6032-56B2-FC9B7F1F80E3}"/>
              </a:ext>
            </a:extLst>
          </p:cNvPr>
          <p:cNvSpPr txBox="1">
            <a:spLocks/>
          </p:cNvSpPr>
          <p:nvPr/>
        </p:nvSpPr>
        <p:spPr>
          <a:xfrm>
            <a:off x="532637" y="5025553"/>
            <a:ext cx="9162861" cy="64640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133"/>
              </a:spcAft>
            </a:pPr>
            <a:r>
              <a:rPr lang="en-US" sz="2000" b="1" dirty="0"/>
              <a:t>Insufficient means for monitoring program impact </a:t>
            </a:r>
          </a:p>
        </p:txBody>
      </p:sp>
      <p:sp>
        <p:nvSpPr>
          <p:cNvPr id="4" name="Google Shape;2680;p43">
            <a:extLst>
              <a:ext uri="{FF2B5EF4-FFF2-40B4-BE49-F238E27FC236}">
                <a16:creationId xmlns:a16="http://schemas.microsoft.com/office/drawing/2014/main" id="{01EBAF4D-D35E-D013-5CB6-728983A86B50}"/>
              </a:ext>
            </a:extLst>
          </p:cNvPr>
          <p:cNvSpPr txBox="1">
            <a:spLocks/>
          </p:cNvSpPr>
          <p:nvPr/>
        </p:nvSpPr>
        <p:spPr>
          <a:xfrm>
            <a:off x="532637" y="1482311"/>
            <a:ext cx="10098407" cy="763601"/>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133"/>
              </a:spcAft>
            </a:pPr>
            <a:r>
              <a:rPr lang="en-US" sz="2000" b="1" dirty="0"/>
              <a:t>Lack of public and governmental awareness of the scope and seriousness of the target diseases</a:t>
            </a:r>
          </a:p>
        </p:txBody>
      </p:sp>
      <p:sp>
        <p:nvSpPr>
          <p:cNvPr id="5" name="Google Shape;2682;p43">
            <a:extLst>
              <a:ext uri="{FF2B5EF4-FFF2-40B4-BE49-F238E27FC236}">
                <a16:creationId xmlns:a16="http://schemas.microsoft.com/office/drawing/2014/main" id="{C15F8541-9177-3A37-0BAE-793B853D8099}"/>
              </a:ext>
            </a:extLst>
          </p:cNvPr>
          <p:cNvSpPr txBox="1">
            <a:spLocks/>
          </p:cNvSpPr>
          <p:nvPr/>
        </p:nvSpPr>
        <p:spPr>
          <a:xfrm>
            <a:off x="532638" y="2628209"/>
            <a:ext cx="8250050" cy="64640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133"/>
              </a:spcAft>
            </a:pPr>
            <a:r>
              <a:rPr lang="en-US" sz="2000" b="1"/>
              <a:t>Ineffective program management</a:t>
            </a:r>
            <a:endParaRPr lang="en-US" sz="2000" b="1" dirty="0"/>
          </a:p>
        </p:txBody>
      </p:sp>
      <p:sp>
        <p:nvSpPr>
          <p:cNvPr id="6" name="Google Shape;2684;p43">
            <a:extLst>
              <a:ext uri="{FF2B5EF4-FFF2-40B4-BE49-F238E27FC236}">
                <a16:creationId xmlns:a16="http://schemas.microsoft.com/office/drawing/2014/main" id="{6FBF7572-4ECF-7CBE-6A7A-2290E23A4141}"/>
              </a:ext>
            </a:extLst>
          </p:cNvPr>
          <p:cNvSpPr txBox="1">
            <a:spLocks/>
          </p:cNvSpPr>
          <p:nvPr/>
        </p:nvSpPr>
        <p:spPr>
          <a:xfrm>
            <a:off x="532638" y="3801082"/>
            <a:ext cx="9162860" cy="646400"/>
          </a:xfrm>
          <a:prstGeom prst="rect">
            <a:avLst/>
          </a:prstGeom>
        </p:spPr>
        <p:txBody>
          <a:bodyPr spcFirstLastPara="1" wrap="square" lIns="121900" tIns="121900" rIns="121900" bIns="121900" anchor="t"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Aft>
                <a:spcPts val="2133"/>
              </a:spcAft>
            </a:pPr>
            <a:r>
              <a:rPr lang="en-US" sz="2000" b="1"/>
              <a:t>Inadequate equipment and skills for vaccine storage and handling</a:t>
            </a:r>
            <a:endParaRPr lang="en-US" sz="2000" b="1" dirty="0"/>
          </a:p>
        </p:txBody>
      </p:sp>
    </p:spTree>
    <p:extLst>
      <p:ext uri="{BB962C8B-B14F-4D97-AF65-F5344CB8AC3E}">
        <p14:creationId xmlns:p14="http://schemas.microsoft.com/office/powerpoint/2010/main" val="11749117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55EE180-F205-8D22-DC38-6676275684F7}"/>
              </a:ext>
            </a:extLst>
          </p:cNvPr>
          <p:cNvSpPr txBox="1"/>
          <p:nvPr/>
        </p:nvSpPr>
        <p:spPr>
          <a:xfrm>
            <a:off x="549265" y="433525"/>
            <a:ext cx="11485419" cy="4409669"/>
          </a:xfrm>
          <a:prstGeom prst="rect">
            <a:avLst/>
          </a:prstGeom>
          <a:noFill/>
        </p:spPr>
        <p:txBody>
          <a:bodyPr wrap="square">
            <a:spAutoFit/>
          </a:bodyPr>
          <a:lstStyle/>
          <a:p>
            <a:pPr algn="l"/>
            <a:r>
              <a:rPr lang="en-US" sz="2400" b="1" i="0" dirty="0">
                <a:solidFill>
                  <a:srgbClr val="3C4245"/>
                </a:solidFill>
                <a:effectLst/>
                <a:latin typeface="Arial" panose="020B0604020202020204" pitchFamily="34" charset="0"/>
              </a:rPr>
              <a:t>The Essential Program on Immunization Unit is organized into five Teams</a:t>
            </a:r>
            <a:r>
              <a:rPr lang="en-US" sz="2400" i="0" dirty="0">
                <a:solidFill>
                  <a:srgbClr val="3C4245"/>
                </a:solidFill>
                <a:effectLst/>
                <a:latin typeface="Arial" panose="020B0604020202020204" pitchFamily="34" charset="0"/>
              </a:rPr>
              <a:t>:</a:t>
            </a:r>
          </a:p>
          <a:p>
            <a:pPr algn="l"/>
            <a:endParaRPr lang="en-US" sz="2400" i="0" dirty="0">
              <a:solidFill>
                <a:srgbClr val="3C4245"/>
              </a:solidFill>
              <a:effectLst/>
              <a:latin typeface="Arial" panose="020B0604020202020204" pitchFamily="34" charset="0"/>
            </a:endParaRPr>
          </a:p>
          <a:p>
            <a:pPr algn="l">
              <a:lnSpc>
                <a:spcPct val="200000"/>
              </a:lnSpc>
              <a:buFont typeface="Arial" panose="020B0604020202020204" pitchFamily="34" charset="0"/>
              <a:buChar char="•"/>
            </a:pPr>
            <a:r>
              <a:rPr lang="en-US" sz="2400" i="0" dirty="0">
                <a:solidFill>
                  <a:srgbClr val="3C4245"/>
                </a:solidFill>
                <a:effectLst/>
                <a:latin typeface="Arial" panose="020B0604020202020204" pitchFamily="34" charset="0"/>
              </a:rPr>
              <a:t>Life Course &amp; Integration;</a:t>
            </a:r>
          </a:p>
          <a:p>
            <a:pPr algn="l">
              <a:lnSpc>
                <a:spcPct val="200000"/>
              </a:lnSpc>
              <a:buFont typeface="Arial" panose="020B0604020202020204" pitchFamily="34" charset="0"/>
              <a:buChar char="•"/>
            </a:pPr>
            <a:r>
              <a:rPr lang="en-US" sz="2400" i="0" dirty="0" err="1">
                <a:solidFill>
                  <a:srgbClr val="3C4245"/>
                </a:solidFill>
                <a:effectLst/>
                <a:latin typeface="Arial" panose="020B0604020202020204" pitchFamily="34" charset="0"/>
              </a:rPr>
              <a:t>Programme</a:t>
            </a:r>
            <a:r>
              <a:rPr lang="en-US" sz="2400" i="0" dirty="0">
                <a:solidFill>
                  <a:srgbClr val="3C4245"/>
                </a:solidFill>
                <a:effectLst/>
                <a:latin typeface="Arial" panose="020B0604020202020204" pitchFamily="34" charset="0"/>
              </a:rPr>
              <a:t> Strengthening;</a:t>
            </a:r>
          </a:p>
          <a:p>
            <a:pPr algn="l">
              <a:lnSpc>
                <a:spcPct val="200000"/>
              </a:lnSpc>
              <a:buFont typeface="Arial" panose="020B0604020202020204" pitchFamily="34" charset="0"/>
              <a:buChar char="•"/>
            </a:pPr>
            <a:r>
              <a:rPr lang="en-US" sz="2400" i="0" dirty="0">
                <a:solidFill>
                  <a:srgbClr val="3C4245"/>
                </a:solidFill>
                <a:effectLst/>
                <a:latin typeface="Arial" panose="020B0604020202020204" pitchFamily="34" charset="0"/>
              </a:rPr>
              <a:t>Demand &amp; </a:t>
            </a:r>
            <a:r>
              <a:rPr lang="en-US" sz="2400" i="0" dirty="0" err="1">
                <a:solidFill>
                  <a:srgbClr val="3C4245"/>
                </a:solidFill>
                <a:effectLst/>
                <a:latin typeface="Arial" panose="020B0604020202020204" pitchFamily="34" charset="0"/>
              </a:rPr>
              <a:t>Behavioural</a:t>
            </a:r>
            <a:r>
              <a:rPr lang="en-US" sz="2400" i="0" dirty="0">
                <a:solidFill>
                  <a:srgbClr val="3C4245"/>
                </a:solidFill>
                <a:effectLst/>
                <a:latin typeface="Arial" panose="020B0604020202020204" pitchFamily="34" charset="0"/>
              </a:rPr>
              <a:t> Science;</a:t>
            </a:r>
          </a:p>
          <a:p>
            <a:pPr algn="l">
              <a:lnSpc>
                <a:spcPct val="200000"/>
              </a:lnSpc>
              <a:buFont typeface="Arial" panose="020B0604020202020204" pitchFamily="34" charset="0"/>
              <a:buChar char="•"/>
            </a:pPr>
            <a:r>
              <a:rPr lang="en-US" sz="2400" i="0" dirty="0">
                <a:solidFill>
                  <a:srgbClr val="3C4245"/>
                </a:solidFill>
                <a:effectLst/>
                <a:latin typeface="Arial" panose="020B0604020202020204" pitchFamily="34" charset="0"/>
              </a:rPr>
              <a:t>Vaccine Supply Chain &amp; Logistics and</a:t>
            </a:r>
          </a:p>
          <a:p>
            <a:pPr algn="l">
              <a:lnSpc>
                <a:spcPct val="200000"/>
              </a:lnSpc>
              <a:buFont typeface="Arial" panose="020B0604020202020204" pitchFamily="34" charset="0"/>
              <a:buChar char="•"/>
            </a:pPr>
            <a:r>
              <a:rPr lang="en-US" sz="2400" i="0" dirty="0">
                <a:solidFill>
                  <a:srgbClr val="3C4245"/>
                </a:solidFill>
                <a:effectLst/>
                <a:latin typeface="Arial" panose="020B0604020202020204" pitchFamily="34" charset="0"/>
              </a:rPr>
              <a:t>(VPD) Vaccine Preventable Diseases Outbreak Reduction</a:t>
            </a:r>
          </a:p>
        </p:txBody>
      </p:sp>
    </p:spTree>
    <p:extLst>
      <p:ext uri="{BB962C8B-B14F-4D97-AF65-F5344CB8AC3E}">
        <p14:creationId xmlns:p14="http://schemas.microsoft.com/office/powerpoint/2010/main" val="351016744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CFB2919-B2A0-6F9F-0805-77878365583C}"/>
              </a:ext>
            </a:extLst>
          </p:cNvPr>
          <p:cNvSpPr txBox="1"/>
          <p:nvPr/>
        </p:nvSpPr>
        <p:spPr>
          <a:xfrm>
            <a:off x="629262" y="305756"/>
            <a:ext cx="10677833" cy="5165517"/>
          </a:xfrm>
          <a:prstGeom prst="rect">
            <a:avLst/>
          </a:prstGeom>
          <a:noFill/>
        </p:spPr>
        <p:txBody>
          <a:bodyPr wrap="square">
            <a:spAutoFit/>
          </a:bodyPr>
          <a:lstStyle/>
          <a:p>
            <a:pPr>
              <a:lnSpc>
                <a:spcPct val="150000"/>
              </a:lnSpc>
              <a:buNone/>
            </a:pPr>
            <a:r>
              <a:rPr lang="en-US" sz="2400" b="1" dirty="0"/>
              <a:t>Transition of EPI to the National Immunization Program</a:t>
            </a:r>
          </a:p>
          <a:p>
            <a:pPr>
              <a:lnSpc>
                <a:spcPct val="150000"/>
              </a:lnSpc>
              <a:buFont typeface="Arial" panose="020B0604020202020204" pitchFamily="34" charset="0"/>
              <a:buChar char="•"/>
            </a:pPr>
            <a:endParaRPr lang="fa-IR" dirty="0"/>
          </a:p>
          <a:p>
            <a:pPr>
              <a:lnSpc>
                <a:spcPct val="150000"/>
              </a:lnSpc>
            </a:pPr>
            <a:r>
              <a:rPr lang="en-US" dirty="0"/>
              <a:t>In </a:t>
            </a:r>
            <a:r>
              <a:rPr lang="en-US" b="1" dirty="0"/>
              <a:t>2016</a:t>
            </a:r>
            <a:r>
              <a:rPr lang="en-US" dirty="0"/>
              <a:t>, the </a:t>
            </a:r>
            <a:r>
              <a:rPr lang="en-US" b="1" dirty="0"/>
              <a:t>Expanded Program on Immunization (EPI)</a:t>
            </a:r>
            <a:r>
              <a:rPr lang="en-US" dirty="0"/>
              <a:t> transitioned into the </a:t>
            </a:r>
            <a:r>
              <a:rPr lang="en-US" b="1" dirty="0"/>
              <a:t>National Immunization Program</a:t>
            </a:r>
            <a:r>
              <a:rPr lang="en-US" dirty="0"/>
              <a:t>.</a:t>
            </a:r>
          </a:p>
          <a:p>
            <a:pPr>
              <a:lnSpc>
                <a:spcPct val="150000"/>
              </a:lnSpc>
              <a:buFont typeface="Arial" panose="020B0604020202020204" pitchFamily="34" charset="0"/>
              <a:buChar char="•"/>
            </a:pPr>
            <a:r>
              <a:rPr lang="en-US" dirty="0"/>
              <a:t>The scope expanded beyond infants and young children.</a:t>
            </a:r>
          </a:p>
          <a:p>
            <a:pPr>
              <a:lnSpc>
                <a:spcPct val="150000"/>
              </a:lnSpc>
              <a:buFont typeface="Arial" panose="020B0604020202020204" pitchFamily="34" charset="0"/>
              <a:buChar char="•"/>
            </a:pPr>
            <a:r>
              <a:rPr lang="en-US" dirty="0"/>
              <a:t>New target groups included: </a:t>
            </a:r>
          </a:p>
          <a:p>
            <a:pPr marL="742950" lvl="1" indent="-285750">
              <a:lnSpc>
                <a:spcPct val="150000"/>
              </a:lnSpc>
              <a:buFont typeface="Arial" panose="020B0604020202020204" pitchFamily="34" charset="0"/>
              <a:buChar char="•"/>
            </a:pPr>
            <a:r>
              <a:rPr lang="en-US" b="1" dirty="0"/>
              <a:t>senior citizens</a:t>
            </a:r>
            <a:endParaRPr lang="en-US" dirty="0"/>
          </a:p>
          <a:p>
            <a:pPr marL="742950" lvl="1" indent="-285750">
              <a:lnSpc>
                <a:spcPct val="150000"/>
              </a:lnSpc>
              <a:buFont typeface="Arial" panose="020B0604020202020204" pitchFamily="34" charset="0"/>
              <a:buChar char="•"/>
            </a:pPr>
            <a:r>
              <a:rPr lang="en-US" b="1" dirty="0"/>
              <a:t>school-age children</a:t>
            </a:r>
            <a:endParaRPr lang="en-US" dirty="0"/>
          </a:p>
          <a:p>
            <a:pPr marL="742950" lvl="1" indent="-285750">
              <a:lnSpc>
                <a:spcPct val="150000"/>
              </a:lnSpc>
              <a:buFont typeface="Arial" panose="020B0604020202020204" pitchFamily="34" charset="0"/>
              <a:buChar char="•"/>
            </a:pPr>
            <a:r>
              <a:rPr lang="en-US" b="1" dirty="0"/>
              <a:t>adolescents</a:t>
            </a:r>
            <a:endParaRPr lang="en-US" dirty="0"/>
          </a:p>
          <a:p>
            <a:pPr>
              <a:lnSpc>
                <a:spcPct val="150000"/>
              </a:lnSpc>
              <a:buNone/>
            </a:pPr>
            <a:endParaRPr lang="en-US" dirty="0"/>
          </a:p>
          <a:p>
            <a:pPr algn="r" rtl="1">
              <a:lnSpc>
                <a:spcPct val="150000"/>
              </a:lnSpc>
              <a:buNone/>
            </a:pPr>
            <a:r>
              <a:rPr lang="fa-IR" dirty="0"/>
              <a:t>این تغییر در سال ۲۰۱۶ نشان‌دهنده تحول برنامه ایمن‌سازی از یک برنامه متمرکز بر کودکان به یک رویکرد جامع‌تر در سطح ملی بود. در این مدل جدید، گروه‌های سنی دیگر مانند سالمندان، کودکان مدرسه‌ای و نوجوانان نیز به جمعیت هدف اضافه شدند.</a:t>
            </a:r>
          </a:p>
        </p:txBody>
      </p:sp>
    </p:spTree>
    <p:extLst>
      <p:ext uri="{BB962C8B-B14F-4D97-AF65-F5344CB8AC3E}">
        <p14:creationId xmlns:p14="http://schemas.microsoft.com/office/powerpoint/2010/main" val="402196625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33DA1A-336F-5996-6F9A-DC10097D62DA}"/>
              </a:ext>
            </a:extLst>
          </p:cNvPr>
          <p:cNvSpPr txBox="1"/>
          <p:nvPr/>
        </p:nvSpPr>
        <p:spPr>
          <a:xfrm>
            <a:off x="1946787" y="2625213"/>
            <a:ext cx="8573729" cy="923330"/>
          </a:xfrm>
          <a:prstGeom prst="rect">
            <a:avLst/>
          </a:prstGeom>
          <a:noFill/>
        </p:spPr>
        <p:txBody>
          <a:bodyPr wrap="square" rtlCol="0">
            <a:spAutoFit/>
          </a:bodyPr>
          <a:lstStyle/>
          <a:p>
            <a:r>
              <a:rPr lang="en-US" sz="5400" dirty="0"/>
              <a:t>Thanks For Your Attention</a:t>
            </a:r>
          </a:p>
        </p:txBody>
      </p:sp>
    </p:spTree>
    <p:extLst>
      <p:ext uri="{BB962C8B-B14F-4D97-AF65-F5344CB8AC3E}">
        <p14:creationId xmlns:p14="http://schemas.microsoft.com/office/powerpoint/2010/main" val="1584349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523</TotalTime>
  <Words>3337</Words>
  <Application>Microsoft Office PowerPoint</Application>
  <PresentationFormat>Widescreen</PresentationFormat>
  <Paragraphs>362</Paragraphs>
  <Slides>37</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Aptos</vt:lpstr>
      <vt:lpstr>Aptos Display</vt:lpstr>
      <vt:lpstr>Arial</vt:lpstr>
      <vt:lpstr>Cambria Math</vt:lpstr>
      <vt:lpstr>Courier New</vt:lpstr>
      <vt:lpstr>MyriadPro-Light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Rahmati</dc:creator>
  <cp:lastModifiedBy>Ali Rahmati</cp:lastModifiedBy>
  <cp:revision>5</cp:revision>
  <dcterms:created xsi:type="dcterms:W3CDTF">2026-07-09T06:49:26Z</dcterms:created>
  <dcterms:modified xsi:type="dcterms:W3CDTF">2026-07-09T19:35:32Z</dcterms:modified>
</cp:coreProperties>
</file>