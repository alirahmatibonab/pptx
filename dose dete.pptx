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89" r:id="rId3"/>
    <p:sldId id="287" r:id="rId4"/>
    <p:sldId id="285" r:id="rId5"/>
    <p:sldId id="283" r:id="rId6"/>
    <p:sldId id="301" r:id="rId7"/>
    <p:sldId id="300" r:id="rId8"/>
    <p:sldId id="286" r:id="rId9"/>
    <p:sldId id="265" r:id="rId10"/>
    <p:sldId id="267" r:id="rId11"/>
    <p:sldId id="266" r:id="rId12"/>
    <p:sldId id="302" r:id="rId13"/>
    <p:sldId id="303" r:id="rId14"/>
    <p:sldId id="268" r:id="rId15"/>
    <p:sldId id="269" r:id="rId16"/>
    <p:sldId id="270" r:id="rId17"/>
    <p:sldId id="276" r:id="rId18"/>
    <p:sldId id="277" r:id="rId19"/>
    <p:sldId id="279" r:id="rId20"/>
    <p:sldId id="307" r:id="rId21"/>
    <p:sldId id="304" r:id="rId22"/>
    <p:sldId id="280" r:id="rId23"/>
    <p:sldId id="305" r:id="rId24"/>
    <p:sldId id="292" r:id="rId25"/>
    <p:sldId id="306" r:id="rId26"/>
    <p:sldId id="295" r:id="rId27"/>
    <p:sldId id="290" r:id="rId28"/>
    <p:sldId id="308" r:id="rId29"/>
    <p:sldId id="309" r:id="rId30"/>
    <p:sldId id="310" r:id="rId31"/>
    <p:sldId id="296" r:id="rId32"/>
    <p:sldId id="311"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350666-90F6-0A57-74AD-DF166DCA22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3AFB8F-673A-5291-0CD5-53CF5CC753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F3BB02-8670-4FA9-9778-A79775163193}" type="datetimeFigureOut">
              <a:rPr lang="en-US" smtClean="0"/>
              <a:t>6/16/2026</a:t>
            </a:fld>
            <a:endParaRPr lang="en-US"/>
          </a:p>
        </p:txBody>
      </p:sp>
      <p:sp>
        <p:nvSpPr>
          <p:cNvPr id="4" name="Footer Placeholder 3">
            <a:extLst>
              <a:ext uri="{FF2B5EF4-FFF2-40B4-BE49-F238E27FC236}">
                <a16:creationId xmlns:a16="http://schemas.microsoft.com/office/drawing/2014/main" id="{ACC1E61B-1156-1823-F065-A8B032FF41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E30B1AB-D112-77CF-5371-B935F8DC0F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6DBEA6-9016-4016-BB28-6F1D44EF3CB9}" type="slidenum">
              <a:rPr lang="en-US" smtClean="0"/>
              <a:t>‹#›</a:t>
            </a:fld>
            <a:endParaRPr lang="en-US"/>
          </a:p>
        </p:txBody>
      </p:sp>
    </p:spTree>
    <p:extLst>
      <p:ext uri="{BB962C8B-B14F-4D97-AF65-F5344CB8AC3E}">
        <p14:creationId xmlns:p14="http://schemas.microsoft.com/office/powerpoint/2010/main" val="38600288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3A84C0-31F9-4FB0-9648-FFB2626C19A5}"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E541B4-3095-41F0-98E0-9F74BB168136}" type="slidenum">
              <a:rPr lang="en-US" smtClean="0"/>
              <a:t>‹#›</a:t>
            </a:fld>
            <a:endParaRPr lang="en-US"/>
          </a:p>
        </p:txBody>
      </p:sp>
    </p:spTree>
    <p:extLst>
      <p:ext uri="{BB962C8B-B14F-4D97-AF65-F5344CB8AC3E}">
        <p14:creationId xmlns:p14="http://schemas.microsoft.com/office/powerpoint/2010/main" val="30410101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dirty="0"/>
              <a:t>همه دوزها تقریباً برابر تست می‌شوند.</a:t>
            </a:r>
          </a:p>
          <a:p>
            <a:pPr algn="r" rtl="1">
              <a:buNone/>
            </a:pPr>
            <a:r>
              <a:rPr lang="fa-IR" dirty="0"/>
              <a:t>مزیت:</a:t>
            </a:r>
          </a:p>
          <a:p>
            <a:pPr algn="r" rtl="1">
              <a:buFont typeface="Arial" panose="020B0604020202020204" pitchFamily="34" charset="0"/>
              <a:buChar char="•"/>
            </a:pPr>
            <a:r>
              <a:rPr lang="fa-IR" dirty="0"/>
              <a:t>اطلاعات کامل از همه دوزها</a:t>
            </a:r>
          </a:p>
          <a:p>
            <a:pPr algn="r" rtl="1">
              <a:buNone/>
            </a:pPr>
            <a:r>
              <a:rPr lang="fa-IR" dirty="0"/>
              <a:t>عیب:</a:t>
            </a:r>
          </a:p>
          <a:p>
            <a:pPr algn="r" rtl="1">
              <a:buFont typeface="Arial" panose="020B0604020202020204" pitchFamily="34" charset="0"/>
              <a:buChar char="•"/>
            </a:pPr>
            <a:r>
              <a:rPr lang="fa-IR" dirty="0"/>
              <a:t>بعضی بیماران دوزهای بد می‌گیرند.</a:t>
            </a:r>
          </a:p>
          <a:p>
            <a:endParaRPr lang="en-US" dirty="0"/>
          </a:p>
        </p:txBody>
      </p:sp>
      <p:sp>
        <p:nvSpPr>
          <p:cNvPr id="4" name="Slide Number Placeholder 3"/>
          <p:cNvSpPr>
            <a:spLocks noGrp="1"/>
          </p:cNvSpPr>
          <p:nvPr>
            <p:ph type="sldNum" sz="quarter" idx="5"/>
          </p:nvPr>
        </p:nvSpPr>
        <p:spPr/>
        <p:txBody>
          <a:bodyPr/>
          <a:lstStyle/>
          <a:p>
            <a:fld id="{78E541B4-3095-41F0-98E0-9F74BB168136}" type="slidenum">
              <a:rPr lang="en-US" smtClean="0"/>
              <a:t>24</a:t>
            </a:fld>
            <a:endParaRPr lang="en-US"/>
          </a:p>
        </p:txBody>
      </p:sp>
    </p:spTree>
    <p:extLst>
      <p:ext uri="{BB962C8B-B14F-4D97-AF65-F5344CB8AC3E}">
        <p14:creationId xmlns:p14="http://schemas.microsoft.com/office/powerpoint/2010/main" val="131607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0810-4DB3-D1FA-57D5-C3A1075C3B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1993EB-2C49-7BDE-EF4E-E232E8BEF8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E9794B-175A-19A0-C875-96F10F9E2131}"/>
              </a:ext>
            </a:extLst>
          </p:cNvPr>
          <p:cNvSpPr>
            <a:spLocks noGrp="1"/>
          </p:cNvSpPr>
          <p:nvPr>
            <p:ph type="dt" sz="half" idx="10"/>
          </p:nvPr>
        </p:nvSpPr>
        <p:spPr/>
        <p:txBody>
          <a:bodyPr/>
          <a:lstStyle/>
          <a:p>
            <a:fld id="{34FB93F6-4F48-423A-8370-C5A64926C9D0}" type="datetime1">
              <a:rPr lang="en-US" smtClean="0"/>
              <a:t>6/16/2026</a:t>
            </a:fld>
            <a:endParaRPr lang="en-US"/>
          </a:p>
        </p:txBody>
      </p:sp>
      <p:sp>
        <p:nvSpPr>
          <p:cNvPr id="5" name="Footer Placeholder 4">
            <a:extLst>
              <a:ext uri="{FF2B5EF4-FFF2-40B4-BE49-F238E27FC236}">
                <a16:creationId xmlns:a16="http://schemas.microsoft.com/office/drawing/2014/main" id="{5534A861-FC94-302A-53A2-E39B6B3F8F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33CBE-6C79-D51C-B15E-0B6C48C0EED9}"/>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3287022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BEA24-54CA-4680-081F-8507583222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A3A22D-8955-58D4-2D0C-668646FA76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2BB37-5529-80E9-8BAB-090F35D2FC89}"/>
              </a:ext>
            </a:extLst>
          </p:cNvPr>
          <p:cNvSpPr>
            <a:spLocks noGrp="1"/>
          </p:cNvSpPr>
          <p:nvPr>
            <p:ph type="dt" sz="half" idx="10"/>
          </p:nvPr>
        </p:nvSpPr>
        <p:spPr/>
        <p:txBody>
          <a:bodyPr/>
          <a:lstStyle/>
          <a:p>
            <a:fld id="{B17A5A67-3F16-4129-953B-08B846C71AB7}" type="datetime1">
              <a:rPr lang="en-US" smtClean="0"/>
              <a:t>6/16/2026</a:t>
            </a:fld>
            <a:endParaRPr lang="en-US"/>
          </a:p>
        </p:txBody>
      </p:sp>
      <p:sp>
        <p:nvSpPr>
          <p:cNvPr id="5" name="Footer Placeholder 4">
            <a:extLst>
              <a:ext uri="{FF2B5EF4-FFF2-40B4-BE49-F238E27FC236}">
                <a16:creationId xmlns:a16="http://schemas.microsoft.com/office/drawing/2014/main" id="{667CE2B4-CC52-465B-6F57-9BEA245744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EB955-8A68-CCF2-02C1-4B4CE9F9811B}"/>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271699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B8A8-48BE-B962-773E-67DDC28EBD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03E1E5-FA5A-5BA2-3B10-8C5080DC42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80A69E-28BB-597E-9283-294357D5232E}"/>
              </a:ext>
            </a:extLst>
          </p:cNvPr>
          <p:cNvSpPr>
            <a:spLocks noGrp="1"/>
          </p:cNvSpPr>
          <p:nvPr>
            <p:ph type="dt" sz="half" idx="10"/>
          </p:nvPr>
        </p:nvSpPr>
        <p:spPr/>
        <p:txBody>
          <a:bodyPr/>
          <a:lstStyle/>
          <a:p>
            <a:fld id="{95B5D2AC-9F0A-4732-A4EB-4A2D34AE9034}" type="datetime1">
              <a:rPr lang="en-US" smtClean="0"/>
              <a:t>6/16/2026</a:t>
            </a:fld>
            <a:endParaRPr lang="en-US"/>
          </a:p>
        </p:txBody>
      </p:sp>
      <p:sp>
        <p:nvSpPr>
          <p:cNvPr id="5" name="Footer Placeholder 4">
            <a:extLst>
              <a:ext uri="{FF2B5EF4-FFF2-40B4-BE49-F238E27FC236}">
                <a16:creationId xmlns:a16="http://schemas.microsoft.com/office/drawing/2014/main" id="{9586FC9B-6E12-7223-8B3D-6EC2CAE7E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5FAA0-F739-E3D3-D3D0-EE019B4755D7}"/>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269080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ADC25-D73A-486A-D88A-63A536E58F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A39D3A-411A-AFF2-6FCE-FBA81C2CDE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5D9100-BA2B-D39B-9898-5A89C6F0F1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5CC9B5-D1F4-EB4B-63E4-D17AAEEF5B62}"/>
              </a:ext>
            </a:extLst>
          </p:cNvPr>
          <p:cNvSpPr>
            <a:spLocks noGrp="1"/>
          </p:cNvSpPr>
          <p:nvPr>
            <p:ph type="dt" sz="half" idx="10"/>
          </p:nvPr>
        </p:nvSpPr>
        <p:spPr/>
        <p:txBody>
          <a:bodyPr/>
          <a:lstStyle/>
          <a:p>
            <a:fld id="{1702B0DF-FDDF-499E-A5C7-EBFA859AF68F}" type="datetime1">
              <a:rPr lang="en-US" smtClean="0"/>
              <a:t>6/16/2026</a:t>
            </a:fld>
            <a:endParaRPr lang="en-US"/>
          </a:p>
        </p:txBody>
      </p:sp>
      <p:sp>
        <p:nvSpPr>
          <p:cNvPr id="6" name="Footer Placeholder 5">
            <a:extLst>
              <a:ext uri="{FF2B5EF4-FFF2-40B4-BE49-F238E27FC236}">
                <a16:creationId xmlns:a16="http://schemas.microsoft.com/office/drawing/2014/main" id="{787F4693-F960-A0A1-923C-A5CB92E89C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F4095E-FDBD-B7C8-C8B3-B0F95C6AE746}"/>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407795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0A080-9998-3860-4DBF-7A49935465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53670-E09F-839E-25DF-9A178D2C47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79819B-F117-BB11-0887-0301E2A1D2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C37698-A69D-FDDB-D4B7-0D231AB4B9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36FEDA-0175-3828-840A-27B063A026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4E52D6-709C-8749-BFE0-850FB702D665}"/>
              </a:ext>
            </a:extLst>
          </p:cNvPr>
          <p:cNvSpPr>
            <a:spLocks noGrp="1"/>
          </p:cNvSpPr>
          <p:nvPr>
            <p:ph type="dt" sz="half" idx="10"/>
          </p:nvPr>
        </p:nvSpPr>
        <p:spPr/>
        <p:txBody>
          <a:bodyPr/>
          <a:lstStyle/>
          <a:p>
            <a:fld id="{F017C305-34AC-4358-AFC6-CD9242026C2D}" type="datetime1">
              <a:rPr lang="en-US" smtClean="0"/>
              <a:t>6/16/2026</a:t>
            </a:fld>
            <a:endParaRPr lang="en-US"/>
          </a:p>
        </p:txBody>
      </p:sp>
      <p:sp>
        <p:nvSpPr>
          <p:cNvPr id="8" name="Footer Placeholder 7">
            <a:extLst>
              <a:ext uri="{FF2B5EF4-FFF2-40B4-BE49-F238E27FC236}">
                <a16:creationId xmlns:a16="http://schemas.microsoft.com/office/drawing/2014/main" id="{023BB57C-452F-B789-802C-8F4B09E41F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FE117F-4D16-A8C3-BFBC-FE3A3C1D4969}"/>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8843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8DC6-32A6-1F1C-F676-E631E7AF22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76CA02-3C46-1946-15DC-C89A3F454283}"/>
              </a:ext>
            </a:extLst>
          </p:cNvPr>
          <p:cNvSpPr>
            <a:spLocks noGrp="1"/>
          </p:cNvSpPr>
          <p:nvPr>
            <p:ph type="dt" sz="half" idx="10"/>
          </p:nvPr>
        </p:nvSpPr>
        <p:spPr/>
        <p:txBody>
          <a:bodyPr/>
          <a:lstStyle/>
          <a:p>
            <a:fld id="{7F92BDB3-0C51-4E9D-8F1A-0B4A096D60F5}" type="datetime1">
              <a:rPr lang="en-US" smtClean="0"/>
              <a:t>6/16/2026</a:t>
            </a:fld>
            <a:endParaRPr lang="en-US"/>
          </a:p>
        </p:txBody>
      </p:sp>
      <p:sp>
        <p:nvSpPr>
          <p:cNvPr id="4" name="Footer Placeholder 3">
            <a:extLst>
              <a:ext uri="{FF2B5EF4-FFF2-40B4-BE49-F238E27FC236}">
                <a16:creationId xmlns:a16="http://schemas.microsoft.com/office/drawing/2014/main" id="{15AFBAB5-4889-38E2-1BAA-DDCDA0E170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B406D7-009E-B02F-93B7-AED85D7FF399}"/>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59887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17B571-D0D1-39C6-F4E9-DAE36BB5DAAC}"/>
              </a:ext>
            </a:extLst>
          </p:cNvPr>
          <p:cNvSpPr>
            <a:spLocks noGrp="1"/>
          </p:cNvSpPr>
          <p:nvPr>
            <p:ph type="dt" sz="half" idx="10"/>
          </p:nvPr>
        </p:nvSpPr>
        <p:spPr/>
        <p:txBody>
          <a:bodyPr/>
          <a:lstStyle/>
          <a:p>
            <a:fld id="{E9667A8B-524F-4512-8293-31DD0C7544A6}" type="datetime1">
              <a:rPr lang="en-US" smtClean="0"/>
              <a:t>6/16/2026</a:t>
            </a:fld>
            <a:endParaRPr lang="en-US"/>
          </a:p>
        </p:txBody>
      </p:sp>
      <p:sp>
        <p:nvSpPr>
          <p:cNvPr id="3" name="Footer Placeholder 2">
            <a:extLst>
              <a:ext uri="{FF2B5EF4-FFF2-40B4-BE49-F238E27FC236}">
                <a16:creationId xmlns:a16="http://schemas.microsoft.com/office/drawing/2014/main" id="{70432E3E-825E-06FC-ECB8-07A7214F2C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5A8E3E-F1E7-8A17-33F8-62F76E04F4AC}"/>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4183551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3BD4-33D2-1446-B481-A8C09EAAB8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CD4789-67A4-CD48-7619-6DACAD50CC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9EC55F-C0F7-1257-FF08-7367EED00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F7CCC-228B-3D1F-21E2-98AC2399097D}"/>
              </a:ext>
            </a:extLst>
          </p:cNvPr>
          <p:cNvSpPr>
            <a:spLocks noGrp="1"/>
          </p:cNvSpPr>
          <p:nvPr>
            <p:ph type="dt" sz="half" idx="10"/>
          </p:nvPr>
        </p:nvSpPr>
        <p:spPr/>
        <p:txBody>
          <a:bodyPr/>
          <a:lstStyle/>
          <a:p>
            <a:fld id="{B4F4F95D-E73E-4519-9E48-9BEDBAC2DD6B}" type="datetime1">
              <a:rPr lang="en-US" smtClean="0"/>
              <a:t>6/16/2026</a:t>
            </a:fld>
            <a:endParaRPr lang="en-US"/>
          </a:p>
        </p:txBody>
      </p:sp>
      <p:sp>
        <p:nvSpPr>
          <p:cNvPr id="6" name="Footer Placeholder 5">
            <a:extLst>
              <a:ext uri="{FF2B5EF4-FFF2-40B4-BE49-F238E27FC236}">
                <a16:creationId xmlns:a16="http://schemas.microsoft.com/office/drawing/2014/main" id="{D1FF160C-F01E-7C8E-1BAC-1A6096A61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10A66D-3D6D-3BF8-B814-75DB6E6AF26C}"/>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470687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DB264-A0D8-2EAD-EC90-CB0E2BCFD9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DF7057-0B5D-7F36-9816-51761072A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8CC503-AA98-A4A2-3FDE-0DAF80ED1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EE7CA-2368-D474-FA32-9CA5A36B4278}"/>
              </a:ext>
            </a:extLst>
          </p:cNvPr>
          <p:cNvSpPr>
            <a:spLocks noGrp="1"/>
          </p:cNvSpPr>
          <p:nvPr>
            <p:ph type="dt" sz="half" idx="10"/>
          </p:nvPr>
        </p:nvSpPr>
        <p:spPr/>
        <p:txBody>
          <a:bodyPr/>
          <a:lstStyle/>
          <a:p>
            <a:fld id="{65319BEC-C056-4147-A41C-359AF9DF0B65}" type="datetime1">
              <a:rPr lang="en-US" smtClean="0"/>
              <a:t>6/16/2026</a:t>
            </a:fld>
            <a:endParaRPr lang="en-US"/>
          </a:p>
        </p:txBody>
      </p:sp>
      <p:sp>
        <p:nvSpPr>
          <p:cNvPr id="6" name="Footer Placeholder 5">
            <a:extLst>
              <a:ext uri="{FF2B5EF4-FFF2-40B4-BE49-F238E27FC236}">
                <a16:creationId xmlns:a16="http://schemas.microsoft.com/office/drawing/2014/main" id="{134E1F55-A371-C7DC-1895-29C0EEDCA7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DD56F4-1189-CA0E-34BC-BB882592CDE7}"/>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37543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4CB8-79BC-698F-9AA5-367F76DDF3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3AA9A7-32F9-FA7D-3795-6F601B713C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3C6AB-1D7B-2D00-4E05-AB1E2FEFB682}"/>
              </a:ext>
            </a:extLst>
          </p:cNvPr>
          <p:cNvSpPr>
            <a:spLocks noGrp="1"/>
          </p:cNvSpPr>
          <p:nvPr>
            <p:ph type="dt" sz="half" idx="10"/>
          </p:nvPr>
        </p:nvSpPr>
        <p:spPr/>
        <p:txBody>
          <a:bodyPr/>
          <a:lstStyle/>
          <a:p>
            <a:fld id="{8D67286F-0FFE-44B4-B602-9734B442827A}" type="datetime1">
              <a:rPr lang="en-US" smtClean="0"/>
              <a:t>6/16/2026</a:t>
            </a:fld>
            <a:endParaRPr lang="en-US"/>
          </a:p>
        </p:txBody>
      </p:sp>
      <p:sp>
        <p:nvSpPr>
          <p:cNvPr id="5" name="Footer Placeholder 4">
            <a:extLst>
              <a:ext uri="{FF2B5EF4-FFF2-40B4-BE49-F238E27FC236}">
                <a16:creationId xmlns:a16="http://schemas.microsoft.com/office/drawing/2014/main" id="{8A954BA1-1239-9C69-5E45-5E36840CAD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7B313-5AD1-35E4-BC01-0A9F491BC762}"/>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2002407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B1342A-398F-E80B-40CE-64911539F7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0D2128-1218-F416-82D4-42CC2FFB2C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CF698B-5FF8-D9BB-2D51-FC0CBD8CA140}"/>
              </a:ext>
            </a:extLst>
          </p:cNvPr>
          <p:cNvSpPr>
            <a:spLocks noGrp="1"/>
          </p:cNvSpPr>
          <p:nvPr>
            <p:ph type="dt" sz="half" idx="10"/>
          </p:nvPr>
        </p:nvSpPr>
        <p:spPr/>
        <p:txBody>
          <a:bodyPr/>
          <a:lstStyle/>
          <a:p>
            <a:fld id="{9F73A71D-5B8C-42C5-B9E2-3C9A7ADE6C80}" type="datetime1">
              <a:rPr lang="en-US" smtClean="0"/>
              <a:t>6/16/2026</a:t>
            </a:fld>
            <a:endParaRPr lang="en-US"/>
          </a:p>
        </p:txBody>
      </p:sp>
      <p:sp>
        <p:nvSpPr>
          <p:cNvPr id="5" name="Footer Placeholder 4">
            <a:extLst>
              <a:ext uri="{FF2B5EF4-FFF2-40B4-BE49-F238E27FC236}">
                <a16:creationId xmlns:a16="http://schemas.microsoft.com/office/drawing/2014/main" id="{C7CDDB68-C0D9-DA4E-BED7-7EF12A84E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CDACA-27DC-9FC1-EE06-719D3D2AAF20}"/>
              </a:ext>
            </a:extLst>
          </p:cNvPr>
          <p:cNvSpPr>
            <a:spLocks noGrp="1"/>
          </p:cNvSpPr>
          <p:nvPr>
            <p:ph type="sldNum" sz="quarter" idx="12"/>
          </p:nvPr>
        </p:nvSpPr>
        <p:spPr/>
        <p:txBody>
          <a:bodyPr/>
          <a:lstStyle/>
          <a:p>
            <a:fld id="{67EFB97B-C702-468C-B184-BC2FF345C510}" type="slidenum">
              <a:rPr lang="en-US" smtClean="0"/>
              <a:t>‹#›</a:t>
            </a:fld>
            <a:endParaRPr lang="en-US"/>
          </a:p>
        </p:txBody>
      </p:sp>
    </p:spTree>
    <p:extLst>
      <p:ext uri="{BB962C8B-B14F-4D97-AF65-F5344CB8AC3E}">
        <p14:creationId xmlns:p14="http://schemas.microsoft.com/office/powerpoint/2010/main" val="132067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4A1D10-C850-F759-95A3-B2603B1252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92368B-DFF8-96B4-3D44-47F1730F6D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2F244-DF43-2982-68C7-97C6E79DF1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D4965-1577-4CDF-9D87-DCA024756B01}" type="datetime1">
              <a:rPr lang="en-US" smtClean="0"/>
              <a:t>6/16/2026</a:t>
            </a:fld>
            <a:endParaRPr lang="en-US"/>
          </a:p>
        </p:txBody>
      </p:sp>
      <p:sp>
        <p:nvSpPr>
          <p:cNvPr id="5" name="Footer Placeholder 4">
            <a:extLst>
              <a:ext uri="{FF2B5EF4-FFF2-40B4-BE49-F238E27FC236}">
                <a16:creationId xmlns:a16="http://schemas.microsoft.com/office/drawing/2014/main" id="{02AA9D26-AB7E-9E65-A455-EC2F3042D8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EB3229-9E92-343F-D490-1CC90603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FB97B-C702-468C-B184-BC2FF345C510}" type="slidenum">
              <a:rPr lang="en-US" smtClean="0"/>
              <a:t>‹#›</a:t>
            </a:fld>
            <a:endParaRPr lang="en-US"/>
          </a:p>
        </p:txBody>
      </p:sp>
    </p:spTree>
    <p:extLst>
      <p:ext uri="{BB962C8B-B14F-4D97-AF65-F5344CB8AC3E}">
        <p14:creationId xmlns:p14="http://schemas.microsoft.com/office/powerpoint/2010/main" val="550714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F62027-9708-5EBA-D459-99B4888394FD}"/>
              </a:ext>
            </a:extLst>
          </p:cNvPr>
          <p:cNvPicPr>
            <a:picLocks noChangeAspect="1"/>
          </p:cNvPicPr>
          <p:nvPr/>
        </p:nvPicPr>
        <p:blipFill>
          <a:blip r:embed="rId2"/>
          <a:stretch>
            <a:fillRect/>
          </a:stretch>
        </p:blipFill>
        <p:spPr>
          <a:xfrm>
            <a:off x="5307016" y="105585"/>
            <a:ext cx="1577968" cy="1669808"/>
          </a:xfrm>
          <a:prstGeom prst="rect">
            <a:avLst/>
          </a:prstGeom>
        </p:spPr>
      </p:pic>
      <p:sp>
        <p:nvSpPr>
          <p:cNvPr id="3" name="Content Placeholder 3">
            <a:extLst>
              <a:ext uri="{FF2B5EF4-FFF2-40B4-BE49-F238E27FC236}">
                <a16:creationId xmlns:a16="http://schemas.microsoft.com/office/drawing/2014/main" id="{989811E0-EB9A-4591-AEA9-F76363E70D1F}"/>
              </a:ext>
            </a:extLst>
          </p:cNvPr>
          <p:cNvSpPr txBox="1">
            <a:spLocks/>
          </p:cNvSpPr>
          <p:nvPr/>
        </p:nvSpPr>
        <p:spPr>
          <a:xfrm>
            <a:off x="1731950" y="1844512"/>
            <a:ext cx="8728099" cy="47800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i="1" dirty="0">
                <a:latin typeface="Times New Roman" panose="02020603050405020304" pitchFamily="18" charset="0"/>
                <a:cs typeface="Times New Roman" panose="02020603050405020304" pitchFamily="18" charset="0"/>
              </a:rPr>
              <a:t>Mazandaran University of Medical Sciences</a:t>
            </a:r>
          </a:p>
          <a:p>
            <a:pPr>
              <a:lnSpc>
                <a:spcPct val="100000"/>
              </a:lnSpc>
              <a:spcBef>
                <a:spcPts val="0"/>
              </a:spcBef>
            </a:pPr>
            <a:r>
              <a:rPr lang="en-US" sz="1600" i="1" dirty="0">
                <a:latin typeface="Times New Roman" panose="02020603050405020304" pitchFamily="18" charset="0"/>
                <a:cs typeface="Times New Roman" panose="02020603050405020304" pitchFamily="18" charset="0"/>
              </a:rPr>
              <a:t> Department of Immunology</a:t>
            </a:r>
          </a:p>
          <a:p>
            <a:pPr>
              <a:lnSpc>
                <a:spcPct val="100000"/>
              </a:lnSpc>
              <a:spcBef>
                <a:spcPts val="0"/>
              </a:spcBef>
            </a:pPr>
            <a:r>
              <a:rPr lang="en-US" sz="1100" b="1" dirty="0">
                <a:latin typeface="Times New Roman" panose="02020603050405020304" pitchFamily="18" charset="0"/>
                <a:cs typeface="Times New Roman" panose="02020603050405020304" pitchFamily="18" charset="0"/>
              </a:rPr>
              <a:t>     </a:t>
            </a:r>
            <a:endParaRPr lang="en-US" sz="1000" dirty="0">
              <a:latin typeface="Times New Roman" panose="02020603050405020304" pitchFamily="18" charset="0"/>
              <a:cs typeface="Times New Roman" panose="02020603050405020304" pitchFamily="18" charset="0"/>
            </a:endParaRPr>
          </a:p>
          <a:p>
            <a:pPr lvl="1">
              <a:lnSpc>
                <a:spcPct val="100000"/>
              </a:lnSpc>
              <a:spcBef>
                <a:spcPts val="0"/>
              </a:spcBef>
            </a:pPr>
            <a:endParaRPr lang="en-US" sz="1200" dirty="0">
              <a:latin typeface="Times New Roman" panose="02020603050405020304" pitchFamily="18" charset="0"/>
              <a:cs typeface="Times New Roman" panose="02020603050405020304" pitchFamily="18" charset="0"/>
            </a:endParaRPr>
          </a:p>
          <a:p>
            <a:endParaRPr lang="en-US" sz="1200" dirty="0"/>
          </a:p>
        </p:txBody>
      </p:sp>
      <p:sp>
        <p:nvSpPr>
          <p:cNvPr id="5" name="TextBox 4">
            <a:extLst>
              <a:ext uri="{FF2B5EF4-FFF2-40B4-BE49-F238E27FC236}">
                <a16:creationId xmlns:a16="http://schemas.microsoft.com/office/drawing/2014/main" id="{11B9B234-133D-6F9A-7B03-56DDDA411719}"/>
              </a:ext>
            </a:extLst>
          </p:cNvPr>
          <p:cNvSpPr txBox="1"/>
          <p:nvPr/>
        </p:nvSpPr>
        <p:spPr>
          <a:xfrm>
            <a:off x="-1" y="5239527"/>
            <a:ext cx="6096000" cy="1384995"/>
          </a:xfrm>
          <a:prstGeom prst="rect">
            <a:avLst/>
          </a:prstGeom>
          <a:noFill/>
        </p:spPr>
        <p:txBody>
          <a:bodyPr wrap="square">
            <a:spAutoFit/>
          </a:bodyPr>
          <a:lstStyle/>
          <a:p>
            <a:pPr lvl="1" algn="l">
              <a:lnSpc>
                <a:spcPct val="100000"/>
              </a:lnSpc>
              <a:spcBef>
                <a:spcPts val="0"/>
              </a:spcBef>
            </a:pPr>
            <a:r>
              <a:rPr lang="en-US" sz="2800" b="1" i="1" dirty="0">
                <a:latin typeface="Times New Roman" panose="02020603050405020304" pitchFamily="18" charset="0"/>
                <a:cs typeface="Times New Roman" panose="02020603050405020304" pitchFamily="18" charset="0"/>
              </a:rPr>
              <a:t>Advisor</a:t>
            </a:r>
            <a:r>
              <a:rPr lang="fa-IR" sz="2800" b="1"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  Dr. </a:t>
            </a:r>
            <a:r>
              <a:rPr lang="en-US" sz="2800" b="1" i="1" dirty="0" err="1">
                <a:latin typeface="Times New Roman" panose="02020603050405020304" pitchFamily="18" charset="0"/>
                <a:cs typeface="Times New Roman" panose="02020603050405020304" pitchFamily="18" charset="0"/>
              </a:rPr>
              <a:t>Taghiloo</a:t>
            </a:r>
            <a:endParaRPr lang="en-US" sz="2800" b="1" i="1" dirty="0">
              <a:latin typeface="Times New Roman" panose="02020603050405020304" pitchFamily="18" charset="0"/>
              <a:cs typeface="Times New Roman" panose="02020603050405020304" pitchFamily="18" charset="0"/>
            </a:endParaRPr>
          </a:p>
          <a:p>
            <a:pPr>
              <a:lnSpc>
                <a:spcPct val="100000"/>
              </a:lnSpc>
              <a:spcBef>
                <a:spcPts val="0"/>
              </a:spcBef>
            </a:pPr>
            <a:endParaRPr lang="en-US" sz="2800" b="1" dirty="0">
              <a:latin typeface="Times New Roman" panose="02020603050405020304" pitchFamily="18" charset="0"/>
              <a:cs typeface="Times New Roman" panose="02020603050405020304" pitchFamily="18" charset="0"/>
            </a:endParaRPr>
          </a:p>
          <a:p>
            <a:pPr algn="l">
              <a:lnSpc>
                <a:spcPct val="100000"/>
              </a:lnSpc>
              <a:spcBef>
                <a:spcPts val="0"/>
              </a:spcBef>
            </a:pPr>
            <a:r>
              <a:rPr lang="en-US" sz="2800" b="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Presenter: Ali Rahmati</a:t>
            </a:r>
            <a:endParaRPr lang="en-US"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A18A47A-98CE-294D-D763-004AEDA319E6}"/>
              </a:ext>
            </a:extLst>
          </p:cNvPr>
          <p:cNvSpPr txBox="1"/>
          <p:nvPr/>
        </p:nvSpPr>
        <p:spPr>
          <a:xfrm>
            <a:off x="548147" y="2971653"/>
            <a:ext cx="10867103" cy="1446550"/>
          </a:xfrm>
          <a:prstGeom prst="rect">
            <a:avLst/>
          </a:prstGeom>
          <a:noFill/>
        </p:spPr>
        <p:txBody>
          <a:bodyPr wrap="square">
            <a:spAutoFit/>
          </a:bodyPr>
          <a:lstStyle/>
          <a:p>
            <a:pPr algn="ctr"/>
            <a:r>
              <a:rPr lang="en-GB" sz="4400" dirty="0">
                <a:latin typeface="Times New Roman" panose="02020603050405020304" pitchFamily="18" charset="0"/>
                <a:cs typeface="Times New Roman" panose="02020603050405020304" pitchFamily="18" charset="0"/>
              </a:rPr>
              <a:t>Determination</a:t>
            </a:r>
            <a:r>
              <a:rPr lang="en-US" sz="4400" dirty="0">
                <a:latin typeface="Times New Roman" panose="02020603050405020304" pitchFamily="18" charset="0"/>
                <a:cs typeface="Times New Roman" panose="02020603050405020304" pitchFamily="18" charset="0"/>
              </a:rPr>
              <a:t> of</a:t>
            </a:r>
            <a:r>
              <a:rPr lang="en-GB" sz="4400" dirty="0">
                <a:latin typeface="Times New Roman" panose="02020603050405020304" pitchFamily="18" charset="0"/>
                <a:cs typeface="Times New Roman" panose="02020603050405020304" pitchFamily="18" charset="0"/>
              </a:rPr>
              <a:t> the optimal concentration and dose of vaccines</a:t>
            </a:r>
            <a:endParaRPr lang="en-US" sz="4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F1598C-DC74-C369-048B-C379D2F7BA01}"/>
              </a:ext>
            </a:extLst>
          </p:cNvPr>
          <p:cNvSpPr>
            <a:spLocks noGrp="1"/>
          </p:cNvSpPr>
          <p:nvPr>
            <p:ph type="sldNum" sz="quarter" idx="12"/>
          </p:nvPr>
        </p:nvSpPr>
        <p:spPr/>
        <p:txBody>
          <a:bodyPr/>
          <a:lstStyle/>
          <a:p>
            <a:fld id="{67EFB97B-C702-468C-B184-BC2FF345C510}" type="slidenum">
              <a:rPr lang="en-US" smtClean="0"/>
              <a:t>1</a:t>
            </a:fld>
            <a:endParaRPr lang="en-US"/>
          </a:p>
        </p:txBody>
      </p:sp>
    </p:spTree>
    <p:extLst>
      <p:ext uri="{BB962C8B-B14F-4D97-AF65-F5344CB8AC3E}">
        <p14:creationId xmlns:p14="http://schemas.microsoft.com/office/powerpoint/2010/main" val="1556997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C0B4DB8-1C49-E60D-DFB4-E4423900359F}"/>
              </a:ext>
            </a:extLst>
          </p:cNvPr>
          <p:cNvSpPr/>
          <p:nvPr/>
        </p:nvSpPr>
        <p:spPr>
          <a:xfrm>
            <a:off x="1914751" y="79055"/>
            <a:ext cx="9528376" cy="1532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490CC0D4-1642-8B36-D25D-735EB5D440F1}"/>
              </a:ext>
            </a:extLst>
          </p:cNvPr>
          <p:cNvSpPr/>
          <p:nvPr/>
        </p:nvSpPr>
        <p:spPr>
          <a:xfrm>
            <a:off x="1914751" y="1785913"/>
            <a:ext cx="9528376" cy="20963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Vaccine toxicity refers to the harmful or adverse biological effects that may occur after administration of a vaccine. These effects can range from mild reactions, such as pain at the injection site, fever, or fatigue, to more severe adverse events that may affect organ systems or overall health</a:t>
            </a:r>
          </a:p>
        </p:txBody>
      </p:sp>
      <p:sp>
        <p:nvSpPr>
          <p:cNvPr id="2" name="Slide Number Placeholder 1">
            <a:extLst>
              <a:ext uri="{FF2B5EF4-FFF2-40B4-BE49-F238E27FC236}">
                <a16:creationId xmlns:a16="http://schemas.microsoft.com/office/drawing/2014/main" id="{53B3E6A6-D5D1-C31C-FFA1-B836C175CCB8}"/>
              </a:ext>
            </a:extLst>
          </p:cNvPr>
          <p:cNvSpPr>
            <a:spLocks noGrp="1"/>
          </p:cNvSpPr>
          <p:nvPr>
            <p:ph type="sldNum" sz="quarter" idx="12"/>
          </p:nvPr>
        </p:nvSpPr>
        <p:spPr/>
        <p:txBody>
          <a:bodyPr/>
          <a:lstStyle/>
          <a:p>
            <a:fld id="{67EFB97B-C702-468C-B184-BC2FF345C5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72BB399E-1F82-5128-2741-06F9A2DBF6F1}"/>
              </a:ext>
            </a:extLst>
          </p:cNvPr>
          <p:cNvSpPr/>
          <p:nvPr/>
        </p:nvSpPr>
        <p:spPr>
          <a:xfrm>
            <a:off x="1914751" y="4056944"/>
            <a:ext cx="9528376" cy="209632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Utility in vaccine dose‑finding studies is a quantitative measure that combines the benefits and risks of a vaccine dose into a single value. It typically incorporates both vaccine efficacy (the ability of the vaccine to produce a protective immune response) and toxicity (the probability of adverse effects). The purpose of a utility function</a:t>
            </a:r>
          </a:p>
        </p:txBody>
      </p:sp>
      <p:sp>
        <p:nvSpPr>
          <p:cNvPr id="3" name="TextBox 2">
            <a:extLst>
              <a:ext uri="{FF2B5EF4-FFF2-40B4-BE49-F238E27FC236}">
                <a16:creationId xmlns:a16="http://schemas.microsoft.com/office/drawing/2014/main" id="{AB4FB5EB-B197-FEB1-F368-30DF0697600A}"/>
              </a:ext>
            </a:extLst>
          </p:cNvPr>
          <p:cNvSpPr txBox="1"/>
          <p:nvPr/>
        </p:nvSpPr>
        <p:spPr>
          <a:xfrm>
            <a:off x="1914751" y="1785913"/>
            <a:ext cx="1396181"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Toxicity</a:t>
            </a:r>
          </a:p>
          <a:p>
            <a:endParaRPr lang="en-US"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8C0FC6D-D848-0F7F-C921-574069FD74CA}"/>
              </a:ext>
            </a:extLst>
          </p:cNvPr>
          <p:cNvSpPr txBox="1"/>
          <p:nvPr/>
        </p:nvSpPr>
        <p:spPr>
          <a:xfrm>
            <a:off x="-2785068" y="162924"/>
            <a:ext cx="6096000" cy="830997"/>
          </a:xfrm>
          <a:prstGeom prst="rect">
            <a:avLst/>
          </a:prstGeom>
          <a:noFill/>
        </p:spPr>
        <p:txBody>
          <a:bodyPr wrap="square">
            <a:spAutoFit/>
          </a:bodyPr>
          <a:lstStyle/>
          <a:p>
            <a:pPr algn="r" rtl="1">
              <a:buNone/>
            </a:pPr>
            <a:r>
              <a:rPr lang="en-US" sz="2400" b="1" dirty="0">
                <a:latin typeface="Times New Roman" panose="02020603050405020304" pitchFamily="18" charset="0"/>
                <a:cs typeface="Times New Roman" panose="02020603050405020304" pitchFamily="18" charset="0"/>
              </a:rPr>
              <a:t>Efficacy:</a:t>
            </a:r>
          </a:p>
          <a:p>
            <a:pPr algn="r" rtl="1">
              <a:buNone/>
            </a:pP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F5BF652-FC11-CF81-CB8D-9DA9CAE3274B}"/>
              </a:ext>
            </a:extLst>
          </p:cNvPr>
          <p:cNvSpPr txBox="1"/>
          <p:nvPr/>
        </p:nvSpPr>
        <p:spPr>
          <a:xfrm>
            <a:off x="2013074" y="4085726"/>
            <a:ext cx="139618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Utility</a:t>
            </a:r>
          </a:p>
        </p:txBody>
      </p:sp>
      <p:sp>
        <p:nvSpPr>
          <p:cNvPr id="7" name="TextBox 6">
            <a:extLst>
              <a:ext uri="{FF2B5EF4-FFF2-40B4-BE49-F238E27FC236}">
                <a16:creationId xmlns:a16="http://schemas.microsoft.com/office/drawing/2014/main" id="{F2E4FEBE-84DA-70ED-BF65-0B683F063B58}"/>
              </a:ext>
            </a:extLst>
          </p:cNvPr>
          <p:cNvSpPr txBox="1"/>
          <p:nvPr/>
        </p:nvSpPr>
        <p:spPr>
          <a:xfrm>
            <a:off x="3840769" y="410875"/>
            <a:ext cx="7602358" cy="1200329"/>
          </a:xfrm>
          <a:prstGeom prst="rect">
            <a:avLst/>
          </a:prstGeom>
          <a:noFill/>
        </p:spPr>
        <p:txBody>
          <a:bodyPr wrap="square">
            <a:spAutoFit/>
          </a:bodyPr>
          <a:lstStyle/>
          <a:p>
            <a:pPr>
              <a:buNone/>
            </a:pPr>
            <a:r>
              <a:rPr lang="en-US" sz="1800" b="0" i="0" dirty="0">
                <a:solidFill>
                  <a:srgbClr val="000000"/>
                </a:solidFill>
                <a:effectLst/>
                <a:latin typeface="Times New Roman" panose="02020603050405020304" pitchFamily="18" charset="0"/>
                <a:cs typeface="Times New Roman" panose="02020603050405020304" pitchFamily="18" charset="0"/>
              </a:rPr>
              <a:t>Vaccine efficacy or protection can be defined by many clinical endpoints, for example, reduced risk of infection, reduced risk of severe symptoms, or reduced risk of hospitalization.</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EC3F9BE-959A-547B-1643-F13D3C664999}"/>
              </a:ext>
            </a:extLst>
          </p:cNvPr>
          <p:cNvSpPr txBox="1"/>
          <p:nvPr/>
        </p:nvSpPr>
        <p:spPr>
          <a:xfrm>
            <a:off x="-47622" y="2651342"/>
            <a:ext cx="1396181"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Dose</a:t>
            </a:r>
          </a:p>
        </p:txBody>
      </p:sp>
      <p:cxnSp>
        <p:nvCxnSpPr>
          <p:cNvPr id="11" name="Straight Arrow Connector 10">
            <a:extLst>
              <a:ext uri="{FF2B5EF4-FFF2-40B4-BE49-F238E27FC236}">
                <a16:creationId xmlns:a16="http://schemas.microsoft.com/office/drawing/2014/main" id="{3ED50B7D-B847-FC8D-8C24-5720B216E057}"/>
              </a:ext>
            </a:extLst>
          </p:cNvPr>
          <p:cNvCxnSpPr>
            <a:cxnSpLocks/>
          </p:cNvCxnSpPr>
          <p:nvPr/>
        </p:nvCxnSpPr>
        <p:spPr>
          <a:xfrm flipV="1">
            <a:off x="998676" y="1120877"/>
            <a:ext cx="751466" cy="1532149"/>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C750A526-360E-B741-E224-AED994FA9683}"/>
              </a:ext>
            </a:extLst>
          </p:cNvPr>
          <p:cNvCxnSpPr>
            <a:cxnSpLocks/>
          </p:cNvCxnSpPr>
          <p:nvPr/>
        </p:nvCxnSpPr>
        <p:spPr>
          <a:xfrm>
            <a:off x="954350" y="2948289"/>
            <a:ext cx="795792" cy="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0201AA9E-D565-7E4B-69B6-03135B91D7FB}"/>
              </a:ext>
            </a:extLst>
          </p:cNvPr>
          <p:cNvCxnSpPr>
            <a:cxnSpLocks/>
          </p:cNvCxnSpPr>
          <p:nvPr/>
        </p:nvCxnSpPr>
        <p:spPr>
          <a:xfrm>
            <a:off x="946976" y="3243553"/>
            <a:ext cx="803166" cy="148051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1279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3D2082-D4BF-ABD8-6517-2B1AFEC83726}"/>
              </a:ext>
            </a:extLst>
          </p:cNvPr>
          <p:cNvSpPr>
            <a:spLocks noGrp="1"/>
          </p:cNvSpPr>
          <p:nvPr>
            <p:ph type="sldNum" sz="quarter" idx="12"/>
          </p:nvPr>
        </p:nvSpPr>
        <p:spPr/>
        <p:txBody>
          <a:bodyPr/>
          <a:lstStyle/>
          <a:p>
            <a:fld id="{67EFB97B-C702-468C-B184-BC2FF345C510}" type="slidenum">
              <a:rPr lang="en-US" smtClean="0"/>
              <a:t>3</a:t>
            </a:fld>
            <a:endParaRPr lang="en-US"/>
          </a:p>
        </p:txBody>
      </p:sp>
      <p:sp>
        <p:nvSpPr>
          <p:cNvPr id="9" name="TextBox 8">
            <a:extLst>
              <a:ext uri="{FF2B5EF4-FFF2-40B4-BE49-F238E27FC236}">
                <a16:creationId xmlns:a16="http://schemas.microsoft.com/office/drawing/2014/main" id="{A2DD224E-5F10-18E0-BDA3-19A5F803DF9C}"/>
              </a:ext>
            </a:extLst>
          </p:cNvPr>
          <p:cNvSpPr txBox="1"/>
          <p:nvPr/>
        </p:nvSpPr>
        <p:spPr>
          <a:xfrm>
            <a:off x="-199103" y="0"/>
            <a:ext cx="12126247" cy="684803"/>
          </a:xfrm>
          <a:prstGeom prst="rect">
            <a:avLst/>
          </a:prstGeom>
          <a:noFill/>
        </p:spPr>
        <p:txBody>
          <a:bodyPr wrap="square">
            <a:spAutoFit/>
          </a:bodyPr>
          <a:lstStyle/>
          <a:p>
            <a:pPr algn="r" rtl="1">
              <a:lnSpc>
                <a:spcPct val="150000"/>
              </a:lnSpc>
            </a:pPr>
            <a:r>
              <a:rPr lang="fa-IR" sz="2800" dirty="0">
                <a:cs typeface="B Titr" panose="00000700000000000000" pitchFamily="2" charset="-78"/>
              </a:rPr>
              <a:t>رابطه میزان دوز و </a:t>
            </a:r>
            <a:r>
              <a:rPr lang="en-US" sz="2800" b="1" dirty="0">
                <a:cs typeface="B Titr" panose="00000700000000000000" pitchFamily="2" charset="-78"/>
              </a:rPr>
              <a:t>Efficacy</a:t>
            </a:r>
            <a:r>
              <a:rPr lang="fa-IR" sz="2800" dirty="0">
                <a:cs typeface="B Titr" panose="00000700000000000000" pitchFamily="2" charset="-78"/>
              </a:rPr>
              <a:t> واکسن</a:t>
            </a:r>
          </a:p>
        </p:txBody>
      </p:sp>
      <p:sp>
        <p:nvSpPr>
          <p:cNvPr id="4" name="TextBox 3">
            <a:extLst>
              <a:ext uri="{FF2B5EF4-FFF2-40B4-BE49-F238E27FC236}">
                <a16:creationId xmlns:a16="http://schemas.microsoft.com/office/drawing/2014/main" id="{23EEA8AB-67C1-E791-9361-F3CDCBE9F3AF}"/>
              </a:ext>
            </a:extLst>
          </p:cNvPr>
          <p:cNvSpPr txBox="1"/>
          <p:nvPr/>
        </p:nvSpPr>
        <p:spPr>
          <a:xfrm>
            <a:off x="570271" y="897595"/>
            <a:ext cx="11189109" cy="2862322"/>
          </a:xfrm>
          <a:prstGeom prst="rect">
            <a:avLst/>
          </a:prstGeom>
          <a:noFill/>
        </p:spPr>
        <p:txBody>
          <a:bodyPr wrap="square">
            <a:spAutoFit/>
          </a:bodyPr>
          <a:lstStyle/>
          <a:p>
            <a:pPr algn="r" rtl="1"/>
            <a:r>
              <a:rPr lang="fa-IR" sz="2000" b="1" dirty="0">
                <a:solidFill>
                  <a:srgbClr val="FF0000"/>
                </a:solidFill>
                <a:latin typeface="Times New Roman" panose="02020603050405020304" pitchFamily="18" charset="0"/>
                <a:cs typeface="B Nazanin" panose="00000400000000000000" pitchFamily="2" charset="-78"/>
              </a:rPr>
              <a:t>پدیده “Immune Overstimulation” و “Exhaustion”</a:t>
            </a:r>
            <a:endParaRPr lang="en-US" sz="2000" b="1" dirty="0">
              <a:solidFill>
                <a:srgbClr val="FF0000"/>
              </a:solidFill>
              <a:latin typeface="Times New Roman" panose="02020603050405020304" pitchFamily="18" charset="0"/>
              <a:cs typeface="B Nazanin" panose="00000400000000000000" pitchFamily="2" charset="-78"/>
            </a:endParaRPr>
          </a:p>
          <a:p>
            <a:pPr algn="r" rtl="1"/>
            <a:endParaRPr lang="fa-IR" sz="2000" b="1"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دلیل علمی اصلی این است که سیستم ایمنی یک سیستم پویا و تنظیم‌شونده است، نه یک مخزن ساده که هرچه بیشتر در آن بریزیم، بیشتر پر شود.</a:t>
            </a:r>
          </a:p>
          <a:p>
            <a:pPr algn="r" rtl="1"/>
            <a:r>
              <a:rPr lang="fa-IR" sz="2000" b="1" dirty="0">
                <a:latin typeface="Times New Roman" panose="02020603050405020304" pitchFamily="18" charset="0"/>
                <a:cs typeface="B Nazanin" panose="00000400000000000000" pitchFamily="2" charset="-78"/>
              </a:rPr>
              <a:t>T-cell Exhaustion:</a:t>
            </a:r>
            <a:r>
              <a:rPr lang="fa-IR" sz="2000" dirty="0">
                <a:latin typeface="Times New Roman" panose="02020603050405020304" pitchFamily="18" charset="0"/>
                <a:cs typeface="B Nazanin" panose="00000400000000000000" pitchFamily="2" charset="-78"/>
              </a:rPr>
              <a:t> مواجهه با مقادیر بسیار بالای آنتی‌ژن (Over-exposure) می‌تواند منجر به خستگی سلول‌های T شود. در این حالت، سلول‌ها به جای حافظه‌سازی، مارکرهای مهاری مثل </a:t>
            </a:r>
            <a:r>
              <a:rPr lang="fa-IR" sz="2000" b="1" dirty="0">
                <a:latin typeface="Times New Roman" panose="02020603050405020304" pitchFamily="18" charset="0"/>
                <a:cs typeface="B Nazanin" panose="00000400000000000000" pitchFamily="2" charset="-78"/>
              </a:rPr>
              <a:t>1PD</a:t>
            </a:r>
            <a:r>
              <a:rPr lang="en-US" sz="2000" b="1"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بیان می‌کنند و عملاً از کار می‌افتند.</a:t>
            </a:r>
          </a:p>
          <a:p>
            <a:pPr algn="r" rtl="1"/>
            <a:endParaRPr lang="en-US" sz="2000" b="1" dirty="0">
              <a:latin typeface="Times New Roman" panose="02020603050405020304" pitchFamily="18" charset="0"/>
              <a:cs typeface="B Nazanin" panose="00000400000000000000" pitchFamily="2" charset="-78"/>
            </a:endParaRPr>
          </a:p>
          <a:p>
            <a:pPr algn="r" rtl="1"/>
            <a:r>
              <a:rPr lang="fa-IR" sz="2000" b="1" dirty="0">
                <a:latin typeface="Times New Roman" panose="02020603050405020304" pitchFamily="18" charset="0"/>
                <a:cs typeface="B Nazanin" panose="00000400000000000000" pitchFamily="2" charset="-78"/>
              </a:rPr>
              <a:t>High-zone Tolerance:</a:t>
            </a:r>
            <a:r>
              <a:rPr lang="fa-IR" sz="2000" dirty="0">
                <a:latin typeface="Times New Roman" panose="02020603050405020304" pitchFamily="18" charset="0"/>
                <a:cs typeface="B Nazanin" panose="00000400000000000000" pitchFamily="2" charset="-78"/>
              </a:rPr>
              <a:t> دوزهای بسیار بالای آنتی‌ژن ممکن است به جای تحریک پاسخ ایمنی، باعث ایجاد </a:t>
            </a:r>
            <a:r>
              <a:rPr lang="fa-IR" sz="2000" b="1" dirty="0">
                <a:latin typeface="Times New Roman" panose="02020603050405020304" pitchFamily="18" charset="0"/>
                <a:cs typeface="B Nazanin" panose="00000400000000000000" pitchFamily="2" charset="-78"/>
              </a:rPr>
              <a:t>تحمل (Tolerance)</a:t>
            </a:r>
            <a:r>
              <a:rPr lang="fa-IR" sz="2000" dirty="0">
                <a:latin typeface="Times New Roman" panose="02020603050405020304" pitchFamily="18" charset="0"/>
                <a:cs typeface="B Nazanin" panose="00000400000000000000" pitchFamily="2" charset="-78"/>
              </a:rPr>
              <a:t> شوند (مشابه روش‌های حساسیت‌زدایی در آلرژی)، که دقیقاً برعکس هدف واکسن است.</a:t>
            </a:r>
          </a:p>
        </p:txBody>
      </p:sp>
      <p:sp>
        <p:nvSpPr>
          <p:cNvPr id="6" name="TextBox 5">
            <a:extLst>
              <a:ext uri="{FF2B5EF4-FFF2-40B4-BE49-F238E27FC236}">
                <a16:creationId xmlns:a16="http://schemas.microsoft.com/office/drawing/2014/main" id="{258E18BD-2CD4-69D7-E170-32E35EAC3C7C}"/>
              </a:ext>
            </a:extLst>
          </p:cNvPr>
          <p:cNvSpPr txBox="1"/>
          <p:nvPr/>
        </p:nvSpPr>
        <p:spPr>
          <a:xfrm>
            <a:off x="314632" y="4121056"/>
            <a:ext cx="11562735" cy="2669962"/>
          </a:xfrm>
          <a:prstGeom prst="rect">
            <a:avLst/>
          </a:prstGeom>
          <a:noFill/>
        </p:spPr>
        <p:txBody>
          <a:bodyPr wrap="square">
            <a:spAutoFit/>
          </a:bodyPr>
          <a:lstStyle/>
          <a:p>
            <a:pPr algn="r" rtl="1"/>
            <a:r>
              <a:rPr lang="fa-IR" sz="2000" b="1" dirty="0">
                <a:solidFill>
                  <a:srgbClr val="FF0000"/>
                </a:solidFill>
                <a:latin typeface="Times New Roman" panose="02020603050405020304" pitchFamily="18" charset="0"/>
                <a:cs typeface="B Nazanin" panose="00000400000000000000" pitchFamily="2" charset="-78"/>
              </a:rPr>
              <a:t> اشباع ظرفیت سلول‌های ارائه‌دهنده آنتی‌ژن (APCs)</a:t>
            </a:r>
            <a:endParaRPr lang="en-US" sz="2000" b="1" dirty="0">
              <a:solidFill>
                <a:srgbClr val="FF0000"/>
              </a:solidFill>
              <a:latin typeface="Times New Roman" panose="02020603050405020304" pitchFamily="18" charset="0"/>
              <a:cs typeface="B Nazanin" panose="00000400000000000000" pitchFamily="2" charset="-78"/>
            </a:endParaRPr>
          </a:p>
          <a:p>
            <a:pPr algn="r" rtl="1"/>
            <a:endParaRPr lang="fa-IR" sz="2000" b="1"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تعداد Dendritic Cells و سایر APCها در محل تزریق محدود است.</a:t>
            </a:r>
            <a:endParaRPr lang="en-US" sz="2000" dirty="0">
              <a:latin typeface="Times New Roman" panose="02020603050405020304" pitchFamily="18" charset="0"/>
              <a:cs typeface="B Nazanin" panose="00000400000000000000" pitchFamily="2" charset="-78"/>
            </a:endParaRPr>
          </a:p>
          <a:p>
            <a:pPr algn="r" rtl="1"/>
            <a:endParaRPr lang="fa-IR" sz="2000" dirty="0">
              <a:latin typeface="Times New Roman" panose="02020603050405020304" pitchFamily="18" charset="0"/>
              <a:cs typeface="B Nazanin" panose="00000400000000000000" pitchFamily="2" charset="-78"/>
            </a:endParaRPr>
          </a:p>
          <a:p>
            <a:pPr algn="r" rtl="1">
              <a:lnSpc>
                <a:spcPct val="150000"/>
              </a:lnSpc>
            </a:pPr>
            <a:r>
              <a:rPr lang="fa-IR" sz="2000" dirty="0">
                <a:latin typeface="Times New Roman" panose="02020603050405020304" pitchFamily="18" charset="0"/>
                <a:cs typeface="B Nazanin" panose="00000400000000000000" pitchFamily="2" charset="-78"/>
              </a:rPr>
              <a:t>وقتی دوز آنتی‌ژن از حد ظرفیت این سلول‌ها فراتر برود، آنتی‌ژن اضافی نه تنها پردازش نمی‌شود، بلکه ممکن است با اشغال غیرمفید گیرنده‌ها یا ایجاد محیط التهابی شدید، از بلوغ صحیح APCها جلوگیری کند. در نتیجه، سیگنال‌دهی به سلول‌های T برای ایجاد پاسخ حافظه (Memory) مختل می‌شود.</a:t>
            </a:r>
          </a:p>
        </p:txBody>
      </p:sp>
    </p:spTree>
    <p:extLst>
      <p:ext uri="{BB962C8B-B14F-4D97-AF65-F5344CB8AC3E}">
        <p14:creationId xmlns:p14="http://schemas.microsoft.com/office/powerpoint/2010/main" val="343921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8950A3-7420-4600-952D-5670CE668E57}"/>
              </a:ext>
            </a:extLst>
          </p:cNvPr>
          <p:cNvSpPr>
            <a:spLocks noGrp="1"/>
          </p:cNvSpPr>
          <p:nvPr>
            <p:ph type="sldNum" sz="quarter" idx="12"/>
          </p:nvPr>
        </p:nvSpPr>
        <p:spPr/>
        <p:txBody>
          <a:bodyPr/>
          <a:lstStyle/>
          <a:p>
            <a:fld id="{67EFB97B-C702-468C-B184-BC2FF345C510}" type="slidenum">
              <a:rPr lang="en-US" smtClean="0"/>
              <a:t>4</a:t>
            </a:fld>
            <a:endParaRPr lang="en-US"/>
          </a:p>
        </p:txBody>
      </p:sp>
      <p:sp>
        <p:nvSpPr>
          <p:cNvPr id="4" name="TextBox 3">
            <a:extLst>
              <a:ext uri="{FF2B5EF4-FFF2-40B4-BE49-F238E27FC236}">
                <a16:creationId xmlns:a16="http://schemas.microsoft.com/office/drawing/2014/main" id="{42F8FBAA-0351-E395-7C1A-5B71056EFC46}"/>
              </a:ext>
            </a:extLst>
          </p:cNvPr>
          <p:cNvSpPr txBox="1"/>
          <p:nvPr/>
        </p:nvSpPr>
        <p:spPr>
          <a:xfrm>
            <a:off x="240890" y="442561"/>
            <a:ext cx="11552903" cy="5593839"/>
          </a:xfrm>
          <a:prstGeom prst="rect">
            <a:avLst/>
          </a:prstGeom>
          <a:noFill/>
        </p:spPr>
        <p:txBody>
          <a:bodyPr wrap="square">
            <a:spAutoFit/>
          </a:bodyPr>
          <a:lstStyle/>
          <a:p>
            <a:pPr algn="r" rtl="1"/>
            <a:r>
              <a:rPr lang="fa-IR" sz="2000" b="1" dirty="0">
                <a:solidFill>
                  <a:srgbClr val="FF0000"/>
                </a:solidFill>
                <a:latin typeface="Times New Roman" panose="02020603050405020304" pitchFamily="18" charset="0"/>
                <a:cs typeface="B Nazanin" panose="00000400000000000000" pitchFamily="2" charset="-78"/>
              </a:rPr>
              <a:t>کیفیت در مقابل کمیت (Antibody Affinity Maturation)</a:t>
            </a:r>
          </a:p>
          <a:p>
            <a:pPr algn="r" rtl="1"/>
            <a:endParaRPr lang="fa-IR" sz="2000" b="1"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هدف واکسن فقط تولید آنتی‌بادی زیاد نیست، بلکه تولید آنتی‌بادی با </a:t>
            </a:r>
            <a:r>
              <a:rPr lang="fa-IR" sz="2000" b="1" dirty="0">
                <a:latin typeface="Times New Roman" panose="02020603050405020304" pitchFamily="18" charset="0"/>
                <a:cs typeface="B Nazanin" panose="00000400000000000000" pitchFamily="2" charset="-78"/>
              </a:rPr>
              <a:t>Affinity بالا</a:t>
            </a:r>
            <a:r>
              <a:rPr lang="fa-IR" sz="2000" dirty="0">
                <a:latin typeface="Times New Roman" panose="02020603050405020304" pitchFamily="18" charset="0"/>
                <a:cs typeface="B Nazanin" panose="00000400000000000000" pitchFamily="2" charset="-78"/>
              </a:rPr>
              <a:t> است.</a:t>
            </a:r>
          </a:p>
          <a:p>
            <a:pPr algn="r" rtl="1"/>
            <a:endParaRPr lang="fa-IR" sz="2000"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شواهد علمی نشان می‌دهد که دوزهای پایین‌تر یا متوسط آنتی‌ژن معمولاً منجر به </a:t>
            </a:r>
            <a:r>
              <a:rPr lang="fa-IR" sz="2000" b="1" dirty="0">
                <a:latin typeface="Times New Roman" panose="02020603050405020304" pitchFamily="18" charset="0"/>
                <a:cs typeface="B Nazanin" panose="00000400000000000000" pitchFamily="2" charset="-78"/>
              </a:rPr>
              <a:t>انتخاب سلول‌های B با تمایل (Affinity) بالاتر</a:t>
            </a:r>
            <a:r>
              <a:rPr lang="fa-IR" sz="2000" dirty="0">
                <a:latin typeface="Times New Roman" panose="02020603050405020304" pitchFamily="18" charset="0"/>
                <a:cs typeface="B Nazanin" panose="00000400000000000000" pitchFamily="2" charset="-78"/>
              </a:rPr>
              <a:t> در مراکز زایگر (Germinal Centers) می‌شوند.</a:t>
            </a:r>
          </a:p>
          <a:p>
            <a:pPr algn="r" rtl="1"/>
            <a:endParaRPr lang="fa-IR" sz="2000"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دوزهای بسیار بالا ممکن است به سلول‌های B با کیفیت پایین اجازه بقا بدهند و در نتیجه میانگین قدرت اتصال آنتی‌بادی‌های تولید شده کاهش یابد.</a:t>
            </a:r>
          </a:p>
          <a:p>
            <a:pPr algn="r" rtl="1"/>
            <a:endParaRPr lang="fa-IR" sz="2000" dirty="0">
              <a:latin typeface="Times New Roman" panose="02020603050405020304" pitchFamily="18" charset="0"/>
              <a:cs typeface="B Nazanin" panose="00000400000000000000" pitchFamily="2" charset="-78"/>
            </a:endParaRPr>
          </a:p>
          <a:p>
            <a:pPr algn="r" rtl="1"/>
            <a:endParaRPr lang="fa-IR" sz="2000" dirty="0">
              <a:solidFill>
                <a:srgbClr val="FF0000"/>
              </a:solidFill>
              <a:latin typeface="Times New Roman" panose="02020603050405020304" pitchFamily="18" charset="0"/>
              <a:cs typeface="B Nazanin" panose="00000400000000000000" pitchFamily="2" charset="-78"/>
            </a:endParaRPr>
          </a:p>
          <a:p>
            <a:pPr algn="r" rtl="1"/>
            <a:r>
              <a:rPr lang="fa-IR" sz="2000" b="1" dirty="0">
                <a:solidFill>
                  <a:srgbClr val="FF0000"/>
                </a:solidFill>
                <a:latin typeface="Times New Roman" panose="02020603050405020304" pitchFamily="18" charset="0"/>
                <a:cs typeface="B Nazanin" panose="00000400000000000000" pitchFamily="2" charset="-78"/>
              </a:rPr>
              <a:t>مکانیسم‌های بازخورد منفی (Negative Feedback)</a:t>
            </a:r>
          </a:p>
          <a:p>
            <a:pPr algn="r" rtl="1"/>
            <a:endParaRPr lang="fa-IR" sz="2000" b="1" dirty="0">
              <a:solidFill>
                <a:srgbClr val="FF0000"/>
              </a:solidFill>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پاسخ ایمنی توسط سیتوکین‌های تنظیمی (مثل </a:t>
            </a:r>
            <a:r>
              <a:rPr lang="fa-IR" sz="2000" b="1" dirty="0">
                <a:latin typeface="Times New Roman" panose="02020603050405020304" pitchFamily="18" charset="0"/>
                <a:cs typeface="B Nazanin" panose="00000400000000000000" pitchFamily="2" charset="-78"/>
              </a:rPr>
              <a:t>10IL</a:t>
            </a:r>
            <a:r>
              <a:rPr lang="fa-IR" sz="2000" dirty="0">
                <a:latin typeface="Times New Roman" panose="02020603050405020304" pitchFamily="18" charset="0"/>
                <a:cs typeface="B Nazanin" panose="00000400000000000000" pitchFamily="2" charset="-78"/>
              </a:rPr>
              <a:t> یا </a:t>
            </a:r>
            <a:r>
              <a:rPr lang="fa-IR" sz="2000" b="1" dirty="0">
                <a:latin typeface="Times New Roman" panose="02020603050405020304" pitchFamily="18" charset="0"/>
                <a:cs typeface="B Nazanin" panose="00000400000000000000" pitchFamily="2" charset="-78"/>
              </a:rPr>
              <a:t>TGF-beta</a:t>
            </a:r>
            <a:r>
              <a:rPr lang="fa-IR" sz="2000" dirty="0">
                <a:latin typeface="Times New Roman" panose="02020603050405020304" pitchFamily="18" charset="0"/>
                <a:cs typeface="B Nazanin" panose="00000400000000000000" pitchFamily="2" charset="-78"/>
              </a:rPr>
              <a:t>) کنترل می‌شود.</a:t>
            </a:r>
          </a:p>
          <a:p>
            <a:pPr algn="r" rtl="1"/>
            <a:endParaRPr lang="fa-IR" sz="2000" dirty="0">
              <a:latin typeface="Times New Roman" panose="02020603050405020304" pitchFamily="18" charset="0"/>
              <a:cs typeface="B Nazanin" panose="00000400000000000000" pitchFamily="2" charset="-78"/>
            </a:endParaRPr>
          </a:p>
          <a:p>
            <a:pPr algn="r" rtl="1">
              <a:lnSpc>
                <a:spcPct val="150000"/>
              </a:lnSpc>
            </a:pPr>
            <a:r>
              <a:rPr lang="fa-IR" sz="2000" dirty="0">
                <a:latin typeface="Times New Roman" panose="02020603050405020304" pitchFamily="18" charset="0"/>
                <a:cs typeface="B Nazanin" panose="00000400000000000000" pitchFamily="2" charset="-78"/>
              </a:rPr>
              <a:t>دوزهای بسیار بالای واکسن با ایجاد التهاب بیش از حد اولیه، باعث تحریک زودهنگام این مسیرهای تنظیمی می‌شوند تا از آسیب بافتی جلوگیری کنند. این مکانیسم‌های “ترمز” سیستم ایمنی، می‌توانند پاسخ محافظتی واکسن را سرکوب کنند.</a:t>
            </a:r>
          </a:p>
        </p:txBody>
      </p:sp>
    </p:spTree>
    <p:extLst>
      <p:ext uri="{BB962C8B-B14F-4D97-AF65-F5344CB8AC3E}">
        <p14:creationId xmlns:p14="http://schemas.microsoft.com/office/powerpoint/2010/main" val="728709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F0F52-0DDC-EBF6-4DF9-0A221A77C23C}"/>
              </a:ext>
            </a:extLst>
          </p:cNvPr>
          <p:cNvSpPr>
            <a:spLocks noGrp="1"/>
          </p:cNvSpPr>
          <p:nvPr>
            <p:ph type="sldNum" sz="quarter" idx="12"/>
          </p:nvPr>
        </p:nvSpPr>
        <p:spPr/>
        <p:txBody>
          <a:bodyPr/>
          <a:lstStyle/>
          <a:p>
            <a:fld id="{67EFB97B-C702-468C-B184-BC2FF345C510}" type="slidenum">
              <a:rPr lang="en-US" smtClean="0"/>
              <a:t>5</a:t>
            </a:fld>
            <a:endParaRPr lang="en-US"/>
          </a:p>
        </p:txBody>
      </p:sp>
      <p:sp>
        <p:nvSpPr>
          <p:cNvPr id="16" name="TextBox 15">
            <a:extLst>
              <a:ext uri="{FF2B5EF4-FFF2-40B4-BE49-F238E27FC236}">
                <a16:creationId xmlns:a16="http://schemas.microsoft.com/office/drawing/2014/main" id="{B9B26AFE-A049-EA78-940C-8EB19E3E4277}"/>
              </a:ext>
            </a:extLst>
          </p:cNvPr>
          <p:cNvSpPr txBox="1"/>
          <p:nvPr/>
        </p:nvSpPr>
        <p:spPr>
          <a:xfrm>
            <a:off x="2104104" y="1650617"/>
            <a:ext cx="9456174" cy="600164"/>
          </a:xfrm>
          <a:prstGeom prst="rect">
            <a:avLst/>
          </a:prstGeom>
          <a:noFill/>
        </p:spPr>
        <p:txBody>
          <a:bodyPr wrap="square">
            <a:spAutoFit/>
          </a:bodyPr>
          <a:lstStyle/>
          <a:p>
            <a:pPr algn="r" rtl="1">
              <a:lnSpc>
                <a:spcPct val="150000"/>
              </a:lnSpc>
            </a:pPr>
            <a:r>
              <a:rPr lang="en-US" sz="2400" dirty="0" err="1">
                <a:latin typeface="Times New Roman" panose="02020603050405020304" pitchFamily="18" charset="0"/>
                <a:cs typeface="B Nazanin" panose="00000400000000000000" pitchFamily="2" charset="-78"/>
              </a:rPr>
              <a:t>عوارض</a:t>
            </a:r>
            <a:r>
              <a:rPr lang="en-US" sz="2400" dirty="0">
                <a:latin typeface="Times New Roman" panose="02020603050405020304" pitchFamily="18" charset="0"/>
                <a:cs typeface="B Nazanin" panose="00000400000000000000" pitchFamily="2" charset="-78"/>
              </a:rPr>
              <a:t> </a:t>
            </a:r>
            <a:r>
              <a:rPr lang="fa-IR" sz="2400" dirty="0">
                <a:latin typeface="Times New Roman" panose="02020603050405020304" pitchFamily="18" charset="0"/>
                <a:cs typeface="B Nazanin" panose="00000400000000000000" pitchFamily="2" charset="-78"/>
              </a:rPr>
              <a:t>و میزان سمیت </a:t>
            </a:r>
            <a:r>
              <a:rPr lang="en-US" sz="2400" dirty="0" err="1">
                <a:latin typeface="Times New Roman" panose="02020603050405020304" pitchFamily="18" charset="0"/>
                <a:cs typeface="B Nazanin" panose="00000400000000000000" pitchFamily="2" charset="-78"/>
              </a:rPr>
              <a:t>واکسن</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تقریباً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همیشه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افزایش</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دوز</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افزایش</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پیدا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می‌کند</a:t>
            </a:r>
            <a:endParaRPr lang="fa-IR" sz="2400" dirty="0">
              <a:latin typeface="Times New Roman" panose="02020603050405020304" pitchFamily="18" charset="0"/>
              <a:cs typeface="B Nazanin" panose="00000400000000000000" pitchFamily="2" charset="-78"/>
            </a:endParaRPr>
          </a:p>
        </p:txBody>
      </p:sp>
      <p:pic>
        <p:nvPicPr>
          <p:cNvPr id="19" name="Picture 18" descr="Linear Correlation and Regression">
            <a:extLst>
              <a:ext uri="{FF2B5EF4-FFF2-40B4-BE49-F238E27FC236}">
                <a16:creationId xmlns:a16="http://schemas.microsoft.com/office/drawing/2014/main" id="{F89E21EC-7042-794E-6ED2-72DFCABA01CD}"/>
              </a:ext>
            </a:extLst>
          </p:cNvPr>
          <p:cNvPicPr>
            <a:picLocks noChangeAspect="1"/>
          </p:cNvPicPr>
          <p:nvPr/>
        </p:nvPicPr>
        <p:blipFill>
          <a:blip r:embed="rId2"/>
          <a:stretch>
            <a:fillRect/>
          </a:stretch>
        </p:blipFill>
        <p:spPr>
          <a:xfrm>
            <a:off x="403123" y="2250781"/>
            <a:ext cx="3696928" cy="2926734"/>
          </a:xfrm>
          <a:prstGeom prst="rect">
            <a:avLst/>
          </a:prstGeom>
        </p:spPr>
      </p:pic>
      <p:sp>
        <p:nvSpPr>
          <p:cNvPr id="3" name="TextBox 2">
            <a:extLst>
              <a:ext uri="{FF2B5EF4-FFF2-40B4-BE49-F238E27FC236}">
                <a16:creationId xmlns:a16="http://schemas.microsoft.com/office/drawing/2014/main" id="{6814B1F1-D4B2-CFCE-C011-199DE7C38C05}"/>
              </a:ext>
            </a:extLst>
          </p:cNvPr>
          <p:cNvSpPr txBox="1"/>
          <p:nvPr/>
        </p:nvSpPr>
        <p:spPr>
          <a:xfrm>
            <a:off x="7275871" y="136525"/>
            <a:ext cx="4758812" cy="523220"/>
          </a:xfrm>
          <a:prstGeom prst="rect">
            <a:avLst/>
          </a:prstGeom>
          <a:noFill/>
        </p:spPr>
        <p:txBody>
          <a:bodyPr wrap="square" rtlCol="0">
            <a:spAutoFit/>
          </a:bodyPr>
          <a:lstStyle/>
          <a:p>
            <a:pPr algn="r" rtl="1"/>
            <a:r>
              <a:rPr lang="fa-IR" sz="2800" b="1" dirty="0">
                <a:latin typeface="Times New Roman" panose="02020603050405020304" pitchFamily="18" charset="0"/>
                <a:cs typeface="B Nazanin" panose="00000400000000000000" pitchFamily="2" charset="-78"/>
              </a:rPr>
              <a:t>رابطه میزان </a:t>
            </a:r>
            <a:r>
              <a:rPr lang="en-US" sz="2800" b="1" dirty="0">
                <a:latin typeface="Times New Roman" panose="02020603050405020304" pitchFamily="18" charset="0"/>
                <a:cs typeface="B Nazanin" panose="00000400000000000000" pitchFamily="2" charset="-78"/>
              </a:rPr>
              <a:t> toxicity </a:t>
            </a:r>
            <a:r>
              <a:rPr lang="fa-IR" sz="2800" b="1" dirty="0">
                <a:latin typeface="Times New Roman" panose="02020603050405020304" pitchFamily="18" charset="0"/>
                <a:cs typeface="B Nazanin" panose="00000400000000000000" pitchFamily="2" charset="-78"/>
              </a:rPr>
              <a:t> و دوز انتخابی</a:t>
            </a:r>
            <a:endParaRPr lang="en-US" sz="2800" b="1" dirty="0">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33481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1EC816-68F6-3611-B09A-A44E6435E161}"/>
              </a:ext>
            </a:extLst>
          </p:cNvPr>
          <p:cNvSpPr>
            <a:spLocks noGrp="1"/>
          </p:cNvSpPr>
          <p:nvPr>
            <p:ph type="sldNum" sz="quarter" idx="12"/>
          </p:nvPr>
        </p:nvSpPr>
        <p:spPr/>
        <p:txBody>
          <a:bodyPr/>
          <a:lstStyle/>
          <a:p>
            <a:fld id="{67EFB97B-C702-468C-B184-BC2FF345C510}" type="slidenum">
              <a:rPr lang="en-US" b="1" smtClean="0">
                <a:latin typeface="Times New Roman" panose="02020603050405020304" pitchFamily="18" charset="0"/>
                <a:cs typeface="B Nazanin" panose="00000400000000000000" pitchFamily="2" charset="-78"/>
              </a:rPr>
              <a:t>6</a:t>
            </a:fld>
            <a:endParaRPr lang="en-US" b="1">
              <a:latin typeface="Times New Roman" panose="02020603050405020304" pitchFamily="18" charset="0"/>
              <a:cs typeface="B Nazanin" panose="00000400000000000000" pitchFamily="2" charset="-78"/>
            </a:endParaRPr>
          </a:p>
        </p:txBody>
      </p:sp>
      <p:sp>
        <p:nvSpPr>
          <p:cNvPr id="4" name="TextBox 3">
            <a:extLst>
              <a:ext uri="{FF2B5EF4-FFF2-40B4-BE49-F238E27FC236}">
                <a16:creationId xmlns:a16="http://schemas.microsoft.com/office/drawing/2014/main" id="{63C56844-9C0F-15C0-0F9C-0D22F9687B5D}"/>
              </a:ext>
            </a:extLst>
          </p:cNvPr>
          <p:cNvSpPr txBox="1"/>
          <p:nvPr/>
        </p:nvSpPr>
        <p:spPr>
          <a:xfrm>
            <a:off x="187819" y="460846"/>
            <a:ext cx="10844981" cy="3431709"/>
          </a:xfrm>
          <a:prstGeom prst="rect">
            <a:avLst/>
          </a:prstGeom>
          <a:noFill/>
        </p:spPr>
        <p:txBody>
          <a:bodyPr wrap="square">
            <a:spAutoFit/>
          </a:bodyPr>
          <a:lstStyle/>
          <a:p>
            <a:pPr algn="l">
              <a:lnSpc>
                <a:spcPct val="200000"/>
              </a:lnSpc>
              <a:buNone/>
            </a:pPr>
            <a:endParaRPr lang="fa-IR" sz="2800" b="1" dirty="0">
              <a:latin typeface="Times New Roman" panose="02020603050405020304" pitchFamily="18" charset="0"/>
              <a:cs typeface="B Nazanin" panose="00000400000000000000" pitchFamily="2" charset="-78"/>
            </a:endParaRPr>
          </a:p>
          <a:p>
            <a:pPr algn="l">
              <a:lnSpc>
                <a:spcPct val="200000"/>
              </a:lnSpc>
              <a:buFont typeface="Arial" panose="020B0604020202020204" pitchFamily="34" charset="0"/>
              <a:buChar char="•"/>
            </a:pPr>
            <a:r>
              <a:rPr lang="fa-IR" sz="2800" b="1" dirty="0">
                <a:latin typeface="Times New Roman" panose="02020603050405020304" pitchFamily="18" charset="0"/>
                <a:cs typeface="B Nazanin" panose="00000400000000000000" pitchFamily="2" charset="-78"/>
              </a:rPr>
              <a:t>Maximum Tolerated Dose (MTD)</a:t>
            </a:r>
            <a:endParaRPr lang="en-US" sz="2800" b="1" dirty="0">
              <a:latin typeface="Times New Roman" panose="02020603050405020304" pitchFamily="18" charset="0"/>
              <a:cs typeface="B Nazanin" panose="00000400000000000000" pitchFamily="2" charset="-78"/>
            </a:endParaRPr>
          </a:p>
          <a:p>
            <a:pPr algn="l">
              <a:lnSpc>
                <a:spcPct val="200000"/>
              </a:lnSpc>
              <a:buFont typeface="Arial" panose="020B0604020202020204" pitchFamily="34" charset="0"/>
              <a:buChar char="•"/>
            </a:pPr>
            <a:endParaRPr lang="fa-IR" sz="2800" b="1" dirty="0">
              <a:latin typeface="Times New Roman" panose="02020603050405020304" pitchFamily="18" charset="0"/>
              <a:cs typeface="B Nazanin" panose="00000400000000000000" pitchFamily="2" charset="-78"/>
            </a:endParaRPr>
          </a:p>
          <a:p>
            <a:pPr algn="l">
              <a:lnSpc>
                <a:spcPct val="200000"/>
              </a:lnSpc>
              <a:buFont typeface="Arial" panose="020B0604020202020204" pitchFamily="34" charset="0"/>
              <a:buChar char="•"/>
            </a:pPr>
            <a:r>
              <a:rPr lang="fa-IR" sz="2800" b="1" dirty="0">
                <a:latin typeface="Times New Roman" panose="02020603050405020304" pitchFamily="18" charset="0"/>
                <a:cs typeface="B Nazanin" panose="00000400000000000000" pitchFamily="2" charset="-78"/>
              </a:rPr>
              <a:t>Optimal Biologic Dose (OBD(</a:t>
            </a:r>
          </a:p>
        </p:txBody>
      </p:sp>
      <p:sp>
        <p:nvSpPr>
          <p:cNvPr id="6" name="TextBox 5">
            <a:extLst>
              <a:ext uri="{FF2B5EF4-FFF2-40B4-BE49-F238E27FC236}">
                <a16:creationId xmlns:a16="http://schemas.microsoft.com/office/drawing/2014/main" id="{CD924C37-87EA-D98A-C001-F7B71CE7C461}"/>
              </a:ext>
            </a:extLst>
          </p:cNvPr>
          <p:cNvSpPr txBox="1"/>
          <p:nvPr/>
        </p:nvSpPr>
        <p:spPr>
          <a:xfrm>
            <a:off x="1140544" y="4856417"/>
            <a:ext cx="10636046" cy="707886"/>
          </a:xfrm>
          <a:prstGeom prst="rect">
            <a:avLst/>
          </a:prstGeom>
          <a:noFill/>
        </p:spPr>
        <p:txBody>
          <a:bodyPr wrap="square">
            <a:spAutoFit/>
          </a:bodyPr>
          <a:lstStyle/>
          <a:p>
            <a:pPr algn="r" rtl="1"/>
            <a:r>
              <a:rPr lang="fa-IR" sz="2000" dirty="0">
                <a:latin typeface="Times New Roman" panose="02020603050405020304" pitchFamily="18" charset="0"/>
                <a:cs typeface="B Nazanin" panose="00000400000000000000" pitchFamily="2" charset="-78"/>
              </a:rPr>
              <a:t>اما OBD همیشه از جایی می‌آید که: اثربخشی به بالاترین مقدار مفید رسیده و سمیت هنوز در محدودهٔ قابل قبول است</a:t>
            </a:r>
          </a:p>
          <a:p>
            <a:pPr algn="r" rtl="1"/>
            <a:r>
              <a:rPr lang="fa-IR" sz="2000" dirty="0">
                <a:latin typeface="Times New Roman" panose="02020603050405020304" pitchFamily="18" charset="0"/>
                <a:cs typeface="B Nazanin" panose="00000400000000000000" pitchFamily="2" charset="-78"/>
              </a:rPr>
              <a:t>این تعریف برای </a:t>
            </a:r>
            <a:r>
              <a:rPr lang="fa-IR" sz="2000" i="1" dirty="0">
                <a:latin typeface="Times New Roman" panose="02020603050405020304" pitchFamily="18" charset="0"/>
                <a:cs typeface="B Nazanin" panose="00000400000000000000" pitchFamily="2" charset="-78"/>
              </a:rPr>
              <a:t>هر واکسن</a:t>
            </a:r>
            <a:r>
              <a:rPr lang="fa-IR" sz="2000" dirty="0">
                <a:latin typeface="Times New Roman" panose="02020603050405020304" pitchFamily="18" charset="0"/>
                <a:cs typeface="B Nazanin" panose="00000400000000000000" pitchFamily="2" charset="-78"/>
              </a:rPr>
              <a:t> ثابت است، اما شکل منحنی واکسن‌ها متفاوت است</a:t>
            </a:r>
            <a:endParaRPr lang="en-US" sz="2000" dirty="0">
              <a:latin typeface="Times New Roman" panose="02020603050405020304" pitchFamily="18" charset="0"/>
              <a:cs typeface="B Nazanin" panose="00000400000000000000" pitchFamily="2" charset="-78"/>
            </a:endParaRPr>
          </a:p>
        </p:txBody>
      </p:sp>
      <p:sp>
        <p:nvSpPr>
          <p:cNvPr id="7" name="TextBox 6">
            <a:extLst>
              <a:ext uri="{FF2B5EF4-FFF2-40B4-BE49-F238E27FC236}">
                <a16:creationId xmlns:a16="http://schemas.microsoft.com/office/drawing/2014/main" id="{DFBCAE7C-F726-80DD-0826-DABC75C6405F}"/>
              </a:ext>
            </a:extLst>
          </p:cNvPr>
          <p:cNvSpPr txBox="1"/>
          <p:nvPr/>
        </p:nvSpPr>
        <p:spPr>
          <a:xfrm>
            <a:off x="7524135" y="359614"/>
            <a:ext cx="4667865" cy="400110"/>
          </a:xfrm>
          <a:prstGeom prst="rect">
            <a:avLst/>
          </a:prstGeom>
          <a:noFill/>
        </p:spPr>
        <p:txBody>
          <a:bodyPr wrap="square" rtlCol="0">
            <a:spAutoFit/>
          </a:bodyPr>
          <a:lstStyle/>
          <a:p>
            <a:r>
              <a:rPr lang="fa-IR" sz="2000" b="1" dirty="0">
                <a:solidFill>
                  <a:srgbClr val="FF0000"/>
                </a:solidFill>
                <a:latin typeface="Times New Roman" panose="02020603050405020304" pitchFamily="18" charset="0"/>
                <a:cs typeface="B Nazanin" panose="00000400000000000000" pitchFamily="2" charset="-78"/>
              </a:rPr>
              <a:t>دو روش شایع انتخاب دوز در دارو ها و واکسن ها</a:t>
            </a:r>
            <a:endParaRPr lang="en-US" sz="2000" b="1" dirty="0">
              <a:solidFill>
                <a:srgbClr val="FF0000"/>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4144274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62E0FA-D0D0-B9C6-EB6A-DE3D0B394004}"/>
              </a:ext>
            </a:extLst>
          </p:cNvPr>
          <p:cNvSpPr>
            <a:spLocks noGrp="1"/>
          </p:cNvSpPr>
          <p:nvPr>
            <p:ph type="sldNum" sz="quarter" idx="12"/>
          </p:nvPr>
        </p:nvSpPr>
        <p:spPr/>
        <p:txBody>
          <a:bodyPr/>
          <a:lstStyle/>
          <a:p>
            <a:fld id="{67EFB97B-C702-468C-B184-BC2FF345C510}" type="slidenum">
              <a:rPr lang="en-US" smtClean="0"/>
              <a:t>7</a:t>
            </a:fld>
            <a:endParaRPr lang="en-US"/>
          </a:p>
        </p:txBody>
      </p:sp>
      <p:sp>
        <p:nvSpPr>
          <p:cNvPr id="3" name="TextBox 2">
            <a:extLst>
              <a:ext uri="{FF2B5EF4-FFF2-40B4-BE49-F238E27FC236}">
                <a16:creationId xmlns:a16="http://schemas.microsoft.com/office/drawing/2014/main" id="{9A7DFF84-43A6-FA15-DB05-56C73AFC761B}"/>
              </a:ext>
            </a:extLst>
          </p:cNvPr>
          <p:cNvSpPr txBox="1"/>
          <p:nvPr/>
        </p:nvSpPr>
        <p:spPr>
          <a:xfrm>
            <a:off x="2327787" y="136525"/>
            <a:ext cx="8504903" cy="646331"/>
          </a:xfrm>
          <a:prstGeom prst="rect">
            <a:avLst/>
          </a:prstGeom>
          <a:noFill/>
        </p:spPr>
        <p:txBody>
          <a:bodyPr wrap="square" rtlCol="0">
            <a:spAutoFit/>
          </a:bodyPr>
          <a:lstStyle/>
          <a:p>
            <a:r>
              <a:rPr lang="fa-IR" sz="3600" b="1" dirty="0">
                <a:solidFill>
                  <a:srgbClr val="FF0000"/>
                </a:solidFill>
                <a:cs typeface="B Nazanin" panose="00000400000000000000" pitchFamily="2" charset="-78"/>
              </a:rPr>
              <a:t>انواع نمودار های رابطه دوز و کارایی آنتی بادی</a:t>
            </a:r>
            <a:endParaRPr lang="en-US" sz="3600" b="1" dirty="0">
              <a:solidFill>
                <a:srgbClr val="FF0000"/>
              </a:solidFill>
              <a:cs typeface="B Nazanin" panose="00000400000000000000" pitchFamily="2" charset="-78"/>
            </a:endParaRPr>
          </a:p>
        </p:txBody>
      </p:sp>
      <p:sp>
        <p:nvSpPr>
          <p:cNvPr id="5" name="TextBox 4">
            <a:extLst>
              <a:ext uri="{FF2B5EF4-FFF2-40B4-BE49-F238E27FC236}">
                <a16:creationId xmlns:a16="http://schemas.microsoft.com/office/drawing/2014/main" id="{9005AB41-E299-9803-B873-19B1F175269F}"/>
              </a:ext>
            </a:extLst>
          </p:cNvPr>
          <p:cNvSpPr txBox="1"/>
          <p:nvPr/>
        </p:nvSpPr>
        <p:spPr>
          <a:xfrm>
            <a:off x="-1500893" y="549480"/>
            <a:ext cx="13456919" cy="6555641"/>
          </a:xfrm>
          <a:prstGeom prst="rect">
            <a:avLst/>
          </a:prstGeom>
          <a:noFill/>
        </p:spPr>
        <p:txBody>
          <a:bodyPr wrap="square">
            <a:spAutoFit/>
          </a:bodyPr>
          <a:lstStyle/>
          <a:p>
            <a:pPr algn="r" rtl="1">
              <a:buNone/>
            </a:pPr>
            <a:br>
              <a:rPr lang="en-US" sz="2000" dirty="0">
                <a:latin typeface="Times New Roman" panose="02020603050405020304" pitchFamily="18" charset="0"/>
                <a:cs typeface="B Nazanin" panose="00000400000000000000" pitchFamily="2" charset="-78"/>
              </a:rPr>
            </a:br>
            <a:endParaRPr lang="en-US" sz="2000" dirty="0">
              <a:latin typeface="Times New Roman" panose="02020603050405020304" pitchFamily="18" charset="0"/>
              <a:cs typeface="B Nazanin" panose="00000400000000000000" pitchFamily="2" charset="-78"/>
            </a:endParaRPr>
          </a:p>
          <a:p>
            <a:pPr algn="r" rtl="1">
              <a:buNone/>
            </a:pPr>
            <a:r>
              <a:rPr lang="fa-IR" sz="2000" b="1" dirty="0">
                <a:latin typeface="Times New Roman" panose="02020603050405020304" pitchFamily="18" charset="0"/>
                <a:cs typeface="B Nazanin" panose="00000400000000000000" pitchFamily="2" charset="-78"/>
              </a:rPr>
              <a:t>Plateau – افزایش تا یک نقطه و بعد ثابت</a:t>
            </a:r>
            <a:endParaRPr lang="en-US" sz="2000" b="1" dirty="0">
              <a:latin typeface="Times New Roman" panose="02020603050405020304" pitchFamily="18" charset="0"/>
              <a:cs typeface="B Nazanin" panose="00000400000000000000" pitchFamily="2" charset="-78"/>
            </a:endParaRPr>
          </a:p>
          <a:p>
            <a:pPr algn="r" rtl="1">
              <a:buNone/>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واکسن‌های آنفولانزا</a:t>
            </a: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واکسن‌های HBV</a:t>
            </a: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بسیاری از واکسن‌های کرونا (mRNA و Adenoviral)</a:t>
            </a: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None/>
            </a:pPr>
            <a:r>
              <a:rPr lang="fa-IR" sz="2000" dirty="0">
                <a:latin typeface="Times New Roman" panose="02020603050405020304" pitchFamily="18" charset="0"/>
                <a:cs typeface="B Nazanin" panose="00000400000000000000" pitchFamily="2" charset="-78"/>
              </a:rPr>
              <a:t>در این نوع:</a:t>
            </a:r>
          </a:p>
          <a:p>
            <a:pPr algn="r" rtl="1">
              <a:buNone/>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دوز کم : پاسخ کم</a:t>
            </a: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دوز متوسط : پاسخ بالا</a:t>
            </a: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دوز زیاد تر : دیگر بهتر نمی‌شود (اشباع APC، محدودیت ارائه آنتی‌ژن) اما </a:t>
            </a:r>
            <a:r>
              <a:rPr lang="fa-IR" sz="2000" b="1" dirty="0">
                <a:latin typeface="Times New Roman" panose="02020603050405020304" pitchFamily="18" charset="0"/>
                <a:cs typeface="B Nazanin" panose="00000400000000000000" pitchFamily="2" charset="-78"/>
              </a:rPr>
              <a:t>افت شدید</a:t>
            </a:r>
            <a:r>
              <a:rPr lang="fa-IR" sz="2000" dirty="0">
                <a:latin typeface="Times New Roman" panose="02020603050405020304" pitchFamily="18" charset="0"/>
                <a:cs typeface="B Nazanin" panose="00000400000000000000" pitchFamily="2" charset="-78"/>
              </a:rPr>
              <a:t> هم ایجاد نمی‌شود.</a:t>
            </a:r>
          </a:p>
          <a:p>
            <a:pPr algn="r" rtl="1">
              <a:buNone/>
            </a:pPr>
            <a:endParaRPr lang="fa-IR" sz="2000" dirty="0">
              <a:latin typeface="Times New Roman" panose="02020603050405020304" pitchFamily="18" charset="0"/>
              <a:cs typeface="B Nazanin" panose="00000400000000000000" pitchFamily="2" charset="-78"/>
            </a:endParaRPr>
          </a:p>
          <a:p>
            <a:pPr algn="r" rtl="1">
              <a:buNone/>
            </a:pPr>
            <a:endParaRPr lang="fa-IR" sz="2000" dirty="0">
              <a:latin typeface="Times New Roman" panose="02020603050405020304" pitchFamily="18" charset="0"/>
              <a:cs typeface="B Nazanin" panose="00000400000000000000" pitchFamily="2" charset="-78"/>
            </a:endParaRPr>
          </a:p>
          <a:p>
            <a:pPr algn="r" rtl="1">
              <a:buNone/>
            </a:pPr>
            <a:br>
              <a:rPr lang="en-US" sz="2000" dirty="0">
                <a:latin typeface="Times New Roman" panose="02020603050405020304" pitchFamily="18" charset="0"/>
                <a:cs typeface="B Nazanin" panose="00000400000000000000" pitchFamily="2" charset="-78"/>
              </a:rPr>
            </a:br>
            <a:endParaRPr lang="fa-IR" sz="2000" dirty="0">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384264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37C9E9-7304-C008-5FED-5BE89CBCEF40}"/>
              </a:ext>
            </a:extLst>
          </p:cNvPr>
          <p:cNvSpPr>
            <a:spLocks noGrp="1"/>
          </p:cNvSpPr>
          <p:nvPr>
            <p:ph type="sldNum" sz="quarter" idx="12"/>
          </p:nvPr>
        </p:nvSpPr>
        <p:spPr/>
        <p:txBody>
          <a:bodyPr/>
          <a:lstStyle/>
          <a:p>
            <a:fld id="{67EFB97B-C702-468C-B184-BC2FF345C510}" type="slidenum">
              <a:rPr lang="en-US" smtClean="0"/>
              <a:t>8</a:t>
            </a:fld>
            <a:endParaRPr lang="en-US"/>
          </a:p>
        </p:txBody>
      </p:sp>
      <p:sp>
        <p:nvSpPr>
          <p:cNvPr id="4" name="TextBox 3">
            <a:extLst>
              <a:ext uri="{FF2B5EF4-FFF2-40B4-BE49-F238E27FC236}">
                <a16:creationId xmlns:a16="http://schemas.microsoft.com/office/drawing/2014/main" id="{776F8ABC-A066-68FD-8EAC-E2F9A9F01EAE}"/>
              </a:ext>
            </a:extLst>
          </p:cNvPr>
          <p:cNvSpPr txBox="1"/>
          <p:nvPr/>
        </p:nvSpPr>
        <p:spPr>
          <a:xfrm>
            <a:off x="2526889" y="136525"/>
            <a:ext cx="9171039" cy="5940088"/>
          </a:xfrm>
          <a:prstGeom prst="rect">
            <a:avLst/>
          </a:prstGeom>
          <a:noFill/>
        </p:spPr>
        <p:txBody>
          <a:bodyPr wrap="square">
            <a:spAutoFit/>
          </a:bodyPr>
          <a:lstStyle/>
          <a:p>
            <a:pPr algn="r" rtl="1">
              <a:buNone/>
            </a:pPr>
            <a:endParaRPr lang="en-US" sz="2000" dirty="0">
              <a:latin typeface="Times New Roman" panose="02020603050405020304" pitchFamily="18" charset="0"/>
              <a:cs typeface="B Nazanin" panose="00000400000000000000" pitchFamily="2" charset="-78"/>
            </a:endParaRPr>
          </a:p>
          <a:p>
            <a:pPr algn="r" rtl="1">
              <a:buNone/>
            </a:pPr>
            <a:r>
              <a:rPr lang="fa-IR" sz="2000" b="1" dirty="0">
                <a:latin typeface="Times New Roman" panose="02020603050405020304" pitchFamily="18" charset="0"/>
                <a:cs typeface="B Nazanin" panose="00000400000000000000" pitchFamily="2" charset="-78"/>
              </a:rPr>
              <a:t>Peaked (Nonmonotonic) – افزایش ، اوج سپس کاهش</a:t>
            </a:r>
          </a:p>
          <a:p>
            <a:pPr algn="r" rtl="1">
              <a:buNone/>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بعضی واکسن‌های TB (مثلاً MVA85A)</a:t>
            </a: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واکسن‌های viral vector با بار ویروسی خیلی بالا</a:t>
            </a: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mRNA در دوزهای خیلی زیاد (خستگی T cell، کاهش کیفیت GC)</a:t>
            </a: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buNone/>
            </a:pPr>
            <a:r>
              <a:rPr lang="fa-IR" sz="2000" b="1" dirty="0">
                <a:latin typeface="Times New Roman" panose="02020603050405020304" pitchFamily="18" charset="0"/>
                <a:cs typeface="B Nazanin" panose="00000400000000000000" pitchFamily="2" charset="-78"/>
              </a:rPr>
              <a:t>دلیل افت:</a:t>
            </a:r>
            <a:endParaRPr lang="en-US" sz="2000" b="1" dirty="0">
              <a:latin typeface="Times New Roman" panose="02020603050405020304" pitchFamily="18" charset="0"/>
              <a:cs typeface="B Nazanin" panose="00000400000000000000" pitchFamily="2" charset="-78"/>
            </a:endParaRPr>
          </a:p>
          <a:p>
            <a:pPr algn="r" rtl="1">
              <a:buNone/>
            </a:pPr>
            <a:endParaRPr lang="fa-IR"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immune overstimulation</a:t>
            </a:r>
          </a:p>
          <a:p>
            <a:pPr algn="r" rtl="1">
              <a:buFont typeface="Arial" panose="020B0604020202020204" pitchFamily="34" charset="0"/>
              <a:buChar char="•"/>
            </a:pP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regulatory feedback</a:t>
            </a:r>
          </a:p>
          <a:p>
            <a:pPr algn="r" rtl="1">
              <a:buFont typeface="Arial" panose="020B0604020202020204" pitchFamily="34" charset="0"/>
              <a:buChar char="•"/>
            </a:pP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Exhaustion</a:t>
            </a:r>
          </a:p>
          <a:p>
            <a:pPr algn="r" rtl="1">
              <a:buFont typeface="Arial" panose="020B0604020202020204" pitchFamily="34" charset="0"/>
              <a:buChar char="•"/>
            </a:pPr>
            <a:endParaRPr lang="en-US" sz="2000" dirty="0">
              <a:latin typeface="Times New Roman" panose="02020603050405020304" pitchFamily="18" charset="0"/>
              <a:cs typeface="B Nazanin" panose="00000400000000000000" pitchFamily="2" charset="-78"/>
            </a:endParaRPr>
          </a:p>
          <a:p>
            <a:pPr algn="r" rtl="1">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high-zone tolerance</a:t>
            </a:r>
          </a:p>
          <a:p>
            <a:pPr algn="r" rtl="1">
              <a:buFont typeface="Arial" panose="020B0604020202020204" pitchFamily="34" charset="0"/>
              <a:buChar char="•"/>
            </a:pPr>
            <a:endParaRPr lang="en-US" sz="2000" dirty="0">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718670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173EE8-AEFC-CF9A-201C-48404472CACE}"/>
              </a:ext>
            </a:extLst>
          </p:cNvPr>
          <p:cNvPicPr>
            <a:picLocks noChangeAspect="1"/>
          </p:cNvPicPr>
          <p:nvPr/>
        </p:nvPicPr>
        <p:blipFill>
          <a:blip r:embed="rId2"/>
          <a:srcRect l="2323"/>
          <a:stretch>
            <a:fillRect/>
          </a:stretch>
        </p:blipFill>
        <p:spPr>
          <a:xfrm>
            <a:off x="279918" y="3181739"/>
            <a:ext cx="5813927" cy="3017249"/>
          </a:xfrm>
          <a:prstGeom prst="rect">
            <a:avLst/>
          </a:prstGeom>
        </p:spPr>
      </p:pic>
      <p:sp>
        <p:nvSpPr>
          <p:cNvPr id="2" name="Slide Number Placeholder 1">
            <a:extLst>
              <a:ext uri="{FF2B5EF4-FFF2-40B4-BE49-F238E27FC236}">
                <a16:creationId xmlns:a16="http://schemas.microsoft.com/office/drawing/2014/main" id="{73544CFA-C66E-A46A-2245-F4D48DFD4443}"/>
              </a:ext>
            </a:extLst>
          </p:cNvPr>
          <p:cNvSpPr>
            <a:spLocks noGrp="1"/>
          </p:cNvSpPr>
          <p:nvPr>
            <p:ph type="sldNum" sz="quarter" idx="12"/>
          </p:nvPr>
        </p:nvSpPr>
        <p:spPr/>
        <p:txBody>
          <a:bodyPr/>
          <a:lstStyle/>
          <a:p>
            <a:fld id="{67EFB97B-C702-468C-B184-BC2FF345C510}" type="slidenum">
              <a:rPr lang="en-US" smtClean="0"/>
              <a:t>9</a:t>
            </a:fld>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B9FA3B0-54AF-4A71-330A-98A600FB42A2}"/>
                  </a:ext>
                </a:extLst>
              </p:cNvPr>
              <p:cNvSpPr txBox="1"/>
              <p:nvPr/>
            </p:nvSpPr>
            <p:spPr>
              <a:xfrm>
                <a:off x="782667" y="659012"/>
                <a:ext cx="10933471" cy="4805418"/>
              </a:xfrm>
              <a:prstGeom prst="rect">
                <a:avLst/>
              </a:prstGeom>
              <a:noFill/>
            </p:spPr>
            <p:txBody>
              <a:bodyPr wrap="square">
                <a:spAutoFit/>
              </a:bodyPr>
              <a:lstStyle/>
              <a:p>
                <a:pPr algn="r" rtl="1">
                  <a:buNone/>
                </a:pPr>
                <a:r>
                  <a:rPr lang="en-US" sz="2000" b="1" dirty="0">
                    <a:latin typeface="Times New Roman" panose="02020603050405020304" pitchFamily="18" charset="0"/>
                    <a:cs typeface="B Nazanin" panose="00000400000000000000" pitchFamily="2" charset="-78"/>
                  </a:rPr>
                  <a:t>Logistic Linear Model</a:t>
                </a:r>
              </a:p>
              <a:p>
                <a:pPr algn="r" rtl="1">
                  <a:buNone/>
                </a:pPr>
                <a:endParaRPr lang="fa-IR" sz="2000" b="1"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𝑑</m:t>
                          </m:r>
                        </m:e>
                      </m:d>
                      <m:r>
                        <a:rPr lang="en-US" sz="2000" i="0">
                          <a:latin typeface="Cambria Math" panose="02040503050406030204" pitchFamily="18" charset="0"/>
                        </a:rPr>
                        <m:t>=</m:t>
                      </m:r>
                      <m:f>
                        <m:fPr>
                          <m:ctrlPr>
                            <a:rPr lang="en-US" sz="2000" i="1">
                              <a:latin typeface="Cambria Math" panose="02040503050406030204" pitchFamily="18" charset="0"/>
                            </a:rPr>
                          </m:ctrlPr>
                        </m:fPr>
                        <m:num>
                          <m:r>
                            <a:rPr lang="en-US" sz="2000" i="0">
                              <a:latin typeface="Cambria Math" panose="02040503050406030204" pitchFamily="18" charset="0"/>
                            </a:rPr>
                            <m:t>1</m:t>
                          </m:r>
                        </m:num>
                        <m:den>
                          <m:r>
                            <a:rPr lang="en-US" sz="2000" i="0">
                              <a:latin typeface="Cambria Math" panose="02040503050406030204" pitchFamily="18" charset="0"/>
                            </a:rPr>
                            <m:t>1</m:t>
                          </m:r>
                          <m:r>
                            <a:rPr lang="en-US" sz="2000" i="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0">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𝑎</m:t>
                                  </m:r>
                                  <m:r>
                                    <a:rPr lang="en-US" sz="2000" i="0">
                                      <a:latin typeface="Cambria Math" panose="02040503050406030204" pitchFamily="18" charset="0"/>
                                    </a:rPr>
                                    <m:t>+</m:t>
                                  </m:r>
                                  <m:r>
                                    <a:rPr lang="en-US" sz="2000" i="1">
                                      <a:latin typeface="Cambria Math" panose="02040503050406030204" pitchFamily="18" charset="0"/>
                                    </a:rPr>
                                    <m:t>𝑏𝑑</m:t>
                                  </m:r>
                                </m:e>
                              </m:d>
                            </m:sup>
                          </m:sSup>
                        </m:den>
                      </m:f>
                    </m:oMath>
                  </m:oMathPara>
                </a14:m>
                <a:endParaRPr lang="en-US" sz="200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lnSpc>
                    <a:spcPct val="150000"/>
                  </a:lnSpc>
                  <a:buNone/>
                </a:pPr>
                <a:r>
                  <a:rPr lang="fa-IR" sz="2000" b="1" dirty="0">
                    <a:latin typeface="Times New Roman" panose="02020603050405020304" pitchFamily="18" charset="0"/>
                    <a:cs typeface="B Nazanin" panose="00000400000000000000" pitchFamily="2" charset="-78"/>
                  </a:rPr>
                  <a:t>معنی پارامترها</a:t>
                </a:r>
                <a:endParaRPr lang="fa-IR"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sz="2000" b="0" i="1" smtClean="0">
                        <a:latin typeface="Cambria Math" panose="02040503050406030204" pitchFamily="18" charset="0"/>
                      </a:rPr>
                      <m:t>𝑝</m:t>
                    </m:r>
                    <m:d>
                      <m:dPr>
                        <m:ctrlPr>
                          <a:rPr lang="fa-IR" sz="2000" i="1">
                            <a:latin typeface="Cambria Math" panose="02040503050406030204" pitchFamily="18" charset="0"/>
                          </a:rPr>
                        </m:ctrlPr>
                      </m:dPr>
                      <m:e>
                        <m:r>
                          <a:rPr lang="fa-IR" sz="2000" b="0" i="1" smtClean="0">
                            <a:latin typeface="Cambria Math" panose="02040503050406030204" pitchFamily="18" charset="0"/>
                          </a:rPr>
                          <m:t>𝑑</m:t>
                        </m:r>
                      </m:e>
                    </m:d>
                  </m:oMath>
                </a14:m>
                <a:r>
                  <a:rPr lang="fa-IR" sz="2000" dirty="0">
                    <a:latin typeface="Times New Roman" panose="02020603050405020304" pitchFamily="18" charset="0"/>
                    <a:cs typeface="B Nazanin" panose="00000400000000000000" pitchFamily="2" charset="-78"/>
                  </a:rPr>
                  <a:t>= احتمال پاسخ ایمنی در دوز </a:t>
                </a:r>
                <a14:m>
                  <m:oMath xmlns:m="http://schemas.openxmlformats.org/officeDocument/2006/math">
                    <m:r>
                      <a:rPr lang="fa-IR" sz="2000" b="0" i="1" smtClean="0">
                        <a:latin typeface="Cambria Math" panose="02040503050406030204" pitchFamily="18" charset="0"/>
                      </a:rPr>
                      <m:t>𝑑</m:t>
                    </m:r>
                  </m:oMath>
                </a14:m>
                <a:endParaRPr lang="fa-IR"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sz="2000" b="0" i="1" smtClean="0">
                        <a:latin typeface="Cambria Math" panose="02040503050406030204" pitchFamily="18" charset="0"/>
                      </a:rPr>
                      <m:t>𝑎</m:t>
                    </m:r>
                  </m:oMath>
                </a14:m>
                <a:r>
                  <a:rPr lang="fa-IR" sz="2000" dirty="0">
                    <a:latin typeface="Times New Roman" panose="02020603050405020304" pitchFamily="18" charset="0"/>
                    <a:cs typeface="B Nazanin" panose="00000400000000000000" pitchFamily="2" charset="-78"/>
                  </a:rPr>
                  <a:t>= سطح پایه پاسخ</a:t>
                </a:r>
              </a:p>
              <a:p>
                <a:pPr algn="r" rtl="1">
                  <a:lnSpc>
                    <a:spcPct val="150000"/>
                  </a:lnSpc>
                  <a:buFont typeface="Arial" panose="020B0604020202020204" pitchFamily="34" charset="0"/>
                  <a:buChar char="•"/>
                </a:pPr>
                <a14:m>
                  <m:oMath xmlns:m="http://schemas.openxmlformats.org/officeDocument/2006/math">
                    <m:r>
                      <a:rPr lang="fa-IR" sz="2000" b="0" i="1" smtClean="0">
                        <a:latin typeface="Cambria Math" panose="02040503050406030204" pitchFamily="18" charset="0"/>
                      </a:rPr>
                      <m:t>𝑏</m:t>
                    </m:r>
                  </m:oMath>
                </a14:m>
                <a:r>
                  <a:rPr lang="fa-IR" sz="2000" dirty="0">
                    <a:latin typeface="Times New Roman" panose="02020603050405020304" pitchFamily="18" charset="0"/>
                    <a:cs typeface="B Nazanin" panose="00000400000000000000" pitchFamily="2" charset="-78"/>
                  </a:rPr>
                  <a:t>= اثر دوز</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ضریب</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شیب</a:t>
                </a:r>
                <a:r>
                  <a:rPr lang="fa-IR" sz="2000" dirty="0">
                    <a:latin typeface="Times New Roman" panose="02020603050405020304" pitchFamily="18" charset="0"/>
                    <a:cs typeface="B Nazanin" panose="00000400000000000000" pitchFamily="2" charset="-78"/>
                  </a:rPr>
                  <a:t> که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نشان‌دهنده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قدرت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واکسن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است</a:t>
                </a:r>
                <a:endParaRPr lang="fa-IR"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𝑑</m:t>
                    </m:r>
                  </m:oMath>
                </a14:m>
                <a:r>
                  <a:rPr lang="en-US" sz="2000" dirty="0" err="1">
                    <a:latin typeface="Times New Roman" panose="02020603050405020304" pitchFamily="18" charset="0"/>
                    <a:cs typeface="B Nazanin" panose="00000400000000000000" pitchFamily="2" charset="-78"/>
                  </a:rPr>
                  <a:t>دوز</a:t>
                </a:r>
                <a:endParaRPr lang="fa-IR" sz="2000" dirty="0">
                  <a:latin typeface="Times New Roman" panose="02020603050405020304" pitchFamily="18" charset="0"/>
                  <a:cs typeface="B Nazanin" panose="00000400000000000000" pitchFamily="2" charset="-78"/>
                </a:endParaRPr>
              </a:p>
            </p:txBody>
          </p:sp>
        </mc:Choice>
        <mc:Fallback xmlns="">
          <p:sp>
            <p:nvSpPr>
              <p:cNvPr id="4" name="TextBox 3">
                <a:extLst>
                  <a:ext uri="{FF2B5EF4-FFF2-40B4-BE49-F238E27FC236}">
                    <a16:creationId xmlns:a16="http://schemas.microsoft.com/office/drawing/2014/main" id="{4B9FA3B0-54AF-4A71-330A-98A600FB42A2}"/>
                  </a:ext>
                </a:extLst>
              </p:cNvPr>
              <p:cNvSpPr txBox="1">
                <a:spLocks noRot="1" noChangeAspect="1" noMove="1" noResize="1" noEditPoints="1" noAdjustHandles="1" noChangeArrowheads="1" noChangeShapeType="1" noTextEdit="1"/>
              </p:cNvSpPr>
              <p:nvPr/>
            </p:nvSpPr>
            <p:spPr>
              <a:xfrm>
                <a:off x="782667" y="659012"/>
                <a:ext cx="10933471" cy="4805418"/>
              </a:xfrm>
              <a:prstGeom prst="rect">
                <a:avLst/>
              </a:prstGeom>
              <a:blipFill>
                <a:blip r:embed="rId3"/>
                <a:stretch>
                  <a:fillRect t="-635" r="-669" b="-139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D635725-7CBC-C479-2A8F-AB4BD6688C7C}"/>
              </a:ext>
            </a:extLst>
          </p:cNvPr>
          <p:cNvSpPr txBox="1"/>
          <p:nvPr/>
        </p:nvSpPr>
        <p:spPr>
          <a:xfrm>
            <a:off x="4351772" y="122702"/>
            <a:ext cx="3571812" cy="461665"/>
          </a:xfrm>
          <a:prstGeom prst="rect">
            <a:avLst/>
          </a:prstGeom>
          <a:noFill/>
        </p:spPr>
        <p:txBody>
          <a:bodyPr wrap="none" rtlCol="0">
            <a:spAutoFit/>
          </a:bodyPr>
          <a:lstStyle/>
          <a:p>
            <a:r>
              <a:rPr lang="fa-IR" sz="2400" b="1" dirty="0">
                <a:solidFill>
                  <a:srgbClr val="FF0000"/>
                </a:solidFill>
                <a:latin typeface="Times New Roman" panose="02020603050405020304" pitchFamily="18" charset="0"/>
                <a:cs typeface="B Nazanin" panose="00000400000000000000" pitchFamily="2" charset="-78"/>
              </a:rPr>
              <a:t>توابعی که این مدل ها را میسازند</a:t>
            </a:r>
            <a:endParaRPr lang="en-US" sz="2400" b="1" dirty="0">
              <a:solidFill>
                <a:srgbClr val="FF0000"/>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3086657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0632E2-DC90-BC56-7BF0-950956A2C1CC}"/>
              </a:ext>
            </a:extLst>
          </p:cNvPr>
          <p:cNvSpPr>
            <a:spLocks noGrp="1"/>
          </p:cNvSpPr>
          <p:nvPr>
            <p:ph type="sldNum" sz="quarter" idx="12"/>
          </p:nvPr>
        </p:nvSpPr>
        <p:spPr/>
        <p:txBody>
          <a:bodyPr/>
          <a:lstStyle/>
          <a:p>
            <a:fld id="{67EFB97B-C702-468C-B184-BC2FF345C510}" type="slidenum">
              <a:rPr lang="en-US" smtClean="0"/>
              <a:t>10</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FD34BB-38A7-1600-FA03-4E03CD66F671}"/>
                  </a:ext>
                </a:extLst>
              </p:cNvPr>
              <p:cNvSpPr txBox="1"/>
              <p:nvPr/>
            </p:nvSpPr>
            <p:spPr>
              <a:xfrm>
                <a:off x="358395" y="82838"/>
                <a:ext cx="11475209" cy="6290183"/>
              </a:xfrm>
              <a:prstGeom prst="rect">
                <a:avLst/>
              </a:prstGeom>
              <a:noFill/>
            </p:spPr>
            <p:txBody>
              <a:bodyPr wrap="square">
                <a:spAutoFit/>
              </a:bodyPr>
              <a:lstStyle/>
              <a:p>
                <a:pPr algn="r" rtl="1">
                  <a:lnSpc>
                    <a:spcPct val="150000"/>
                  </a:lnSpc>
                  <a:buNone/>
                </a:pPr>
                <a:r>
                  <a:rPr lang="en-US" b="1" dirty="0">
                    <a:latin typeface="Times New Roman" panose="02020603050405020304" pitchFamily="18" charset="0"/>
                    <a:cs typeface="B Nazanin" panose="00000400000000000000" pitchFamily="2" charset="-78"/>
                  </a:rPr>
                  <a:t>Emax Model</a:t>
                </a:r>
              </a:p>
              <a:p>
                <a:pPr algn="r" rtl="1">
                  <a:lnSpc>
                    <a:spcPct val="150000"/>
                  </a:lnSpc>
                  <a:buNone/>
                </a:pPr>
                <a:r>
                  <a:rPr lang="fa-IR" dirty="0">
                    <a:latin typeface="Times New Roman" panose="02020603050405020304" pitchFamily="18" charset="0"/>
                    <a:cs typeface="B Nazanin" panose="00000400000000000000" pitchFamily="2" charset="-78"/>
                  </a:rPr>
                  <a:t>یکی از رایج‌ترین مدل‌های dose‑response در فارماکولوژی.</a:t>
                </a:r>
              </a:p>
              <a:p>
                <a:pPr algn="r" rtl="1">
                  <a:lnSpc>
                    <a:spcPct val="150000"/>
                  </a:lnSpc>
                  <a:buNone/>
                </a:pPr>
                <a:endParaRPr lang="en-US" b="1"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معنی پارامترها</a:t>
                </a:r>
              </a:p>
              <a:p>
                <a:pPr algn="r" rtl="1">
                  <a:lnSpc>
                    <a:spcPct val="150000"/>
                  </a:lnSpc>
                  <a:buFont typeface="Arial" panose="020B0604020202020204" pitchFamily="34" charset="0"/>
                  <a:buChar char="•"/>
                </a:pPr>
                <a14:m>
                  <m:oMath xmlns:m="http://schemas.openxmlformats.org/officeDocument/2006/math">
                    <m:r>
                      <a:rPr lang="fa-IR" i="1">
                        <a:latin typeface="Cambria Math" panose="02040503050406030204" pitchFamily="18" charset="0"/>
                      </a:rPr>
                      <m:t>𝐸</m:t>
                    </m:r>
                    <m:d>
                      <m:dPr>
                        <m:ctrlPr>
                          <a:rPr lang="fa-IR" i="1">
                            <a:latin typeface="Cambria Math" panose="02040503050406030204" pitchFamily="18" charset="0"/>
                          </a:rPr>
                        </m:ctrlPr>
                      </m:dPr>
                      <m:e>
                        <m:r>
                          <a:rPr lang="fa-IR" i="1">
                            <a:latin typeface="Cambria Math" panose="02040503050406030204" pitchFamily="18" charset="0"/>
                          </a:rPr>
                          <m:t>𝑑</m:t>
                        </m:r>
                      </m:e>
                    </m:d>
                  </m:oMath>
                </a14:m>
                <a:r>
                  <a:rPr lang="fa-IR" dirty="0">
                    <a:latin typeface="Times New Roman" panose="02020603050405020304" pitchFamily="18" charset="0"/>
                    <a:cs typeface="B Nazanin" panose="00000400000000000000" pitchFamily="2" charset="-78"/>
                  </a:rPr>
                  <a:t>= اثر در دوز </a:t>
                </a:r>
                <a14:m>
                  <m:oMath xmlns:m="http://schemas.openxmlformats.org/officeDocument/2006/math">
                    <m:r>
                      <a:rPr lang="fa-IR" i="1">
                        <a:latin typeface="Cambria Math" panose="02040503050406030204" pitchFamily="18" charset="0"/>
                      </a:rPr>
                      <m:t>𝑑</m:t>
                    </m:r>
                  </m:oMath>
                </a14:m>
                <a:endParaRPr lang="fa-IR"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sSub>
                      <m:sSubPr>
                        <m:ctrlPr>
                          <a:rPr lang="fa-IR" i="1">
                            <a:latin typeface="Cambria Math" panose="02040503050406030204" pitchFamily="18" charset="0"/>
                          </a:rPr>
                        </m:ctrlPr>
                      </m:sSubPr>
                      <m:e>
                        <m:r>
                          <a:rPr lang="fa-IR" i="1">
                            <a:latin typeface="Cambria Math" panose="02040503050406030204" pitchFamily="18" charset="0"/>
                          </a:rPr>
                          <m:t>𝐸</m:t>
                        </m:r>
                      </m:e>
                      <m:sub>
                        <m:r>
                          <a:rPr lang="fa-IR" i="0">
                            <a:latin typeface="Cambria Math" panose="02040503050406030204" pitchFamily="18" charset="0"/>
                          </a:rPr>
                          <m:t>0</m:t>
                        </m:r>
                      </m:sub>
                    </m:sSub>
                  </m:oMath>
                </a14:m>
                <a:r>
                  <a:rPr lang="fa-IR" dirty="0">
                    <a:latin typeface="Times New Roman" panose="02020603050405020304" pitchFamily="18" charset="0"/>
                    <a:cs typeface="B Nazanin" panose="00000400000000000000" pitchFamily="2" charset="-78"/>
                  </a:rPr>
                  <a:t>= اثر پایه</a:t>
                </a:r>
              </a:p>
              <a:p>
                <a:pPr algn="r" rtl="1">
                  <a:lnSpc>
                    <a:spcPct val="150000"/>
                  </a:lnSpc>
                  <a:buFont typeface="Arial" panose="020B0604020202020204" pitchFamily="34" charset="0"/>
                  <a:buChar char="•"/>
                </a:pPr>
                <a14:m>
                  <m:oMath xmlns:m="http://schemas.openxmlformats.org/officeDocument/2006/math">
                    <m:sSub>
                      <m:sSubPr>
                        <m:ctrlPr>
                          <a:rPr lang="fa-IR" i="1">
                            <a:latin typeface="Cambria Math" panose="02040503050406030204" pitchFamily="18" charset="0"/>
                          </a:rPr>
                        </m:ctrlPr>
                      </m:sSubPr>
                      <m:e>
                        <m:r>
                          <a:rPr lang="fa-IR" i="1">
                            <a:latin typeface="Cambria Math" panose="02040503050406030204" pitchFamily="18" charset="0"/>
                          </a:rPr>
                          <m:t>𝐸</m:t>
                        </m:r>
                      </m:e>
                      <m:sub>
                        <m:r>
                          <a:rPr lang="fa-IR" i="1">
                            <a:latin typeface="Cambria Math" panose="02040503050406030204" pitchFamily="18" charset="0"/>
                          </a:rPr>
                          <m:t>𝑚𝑎𝑥</m:t>
                        </m:r>
                      </m:sub>
                    </m:sSub>
                  </m:oMath>
                </a14:m>
                <a:r>
                  <a:rPr lang="fa-IR" dirty="0">
                    <a:latin typeface="Times New Roman" panose="02020603050405020304" pitchFamily="18" charset="0"/>
                    <a:cs typeface="B Nazanin" panose="00000400000000000000" pitchFamily="2" charset="-78"/>
                  </a:rPr>
                  <a:t>= حداکثر اثر قابل دستیابی</a:t>
                </a:r>
              </a:p>
              <a:p>
                <a:pPr algn="r" rtl="1">
                  <a:lnSpc>
                    <a:spcPct val="150000"/>
                  </a:lnSpc>
                  <a:buFont typeface="Arial" panose="020B0604020202020204" pitchFamily="34" charset="0"/>
                  <a:buChar char="•"/>
                </a:pPr>
                <a14:m>
                  <m:oMath xmlns:m="http://schemas.openxmlformats.org/officeDocument/2006/math">
                    <m:r>
                      <a:rPr lang="fa-IR" i="1">
                        <a:latin typeface="Cambria Math" panose="02040503050406030204" pitchFamily="18" charset="0"/>
                      </a:rPr>
                      <m:t>𝐸</m:t>
                    </m:r>
                    <m:sSub>
                      <m:sSubPr>
                        <m:ctrlPr>
                          <a:rPr lang="fa-IR" i="1">
                            <a:latin typeface="Cambria Math" panose="02040503050406030204" pitchFamily="18" charset="0"/>
                          </a:rPr>
                        </m:ctrlPr>
                      </m:sSubPr>
                      <m:e>
                        <m:r>
                          <a:rPr lang="fa-IR" i="1">
                            <a:latin typeface="Cambria Math" panose="02040503050406030204" pitchFamily="18" charset="0"/>
                          </a:rPr>
                          <m:t>𝐷</m:t>
                        </m:r>
                      </m:e>
                      <m:sub>
                        <m:r>
                          <a:rPr lang="fa-IR" i="0">
                            <a:latin typeface="Cambria Math" panose="02040503050406030204" pitchFamily="18" charset="0"/>
                          </a:rPr>
                          <m:t>50</m:t>
                        </m:r>
                      </m:sub>
                    </m:sSub>
                  </m:oMath>
                </a14:m>
                <a:r>
                  <a:rPr lang="fa-IR" dirty="0">
                    <a:latin typeface="Times New Roman" panose="02020603050405020304" pitchFamily="18" charset="0"/>
                    <a:cs typeface="B Nazanin" panose="00000400000000000000" pitchFamily="2" charset="-78"/>
                  </a:rPr>
                  <a:t>= دوزی که 50٪ اثر حداکثر را ایجاد می‌کند</a:t>
                </a:r>
              </a:p>
              <a:p>
                <a:pPr algn="r" rtl="1">
                  <a:lnSpc>
                    <a:spcPct val="150000"/>
                  </a:lnSpc>
                  <a:buFont typeface="Arial" panose="020B0604020202020204" pitchFamily="34" charset="0"/>
                  <a:buChar char="•"/>
                </a:pPr>
                <a:endParaRPr lang="fa-IR"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رفتار منحنی</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سریع بالا می‌رود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سپس </a:t>
                </a:r>
                <a:r>
                  <a:rPr lang="fa-IR" b="1" dirty="0">
                    <a:latin typeface="Times New Roman" panose="02020603050405020304" pitchFamily="18" charset="0"/>
                    <a:cs typeface="B Nazanin" panose="00000400000000000000" pitchFamily="2" charset="-78"/>
                  </a:rPr>
                  <a:t>اشباع (saturation)</a:t>
                </a:r>
                <a:r>
                  <a:rPr lang="fa-IR" dirty="0">
                    <a:latin typeface="Times New Roman" panose="02020603050405020304" pitchFamily="18" charset="0"/>
                    <a:cs typeface="B Nazanin" panose="00000400000000000000" pitchFamily="2" charset="-78"/>
                  </a:rPr>
                  <a:t> پیدا می‌کند</a:t>
                </a:r>
              </a:p>
              <a:p>
                <a:pPr marL="285750" indent="-285750"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low dose → rapid increase</a:t>
                </a:r>
              </a:p>
              <a:p>
                <a:pPr marL="285750" indent="-285750"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high dose → plateau</a:t>
                </a:r>
              </a:p>
              <a:p>
                <a:pPr algn="r" rtl="1">
                  <a:lnSpc>
                    <a:spcPct val="150000"/>
                  </a:lnSpc>
                  <a:buNone/>
                </a:pPr>
                <a:r>
                  <a:rPr lang="fa-IR" b="1" dirty="0">
                    <a:latin typeface="Times New Roman" panose="02020603050405020304" pitchFamily="18" charset="0"/>
                    <a:cs typeface="B Nazanin" panose="00000400000000000000" pitchFamily="2" charset="-78"/>
                  </a:rPr>
                  <a:t>کاربرد: </a:t>
                </a:r>
                <a:r>
                  <a:rPr lang="fa-IR" dirty="0">
                    <a:latin typeface="Times New Roman" panose="02020603050405020304" pitchFamily="18" charset="0"/>
                    <a:cs typeface="B Nazanin" panose="00000400000000000000" pitchFamily="2" charset="-78"/>
                  </a:rPr>
                  <a:t>وقتی انتظار داریم پاسخ </a:t>
                </a:r>
                <a:r>
                  <a:rPr lang="fa-IR" b="1" dirty="0">
                    <a:latin typeface="Times New Roman" panose="02020603050405020304" pitchFamily="18" charset="0"/>
                    <a:cs typeface="B Nazanin" panose="00000400000000000000" pitchFamily="2" charset="-78"/>
                  </a:rPr>
                  <a:t>اشباع شود</a:t>
                </a:r>
                <a:r>
                  <a:rPr lang="fa-IR" dirty="0">
                    <a:latin typeface="Times New Roman" panose="02020603050405020304" pitchFamily="18" charset="0"/>
                    <a:cs typeface="B Nazanin" panose="00000400000000000000" pitchFamily="2" charset="-78"/>
                  </a:rPr>
                  <a:t>.</a:t>
                </a:r>
              </a:p>
            </p:txBody>
          </p:sp>
        </mc:Choice>
        <mc:Fallback xmlns="">
          <p:sp>
            <p:nvSpPr>
              <p:cNvPr id="4" name="TextBox 3">
                <a:extLst>
                  <a:ext uri="{FF2B5EF4-FFF2-40B4-BE49-F238E27FC236}">
                    <a16:creationId xmlns:a16="http://schemas.microsoft.com/office/drawing/2014/main" id="{B2FD34BB-38A7-1600-FA03-4E03CD66F671}"/>
                  </a:ext>
                </a:extLst>
              </p:cNvPr>
              <p:cNvSpPr txBox="1">
                <a:spLocks noRot="1" noChangeAspect="1" noMove="1" noResize="1" noEditPoints="1" noAdjustHandles="1" noChangeArrowheads="1" noChangeShapeType="1" noTextEdit="1"/>
              </p:cNvSpPr>
              <p:nvPr/>
            </p:nvSpPr>
            <p:spPr>
              <a:xfrm>
                <a:off x="358395" y="82838"/>
                <a:ext cx="11475209" cy="6290183"/>
              </a:xfrm>
              <a:prstGeom prst="rect">
                <a:avLst/>
              </a:prstGeom>
              <a:blipFill>
                <a:blip r:embed="rId2"/>
                <a:stretch>
                  <a:fillRect r="-478" b="-6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836ABB-DB7A-6731-B1FA-26D0B42B8098}"/>
                  </a:ext>
                </a:extLst>
              </p:cNvPr>
              <p:cNvSpPr txBox="1"/>
              <p:nvPr/>
            </p:nvSpPr>
            <p:spPr>
              <a:xfrm>
                <a:off x="-963562" y="993058"/>
                <a:ext cx="7865806" cy="1110945"/>
              </a:xfrm>
              <a:prstGeom prst="rect">
                <a:avLst/>
              </a:prstGeom>
              <a:noFill/>
            </p:spPr>
            <p:txBody>
              <a:bodyPr wrap="square">
                <a:spAutoFit/>
              </a:bodyPr>
              <a:lstStyle/>
              <a:p>
                <a:pPr algn="r" rtl="1">
                  <a:buNone/>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𝐸</m:t>
                      </m:r>
                      <m:d>
                        <m:dPr>
                          <m:ctrlPr>
                            <a:rPr lang="en-US" sz="3200" i="1">
                              <a:latin typeface="Cambria Math" panose="02040503050406030204" pitchFamily="18" charset="0"/>
                            </a:rPr>
                          </m:ctrlPr>
                        </m:dPr>
                        <m:e>
                          <m:r>
                            <a:rPr lang="en-US" sz="3200" i="1">
                              <a:latin typeface="Cambria Math" panose="02040503050406030204" pitchFamily="18" charset="0"/>
                            </a:rPr>
                            <m:t>𝑑</m:t>
                          </m:r>
                        </m:e>
                      </m:d>
                      <m:r>
                        <a:rPr lang="en-US" sz="3200" i="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𝐸</m:t>
                          </m:r>
                        </m:e>
                        <m:sub>
                          <m:r>
                            <a:rPr lang="en-US" sz="3200" i="0">
                              <a:latin typeface="Cambria Math" panose="02040503050406030204" pitchFamily="18" charset="0"/>
                            </a:rPr>
                            <m:t>0</m:t>
                          </m:r>
                        </m:sub>
                      </m:sSub>
                      <m:r>
                        <a:rPr lang="en-US" sz="3200" i="0">
                          <a:latin typeface="Cambria Math" panose="02040503050406030204" pitchFamily="18" charset="0"/>
                        </a:rPr>
                        <m:t>+</m:t>
                      </m:r>
                      <m:f>
                        <m:fPr>
                          <m:ctrlPr>
                            <a:rPr lang="en-US" sz="3200" i="1">
                              <a:latin typeface="Cambria Math" panose="02040503050406030204" pitchFamily="18" charset="0"/>
                            </a:rPr>
                          </m:ctrlPr>
                        </m:fPr>
                        <m:num>
                          <m:sSub>
                            <m:sSubPr>
                              <m:ctrlPr>
                                <a:rPr lang="en-US" sz="3200" i="1">
                                  <a:latin typeface="Cambria Math" panose="02040503050406030204" pitchFamily="18" charset="0"/>
                                </a:rPr>
                              </m:ctrlPr>
                            </m:sSubPr>
                            <m:e>
                              <m:r>
                                <a:rPr lang="en-US" sz="3200" i="1">
                                  <a:latin typeface="Cambria Math" panose="02040503050406030204" pitchFamily="18" charset="0"/>
                                </a:rPr>
                                <m:t>𝐸</m:t>
                              </m:r>
                            </m:e>
                            <m:sub>
                              <m:r>
                                <a:rPr lang="en-US" sz="3200" i="1">
                                  <a:latin typeface="Cambria Math" panose="02040503050406030204" pitchFamily="18" charset="0"/>
                                </a:rPr>
                                <m:t>𝑚𝑎𝑥</m:t>
                              </m:r>
                            </m:sub>
                          </m:sSub>
                          <m:r>
                            <m:rPr>
                              <m:nor/>
                            </m:rPr>
                            <a:rPr lang="en-US" sz="3200" b="0" i="1">
                              <a:latin typeface="Times New Roman" panose="02020603050405020304" pitchFamily="18" charset="0"/>
                              <a:cs typeface="B Nazanin" panose="00000400000000000000" pitchFamily="2" charset="-78"/>
                            </a:rPr>
                            <m:t> </m:t>
                          </m:r>
                          <m:r>
                            <a:rPr lang="en-US" sz="3200" b="0" i="1">
                              <a:latin typeface="Cambria Math" panose="02040503050406030204" pitchFamily="18" charset="0"/>
                            </a:rPr>
                            <m:t>𝑑</m:t>
                          </m:r>
                        </m:num>
                        <m:den>
                          <m:r>
                            <a:rPr lang="en-US" sz="3200" b="0" i="1">
                              <a:latin typeface="Cambria Math" panose="02040503050406030204" pitchFamily="18" charset="0"/>
                            </a:rPr>
                            <m:t>𝐸</m:t>
                          </m:r>
                          <m:sSub>
                            <m:sSubPr>
                              <m:ctrlPr>
                                <a:rPr lang="en-US" sz="3200" b="0" i="1">
                                  <a:latin typeface="Cambria Math" panose="02040503050406030204" pitchFamily="18" charset="0"/>
                                </a:rPr>
                              </m:ctrlPr>
                            </m:sSubPr>
                            <m:e>
                              <m:r>
                                <a:rPr lang="en-US" sz="3200" b="0" i="1">
                                  <a:latin typeface="Cambria Math" panose="02040503050406030204" pitchFamily="18" charset="0"/>
                                </a:rPr>
                                <m:t>𝐷</m:t>
                              </m:r>
                            </m:e>
                            <m:sub>
                              <m:r>
                                <a:rPr lang="en-US" sz="3200" b="0" i="0">
                                  <a:latin typeface="Cambria Math" panose="02040503050406030204" pitchFamily="18" charset="0"/>
                                </a:rPr>
                                <m:t>50</m:t>
                              </m:r>
                            </m:sub>
                          </m:sSub>
                          <m:r>
                            <a:rPr lang="en-US" sz="3200" b="0" i="0">
                              <a:latin typeface="Cambria Math" panose="02040503050406030204" pitchFamily="18" charset="0"/>
                            </a:rPr>
                            <m:t>+</m:t>
                          </m:r>
                          <m:r>
                            <a:rPr lang="en-US" sz="3200" b="0" i="1">
                              <a:latin typeface="Cambria Math" panose="02040503050406030204" pitchFamily="18" charset="0"/>
                            </a:rPr>
                            <m:t>𝑑</m:t>
                          </m:r>
                        </m:den>
                      </m:f>
                    </m:oMath>
                  </m:oMathPara>
                </a14:m>
                <a:endParaRPr lang="en-US" b="0" dirty="0">
                  <a:latin typeface="Times New Roman" panose="02020603050405020304" pitchFamily="18" charset="0"/>
                  <a:cs typeface="B Nazanin" panose="00000400000000000000" pitchFamily="2" charset="-78"/>
                </a:endParaRPr>
              </a:p>
            </p:txBody>
          </p:sp>
        </mc:Choice>
        <mc:Fallback xmlns="">
          <p:sp>
            <p:nvSpPr>
              <p:cNvPr id="5" name="TextBox 4">
                <a:extLst>
                  <a:ext uri="{FF2B5EF4-FFF2-40B4-BE49-F238E27FC236}">
                    <a16:creationId xmlns:a16="http://schemas.microsoft.com/office/drawing/2014/main" id="{80836ABB-DB7A-6731-B1FA-26D0B42B8098}"/>
                  </a:ext>
                </a:extLst>
              </p:cNvPr>
              <p:cNvSpPr txBox="1">
                <a:spLocks noRot="1" noChangeAspect="1" noMove="1" noResize="1" noEditPoints="1" noAdjustHandles="1" noChangeArrowheads="1" noChangeShapeType="1" noTextEdit="1"/>
              </p:cNvSpPr>
              <p:nvPr/>
            </p:nvSpPr>
            <p:spPr>
              <a:xfrm>
                <a:off x="-963562" y="993058"/>
                <a:ext cx="7865806" cy="1110945"/>
              </a:xfrm>
              <a:prstGeom prst="rect">
                <a:avLst/>
              </a:prstGeo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E9686FD-6B99-581E-1340-8526D51F0858}"/>
              </a:ext>
            </a:extLst>
          </p:cNvPr>
          <p:cNvPicPr>
            <a:picLocks noChangeAspect="1"/>
          </p:cNvPicPr>
          <p:nvPr/>
        </p:nvPicPr>
        <p:blipFill>
          <a:blip r:embed="rId4"/>
          <a:srcRect l="4908" t="21397" r="48422" b="14190"/>
          <a:stretch>
            <a:fillRect/>
          </a:stretch>
        </p:blipFill>
        <p:spPr>
          <a:xfrm>
            <a:off x="558472" y="2703022"/>
            <a:ext cx="4577037" cy="3520797"/>
          </a:xfrm>
          <a:prstGeom prst="rect">
            <a:avLst/>
          </a:prstGeom>
        </p:spPr>
      </p:pic>
    </p:spTree>
    <p:extLst>
      <p:ext uri="{BB962C8B-B14F-4D97-AF65-F5344CB8AC3E}">
        <p14:creationId xmlns:p14="http://schemas.microsoft.com/office/powerpoint/2010/main" val="1520941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972AD2-0F48-FAFA-99D3-4324CD4FAE81}"/>
              </a:ext>
            </a:extLst>
          </p:cNvPr>
          <p:cNvSpPr>
            <a:spLocks noGrp="1"/>
          </p:cNvSpPr>
          <p:nvPr>
            <p:ph type="sldNum" sz="quarter" idx="12"/>
          </p:nvPr>
        </p:nvSpPr>
        <p:spPr/>
        <p:txBody>
          <a:bodyPr/>
          <a:lstStyle/>
          <a:p>
            <a:fld id="{67EFB97B-C702-468C-B184-BC2FF345C510}" type="slidenum">
              <a:rPr lang="en-US" smtClean="0"/>
              <a:t>11</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57CF3B1-210C-17CA-CE77-B14349C8BFFC}"/>
                  </a:ext>
                </a:extLst>
              </p:cNvPr>
              <p:cNvSpPr txBox="1"/>
              <p:nvPr/>
            </p:nvSpPr>
            <p:spPr>
              <a:xfrm>
                <a:off x="277792" y="32052"/>
                <a:ext cx="11668402" cy="4766690"/>
              </a:xfrm>
              <a:prstGeom prst="rect">
                <a:avLst/>
              </a:prstGeom>
              <a:noFill/>
            </p:spPr>
            <p:txBody>
              <a:bodyPr wrap="square">
                <a:spAutoFit/>
              </a:bodyPr>
              <a:lstStyle/>
              <a:p>
                <a:pPr algn="r" rtl="1">
                  <a:buNone/>
                </a:pPr>
                <a:r>
                  <a:rPr lang="en-US" b="1" dirty="0">
                    <a:latin typeface="Times New Roman" panose="02020603050405020304" pitchFamily="18" charset="0"/>
                    <a:cs typeface="B Nazanin" panose="00000400000000000000" pitchFamily="2" charset="-78"/>
                  </a:rPr>
                  <a:t>Logistic Quadratic Model</a:t>
                </a:r>
              </a:p>
              <a:p>
                <a:pPr algn="r" rtl="1">
                  <a:buNone/>
                </a:pPr>
                <a:endParaRPr lang="en-US"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en-US" i="1">
                        <a:latin typeface="Cambria Math" panose="02040503050406030204" pitchFamily="18" charset="0"/>
                      </a:rPr>
                      <m:t>𝑎</m:t>
                    </m:r>
                  </m:oMath>
                </a14:m>
                <a:r>
                  <a:rPr lang="en-US" dirty="0">
                    <a:latin typeface="Times New Roman" panose="02020603050405020304" pitchFamily="18" charset="0"/>
                    <a:cs typeface="B Nazanin" panose="00000400000000000000" pitchFamily="2" charset="-78"/>
                  </a:rPr>
                  <a:t>= baseline</a:t>
                </a:r>
              </a:p>
              <a:p>
                <a:pPr algn="r" rtl="1">
                  <a:lnSpc>
                    <a:spcPct val="150000"/>
                  </a:lnSpc>
                  <a:buFont typeface="Arial" panose="020B0604020202020204" pitchFamily="34" charset="0"/>
                  <a:buChar char="•"/>
                </a:pPr>
                <a14:m>
                  <m:oMath xmlns:m="http://schemas.openxmlformats.org/officeDocument/2006/math">
                    <m:r>
                      <m:rPr>
                        <m:nor/>
                      </m:rPr>
                      <a:rPr lang="en-US" dirty="0">
                        <a:latin typeface="Times New Roman" panose="02020603050405020304" pitchFamily="18" charset="0"/>
                        <a:cs typeface="B Nazanin" panose="00000400000000000000" pitchFamily="2" charset="-78"/>
                      </a:rPr>
                      <m:t>=</m:t>
                    </m:r>
                    <m:r>
                      <a:rPr lang="en-US" i="1">
                        <a:latin typeface="Cambria Math" panose="02040503050406030204" pitchFamily="18" charset="0"/>
                      </a:rPr>
                      <m:t>𝑏</m:t>
                    </m:r>
                  </m:oMath>
                </a14:m>
                <a:r>
                  <a:rPr lang="en-US" dirty="0" err="1">
                    <a:latin typeface="Times New Roman" panose="02020603050405020304" pitchFamily="18" charset="0"/>
                    <a:cs typeface="B Nazanin" panose="00000400000000000000" pitchFamily="2" charset="-78"/>
                  </a:rPr>
                  <a:t>اثر</a:t>
                </a:r>
                <a:r>
                  <a:rPr lang="en-US" dirty="0">
                    <a:latin typeface="Times New Roman" panose="02020603050405020304" pitchFamily="18" charset="0"/>
                    <a:cs typeface="B Nazanin" panose="00000400000000000000" pitchFamily="2" charset="-78"/>
                  </a:rPr>
                  <a:t> </a:t>
                </a:r>
                <a:r>
                  <a:rPr lang="en-US" dirty="0" err="1">
                    <a:latin typeface="Times New Roman" panose="02020603050405020304" pitchFamily="18" charset="0"/>
                    <a:cs typeface="B Nazanin" panose="00000400000000000000" pitchFamily="2" charset="-78"/>
                  </a:rPr>
                  <a:t>خطی</a:t>
                </a:r>
                <a:r>
                  <a:rPr lang="en-US" dirty="0">
                    <a:latin typeface="Times New Roman" panose="02020603050405020304" pitchFamily="18" charset="0"/>
                    <a:cs typeface="B Nazanin" panose="00000400000000000000" pitchFamily="2" charset="-78"/>
                  </a:rPr>
                  <a:t> </a:t>
                </a:r>
                <a:r>
                  <a:rPr lang="en-US" dirty="0" err="1">
                    <a:latin typeface="Times New Roman" panose="02020603050405020304" pitchFamily="18" charset="0"/>
                    <a:cs typeface="B Nazanin" panose="00000400000000000000" pitchFamily="2" charset="-78"/>
                  </a:rPr>
                  <a:t>دوز</a:t>
                </a:r>
                <a:endParaRPr lang="en-US"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 </a:t>
                </a:r>
                <a14:m>
                  <m:oMath xmlns:m="http://schemas.openxmlformats.org/officeDocument/2006/math">
                    <m:r>
                      <a:rPr lang="en-US" i="1">
                        <a:latin typeface="Cambria Math" panose="02040503050406030204" pitchFamily="18" charset="0"/>
                      </a:rPr>
                      <m:t>𝑐</m:t>
                    </m:r>
                  </m:oMath>
                </a14:m>
                <a:r>
                  <a:rPr lang="en-US" dirty="0" err="1">
                    <a:latin typeface="Times New Roman" panose="02020603050405020304" pitchFamily="18" charset="0"/>
                    <a:cs typeface="B Nazanin" panose="00000400000000000000" pitchFamily="2" charset="-78"/>
                  </a:rPr>
                  <a:t>اثر</a:t>
                </a:r>
                <a:r>
                  <a:rPr lang="en-US" dirty="0">
                    <a:latin typeface="Times New Roman" panose="02020603050405020304" pitchFamily="18" charset="0"/>
                    <a:cs typeface="B Nazanin" panose="00000400000000000000" pitchFamily="2" charset="-78"/>
                  </a:rPr>
                  <a:t> </a:t>
                </a:r>
                <a:r>
                  <a:rPr lang="en-US" dirty="0" err="1">
                    <a:latin typeface="Times New Roman" panose="02020603050405020304" pitchFamily="18" charset="0"/>
                    <a:cs typeface="B Nazanin" panose="00000400000000000000" pitchFamily="2" charset="-78"/>
                  </a:rPr>
                  <a:t>درجه</a:t>
                </a:r>
                <a:r>
                  <a:rPr lang="en-US" dirty="0">
                    <a:latin typeface="Times New Roman" panose="02020603050405020304" pitchFamily="18" charset="0"/>
                    <a:cs typeface="B Nazanin" panose="00000400000000000000" pitchFamily="2" charset="-78"/>
                  </a:rPr>
                  <a:t> </a:t>
                </a:r>
                <a:r>
                  <a:rPr lang="en-US" dirty="0" err="1">
                    <a:latin typeface="Times New Roman" panose="02020603050405020304" pitchFamily="18" charset="0"/>
                    <a:cs typeface="B Nazanin" panose="00000400000000000000" pitchFamily="2" charset="-78"/>
                  </a:rPr>
                  <a:t>دوم</a:t>
                </a:r>
                <a:endParaRPr lang="en-US"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رفتار منحنی</a:t>
                </a:r>
              </a:p>
              <a:p>
                <a:pPr algn="r" rtl="1">
                  <a:lnSpc>
                    <a:spcPct val="150000"/>
                  </a:lnSpc>
                  <a:buNone/>
                </a:pPr>
                <a:r>
                  <a:rPr lang="fa-IR" dirty="0">
                    <a:latin typeface="Times New Roman" panose="02020603050405020304" pitchFamily="18" charset="0"/>
                    <a:cs typeface="B Nazanin" panose="00000400000000000000" pitchFamily="2" charset="-78"/>
                  </a:rPr>
                  <a:t>به خاطر جمله </a:t>
                </a:r>
                <a14:m>
                  <m:oMath xmlns:m="http://schemas.openxmlformats.org/officeDocument/2006/math">
                    <m:sSup>
                      <m:sSupPr>
                        <m:ctrlPr>
                          <a:rPr lang="fa-IR" i="1">
                            <a:latin typeface="Cambria Math" panose="02040503050406030204" pitchFamily="18" charset="0"/>
                          </a:rPr>
                        </m:ctrlPr>
                      </m:sSupPr>
                      <m:e>
                        <m:r>
                          <a:rPr lang="fa-IR" i="1">
                            <a:latin typeface="Cambria Math" panose="02040503050406030204" pitchFamily="18" charset="0"/>
                          </a:rPr>
                          <m:t>𝑑</m:t>
                        </m:r>
                      </m:e>
                      <m:sup>
                        <m:r>
                          <a:rPr lang="fa-IR" i="0">
                            <a:latin typeface="Cambria Math" panose="02040503050406030204" pitchFamily="18" charset="0"/>
                          </a:rPr>
                          <m:t>2</m:t>
                        </m:r>
                      </m:sup>
                    </m:sSup>
                  </m:oMath>
                </a14:m>
                <a:r>
                  <a:rPr lang="fa-IR" dirty="0">
                    <a:latin typeface="Times New Roman" panose="02020603050405020304" pitchFamily="18" charset="0"/>
                    <a:cs typeface="B Nazanin" panose="00000400000000000000" pitchFamily="2" charset="-78"/>
                  </a:rPr>
                  <a:t>:</a:t>
                </a:r>
              </a:p>
              <a:p>
                <a:pPr algn="r" rtl="1">
                  <a:lnSpc>
                    <a:spcPct val="150000"/>
                  </a:lnSpc>
                  <a:buNone/>
                </a:pPr>
                <a:r>
                  <a:rPr lang="fa-IR" dirty="0">
                    <a:latin typeface="Times New Roman" panose="02020603050405020304" pitchFamily="18" charset="0"/>
                    <a:cs typeface="B Nazanin" panose="00000400000000000000" pitchFamily="2" charset="-78"/>
                  </a:rPr>
                  <a:t>مدل می‌تواند:</a:t>
                </a: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plateau</a:t>
                </a:r>
              </a:p>
              <a:p>
                <a:pPr algn="r" rtl="1">
                  <a:lnSpc>
                    <a:spcPct val="150000"/>
                  </a:lnSpc>
                  <a:buFont typeface="Arial" panose="020B0604020202020204" pitchFamily="34" charset="0"/>
                  <a:buChar char="•"/>
                </a:pPr>
                <a:r>
                  <a:rPr lang="en-US" b="1" dirty="0">
                    <a:latin typeface="Times New Roman" panose="02020603050405020304" pitchFamily="18" charset="0"/>
                    <a:cs typeface="B Nazanin" panose="00000400000000000000" pitchFamily="2" charset="-78"/>
                  </a:rPr>
                  <a:t>peaked (increase → decrease)</a:t>
                </a:r>
                <a:endParaRPr lang="en-US"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مزیت</a:t>
                </a:r>
                <a:r>
                  <a:rPr lang="en-US" b="1"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انعطاف‌پذیرتر از logistic ساده است.</a:t>
                </a:r>
              </a:p>
              <a:p>
                <a:pPr algn="r" rtl="1">
                  <a:lnSpc>
                    <a:spcPct val="150000"/>
                  </a:lnSpc>
                  <a:buNone/>
                </a:pPr>
                <a:r>
                  <a:rPr lang="fa-IR" b="1" dirty="0">
                    <a:latin typeface="Times New Roman" panose="02020603050405020304" pitchFamily="18" charset="0"/>
                    <a:cs typeface="B Nazanin" panose="00000400000000000000" pitchFamily="2" charset="-78"/>
                  </a:rPr>
                  <a:t>محدودیت</a:t>
                </a:r>
                <a:r>
                  <a:rPr lang="en-US" b="1"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اگر رابطه واقعی پیچیده‌تر باشد، باز هم ممکن است بد مدل کند.</a:t>
                </a:r>
              </a:p>
            </p:txBody>
          </p:sp>
        </mc:Choice>
        <mc:Fallback xmlns="">
          <p:sp>
            <p:nvSpPr>
              <p:cNvPr id="4" name="TextBox 3">
                <a:extLst>
                  <a:ext uri="{FF2B5EF4-FFF2-40B4-BE49-F238E27FC236}">
                    <a16:creationId xmlns:a16="http://schemas.microsoft.com/office/drawing/2014/main" id="{A57CF3B1-210C-17CA-CE77-B14349C8BFFC}"/>
                  </a:ext>
                </a:extLst>
              </p:cNvPr>
              <p:cNvSpPr txBox="1">
                <a:spLocks noRot="1" noChangeAspect="1" noMove="1" noResize="1" noEditPoints="1" noAdjustHandles="1" noChangeArrowheads="1" noChangeShapeType="1" noTextEdit="1"/>
              </p:cNvSpPr>
              <p:nvPr/>
            </p:nvSpPr>
            <p:spPr>
              <a:xfrm>
                <a:off x="277792" y="32052"/>
                <a:ext cx="11668402" cy="4766690"/>
              </a:xfrm>
              <a:prstGeom prst="rect">
                <a:avLst/>
              </a:prstGeom>
              <a:blipFill>
                <a:blip r:embed="rId2"/>
                <a:stretch>
                  <a:fillRect t="-639" r="-470" b="-140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6774D8B1-1329-6994-7BA8-2A3B9C9EC928}"/>
              </a:ext>
            </a:extLst>
          </p:cNvPr>
          <p:cNvPicPr>
            <a:picLocks noChangeAspect="1"/>
          </p:cNvPicPr>
          <p:nvPr/>
        </p:nvPicPr>
        <p:blipFill>
          <a:blip r:embed="rId3"/>
          <a:srcRect l="4908" t="21397" r="48422" b="14190"/>
          <a:stretch>
            <a:fillRect/>
          </a:stretch>
        </p:blipFill>
        <p:spPr>
          <a:xfrm>
            <a:off x="393292" y="3429000"/>
            <a:ext cx="3665091" cy="2819300"/>
          </a:xfrm>
          <a:prstGeom prst="rect">
            <a:avLst/>
          </a:prstGeom>
        </p:spPr>
      </p:pic>
      <p:pic>
        <p:nvPicPr>
          <p:cNvPr id="5" name="Picture 4">
            <a:extLst>
              <a:ext uri="{FF2B5EF4-FFF2-40B4-BE49-F238E27FC236}">
                <a16:creationId xmlns:a16="http://schemas.microsoft.com/office/drawing/2014/main" id="{5292774D-9925-18A1-FAC1-586B08621AF4}"/>
              </a:ext>
            </a:extLst>
          </p:cNvPr>
          <p:cNvPicPr>
            <a:picLocks noChangeAspect="1"/>
          </p:cNvPicPr>
          <p:nvPr/>
        </p:nvPicPr>
        <p:blipFill>
          <a:blip r:embed="rId3"/>
          <a:srcRect l="53330" t="24479" r="2243" b="13840"/>
          <a:stretch>
            <a:fillRect/>
          </a:stretch>
        </p:blipFill>
        <p:spPr>
          <a:xfrm>
            <a:off x="245806" y="412956"/>
            <a:ext cx="3643546" cy="28193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693B68-A424-D2E5-782D-232362B98719}"/>
                  </a:ext>
                </a:extLst>
              </p:cNvPr>
              <p:cNvSpPr txBox="1"/>
              <p:nvPr/>
            </p:nvSpPr>
            <p:spPr>
              <a:xfrm>
                <a:off x="2517056" y="2197678"/>
                <a:ext cx="6666271" cy="664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d>
                        <m:dPr>
                          <m:ctrlPr>
                            <a:rPr lang="en-US" b="1" i="1">
                              <a:latin typeface="Cambria Math" panose="02040503050406030204" pitchFamily="18" charset="0"/>
                            </a:rPr>
                          </m:ctrlPr>
                        </m:dPr>
                        <m:e>
                          <m:r>
                            <a:rPr lang="en-US" b="1" i="1">
                              <a:latin typeface="Cambria Math" panose="02040503050406030204" pitchFamily="18" charset="0"/>
                            </a:rPr>
                            <m:t>𝒅</m:t>
                          </m:r>
                        </m:e>
                      </m:d>
                      <m:r>
                        <a:rPr lang="en-US" b="1" i="0">
                          <a:latin typeface="Cambria Math" panose="02040503050406030204" pitchFamily="18" charset="0"/>
                        </a:rPr>
                        <m:t>=</m:t>
                      </m:r>
                      <m:f>
                        <m:fPr>
                          <m:ctrlPr>
                            <a:rPr lang="en-US" b="1" i="1" smtClean="0">
                              <a:latin typeface="Cambria Math" panose="02040503050406030204" pitchFamily="18" charset="0"/>
                            </a:rPr>
                          </m:ctrlPr>
                        </m:fPr>
                        <m:num>
                          <m:r>
                            <a:rPr lang="en-US" b="1" i="0">
                              <a:latin typeface="Cambria Math" panose="02040503050406030204" pitchFamily="18" charset="0"/>
                            </a:rPr>
                            <m:t>𝟏</m:t>
                          </m:r>
                        </m:num>
                        <m:den>
                          <m:r>
                            <a:rPr lang="en-US" b="1" i="0">
                              <a:latin typeface="Cambria Math" panose="02040503050406030204" pitchFamily="18" charset="0"/>
                            </a:rPr>
                            <m:t>𝟏</m:t>
                          </m:r>
                          <m:r>
                            <a:rPr lang="en-US" b="1" i="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𝒆</m:t>
                              </m:r>
                            </m:e>
                            <m:sup>
                              <m:r>
                                <a:rPr lang="en-US" b="1" i="0">
                                  <a:latin typeface="Cambria Math" panose="02040503050406030204" pitchFamily="18" charset="0"/>
                                </a:rPr>
                                <m:t>−</m:t>
                              </m:r>
                              <m:d>
                                <m:dPr>
                                  <m:ctrlPr>
                                    <a:rPr lang="en-US" b="1" i="1">
                                      <a:latin typeface="Cambria Math" panose="02040503050406030204" pitchFamily="18" charset="0"/>
                                    </a:rPr>
                                  </m:ctrlPr>
                                </m:dPr>
                                <m:e>
                                  <m:r>
                                    <a:rPr lang="en-US" b="1" i="1">
                                      <a:latin typeface="Cambria Math" panose="02040503050406030204" pitchFamily="18" charset="0"/>
                                    </a:rPr>
                                    <m:t>𝒂</m:t>
                                  </m:r>
                                  <m:r>
                                    <a:rPr lang="en-US" b="1" i="0">
                                      <a:latin typeface="Cambria Math" panose="02040503050406030204" pitchFamily="18" charset="0"/>
                                    </a:rPr>
                                    <m:t>+</m:t>
                                  </m:r>
                                  <m:r>
                                    <a:rPr lang="en-US" b="1" i="1">
                                      <a:latin typeface="Cambria Math" panose="02040503050406030204" pitchFamily="18" charset="0"/>
                                    </a:rPr>
                                    <m:t>𝒃𝒅</m:t>
                                  </m:r>
                                  <m:r>
                                    <a:rPr lang="en-US" b="1" i="0">
                                      <a:latin typeface="Cambria Math" panose="02040503050406030204" pitchFamily="18" charset="0"/>
                                    </a:rPr>
                                    <m:t>+</m:t>
                                  </m:r>
                                  <m:r>
                                    <a:rPr lang="en-US" b="1" i="1">
                                      <a:latin typeface="Cambria Math" panose="02040503050406030204" pitchFamily="18" charset="0"/>
                                    </a:rPr>
                                    <m:t>𝒄</m:t>
                                  </m:r>
                                  <m:sSup>
                                    <m:sSupPr>
                                      <m:ctrlPr>
                                        <a:rPr lang="en-US" b="1" i="1">
                                          <a:latin typeface="Cambria Math" panose="02040503050406030204" pitchFamily="18" charset="0"/>
                                        </a:rPr>
                                      </m:ctrlPr>
                                    </m:sSupPr>
                                    <m:e>
                                      <m:r>
                                        <a:rPr lang="en-US" b="1" i="1">
                                          <a:latin typeface="Cambria Math" panose="02040503050406030204" pitchFamily="18" charset="0"/>
                                        </a:rPr>
                                        <m:t>𝒅</m:t>
                                      </m:r>
                                    </m:e>
                                    <m:sup>
                                      <m:r>
                                        <a:rPr lang="en-US" b="1" i="0">
                                          <a:latin typeface="Cambria Math" panose="02040503050406030204" pitchFamily="18" charset="0"/>
                                        </a:rPr>
                                        <m:t>𝟐</m:t>
                                      </m:r>
                                    </m:sup>
                                  </m:sSup>
                                </m:e>
                              </m:d>
                            </m:sup>
                          </m:sSup>
                        </m:den>
                      </m:f>
                    </m:oMath>
                  </m:oMathPara>
                </a14:m>
                <a:endParaRPr lang="en-US" b="1" dirty="0"/>
              </a:p>
            </p:txBody>
          </p:sp>
        </mc:Choice>
        <mc:Fallback xmlns="">
          <p:sp>
            <p:nvSpPr>
              <p:cNvPr id="7" name="TextBox 6">
                <a:extLst>
                  <a:ext uri="{FF2B5EF4-FFF2-40B4-BE49-F238E27FC236}">
                    <a16:creationId xmlns:a16="http://schemas.microsoft.com/office/drawing/2014/main" id="{82693B68-A424-D2E5-782D-232362B98719}"/>
                  </a:ext>
                </a:extLst>
              </p:cNvPr>
              <p:cNvSpPr txBox="1">
                <a:spLocks noRot="1" noChangeAspect="1" noMove="1" noResize="1" noEditPoints="1" noAdjustHandles="1" noChangeArrowheads="1" noChangeShapeType="1" noTextEdit="1"/>
              </p:cNvSpPr>
              <p:nvPr/>
            </p:nvSpPr>
            <p:spPr>
              <a:xfrm>
                <a:off x="2517056" y="2197678"/>
                <a:ext cx="6666271" cy="66434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15350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B59813-AF8B-9D3F-3BE1-345EBC56A7F5}"/>
              </a:ext>
            </a:extLst>
          </p:cNvPr>
          <p:cNvSpPr>
            <a:spLocks noGrp="1"/>
          </p:cNvSpPr>
          <p:nvPr>
            <p:ph type="sldNum" sz="quarter" idx="12"/>
          </p:nvPr>
        </p:nvSpPr>
        <p:spPr/>
        <p:txBody>
          <a:bodyPr/>
          <a:lstStyle/>
          <a:p>
            <a:fld id="{67EFB97B-C702-468C-B184-BC2FF345C510}" type="slidenum">
              <a:rPr lang="en-US" smtClean="0"/>
              <a:t>12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7E0C740-7934-0D56-435A-23334BD6A10E}"/>
                  </a:ext>
                </a:extLst>
              </p:cNvPr>
              <p:cNvSpPr txBox="1"/>
              <p:nvPr/>
            </p:nvSpPr>
            <p:spPr>
              <a:xfrm>
                <a:off x="806245" y="236931"/>
                <a:ext cx="10579509" cy="6140142"/>
              </a:xfrm>
              <a:prstGeom prst="rect">
                <a:avLst/>
              </a:prstGeom>
              <a:noFill/>
            </p:spPr>
            <p:txBody>
              <a:bodyPr wrap="square">
                <a:spAutoFit/>
              </a:bodyPr>
              <a:lstStyle/>
              <a:p>
                <a:pPr algn="just" rtl="1">
                  <a:lnSpc>
                    <a:spcPct val="150000"/>
                  </a:lnSpc>
                  <a:buNone/>
                </a:pPr>
                <a:r>
                  <a:rPr lang="fa-IR" sz="2400" b="1" dirty="0">
                    <a:latin typeface="Times New Roman" panose="02020603050405020304" pitchFamily="18" charset="0"/>
                    <a:cs typeface="B Nazanin" panose="00000400000000000000" pitchFamily="2" charset="-78"/>
                  </a:rPr>
                  <a:t>پارامتر </a:t>
                </a:r>
                <a:r>
                  <a:rPr lang="en-US" sz="2400" b="1" dirty="0">
                    <a:latin typeface="Times New Roman" panose="02020603050405020304" pitchFamily="18" charset="0"/>
                    <a:cs typeface="B Nazanin" panose="00000400000000000000" pitchFamily="2" charset="-78"/>
                  </a:rPr>
                  <a:t>b </a:t>
                </a:r>
              </a:p>
              <a:p>
                <a:pPr algn="just" rtl="1">
                  <a:lnSpc>
                    <a:spcPct val="150000"/>
                  </a:lnSpc>
                  <a:buFont typeface="Arial" panose="020B0604020202020204" pitchFamily="34" charset="0"/>
                  <a:buChar char="•"/>
                </a:pPr>
                <a:endParaRPr lang="en-US" sz="2400"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r>
                  <a:rPr lang="fa-IR" sz="2400" b="1" dirty="0">
                    <a:latin typeface="Times New Roman" panose="02020603050405020304" pitchFamily="18" charset="0"/>
                    <a:cs typeface="B Nazanin" panose="00000400000000000000" pitchFamily="2" charset="-78"/>
                  </a:rPr>
                  <a:t>نوع آنتی‌ژن (Immunogenicity): </a:t>
                </a:r>
                <a:r>
                  <a:rPr lang="fa-IR" sz="2400" dirty="0">
                    <a:latin typeface="Times New Roman" panose="02020603050405020304" pitchFamily="18" charset="0"/>
                    <a:cs typeface="B Nazanin" panose="00000400000000000000" pitchFamily="2" charset="-78"/>
                  </a:rPr>
                  <a:t>بعضی پروتئین‌های ویروسی ذاتا “چشم‌گیرتر” هستند و سیستم ایمنی سریع‌تر آن‌ها را شناسایی می‌کند (مثلاً پروتئین Spike در کرونا). هرچه آنتی‌ژن قوی‌تر باشد، </a:t>
                </a:r>
                <a14:m>
                  <m:oMath xmlns:m="http://schemas.openxmlformats.org/officeDocument/2006/math">
                    <m:r>
                      <a:rPr lang="en-US" sz="2400" b="0" i="0" smtClean="0">
                        <a:latin typeface="Cambria Math" panose="02040503050406030204" pitchFamily="18" charset="0"/>
                      </a:rPr>
                      <m:t> </m:t>
                    </m:r>
                    <m:r>
                      <a:rPr lang="fa-IR" sz="2400" b="0" i="1" smtClean="0">
                        <a:latin typeface="Cambria Math" panose="02040503050406030204" pitchFamily="18" charset="0"/>
                      </a:rPr>
                      <m:t>𝑏</m:t>
                    </m:r>
                  </m:oMath>
                </a14:m>
                <a:r>
                  <a:rPr lang="fa-IR" sz="2400" dirty="0">
                    <a:latin typeface="Times New Roman" panose="02020603050405020304" pitchFamily="18" charset="0"/>
                    <a:cs typeface="B Nazanin" panose="00000400000000000000" pitchFamily="2" charset="-78"/>
                  </a:rPr>
                  <a:t>بزرگتر است.</a:t>
                </a:r>
              </a:p>
              <a:p>
                <a:pPr algn="just" rtl="1">
                  <a:lnSpc>
                    <a:spcPct val="150000"/>
                  </a:lnSpc>
                  <a:buFont typeface="Arial" panose="020B0604020202020204" pitchFamily="34" charset="0"/>
                  <a:buChar char="•"/>
                </a:pPr>
                <a:r>
                  <a:rPr lang="fa-IR" sz="2400" b="1" dirty="0">
                    <a:latin typeface="Times New Roman" panose="02020603050405020304" pitchFamily="18" charset="0"/>
                    <a:cs typeface="B Nazanin" panose="00000400000000000000" pitchFamily="2" charset="-78"/>
                  </a:rPr>
                  <a:t>استفاده از ادجوانت (Adjuvant)</a:t>
                </a:r>
                <a:endParaRPr lang="en-US" sz="2400" b="1"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endParaRPr lang="en-US" sz="2400" b="1"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r>
                  <a:rPr lang="fa-IR" sz="2400" b="1" dirty="0">
                    <a:latin typeface="Times New Roman" panose="02020603050405020304" pitchFamily="18" charset="0"/>
                    <a:cs typeface="B Nazanin" panose="00000400000000000000" pitchFamily="2" charset="-78"/>
                  </a:rPr>
                  <a:t>سابقه ایمنی (Priming</a:t>
                </a:r>
                <a:r>
                  <a:rPr lang="fa-IR" sz="2400" dirty="0">
                    <a:latin typeface="Times New Roman" panose="02020603050405020304" pitchFamily="18" charset="0"/>
                    <a:cs typeface="B Nazanin" panose="00000400000000000000" pitchFamily="2" charset="-78"/>
                  </a:rPr>
                  <a:t>): اگر بدن قبلاً با ویروس مشابهی برخورد کرده باشد، حافظه ایمنی باعث می‌شود با کمترین دوز (</a:t>
                </a:r>
                <a14:m>
                  <m:oMath xmlns:m="http://schemas.openxmlformats.org/officeDocument/2006/math">
                    <m:r>
                      <a:rPr lang="fa-IR" sz="2400" b="0" i="1" smtClean="0">
                        <a:latin typeface="Cambria Math" panose="02040503050406030204" pitchFamily="18" charset="0"/>
                      </a:rPr>
                      <m:t>𝑑</m:t>
                    </m:r>
                  </m:oMath>
                </a14:m>
                <a:r>
                  <a:rPr lang="fa-IR" sz="2400" dirty="0">
                    <a:latin typeface="Times New Roman" panose="02020603050405020304" pitchFamily="18" charset="0"/>
                    <a:cs typeface="B Nazanin" panose="00000400000000000000" pitchFamily="2" charset="-78"/>
                  </a:rPr>
                  <a:t>)، پاسخ خیلی سریعی بدهد (افزایش </a:t>
                </a:r>
                <a14:m>
                  <m:oMath xmlns:m="http://schemas.openxmlformats.org/officeDocument/2006/math">
                    <m:r>
                      <a:rPr lang="fa-IR" sz="2400" b="0" i="1" smtClean="0">
                        <a:latin typeface="Cambria Math" panose="02040503050406030204" pitchFamily="18" charset="0"/>
                      </a:rPr>
                      <m:t>𝑏</m:t>
                    </m:r>
                  </m:oMath>
                </a14:m>
                <a:r>
                  <a:rPr lang="fa-IR" sz="2400" dirty="0">
                    <a:latin typeface="Times New Roman" panose="02020603050405020304" pitchFamily="18" charset="0"/>
                    <a:cs typeface="B Nazanin" panose="00000400000000000000" pitchFamily="2" charset="-78"/>
                  </a:rPr>
                  <a:t>).</a:t>
                </a:r>
                <a:endParaRPr lang="en-US" sz="2400"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endParaRPr lang="fa-IR" sz="2400"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r>
                  <a:rPr lang="fa-IR" sz="2400" b="1" dirty="0">
                    <a:latin typeface="Times New Roman" panose="02020603050405020304" pitchFamily="18" charset="0"/>
                    <a:cs typeface="B Nazanin" panose="00000400000000000000" pitchFamily="2" charset="-78"/>
                  </a:rPr>
                  <a:t>سرعت رهاسازی</a:t>
                </a:r>
                <a:r>
                  <a:rPr lang="fa-IR" sz="2400" dirty="0">
                    <a:latin typeface="Times New Roman" panose="02020603050405020304" pitchFamily="18" charset="0"/>
                    <a:cs typeface="B Nazanin" panose="00000400000000000000" pitchFamily="2" charset="-78"/>
                  </a:rPr>
                  <a:t>: تکنولوژی‌های ساخت واکسن (مثل نانوذرات) که باعث می‌شوند آنتی‌ژن بهتر به سلول‌های ارائه‌دهنده ایمنی (APC) برسد، پارامتر </a:t>
                </a:r>
                <a14:m>
                  <m:oMath xmlns:m="http://schemas.openxmlformats.org/officeDocument/2006/math">
                    <m:r>
                      <a:rPr lang="fa-IR" sz="2400" b="0" i="1" smtClean="0">
                        <a:latin typeface="Cambria Math" panose="02040503050406030204" pitchFamily="18" charset="0"/>
                      </a:rPr>
                      <m:t>𝑏</m:t>
                    </m:r>
                  </m:oMath>
                </a14:m>
                <a:r>
                  <a:rPr lang="fa-IR" sz="2400" dirty="0">
                    <a:latin typeface="Times New Roman" panose="02020603050405020304" pitchFamily="18" charset="0"/>
                    <a:cs typeface="B Nazanin" panose="00000400000000000000" pitchFamily="2" charset="-78"/>
                  </a:rPr>
                  <a:t>را تقویت می‌کنند.</a:t>
                </a:r>
              </a:p>
            </p:txBody>
          </p:sp>
        </mc:Choice>
        <mc:Fallback xmlns="">
          <p:sp>
            <p:nvSpPr>
              <p:cNvPr id="4" name="TextBox 3">
                <a:extLst>
                  <a:ext uri="{FF2B5EF4-FFF2-40B4-BE49-F238E27FC236}">
                    <a16:creationId xmlns:a16="http://schemas.microsoft.com/office/drawing/2014/main" id="{07E0C740-7934-0D56-435A-23334BD6A10E}"/>
                  </a:ext>
                </a:extLst>
              </p:cNvPr>
              <p:cNvSpPr txBox="1">
                <a:spLocks noRot="1" noChangeAspect="1" noMove="1" noResize="1" noEditPoints="1" noAdjustHandles="1" noChangeArrowheads="1" noChangeShapeType="1" noTextEdit="1"/>
              </p:cNvSpPr>
              <p:nvPr/>
            </p:nvSpPr>
            <p:spPr>
              <a:xfrm>
                <a:off x="806245" y="236931"/>
                <a:ext cx="10579509" cy="6140142"/>
              </a:xfrm>
              <a:prstGeom prst="rect">
                <a:avLst/>
              </a:prstGeom>
              <a:blipFill>
                <a:blip r:embed="rId2"/>
                <a:stretch>
                  <a:fillRect l="-1613" r="-864" b="-1688"/>
                </a:stretch>
              </a:blipFill>
            </p:spPr>
            <p:txBody>
              <a:bodyPr/>
              <a:lstStyle/>
              <a:p>
                <a:r>
                  <a:rPr lang="en-US">
                    <a:noFill/>
                  </a:rPr>
                  <a:t> </a:t>
                </a:r>
              </a:p>
            </p:txBody>
          </p:sp>
        </mc:Fallback>
      </mc:AlternateContent>
    </p:spTree>
    <p:extLst>
      <p:ext uri="{BB962C8B-B14F-4D97-AF65-F5344CB8AC3E}">
        <p14:creationId xmlns:p14="http://schemas.microsoft.com/office/powerpoint/2010/main" val="2061989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A9AAAA-42F7-99BB-6811-164440FE1484}"/>
              </a:ext>
            </a:extLst>
          </p:cNvPr>
          <p:cNvSpPr>
            <a:spLocks noGrp="1"/>
          </p:cNvSpPr>
          <p:nvPr>
            <p:ph type="sldNum" sz="quarter" idx="12"/>
          </p:nvPr>
        </p:nvSpPr>
        <p:spPr/>
        <p:txBody>
          <a:bodyPr/>
          <a:lstStyle/>
          <a:p>
            <a:fld id="{67EFB97B-C702-468C-B184-BC2FF345C510}" type="slidenum">
              <a:rPr lang="en-US" smtClean="0"/>
              <a:t>13</a:t>
            </a:fld>
            <a:endParaRPr lang="en-US"/>
          </a:p>
        </p:txBody>
      </p:sp>
      <p:sp>
        <p:nvSpPr>
          <p:cNvPr id="4" name="TextBox 3">
            <a:extLst>
              <a:ext uri="{FF2B5EF4-FFF2-40B4-BE49-F238E27FC236}">
                <a16:creationId xmlns:a16="http://schemas.microsoft.com/office/drawing/2014/main" id="{A1D1599C-4D11-7173-6E67-14F9C4C331A9}"/>
              </a:ext>
            </a:extLst>
          </p:cNvPr>
          <p:cNvSpPr txBox="1"/>
          <p:nvPr/>
        </p:nvSpPr>
        <p:spPr>
          <a:xfrm>
            <a:off x="422787" y="248395"/>
            <a:ext cx="11484077" cy="5320687"/>
          </a:xfrm>
          <a:prstGeom prst="rect">
            <a:avLst/>
          </a:prstGeom>
          <a:noFill/>
        </p:spPr>
        <p:txBody>
          <a:bodyPr wrap="square">
            <a:spAutoFit/>
          </a:bodyPr>
          <a:lstStyle/>
          <a:p>
            <a:pPr algn="just" rtl="1">
              <a:lnSpc>
                <a:spcPct val="150000"/>
              </a:lnSpc>
            </a:pPr>
            <a:r>
              <a:rPr lang="fa-IR" sz="2400" b="1" dirty="0">
                <a:latin typeface="Times New Roman" panose="02020603050405020304" pitchFamily="18" charset="0"/>
                <a:cs typeface="B Nazanin" panose="00000400000000000000" pitchFamily="2" charset="-78"/>
              </a:rPr>
              <a:t>پارامتر </a:t>
            </a:r>
            <a:r>
              <a:rPr lang="en-US" sz="2400" b="1" dirty="0">
                <a:latin typeface="Times New Roman" panose="02020603050405020304" pitchFamily="18" charset="0"/>
                <a:cs typeface="B Nazanin" panose="00000400000000000000" pitchFamily="2" charset="-78"/>
              </a:rPr>
              <a:t>c</a:t>
            </a:r>
          </a:p>
          <a:p>
            <a:pPr algn="just" rtl="1">
              <a:lnSpc>
                <a:spcPct val="150000"/>
              </a:lnSpc>
            </a:pPr>
            <a:endParaRPr lang="en-US" sz="2400" b="1" dirty="0">
              <a:latin typeface="Times New Roman" panose="02020603050405020304" pitchFamily="18" charset="0"/>
              <a:cs typeface="B Nazanin" panose="00000400000000000000" pitchFamily="2" charset="-78"/>
            </a:endParaRPr>
          </a:p>
          <a:p>
            <a:pPr algn="just" rtl="1">
              <a:lnSpc>
                <a:spcPct val="15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اشباع گیرنده‌ها (Receptor Saturation):</a:t>
            </a:r>
            <a:r>
              <a:rPr lang="fa-IR" dirty="0">
                <a:latin typeface="Times New Roman" panose="02020603050405020304" pitchFamily="18" charset="0"/>
                <a:cs typeface="B Nazanin" panose="00000400000000000000" pitchFamily="2" charset="-78"/>
              </a:rPr>
              <a:t> سلول‌های سیستم ایمنی تعداد محدودی گیرنده دارند. وقتی دوز خیلی زیاد شود، تمام گیرنده‌ها پر می‌شوند و دوز اضافی دیگر جایی برای اتصال ندارد. این شروع “خم شدن” نمودار است.</a:t>
            </a:r>
          </a:p>
          <a:p>
            <a:pPr algn="just" rtl="1">
              <a:lnSpc>
                <a:spcPct val="15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خستگی ایمنی (Immune Exhaustion):</a:t>
            </a:r>
            <a:r>
              <a:rPr lang="fa-IR" dirty="0">
                <a:latin typeface="Times New Roman" panose="02020603050405020304" pitchFamily="18" charset="0"/>
                <a:cs typeface="B Nazanin" panose="00000400000000000000" pitchFamily="2" charset="-78"/>
              </a:rPr>
              <a:t> دوز بیش از حد زیاد و طولانی‌مدت می‌تواند باعث شود سلول‌های T به جای فعال شدن، وارد فاز “خستگی” شوند و دیگر پاسخ ندهند.</a:t>
            </a:r>
          </a:p>
          <a:p>
            <a:pPr algn="just" rtl="1">
              <a:lnSpc>
                <a:spcPct val="15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تحمل ایمنی (Immune Tolerance):</a:t>
            </a:r>
            <a:r>
              <a:rPr lang="fa-IR" dirty="0">
                <a:latin typeface="Times New Roman" panose="02020603050405020304" pitchFamily="18" charset="0"/>
                <a:cs typeface="B Nazanin" panose="00000400000000000000" pitchFamily="2" charset="-78"/>
              </a:rPr>
              <a:t> گاهی اوقات وقتی بدن با مقدار بسیار عظیمی از یک ماده غریبه مواجه می‌شود، برای جلوگیری از آسیب به خود (خودایمنی)، مکانیسم‌های سرکوب‌کننده را فعال می‌کند تا به آن ماده “عادت” کند و واکنشی نشان ندهد.</a:t>
            </a:r>
          </a:p>
          <a:p>
            <a:pPr algn="just" rtl="1">
              <a:lnSpc>
                <a:spcPct val="15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سمیت سلولی (Cytotoxicity):</a:t>
            </a:r>
            <a:r>
              <a:rPr lang="fa-IR" dirty="0">
                <a:latin typeface="Times New Roman" panose="02020603050405020304" pitchFamily="18" charset="0"/>
                <a:cs typeface="B Nazanin" panose="00000400000000000000" pitchFamily="2" charset="-78"/>
              </a:rPr>
              <a:t> دوزهای بسیار بالا ممکن است برای خودِ سلول‌های ایمنی سمی باشند. اگر دوز واکسن باعث از بین رفتن سلول‌های در محل تزریق شود، منبع تولید پاسخ ایمنی از بین می‌رود و نمودار سقوط می‌کند.</a:t>
            </a:r>
          </a:p>
          <a:p>
            <a:pPr algn="just" rtl="1">
              <a:lnSpc>
                <a:spcPct val="15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پدیده Hook Effect:</a:t>
            </a:r>
            <a:r>
              <a:rPr lang="fa-IR" dirty="0">
                <a:latin typeface="Times New Roman" panose="02020603050405020304" pitchFamily="18" charset="0"/>
                <a:cs typeface="B Nazanin" panose="00000400000000000000" pitchFamily="2" charset="-78"/>
              </a:rPr>
              <a:t> در برخی واکنش‌های بیوشیمیایی، غلظت خیلی بالای آنتی‌ژن باعث می‌شود که اتصالات بین آنتی‌بادی و آنتی‌ژن به درستی شکل نگیرد و کارایی سیستم کاهش یابد.</a:t>
            </a:r>
          </a:p>
        </p:txBody>
      </p:sp>
    </p:spTree>
    <p:extLst>
      <p:ext uri="{BB962C8B-B14F-4D97-AF65-F5344CB8AC3E}">
        <p14:creationId xmlns:p14="http://schemas.microsoft.com/office/powerpoint/2010/main" val="3320076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FF0028-F96C-2756-ED41-A62F0183B7B5}"/>
              </a:ext>
            </a:extLst>
          </p:cNvPr>
          <p:cNvSpPr>
            <a:spLocks noGrp="1"/>
          </p:cNvSpPr>
          <p:nvPr>
            <p:ph type="sldNum" sz="quarter" idx="12"/>
          </p:nvPr>
        </p:nvSpPr>
        <p:spPr/>
        <p:txBody>
          <a:bodyPr/>
          <a:lstStyle/>
          <a:p>
            <a:fld id="{67EFB97B-C702-468C-B184-BC2FF345C510}" type="slidenum">
              <a:rPr lang="en-US" smtClean="0"/>
              <a:t>14</a:t>
            </a:fld>
            <a:endParaRPr lang="en-US"/>
          </a:p>
        </p:txBody>
      </p:sp>
      <p:sp>
        <p:nvSpPr>
          <p:cNvPr id="4" name="TextBox 3">
            <a:extLst>
              <a:ext uri="{FF2B5EF4-FFF2-40B4-BE49-F238E27FC236}">
                <a16:creationId xmlns:a16="http://schemas.microsoft.com/office/drawing/2014/main" id="{ED83F3EB-4845-7106-44EF-D51D3099C7E9}"/>
              </a:ext>
            </a:extLst>
          </p:cNvPr>
          <p:cNvSpPr txBox="1"/>
          <p:nvPr/>
        </p:nvSpPr>
        <p:spPr>
          <a:xfrm>
            <a:off x="3037204" y="0"/>
            <a:ext cx="9056474" cy="6209392"/>
          </a:xfrm>
          <a:prstGeom prst="rect">
            <a:avLst/>
          </a:prstGeom>
          <a:noFill/>
        </p:spPr>
        <p:txBody>
          <a:bodyPr wrap="square">
            <a:spAutoFit/>
          </a:bodyPr>
          <a:lstStyle/>
          <a:p>
            <a:pPr algn="r" rtl="1">
              <a:buNone/>
            </a:pPr>
            <a:r>
              <a:rPr lang="en-US" sz="2000" b="1" dirty="0">
                <a:latin typeface="Times New Roman" panose="02020603050405020304" pitchFamily="18" charset="0"/>
                <a:cs typeface="B Nazanin" panose="00000400000000000000" pitchFamily="2" charset="-78"/>
              </a:rPr>
              <a:t>Spline-based Models</a:t>
            </a:r>
          </a:p>
          <a:p>
            <a:pPr algn="r" rtl="1">
              <a:buNone/>
            </a:pPr>
            <a:endParaRPr lang="en-US" sz="2000" b="1" dirty="0">
              <a:latin typeface="Times New Roman" panose="02020603050405020304" pitchFamily="18" charset="0"/>
              <a:cs typeface="B Nazanin" panose="00000400000000000000" pitchFamily="2" charset="-78"/>
            </a:endParaRPr>
          </a:p>
          <a:p>
            <a:pPr algn="r" rtl="1">
              <a:lnSpc>
                <a:spcPct val="150000"/>
              </a:lnSpc>
              <a:buNone/>
            </a:pPr>
            <a:r>
              <a:rPr lang="fa-IR" sz="2000" dirty="0">
                <a:latin typeface="Times New Roman" panose="02020603050405020304" pitchFamily="18" charset="0"/>
                <a:cs typeface="B Nazanin" panose="00000400000000000000" pitchFamily="2" charset="-78"/>
              </a:rPr>
              <a:t>تابع دوز–پاسخ را به </a:t>
            </a:r>
            <a:r>
              <a:rPr lang="fa-IR" sz="2000" b="1" dirty="0">
                <a:latin typeface="Times New Roman" panose="02020603050405020304" pitchFamily="18" charset="0"/>
                <a:cs typeface="B Nazanin" panose="00000400000000000000" pitchFamily="2" charset="-78"/>
              </a:rPr>
              <a:t>چند قطعه کوچک</a:t>
            </a:r>
            <a:r>
              <a:rPr lang="fa-IR" sz="2000" dirty="0">
                <a:latin typeface="Times New Roman" panose="02020603050405020304" pitchFamily="18" charset="0"/>
                <a:cs typeface="B Nazanin" panose="00000400000000000000" pitchFamily="2" charset="-78"/>
              </a:rPr>
              <a:t> تقسیم می‌کنند.</a:t>
            </a:r>
          </a:p>
          <a:p>
            <a:pPr algn="r" rtl="1">
              <a:lnSpc>
                <a:spcPct val="150000"/>
              </a:lnSpc>
              <a:buNone/>
            </a:pPr>
            <a:endParaRPr lang="en-US" sz="2000" dirty="0">
              <a:latin typeface="Times New Roman" panose="02020603050405020304" pitchFamily="18" charset="0"/>
              <a:cs typeface="B Nazanin" panose="00000400000000000000" pitchFamily="2" charset="-78"/>
            </a:endParaRPr>
          </a:p>
          <a:p>
            <a:pPr algn="r" rtl="1">
              <a:lnSpc>
                <a:spcPct val="150000"/>
              </a:lnSpc>
              <a:buNone/>
            </a:pPr>
            <a:r>
              <a:rPr lang="fa-IR" sz="2000" dirty="0">
                <a:latin typeface="Times New Roman" panose="02020603050405020304" pitchFamily="18" charset="0"/>
                <a:cs typeface="B Nazanin" panose="00000400000000000000" pitchFamily="2" charset="-78"/>
              </a:rPr>
              <a:t>محور دوز به چند قسمت تقسیم می‌شود:</a:t>
            </a:r>
          </a:p>
          <a:p>
            <a:pPr algn="r" rtl="1">
              <a:lnSpc>
                <a:spcPct val="150000"/>
              </a:lnSpc>
              <a:buNone/>
            </a:pPr>
            <a:r>
              <a:rPr lang="fa-IR" sz="2000" dirty="0">
                <a:latin typeface="Times New Roman" panose="02020603050405020304" pitchFamily="18" charset="0"/>
                <a:cs typeface="B Nazanin" panose="00000400000000000000" pitchFamily="2" charset="-78"/>
              </a:rPr>
              <a:t>در هر بخش یک تابع ساده (معمولاً چندجمله‌ای) قرار می‌دهند.</a:t>
            </a:r>
          </a:p>
          <a:p>
            <a:pPr algn="r" rtl="1">
              <a:lnSpc>
                <a:spcPct val="150000"/>
              </a:lnSpc>
              <a:buNone/>
            </a:pPr>
            <a:endParaRPr lang="en-US" sz="2000" dirty="0">
              <a:latin typeface="Times New Roman" panose="02020603050405020304" pitchFamily="18" charset="0"/>
              <a:cs typeface="B Nazanin" panose="00000400000000000000" pitchFamily="2" charset="-78"/>
            </a:endParaRPr>
          </a:p>
          <a:p>
            <a:pPr algn="r" rtl="1">
              <a:lnSpc>
                <a:spcPct val="150000"/>
              </a:lnSpc>
              <a:buNone/>
            </a:pPr>
            <a:r>
              <a:rPr lang="fa-IR" sz="2000" dirty="0">
                <a:latin typeface="Times New Roman" panose="02020603050405020304" pitchFamily="18" charset="0"/>
                <a:cs typeface="B Nazanin" panose="00000400000000000000" pitchFamily="2" charset="-78"/>
              </a:rPr>
              <a:t>این توابع در نقاط اتصال (</a:t>
            </a:r>
            <a:r>
              <a:rPr lang="fa-IR" sz="2000" b="1" dirty="0">
                <a:latin typeface="Times New Roman" panose="02020603050405020304" pitchFamily="18" charset="0"/>
                <a:cs typeface="B Nazanin" panose="00000400000000000000" pitchFamily="2" charset="-78"/>
              </a:rPr>
              <a:t>knots</a:t>
            </a:r>
            <a:r>
              <a:rPr lang="fa-IR" sz="2000" dirty="0">
                <a:latin typeface="Times New Roman" panose="02020603050405020304" pitchFamily="18" charset="0"/>
                <a:cs typeface="B Nazanin" panose="00000400000000000000" pitchFamily="2" charset="-78"/>
              </a:rPr>
              <a:t>) به هم وصل می‌شوند.</a:t>
            </a:r>
          </a:p>
          <a:p>
            <a:pPr algn="r" rtl="1">
              <a:lnSpc>
                <a:spcPct val="150000"/>
              </a:lnSpc>
              <a:buNone/>
            </a:pPr>
            <a:endParaRPr lang="en-US" sz="2000" dirty="0">
              <a:latin typeface="Times New Roman" panose="02020603050405020304" pitchFamily="18" charset="0"/>
              <a:cs typeface="B Nazanin" panose="00000400000000000000" pitchFamily="2" charset="-78"/>
            </a:endParaRPr>
          </a:p>
          <a:p>
            <a:pPr algn="r" rtl="1">
              <a:lnSpc>
                <a:spcPct val="150000"/>
              </a:lnSpc>
              <a:buNone/>
            </a:pPr>
            <a:r>
              <a:rPr lang="fa-IR" sz="2000" dirty="0">
                <a:latin typeface="Times New Roman" panose="02020603050405020304" pitchFamily="18" charset="0"/>
                <a:cs typeface="B Nazanin" panose="00000400000000000000" pitchFamily="2" charset="-78"/>
              </a:rPr>
              <a:t>خیلی </a:t>
            </a:r>
            <a:r>
              <a:rPr lang="fa-IR" sz="2000" b="1" dirty="0">
                <a:latin typeface="Times New Roman" panose="02020603050405020304" pitchFamily="18" charset="0"/>
                <a:cs typeface="B Nazanin" panose="00000400000000000000" pitchFamily="2" charset="-78"/>
              </a:rPr>
              <a:t>flexible</a:t>
            </a:r>
            <a:r>
              <a:rPr lang="fa-IR" sz="2000" dirty="0">
                <a:latin typeface="Times New Roman" panose="02020603050405020304" pitchFamily="18" charset="0"/>
                <a:cs typeface="B Nazanin" panose="00000400000000000000" pitchFamily="2" charset="-78"/>
              </a:rPr>
              <a:t> است و می‌تواند تقریباً هر شکلی بسازد:</a:t>
            </a:r>
          </a:p>
          <a:p>
            <a:pPr algn="r" rtl="1">
              <a:lnSpc>
                <a:spcPct val="150000"/>
              </a:lnSpc>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plateau</a:t>
            </a:r>
          </a:p>
          <a:p>
            <a:pPr algn="r" rtl="1">
              <a:lnSpc>
                <a:spcPct val="150000"/>
              </a:lnSpc>
              <a:buFont typeface="Arial" panose="020B0604020202020204" pitchFamily="34" charset="0"/>
              <a:buChar char="•"/>
            </a:pPr>
            <a:r>
              <a:rPr lang="en-US" sz="2000" dirty="0">
                <a:latin typeface="Times New Roman" panose="02020603050405020304" pitchFamily="18" charset="0"/>
                <a:cs typeface="B Nazanin" panose="00000400000000000000" pitchFamily="2" charset="-78"/>
              </a:rPr>
              <a:t>peaked</a:t>
            </a:r>
          </a:p>
          <a:p>
            <a:pPr algn="r" rtl="1">
              <a:lnSpc>
                <a:spcPct val="150000"/>
              </a:lnSpc>
              <a:buFont typeface="Arial" panose="020B0604020202020204" pitchFamily="34" charset="0"/>
              <a:buChar char="•"/>
            </a:pPr>
            <a:r>
              <a:rPr lang="en-US" sz="2000" dirty="0" err="1">
                <a:latin typeface="Times New Roman" panose="02020603050405020304" pitchFamily="18" charset="0"/>
                <a:cs typeface="B Nazanin" panose="00000400000000000000" pitchFamily="2" charset="-78"/>
              </a:rPr>
              <a:t>چند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قله</a:t>
            </a:r>
            <a:endParaRPr lang="en-US"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en-US" sz="2000" dirty="0" err="1">
                <a:latin typeface="Times New Roman" panose="02020603050405020304" pitchFamily="18" charset="0"/>
                <a:cs typeface="B Nazanin" panose="00000400000000000000" pitchFamily="2" charset="-78"/>
              </a:rPr>
              <a:t>رفتار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پیچیده</a:t>
            </a:r>
            <a:endParaRPr lang="en-US" sz="2000" dirty="0">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78FD831-978E-8AAE-5C3D-ACE86472D8EE}"/>
                  </a:ext>
                </a:extLst>
              </p:cNvPr>
              <p:cNvSpPr txBox="1"/>
              <p:nvPr/>
            </p:nvSpPr>
            <p:spPr>
              <a:xfrm>
                <a:off x="-698093" y="2461160"/>
                <a:ext cx="6872749" cy="1687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𝑑</m:t>
                          </m:r>
                        </m:e>
                      </m:d>
                      <m:r>
                        <a:rPr lang="en-US" sz="2800" i="0">
                          <a:latin typeface="Cambria Math" panose="02040503050406030204" pitchFamily="18" charset="0"/>
                        </a:rPr>
                        <m:t>=</m:t>
                      </m:r>
                      <m:d>
                        <m:dPr>
                          <m:begChr m:val="{"/>
                          <m:endChr m:val=""/>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0">
                                        <a:latin typeface="Cambria Math" panose="02040503050406030204" pitchFamily="18" charset="0"/>
                                      </a:rPr>
                                      <m:t>1</m:t>
                                    </m:r>
                                  </m:sub>
                                </m:sSub>
                                <m:d>
                                  <m:dPr>
                                    <m:ctrlPr>
                                      <a:rPr lang="en-US" sz="2800" i="1">
                                        <a:latin typeface="Cambria Math" panose="02040503050406030204" pitchFamily="18" charset="0"/>
                                      </a:rPr>
                                    </m:ctrlPr>
                                  </m:dPr>
                                  <m:e>
                                    <m:r>
                                      <a:rPr lang="en-US" sz="2800" i="1">
                                        <a:latin typeface="Cambria Math" panose="02040503050406030204" pitchFamily="18" charset="0"/>
                                      </a:rPr>
                                      <m:t>𝑑</m:t>
                                    </m:r>
                                  </m:e>
                                </m:d>
                              </m:e>
                              <m:e>
                                <m:r>
                                  <a:rPr lang="en-US" sz="2800" i="1">
                                    <a:latin typeface="Cambria Math" panose="02040503050406030204" pitchFamily="18" charset="0"/>
                                  </a:rPr>
                                  <m:t>𝑑</m:t>
                                </m:r>
                                <m:r>
                                  <a:rPr lang="en-US" sz="2800" i="0">
                                    <a:latin typeface="Cambria Math" panose="02040503050406030204" pitchFamily="18" charset="0"/>
                                  </a:rPr>
                                  <m:t>&lt;</m:t>
                                </m:r>
                                <m:sSub>
                                  <m:sSubPr>
                                    <m:ctrlPr>
                                      <a:rPr lang="en-US" sz="2800" i="1">
                                        <a:latin typeface="Cambria Math" panose="02040503050406030204" pitchFamily="18" charset="0"/>
                                      </a:rPr>
                                    </m:ctrlPr>
                                  </m:sSubPr>
                                  <m:e>
                                    <m:r>
                                      <a:rPr lang="en-US" sz="2800" i="1">
                                        <a:latin typeface="Cambria Math" panose="02040503050406030204" pitchFamily="18" charset="0"/>
                                      </a:rPr>
                                      <m:t>𝑑</m:t>
                                    </m:r>
                                  </m:e>
                                  <m:sub>
                                    <m:r>
                                      <a:rPr lang="en-US" sz="2800" i="0">
                                        <a:latin typeface="Cambria Math" panose="02040503050406030204" pitchFamily="18" charset="0"/>
                                      </a:rPr>
                                      <m:t>1</m:t>
                                    </m:r>
                                  </m:sub>
                                </m:sSub>
                              </m:e>
                            </m:mr>
                            <m:mr>
                              <m:e>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0">
                                        <a:latin typeface="Cambria Math" panose="02040503050406030204" pitchFamily="18" charset="0"/>
                                      </a:rPr>
                                      <m:t>2</m:t>
                                    </m:r>
                                  </m:sub>
                                </m:sSub>
                                <m:d>
                                  <m:dPr>
                                    <m:ctrlPr>
                                      <a:rPr lang="en-US" sz="2800" i="1">
                                        <a:latin typeface="Cambria Math" panose="02040503050406030204" pitchFamily="18" charset="0"/>
                                      </a:rPr>
                                    </m:ctrlPr>
                                  </m:dPr>
                                  <m:e>
                                    <m:r>
                                      <a:rPr lang="en-US" sz="2800" i="1">
                                        <a:latin typeface="Cambria Math" panose="02040503050406030204" pitchFamily="18" charset="0"/>
                                      </a:rPr>
                                      <m:t>𝑑</m:t>
                                    </m:r>
                                  </m:e>
                                </m:d>
                              </m:e>
                              <m:e>
                                <m:sSub>
                                  <m:sSubPr>
                                    <m:ctrlPr>
                                      <a:rPr lang="en-US" sz="2800" i="1">
                                        <a:latin typeface="Cambria Math" panose="02040503050406030204" pitchFamily="18" charset="0"/>
                                      </a:rPr>
                                    </m:ctrlPr>
                                  </m:sSubPr>
                                  <m:e>
                                    <m:r>
                                      <a:rPr lang="en-US" sz="2800" i="1">
                                        <a:latin typeface="Cambria Math" panose="02040503050406030204" pitchFamily="18" charset="0"/>
                                      </a:rPr>
                                      <m:t>𝑑</m:t>
                                    </m:r>
                                  </m:e>
                                  <m:sub>
                                    <m:r>
                                      <a:rPr lang="en-US" sz="2800" i="0">
                                        <a:latin typeface="Cambria Math" panose="02040503050406030204" pitchFamily="18" charset="0"/>
                                      </a:rPr>
                                      <m:t>1</m:t>
                                    </m:r>
                                  </m:sub>
                                </m:sSub>
                                <m:r>
                                  <a:rPr lang="en-US" sz="2800" i="0">
                                    <a:latin typeface="Cambria Math" panose="02040503050406030204" pitchFamily="18" charset="0"/>
                                  </a:rPr>
                                  <m:t>&lt;</m:t>
                                </m:r>
                                <m:r>
                                  <a:rPr lang="en-US" sz="2800" i="1">
                                    <a:latin typeface="Cambria Math" panose="02040503050406030204" pitchFamily="18" charset="0"/>
                                  </a:rPr>
                                  <m:t>𝑑</m:t>
                                </m:r>
                                <m:r>
                                  <a:rPr lang="en-US" sz="2800" i="0">
                                    <a:latin typeface="Cambria Math" panose="02040503050406030204" pitchFamily="18" charset="0"/>
                                  </a:rPr>
                                  <m:t>&lt;</m:t>
                                </m:r>
                                <m:sSub>
                                  <m:sSubPr>
                                    <m:ctrlPr>
                                      <a:rPr lang="en-US" sz="2800" i="1">
                                        <a:latin typeface="Cambria Math" panose="02040503050406030204" pitchFamily="18" charset="0"/>
                                      </a:rPr>
                                    </m:ctrlPr>
                                  </m:sSubPr>
                                  <m:e>
                                    <m:r>
                                      <a:rPr lang="en-US" sz="2800" i="1">
                                        <a:latin typeface="Cambria Math" panose="02040503050406030204" pitchFamily="18" charset="0"/>
                                      </a:rPr>
                                      <m:t>𝑑</m:t>
                                    </m:r>
                                  </m:e>
                                  <m:sub>
                                    <m:r>
                                      <a:rPr lang="en-US" sz="2800" i="0">
                                        <a:latin typeface="Cambria Math" panose="02040503050406030204" pitchFamily="18" charset="0"/>
                                      </a:rPr>
                                      <m:t>2</m:t>
                                    </m:r>
                                  </m:sub>
                                </m:sSub>
                              </m:e>
                            </m:mr>
                            <m:mr>
                              <m:e>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0">
                                        <a:latin typeface="Cambria Math" panose="02040503050406030204" pitchFamily="18" charset="0"/>
                                      </a:rPr>
                                      <m:t>3</m:t>
                                    </m:r>
                                  </m:sub>
                                </m:sSub>
                                <m:d>
                                  <m:dPr>
                                    <m:ctrlPr>
                                      <a:rPr lang="en-US" sz="2800" i="1">
                                        <a:latin typeface="Cambria Math" panose="02040503050406030204" pitchFamily="18" charset="0"/>
                                      </a:rPr>
                                    </m:ctrlPr>
                                  </m:dPr>
                                  <m:e>
                                    <m:r>
                                      <a:rPr lang="en-US" sz="2800" i="1">
                                        <a:latin typeface="Cambria Math" panose="02040503050406030204" pitchFamily="18" charset="0"/>
                                      </a:rPr>
                                      <m:t>𝑑</m:t>
                                    </m:r>
                                  </m:e>
                                </m:d>
                              </m:e>
                              <m:e>
                                <m:r>
                                  <a:rPr lang="en-US" sz="2800" i="1">
                                    <a:latin typeface="Cambria Math" panose="02040503050406030204" pitchFamily="18" charset="0"/>
                                  </a:rPr>
                                  <m:t>𝑑</m:t>
                                </m:r>
                                <m:r>
                                  <a:rPr lang="en-US" sz="2800" i="0">
                                    <a:latin typeface="Cambria Math" panose="02040503050406030204" pitchFamily="18" charset="0"/>
                                  </a:rPr>
                                  <m:t>&gt;</m:t>
                                </m:r>
                                <m:sSub>
                                  <m:sSubPr>
                                    <m:ctrlPr>
                                      <a:rPr lang="en-US" sz="2800" i="1">
                                        <a:latin typeface="Cambria Math" panose="02040503050406030204" pitchFamily="18" charset="0"/>
                                      </a:rPr>
                                    </m:ctrlPr>
                                  </m:sSubPr>
                                  <m:e>
                                    <m:r>
                                      <a:rPr lang="en-US" sz="2800" i="1">
                                        <a:latin typeface="Cambria Math" panose="02040503050406030204" pitchFamily="18" charset="0"/>
                                      </a:rPr>
                                      <m:t>𝑑</m:t>
                                    </m:r>
                                  </m:e>
                                  <m:sub>
                                    <m:r>
                                      <a:rPr lang="en-US" sz="2800" i="0">
                                        <a:latin typeface="Cambria Math" panose="02040503050406030204" pitchFamily="18" charset="0"/>
                                      </a:rPr>
                                      <m:t>2</m:t>
                                    </m:r>
                                  </m:sub>
                                </m:sSub>
                              </m:e>
                            </m:mr>
                          </m:m>
                        </m:e>
                      </m:d>
                    </m:oMath>
                  </m:oMathPara>
                </a14:m>
                <a:endParaRPr lang="en-US" dirty="0"/>
              </a:p>
            </p:txBody>
          </p:sp>
        </mc:Choice>
        <mc:Fallback xmlns="">
          <p:sp>
            <p:nvSpPr>
              <p:cNvPr id="5" name="TextBox 4">
                <a:extLst>
                  <a:ext uri="{FF2B5EF4-FFF2-40B4-BE49-F238E27FC236}">
                    <a16:creationId xmlns:a16="http://schemas.microsoft.com/office/drawing/2014/main" id="{D78FD831-978E-8AAE-5C3D-ACE86472D8EE}"/>
                  </a:ext>
                </a:extLst>
              </p:cNvPr>
              <p:cNvSpPr txBox="1">
                <a:spLocks noRot="1" noChangeAspect="1" noMove="1" noResize="1" noEditPoints="1" noAdjustHandles="1" noChangeArrowheads="1" noChangeShapeType="1" noTextEdit="1"/>
              </p:cNvSpPr>
              <p:nvPr/>
            </p:nvSpPr>
            <p:spPr>
              <a:xfrm>
                <a:off x="-698093" y="2461160"/>
                <a:ext cx="6872749" cy="168783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4A3611-A57A-4E93-C402-4E84BEF963C7}"/>
                  </a:ext>
                </a:extLst>
              </p:cNvPr>
              <p:cNvSpPr txBox="1"/>
              <p:nvPr/>
            </p:nvSpPr>
            <p:spPr>
              <a:xfrm>
                <a:off x="4783394" y="1580765"/>
                <a:ext cx="6361470" cy="507831"/>
              </a:xfrm>
              <a:prstGeom prst="rect">
                <a:avLst/>
              </a:prstGeom>
              <a:noFill/>
            </p:spPr>
            <p:txBody>
              <a:bodyPr wrap="square">
                <a:spAutoFit/>
              </a:bodyPr>
              <a:lstStyle/>
              <a:p>
                <a:pPr algn="r" rtl="1">
                  <a:lnSpc>
                    <a:spcPct val="15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𝑑</m:t>
                          </m:r>
                        </m:e>
                        <m:sub>
                          <m:r>
                            <a:rPr lang="en-US" sz="1800" i="0">
                              <a:latin typeface="Cambria Math" panose="02040503050406030204" pitchFamily="18" charset="0"/>
                            </a:rPr>
                            <m:t>1</m:t>
                          </m:r>
                        </m:sub>
                      </m:sSub>
                      <m:r>
                        <a:rPr lang="en-US" sz="1800" i="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𝑑</m:t>
                          </m:r>
                        </m:e>
                        <m:sub>
                          <m:r>
                            <a:rPr lang="en-US" sz="1800" i="0">
                              <a:latin typeface="Cambria Math" panose="02040503050406030204" pitchFamily="18" charset="0"/>
                            </a:rPr>
                            <m:t>2</m:t>
                          </m:r>
                        </m:sub>
                      </m:sSub>
                      <m:r>
                        <a:rPr lang="en-US" sz="1800" i="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𝑑</m:t>
                          </m:r>
                        </m:e>
                        <m:sub>
                          <m:r>
                            <a:rPr lang="en-US" sz="1800" i="0">
                              <a:latin typeface="Cambria Math" panose="02040503050406030204" pitchFamily="18" charset="0"/>
                            </a:rPr>
                            <m:t>3</m:t>
                          </m:r>
                        </m:sub>
                      </m:sSub>
                      <m:r>
                        <a:rPr lang="en-US" sz="1800" i="0">
                          <a:latin typeface="Cambria Math" panose="02040503050406030204" pitchFamily="18" charset="0"/>
                        </a:rPr>
                        <m:t>,...</m:t>
                      </m:r>
                    </m:oMath>
                  </m:oMathPara>
                </a14:m>
                <a:endParaRPr lang="en-US" sz="1800" dirty="0">
                  <a:latin typeface="Times New Roman" panose="02020603050405020304" pitchFamily="18" charset="0"/>
                  <a:cs typeface="B Nazanin" panose="00000400000000000000" pitchFamily="2" charset="-78"/>
                </a:endParaRPr>
              </a:p>
            </p:txBody>
          </p:sp>
        </mc:Choice>
        <mc:Fallback xmlns="">
          <p:sp>
            <p:nvSpPr>
              <p:cNvPr id="6" name="TextBox 5">
                <a:extLst>
                  <a:ext uri="{FF2B5EF4-FFF2-40B4-BE49-F238E27FC236}">
                    <a16:creationId xmlns:a16="http://schemas.microsoft.com/office/drawing/2014/main" id="{504A3611-A57A-4E93-C402-4E84BEF963C7}"/>
                  </a:ext>
                </a:extLst>
              </p:cNvPr>
              <p:cNvSpPr txBox="1">
                <a:spLocks noRot="1" noChangeAspect="1" noMove="1" noResize="1" noEditPoints="1" noAdjustHandles="1" noChangeArrowheads="1" noChangeShapeType="1" noTextEdit="1"/>
              </p:cNvSpPr>
              <p:nvPr/>
            </p:nvSpPr>
            <p:spPr>
              <a:xfrm>
                <a:off x="4783394" y="1580765"/>
                <a:ext cx="6361470" cy="50783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2423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E689ED-6066-0EE8-579B-2D1E397236BE}"/>
              </a:ext>
            </a:extLst>
          </p:cNvPr>
          <p:cNvSpPr>
            <a:spLocks noGrp="1"/>
          </p:cNvSpPr>
          <p:nvPr>
            <p:ph type="sldNum" sz="quarter" idx="12"/>
          </p:nvPr>
        </p:nvSpPr>
        <p:spPr/>
        <p:txBody>
          <a:bodyPr/>
          <a:lstStyle/>
          <a:p>
            <a:fld id="{67EFB97B-C702-468C-B184-BC2FF345C510}" type="slidenum">
              <a:rPr lang="en-US" smtClean="0"/>
              <a:t>15</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58FCCA-53E2-52AA-3A76-7B07212A11BF}"/>
                  </a:ext>
                </a:extLst>
              </p:cNvPr>
              <p:cNvSpPr txBox="1"/>
              <p:nvPr/>
            </p:nvSpPr>
            <p:spPr>
              <a:xfrm>
                <a:off x="-1585880" y="1462503"/>
                <a:ext cx="7079225" cy="9081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d>
                        <m:dPr>
                          <m:ctrlPr>
                            <a:rPr lang="en-US" i="1">
                              <a:latin typeface="Cambria Math" panose="02040503050406030204" pitchFamily="18" charset="0"/>
                            </a:rPr>
                          </m:ctrlPr>
                        </m:dPr>
                        <m:e>
                          <m:r>
                            <a:rPr lang="en-US" i="1">
                              <a:latin typeface="Cambria Math" panose="02040503050406030204" pitchFamily="18" charset="0"/>
                            </a:rPr>
                            <m:t>𝑑</m:t>
                          </m:r>
                        </m:e>
                      </m:d>
                      <m:r>
                        <a:rPr lang="en-US" i="0">
                          <a:latin typeface="Cambria Math" panose="02040503050406030204" pitchFamily="18" charset="0"/>
                        </a:rPr>
                        <m:t>=</m:t>
                      </m:r>
                      <m:nary>
                        <m:naryPr>
                          <m:chr m:val="∑"/>
                          <m:grow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m:t>
                          </m:r>
                          <m:r>
                            <a:rPr lang="en-US" i="0">
                              <a:latin typeface="Cambria Math" panose="02040503050406030204" pitchFamily="18" charset="0"/>
                            </a:rPr>
                            <m:t>1</m:t>
                          </m:r>
                        </m:sub>
                        <m:sup>
                          <m:r>
                            <a:rPr lang="en-US" i="1">
                              <a:latin typeface="Cambria Math" panose="02040503050406030204" pitchFamily="18" charset="0"/>
                            </a:rPr>
                            <m:t>𝑘</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e>
                      </m:nary>
                      <m:r>
                        <m:rPr>
                          <m:nor/>
                        </m:rPr>
                        <a:rPr lang="en-US" b="0" i="1">
                          <a:latin typeface="Cambria Math" panose="02040503050406030204" pitchFamily="18" charset="0"/>
                        </a:rPr>
                        <m:t> </m:t>
                      </m:r>
                      <m:sSub>
                        <m:sSubPr>
                          <m:ctrlPr>
                            <a:rPr lang="en-US" b="0" i="1">
                              <a:latin typeface="Cambria Math" panose="02040503050406030204" pitchFamily="18" charset="0"/>
                            </a:rPr>
                          </m:ctrlPr>
                        </m:sSubPr>
                        <m:e>
                          <m:r>
                            <a:rPr lang="en-US" b="0" i="1">
                              <a:latin typeface="Cambria Math" panose="02040503050406030204" pitchFamily="18" charset="0"/>
                            </a:rPr>
                            <m:t>𝑝</m:t>
                          </m:r>
                        </m:e>
                        <m:sub>
                          <m:r>
                            <a:rPr lang="en-US" b="0" i="1">
                              <a:latin typeface="Cambria Math" panose="02040503050406030204" pitchFamily="18" charset="0"/>
                            </a:rPr>
                            <m:t>𝑗</m:t>
                          </m:r>
                        </m:sub>
                      </m:sSub>
                      <m:d>
                        <m:dPr>
                          <m:ctrlPr>
                            <a:rPr lang="en-US" b="0" i="1">
                              <a:latin typeface="Cambria Math" panose="02040503050406030204" pitchFamily="18" charset="0"/>
                            </a:rPr>
                          </m:ctrlPr>
                        </m:dPr>
                        <m:e>
                          <m:r>
                            <a:rPr lang="en-US" b="0" i="1">
                              <a:latin typeface="Cambria Math" panose="02040503050406030204" pitchFamily="18" charset="0"/>
                            </a:rPr>
                            <m:t>𝑑</m:t>
                          </m:r>
                        </m:e>
                      </m:d>
                    </m:oMath>
                  </m:oMathPara>
                </a14:m>
                <a:endParaRPr lang="en-US" dirty="0"/>
              </a:p>
            </p:txBody>
          </p:sp>
        </mc:Choice>
        <mc:Fallback xmlns="">
          <p:sp>
            <p:nvSpPr>
              <p:cNvPr id="5" name="TextBox 4">
                <a:extLst>
                  <a:ext uri="{FF2B5EF4-FFF2-40B4-BE49-F238E27FC236}">
                    <a16:creationId xmlns:a16="http://schemas.microsoft.com/office/drawing/2014/main" id="{8D58FCCA-53E2-52AA-3A76-7B07212A11BF}"/>
                  </a:ext>
                </a:extLst>
              </p:cNvPr>
              <p:cNvSpPr txBox="1">
                <a:spLocks noRot="1" noChangeAspect="1" noMove="1" noResize="1" noEditPoints="1" noAdjustHandles="1" noChangeArrowheads="1" noChangeShapeType="1" noTextEdit="1"/>
              </p:cNvSpPr>
              <p:nvPr/>
            </p:nvSpPr>
            <p:spPr>
              <a:xfrm>
                <a:off x="-1585880" y="1462503"/>
                <a:ext cx="7079225" cy="9081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BF358F-60C1-EEA3-A068-12F9B7359DD1}"/>
                  </a:ext>
                </a:extLst>
              </p:cNvPr>
              <p:cNvSpPr txBox="1"/>
              <p:nvPr/>
            </p:nvSpPr>
            <p:spPr>
              <a:xfrm>
                <a:off x="1428612" y="1496596"/>
                <a:ext cx="7181988" cy="763094"/>
              </a:xfrm>
              <a:prstGeom prst="rect">
                <a:avLst/>
              </a:prstGeom>
              <a:noFill/>
            </p:spPr>
            <p:txBody>
              <a:bodyPr wrap="square">
                <a:spAutoFit/>
              </a:bodyPr>
              <a:lstStyle/>
              <a:p>
                <a:pPr algn="r" rtl="1">
                  <a:buNone/>
                </a:pPr>
                <a14:m>
                  <m:oMathPara xmlns:m="http://schemas.openxmlformats.org/officeDocument/2006/math">
                    <m:oMathParaPr>
                      <m:jc m:val="centerGroup"/>
                    </m:oMathParaPr>
                    <m:oMath xmlns:m="http://schemas.openxmlformats.org/officeDocument/2006/math">
                      <m:nary>
                        <m:naryPr>
                          <m:chr m:val="∑"/>
                          <m:grow m:val="on"/>
                          <m:subHide m:val="on"/>
                          <m:supHide m:val="on"/>
                          <m:ctrlPr>
                            <a:rPr lang="en-US" i="1" smtClean="0">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e>
                      </m:nary>
                      <m:r>
                        <a:rPr lang="en-US" i="0">
                          <a:latin typeface="Cambria Math" panose="02040503050406030204" pitchFamily="18" charset="0"/>
                        </a:rPr>
                        <m:t>=</m:t>
                      </m:r>
                      <m:r>
                        <a:rPr lang="en-US" i="0">
                          <a:latin typeface="Cambria Math" panose="02040503050406030204" pitchFamily="18" charset="0"/>
                        </a:rPr>
                        <m:t>1</m:t>
                      </m:r>
                    </m:oMath>
                  </m:oMathPara>
                </a14:m>
                <a:endParaRPr lang="en-US" dirty="0"/>
              </a:p>
            </p:txBody>
          </p:sp>
        </mc:Choice>
        <mc:Fallback xmlns="">
          <p:sp>
            <p:nvSpPr>
              <p:cNvPr id="7" name="TextBox 6">
                <a:extLst>
                  <a:ext uri="{FF2B5EF4-FFF2-40B4-BE49-F238E27FC236}">
                    <a16:creationId xmlns:a16="http://schemas.microsoft.com/office/drawing/2014/main" id="{FCBF358F-60C1-EEA3-A068-12F9B7359DD1}"/>
                  </a:ext>
                </a:extLst>
              </p:cNvPr>
              <p:cNvSpPr txBox="1">
                <a:spLocks noRot="1" noChangeAspect="1" noMove="1" noResize="1" noEditPoints="1" noAdjustHandles="1" noChangeArrowheads="1" noChangeShapeType="1" noTextEdit="1"/>
              </p:cNvSpPr>
              <p:nvPr/>
            </p:nvSpPr>
            <p:spPr>
              <a:xfrm>
                <a:off x="1428612" y="1496596"/>
                <a:ext cx="7181988" cy="763094"/>
              </a:xfrm>
              <a:prstGeom prst="rect">
                <a:avLst/>
              </a:prstGeom>
              <a:blipFill>
                <a:blip r:embed="rId3"/>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785CC551-54A0-CF0E-B1C7-65DAD9B730D6}"/>
              </a:ext>
            </a:extLst>
          </p:cNvPr>
          <p:cNvPicPr>
            <a:picLocks noChangeAspect="1"/>
          </p:cNvPicPr>
          <p:nvPr/>
        </p:nvPicPr>
        <p:blipFill>
          <a:blip r:embed="rId4"/>
          <a:stretch>
            <a:fillRect/>
          </a:stretch>
        </p:blipFill>
        <p:spPr>
          <a:xfrm>
            <a:off x="47691" y="2370700"/>
            <a:ext cx="7926794" cy="4033202"/>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9F86FF-FFCF-BC75-DD94-894672DA88DC}"/>
                  </a:ext>
                </a:extLst>
              </p:cNvPr>
              <p:cNvSpPr txBox="1"/>
              <p:nvPr/>
            </p:nvSpPr>
            <p:spPr>
              <a:xfrm>
                <a:off x="3625093" y="136525"/>
                <a:ext cx="8302906" cy="5110630"/>
              </a:xfrm>
              <a:prstGeom prst="rect">
                <a:avLst/>
              </a:prstGeom>
              <a:noFill/>
            </p:spPr>
            <p:txBody>
              <a:bodyPr wrap="square">
                <a:spAutoFit/>
              </a:bodyPr>
              <a:lstStyle/>
              <a:p>
                <a:pPr algn="r" rtl="1">
                  <a:lnSpc>
                    <a:spcPct val="150000"/>
                  </a:lnSpc>
                  <a:buNone/>
                </a:pPr>
                <a:r>
                  <a:rPr lang="en-US" b="1" dirty="0">
                    <a:latin typeface="Times New Roman" panose="02020603050405020304" pitchFamily="18" charset="0"/>
                    <a:cs typeface="B Nazanin" panose="00000400000000000000" pitchFamily="2" charset="-78"/>
                  </a:rPr>
                  <a:t>Model Averaging</a:t>
                </a:r>
              </a:p>
              <a:p>
                <a:pPr algn="r" rtl="1">
                  <a:lnSpc>
                    <a:spcPct val="150000"/>
                  </a:lnSpc>
                  <a:buNone/>
                </a:pPr>
                <a:r>
                  <a:rPr lang="fa-IR" dirty="0">
                    <a:latin typeface="Times New Roman" panose="02020603050405020304" pitchFamily="18" charset="0"/>
                    <a:cs typeface="B Nazanin" panose="00000400000000000000" pitchFamily="2" charset="-78"/>
                  </a:rPr>
                  <a:t>در این روش </a:t>
                </a:r>
                <a:r>
                  <a:rPr lang="fa-IR" b="1" dirty="0">
                    <a:latin typeface="Times New Roman" panose="02020603050405020304" pitchFamily="18" charset="0"/>
                    <a:cs typeface="B Nazanin" panose="00000400000000000000" pitchFamily="2" charset="-78"/>
                  </a:rPr>
                  <a:t>یک مدل فرض نمی‌کنیم</a:t>
                </a:r>
                <a:r>
                  <a:rPr lang="fa-IR" dirty="0">
                    <a:latin typeface="Times New Roman" panose="02020603050405020304" pitchFamily="18" charset="0"/>
                    <a:cs typeface="B Nazanin" panose="00000400000000000000" pitchFamily="2" charset="-78"/>
                  </a:rPr>
                  <a:t>.</a:t>
                </a:r>
              </a:p>
              <a:p>
                <a:pPr algn="r" rtl="1">
                  <a:lnSpc>
                    <a:spcPct val="150000"/>
                  </a:lnSpc>
                  <a:buNone/>
                </a:pPr>
                <a:r>
                  <a:rPr lang="fa-IR" dirty="0">
                    <a:latin typeface="Times New Roman" panose="02020603050405020304" pitchFamily="18" charset="0"/>
                    <a:cs typeface="B Nazanin" panose="00000400000000000000" pitchFamily="2" charset="-78"/>
                  </a:rPr>
                  <a:t>چند مدل را همزمان فیت می‌کنیم:</a:t>
                </a: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logistic</a:t>
                </a: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Emax</a:t>
                </a: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quadratic</a:t>
                </a:r>
              </a:p>
              <a:p>
                <a:pPr algn="r" rtl="1">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a:t>
                </a:r>
              </a:p>
              <a:p>
                <a:pPr algn="r" rtl="1">
                  <a:lnSpc>
                    <a:spcPct val="150000"/>
                  </a:lnSpc>
                  <a:buNone/>
                </a:pPr>
                <a:r>
                  <a:rPr lang="fa-IR" dirty="0">
                    <a:latin typeface="Times New Roman" panose="02020603050405020304" pitchFamily="18" charset="0"/>
                    <a:cs typeface="B Nazanin" panose="00000400000000000000" pitchFamily="2" charset="-78"/>
                  </a:rPr>
                  <a:t>سپس پیش‌بینی نهایی </a:t>
                </a:r>
                <a:r>
                  <a:rPr lang="fa-IR" dirty="0">
                    <a:solidFill>
                      <a:srgbClr val="FF0000"/>
                    </a:solidFill>
                    <a:latin typeface="Times New Roman" panose="02020603050405020304" pitchFamily="18" charset="0"/>
                    <a:cs typeface="B Nazanin" panose="00000400000000000000" pitchFamily="2" charset="-78"/>
                  </a:rPr>
                  <a:t>ترکیب وزنی </a:t>
                </a:r>
                <a:r>
                  <a:rPr lang="fa-IR" dirty="0">
                    <a:latin typeface="Times New Roman" panose="02020603050405020304" pitchFamily="18" charset="0"/>
                    <a:cs typeface="B Nazanin" panose="00000400000000000000" pitchFamily="2" charset="-78"/>
                  </a:rPr>
                  <a:t>آن‌هاست.</a:t>
                </a:r>
              </a:p>
              <a:p>
                <a:pPr algn="r" rtl="1">
                  <a:lnSpc>
                    <a:spcPct val="150000"/>
                  </a:lnSpc>
                  <a:buFont typeface="Arial" panose="020B0604020202020204" pitchFamily="34" charset="0"/>
                  <a:buChar char="•"/>
                </a:pPr>
                <a14:m>
                  <m:oMath xmlns:m="http://schemas.openxmlformats.org/officeDocument/2006/math">
                    <m:sSub>
                      <m:sSubPr>
                        <m:ctrlPr>
                          <a:rPr lang="fa-IR" i="1">
                            <a:latin typeface="Cambria Math" panose="02040503050406030204" pitchFamily="18" charset="0"/>
                          </a:rPr>
                        </m:ctrlPr>
                      </m:sSubPr>
                      <m:e>
                        <m:r>
                          <a:rPr lang="fa-IR" i="1">
                            <a:latin typeface="Cambria Math" panose="02040503050406030204" pitchFamily="18" charset="0"/>
                          </a:rPr>
                          <m:t>𝑝</m:t>
                        </m:r>
                      </m:e>
                      <m:sub>
                        <m:r>
                          <a:rPr lang="fa-IR" i="1">
                            <a:latin typeface="Cambria Math" panose="02040503050406030204" pitchFamily="18" charset="0"/>
                          </a:rPr>
                          <m:t>𝑗</m:t>
                        </m:r>
                      </m:sub>
                    </m:sSub>
                    <m:d>
                      <m:dPr>
                        <m:ctrlPr>
                          <a:rPr lang="fa-IR" i="1">
                            <a:latin typeface="Cambria Math" panose="02040503050406030204" pitchFamily="18" charset="0"/>
                          </a:rPr>
                        </m:ctrlPr>
                      </m:dPr>
                      <m:e>
                        <m:r>
                          <a:rPr lang="fa-IR" i="1">
                            <a:latin typeface="Cambria Math" panose="02040503050406030204" pitchFamily="18" charset="0"/>
                          </a:rPr>
                          <m:t>𝑑</m:t>
                        </m:r>
                      </m:e>
                    </m:d>
                  </m:oMath>
                </a14:m>
                <a:r>
                  <a:rPr lang="fa-IR" dirty="0">
                    <a:latin typeface="Times New Roman" panose="02020603050405020304" pitchFamily="18" charset="0"/>
                    <a:cs typeface="B Nazanin" panose="00000400000000000000" pitchFamily="2" charset="-78"/>
                  </a:rPr>
                  <a:t>= پیش‌بینی مدل j</a:t>
                </a:r>
              </a:p>
              <a:p>
                <a:pPr algn="r" rtl="1">
                  <a:lnSpc>
                    <a:spcPct val="150000"/>
                  </a:lnSpc>
                  <a:buFont typeface="Arial" panose="020B0604020202020204" pitchFamily="34" charset="0"/>
                  <a:buChar char="•"/>
                </a:pPr>
                <a14:m>
                  <m:oMath xmlns:m="http://schemas.openxmlformats.org/officeDocument/2006/math">
                    <m:sSub>
                      <m:sSubPr>
                        <m:ctrlPr>
                          <a:rPr lang="fa-IR" i="1">
                            <a:latin typeface="Cambria Math" panose="02040503050406030204" pitchFamily="18" charset="0"/>
                          </a:rPr>
                        </m:ctrlPr>
                      </m:sSubPr>
                      <m:e>
                        <m:r>
                          <a:rPr lang="fa-IR" i="1">
                            <a:latin typeface="Cambria Math" panose="02040503050406030204" pitchFamily="18" charset="0"/>
                          </a:rPr>
                          <m:t>𝑤</m:t>
                        </m:r>
                      </m:e>
                      <m:sub>
                        <m:r>
                          <a:rPr lang="fa-IR" i="1">
                            <a:latin typeface="Cambria Math" panose="02040503050406030204" pitchFamily="18" charset="0"/>
                          </a:rPr>
                          <m:t>𝑗</m:t>
                        </m:r>
                      </m:sub>
                    </m:sSub>
                  </m:oMath>
                </a14:m>
                <a:r>
                  <a:rPr lang="fa-IR" dirty="0">
                    <a:latin typeface="Times New Roman" panose="02020603050405020304" pitchFamily="18" charset="0"/>
                    <a:cs typeface="B Nazanin" panose="00000400000000000000" pitchFamily="2" charset="-78"/>
                  </a:rPr>
                  <a:t>= وزن آن مدل</a:t>
                </a:r>
              </a:p>
              <a:p>
                <a:pPr algn="r" rtl="1">
                  <a:lnSpc>
                    <a:spcPct val="150000"/>
                  </a:lnSpc>
                  <a:buNone/>
                </a:pPr>
                <a:r>
                  <a:rPr lang="fa-IR" b="1" dirty="0">
                    <a:latin typeface="Times New Roman" panose="02020603050405020304" pitchFamily="18" charset="0"/>
                    <a:cs typeface="B Nazanin" panose="00000400000000000000" pitchFamily="2" charset="-78"/>
                  </a:rPr>
                  <a:t>چرا استفاده می‌شود؟</a:t>
                </a:r>
              </a:p>
              <a:p>
                <a:pPr algn="r" rtl="1">
                  <a:lnSpc>
                    <a:spcPct val="150000"/>
                  </a:lnSpc>
                  <a:buNone/>
                </a:pPr>
                <a:r>
                  <a:rPr lang="fa-IR" dirty="0">
                    <a:latin typeface="Times New Roman" panose="02020603050405020304" pitchFamily="18" charset="0"/>
                    <a:cs typeface="B Nazanin" panose="00000400000000000000" pitchFamily="2" charset="-78"/>
                  </a:rPr>
                  <a:t>چون ما </a:t>
                </a:r>
                <a:r>
                  <a:rPr lang="fa-IR" b="1" dirty="0">
                    <a:latin typeface="Times New Roman" panose="02020603050405020304" pitchFamily="18" charset="0"/>
                    <a:cs typeface="B Nazanin" panose="00000400000000000000" pitchFamily="2" charset="-78"/>
                  </a:rPr>
                  <a:t>مطمئن نیستیم کدام مدل درست است</a:t>
                </a:r>
                <a:r>
                  <a:rPr lang="fa-IR" dirty="0">
                    <a:latin typeface="Times New Roman" panose="02020603050405020304" pitchFamily="18" charset="0"/>
                    <a:cs typeface="B Nazanin" panose="00000400000000000000" pitchFamily="2" charset="-78"/>
                  </a:rPr>
                  <a:t>..</a:t>
                </a:r>
              </a:p>
            </p:txBody>
          </p:sp>
        </mc:Choice>
        <mc:Fallback xmlns="">
          <p:sp>
            <p:nvSpPr>
              <p:cNvPr id="4" name="TextBox 3">
                <a:extLst>
                  <a:ext uri="{FF2B5EF4-FFF2-40B4-BE49-F238E27FC236}">
                    <a16:creationId xmlns:a16="http://schemas.microsoft.com/office/drawing/2014/main" id="{279F86FF-FFCF-BC75-DD94-894672DA88DC}"/>
                  </a:ext>
                </a:extLst>
              </p:cNvPr>
              <p:cNvSpPr txBox="1">
                <a:spLocks noRot="1" noChangeAspect="1" noMove="1" noResize="1" noEditPoints="1" noAdjustHandles="1" noChangeArrowheads="1" noChangeShapeType="1" noTextEdit="1"/>
              </p:cNvSpPr>
              <p:nvPr/>
            </p:nvSpPr>
            <p:spPr>
              <a:xfrm>
                <a:off x="3625093" y="136525"/>
                <a:ext cx="8302906" cy="5110630"/>
              </a:xfrm>
              <a:prstGeom prst="rect">
                <a:avLst/>
              </a:prstGeom>
              <a:blipFill>
                <a:blip r:embed="rId5"/>
                <a:stretch>
                  <a:fillRect r="-661" b="-954"/>
                </a:stretch>
              </a:blipFill>
            </p:spPr>
            <p:txBody>
              <a:bodyPr/>
              <a:lstStyle/>
              <a:p>
                <a:r>
                  <a:rPr lang="en-US">
                    <a:noFill/>
                  </a:rPr>
                  <a:t> </a:t>
                </a:r>
              </a:p>
            </p:txBody>
          </p:sp>
        </mc:Fallback>
      </mc:AlternateContent>
    </p:spTree>
    <p:extLst>
      <p:ext uri="{BB962C8B-B14F-4D97-AF65-F5344CB8AC3E}">
        <p14:creationId xmlns:p14="http://schemas.microsoft.com/office/powerpoint/2010/main" val="1315705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D32D26-9E67-3C7E-FF97-369F943DC35C}"/>
              </a:ext>
            </a:extLst>
          </p:cNvPr>
          <p:cNvSpPr>
            <a:spLocks noGrp="1"/>
          </p:cNvSpPr>
          <p:nvPr>
            <p:ph type="sldNum" sz="quarter" idx="12"/>
          </p:nvPr>
        </p:nvSpPr>
        <p:spPr/>
        <p:txBody>
          <a:bodyPr/>
          <a:lstStyle/>
          <a:p>
            <a:fld id="{67EFB97B-C702-468C-B184-BC2FF345C510}" type="slidenum">
              <a:rPr lang="en-US" smtClean="0"/>
              <a:t>16</a:t>
            </a:fld>
            <a:endParaRPr lang="en-US"/>
          </a:p>
        </p:txBody>
      </p:sp>
      <p:pic>
        <p:nvPicPr>
          <p:cNvPr id="5" name="Picture 4">
            <a:extLst>
              <a:ext uri="{FF2B5EF4-FFF2-40B4-BE49-F238E27FC236}">
                <a16:creationId xmlns:a16="http://schemas.microsoft.com/office/drawing/2014/main" id="{A4EB4EE3-E87B-BE3E-0BF4-A41DA4F1FDF8}"/>
              </a:ext>
            </a:extLst>
          </p:cNvPr>
          <p:cNvPicPr>
            <a:picLocks noChangeAspect="1"/>
          </p:cNvPicPr>
          <p:nvPr/>
        </p:nvPicPr>
        <p:blipFill>
          <a:blip r:embed="rId2"/>
          <a:stretch>
            <a:fillRect/>
          </a:stretch>
        </p:blipFill>
        <p:spPr>
          <a:xfrm>
            <a:off x="1500971" y="896413"/>
            <a:ext cx="8304249" cy="184809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6266AF-29B6-1F10-9397-5F1FF4B6E197}"/>
                  </a:ext>
                </a:extLst>
              </p:cNvPr>
              <p:cNvSpPr txBox="1"/>
              <p:nvPr/>
            </p:nvSpPr>
            <p:spPr>
              <a:xfrm>
                <a:off x="193245" y="2356254"/>
                <a:ext cx="11805509" cy="3827907"/>
              </a:xfrm>
              <a:prstGeom prst="rect">
                <a:avLst/>
              </a:prstGeom>
              <a:noFill/>
            </p:spPr>
            <p:txBody>
              <a:bodyPr wrap="square">
                <a:spAutoFit/>
              </a:bodyPr>
              <a:lstStyle/>
              <a:p>
                <a:pPr algn="r" rtl="1">
                  <a:lnSpc>
                    <a:spcPct val="200000"/>
                  </a:lnSpc>
                </a:pPr>
                <a14:m>
                  <m:oMath xmlns:m="http://schemas.openxmlformats.org/officeDocument/2006/math">
                    <m:sSub>
                      <m:sSubPr>
                        <m:ctrlPr>
                          <a:rPr lang="en-US" sz="2000" i="1" smtClean="0">
                            <a:latin typeface="Cambria Math" panose="02040503050406030204" pitchFamily="18" charset="0"/>
                          </a:rPr>
                        </m:ctrlPr>
                      </m:sSubPr>
                      <m:e>
                        <m:r>
                          <m:rPr>
                            <m:nor/>
                          </m:rPr>
                          <a:rPr lang="en-US" sz="2000" dirty="0">
                            <a:latin typeface="Times New Roman" panose="02020603050405020304" pitchFamily="18" charset="0"/>
                            <a:cs typeface="B Nazanin" panose="00000400000000000000" pitchFamily="2" charset="-78"/>
                          </a:rPr>
                          <m:t>احتمال</m:t>
                        </m:r>
                        <m:r>
                          <a:rPr lang="fa-IR" sz="2000" b="0" i="1" dirty="0" smtClean="0">
                            <a:latin typeface="Cambria Math" panose="02040503050406030204" pitchFamily="18" charset="0"/>
                          </a:rPr>
                          <m:t> </m:t>
                        </m:r>
                        <m:r>
                          <a:rPr lang="en-US" sz="2000" i="1" smtClean="0">
                            <a:latin typeface="Cambria Math" panose="02040503050406030204" pitchFamily="18" charset="0"/>
                          </a:rPr>
                          <m:t>𝑝</m:t>
                        </m:r>
                      </m:e>
                      <m:sub>
                        <m:r>
                          <a:rPr lang="en-US" sz="2000" i="1">
                            <a:latin typeface="Cambria Math" panose="02040503050406030204" pitchFamily="18" charset="0"/>
                          </a:rPr>
                          <m:t>𝑒𝑓𝑓</m:t>
                        </m:r>
                      </m:sub>
                    </m:sSub>
                  </m:oMath>
                </a14:m>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اثربخشی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واکسن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آن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دوز</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خاص</a:t>
                </a:r>
                <a:r>
                  <a:rPr lang="fa-IR" sz="2000" dirty="0">
                    <a:latin typeface="Times New Roman" panose="02020603050405020304" pitchFamily="18" charset="0"/>
                    <a:cs typeface="B Nazanin" panose="00000400000000000000" pitchFamily="2" charset="-78"/>
                  </a:rPr>
                  <a:t>.</a:t>
                </a:r>
              </a:p>
              <a:p>
                <a:pPr algn="r" rtl="1">
                  <a:lnSpc>
                    <a:spcPct val="200000"/>
                  </a:lnSpc>
                </a:pPr>
                <a:r>
                  <a:rPr lang="en-US" sz="2000" dirty="0">
                    <a:latin typeface="Times New Roman" panose="02020603050405020304" pitchFamily="18" charset="0"/>
                    <a:cs typeface="B Nazanin" panose="00000400000000000000" pitchFamily="2" charset="-78"/>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𝑡𝑜𝑥</m:t>
                        </m:r>
                      </m:sub>
                    </m:sSub>
                  </m:oMath>
                </a14:m>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احتمال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سمیت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عوارض</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آن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دوز</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خاص</a:t>
                </a:r>
                <a:r>
                  <a:rPr lang="fa-IR" sz="2000" dirty="0">
                    <a:latin typeface="Times New Roman" panose="02020603050405020304" pitchFamily="18" charset="0"/>
                    <a:cs typeface="B Nazanin" panose="00000400000000000000" pitchFamily="2" charset="-78"/>
                  </a:rPr>
                  <a:t>.</a:t>
                </a:r>
              </a:p>
              <a:p>
                <a:pPr algn="r" rtl="1">
                  <a:lnSpc>
                    <a:spcPct val="200000"/>
                  </a:lnSpc>
                </a:pPr>
                <a:r>
                  <a:rPr lang="en-US" sz="2000" dirty="0">
                    <a:latin typeface="Times New Roman" panose="02020603050405020304" pitchFamily="18" charset="0"/>
                    <a:cs typeface="B Nazanin" panose="00000400000000000000" pitchFamily="2" charset="-78"/>
                  </a:rPr>
                  <a:t> </a:t>
                </a:r>
                <a14:m>
                  <m:oMath xmlns:m="http://schemas.openxmlformats.org/officeDocument/2006/math">
                    <m:r>
                      <a:rPr lang="en-US" sz="2000" i="1">
                        <a:latin typeface="Cambria Math" panose="02040503050406030204" pitchFamily="18" charset="0"/>
                      </a:rPr>
                      <m:t>𝑎𝑛𝑐</m:t>
                    </m:r>
                    <m:r>
                      <a:rPr lang="en-US" sz="2000" i="1">
                        <a:latin typeface="Cambria Math" panose="02040503050406030204" pitchFamily="18" charset="0"/>
                      </a:rPr>
                      <m:t>h</m:t>
                    </m:r>
                    <m:r>
                      <a:rPr lang="en-US" sz="2000" i="1">
                        <a:latin typeface="Cambria Math" panose="02040503050406030204" pitchFamily="18" charset="0"/>
                      </a:rPr>
                      <m:t>𝑜</m:t>
                    </m:r>
                    <m:sSub>
                      <m:sSubPr>
                        <m:ctrlPr>
                          <a:rPr lang="en-US" sz="2000" i="1">
                            <a:latin typeface="Cambria Math" panose="02040503050406030204" pitchFamily="18" charset="0"/>
                          </a:rPr>
                        </m:ctrlPr>
                      </m:sSubPr>
                      <m:e>
                        <m:r>
                          <a:rPr lang="en-US" sz="2000" i="1">
                            <a:latin typeface="Cambria Math" panose="02040503050406030204" pitchFamily="18" charset="0"/>
                          </a:rPr>
                          <m:t>𝑟</m:t>
                        </m:r>
                      </m:e>
                      <m:sub>
                        <m:r>
                          <a:rPr lang="en-US" sz="2000" i="1">
                            <a:latin typeface="Cambria Math" panose="02040503050406030204" pitchFamily="18" charset="0"/>
                          </a:rPr>
                          <m:t>𝑒𝑓𝑓</m:t>
                        </m:r>
                      </m:sub>
                    </m:sSub>
                  </m:oMath>
                </a14:m>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حداقل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اثربخشی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انتظار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داریم</a:t>
                </a:r>
                <a:r>
                  <a:rPr lang="fa-IR" sz="2000" dirty="0">
                    <a:latin typeface="Times New Roman" panose="02020603050405020304" pitchFamily="18" charset="0"/>
                    <a:cs typeface="B Nazanin" panose="00000400000000000000" pitchFamily="2" charset="-78"/>
                  </a:rPr>
                  <a:t>.</a:t>
                </a:r>
                <a:endParaRPr lang="en-US" sz="2000" dirty="0">
                  <a:latin typeface="Times New Roman" panose="02020603050405020304" pitchFamily="18" charset="0"/>
                  <a:cs typeface="B Nazanin" panose="00000400000000000000" pitchFamily="2" charset="-78"/>
                </a:endParaRPr>
              </a:p>
              <a:p>
                <a:pPr algn="r" rtl="1">
                  <a:lnSpc>
                    <a:spcPct val="200000"/>
                  </a:lnSpc>
                </a:pPr>
                <a14:m>
                  <m:oMath xmlns:m="http://schemas.openxmlformats.org/officeDocument/2006/math">
                    <m:r>
                      <a:rPr lang="en-US" sz="2000" i="1">
                        <a:latin typeface="Cambria Math" panose="02040503050406030204" pitchFamily="18" charset="0"/>
                      </a:rPr>
                      <m:t>𝑎𝑛𝑐</m:t>
                    </m:r>
                    <m:r>
                      <a:rPr lang="en-US" sz="2000" i="1">
                        <a:latin typeface="Cambria Math" panose="02040503050406030204" pitchFamily="18" charset="0"/>
                      </a:rPr>
                      <m:t>h</m:t>
                    </m:r>
                    <m:r>
                      <a:rPr lang="en-US" sz="2000" i="1">
                        <a:latin typeface="Cambria Math" panose="02040503050406030204" pitchFamily="18" charset="0"/>
                      </a:rPr>
                      <m:t>𝑜</m:t>
                    </m:r>
                    <m:sSub>
                      <m:sSubPr>
                        <m:ctrlPr>
                          <a:rPr lang="en-US" sz="2000" i="1">
                            <a:latin typeface="Cambria Math" panose="02040503050406030204" pitchFamily="18" charset="0"/>
                          </a:rPr>
                        </m:ctrlPr>
                      </m:sSubPr>
                      <m:e>
                        <m:r>
                          <a:rPr lang="en-US" sz="2000" i="1">
                            <a:latin typeface="Cambria Math" panose="02040503050406030204" pitchFamily="18" charset="0"/>
                          </a:rPr>
                          <m:t>𝑟</m:t>
                        </m:r>
                      </m:e>
                      <m:sub>
                        <m:r>
                          <a:rPr lang="en-US" sz="2000" i="1">
                            <a:latin typeface="Cambria Math" panose="02040503050406030204" pitchFamily="18" charset="0"/>
                          </a:rPr>
                          <m:t>𝑡𝑜𝑥</m:t>
                        </m:r>
                      </m:sub>
                    </m:sSub>
                  </m:oMath>
                </a14:m>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حداکثر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سمیتی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می‌توانیم</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تحمل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کنیم</a:t>
                </a:r>
                <a:endParaRPr lang="en-US" sz="2000" dirty="0">
                  <a:latin typeface="Times New Roman" panose="02020603050405020304" pitchFamily="18" charset="0"/>
                  <a:cs typeface="B Nazanin" panose="00000400000000000000" pitchFamily="2" charset="-78"/>
                </a:endParaRPr>
              </a:p>
              <a:p>
                <a:pPr algn="r" rtl="1">
                  <a:lnSpc>
                    <a:spcPct val="200000"/>
                  </a:lnSpc>
                </a:pPr>
                <a:r>
                  <a:rPr lang="en-US" sz="2000" dirty="0">
                    <a:latin typeface="Times New Roman" panose="02020603050405020304" pitchFamily="18" charset="0"/>
                    <a:cs typeface="B Nazanin" panose="00000400000000000000" pitchFamily="2" charset="-78"/>
                  </a:rPr>
                  <a:t> : </a:t>
                </a:r>
                <a14:m>
                  <m:oMath xmlns:m="http://schemas.openxmlformats.org/officeDocument/2006/math">
                    <m:r>
                      <a:rPr lang="en-US" sz="2000" i="1">
                        <a:latin typeface="Cambria Math" panose="02040503050406030204" pitchFamily="18" charset="0"/>
                      </a:rPr>
                      <m:t>𝜌</m:t>
                    </m:r>
                  </m:oMath>
                </a14:m>
                <a:r>
                  <a:rPr lang="en-US" sz="2000" dirty="0" err="1">
                    <a:latin typeface="Times New Roman" panose="02020603050405020304" pitchFamily="18" charset="0"/>
                    <a:cs typeface="B Nazanin" panose="00000400000000000000" pitchFamily="2" charset="-78"/>
                  </a:rPr>
                  <a:t>پارامتری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تعیین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می‌کند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چقدر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نسبت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انحراف</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از</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نقاط</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مرجع</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حساس</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باشیم</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که </a:t>
                </a:r>
                <a:r>
                  <a:rPr lang="en-US" sz="2000" dirty="0" err="1">
                    <a:latin typeface="Times New Roman" panose="02020603050405020304" pitchFamily="18" charset="0"/>
                    <a:cs typeface="B Nazanin" panose="00000400000000000000" pitchFamily="2" charset="-78"/>
                  </a:rPr>
                  <a:t>معمولاً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عددی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بزرگتر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از</a:t>
                </a:r>
                <a:r>
                  <a:rPr lang="en-US" sz="2000" dirty="0">
                    <a:latin typeface="Times New Roman" panose="02020603050405020304" pitchFamily="18" charset="0"/>
                    <a:cs typeface="B Nazanin" panose="00000400000000000000" pitchFamily="2" charset="-78"/>
                  </a:rPr>
                  <a:t> ۱ </a:t>
                </a:r>
                <a:r>
                  <a:rPr lang="en-US" sz="2000" dirty="0" err="1">
                    <a:latin typeface="Times New Roman" panose="02020603050405020304" pitchFamily="18" charset="0"/>
                    <a:cs typeface="B Nazanin" panose="00000400000000000000" pitchFamily="2" charset="-78"/>
                  </a:rPr>
                  <a:t>است</a:t>
                </a:r>
                <a:r>
                  <a:rPr lang="en-US" sz="2000" dirty="0">
                    <a:cs typeface="B Nazanin" panose="00000400000000000000" pitchFamily="2" charset="-78"/>
                  </a:rPr>
                  <a:t> . </a:t>
                </a:r>
                <a14:m>
                  <m:oMath xmlns:m="http://schemas.openxmlformats.org/officeDocument/2006/math">
                    <m:r>
                      <a:rPr lang="en-US" i="1">
                        <a:latin typeface="Cambria Math" panose="02040503050406030204" pitchFamily="18" charset="0"/>
                      </a:rPr>
                      <m:t>𝜌</m:t>
                    </m:r>
                    <m:r>
                      <a:rPr lang="en-US">
                        <a:latin typeface="Cambria Math" panose="02040503050406030204" pitchFamily="18" charset="0"/>
                      </a:rPr>
                      <m:t>=</m:t>
                    </m:r>
                    <m:r>
                      <a:rPr lang="en-US">
                        <a:latin typeface="Cambria Math" panose="02040503050406030204" pitchFamily="18" charset="0"/>
                      </a:rPr>
                      <m:t>2</m:t>
                    </m:r>
                    <m:r>
                      <a:rPr lang="en-US" b="0" i="0" smtClean="0">
                        <a:latin typeface="Cambria Math" panose="02040503050406030204" pitchFamily="18" charset="0"/>
                      </a:rPr>
                      <m:t>)</m:t>
                    </m:r>
                  </m:oMath>
                </a14:m>
                <a:r>
                  <a:rPr lang="en-US" sz="2000" dirty="0">
                    <a:cs typeface="B Nazanin" panose="00000400000000000000" pitchFamily="2" charset="-78"/>
                  </a:rPr>
                  <a:t> حالت </a:t>
                </a:r>
                <a:r>
                  <a:rPr lang="en-US" sz="2000" dirty="0" err="1">
                    <a:cs typeface="B Nazanin" panose="00000400000000000000" pitchFamily="2" charset="-78"/>
                  </a:rPr>
                  <a:t>فیثاغورثی</a:t>
                </a:r>
                <a:r>
                  <a:rPr lang="en-US" sz="2000" dirty="0">
                    <a:cs typeface="B Nazanin" panose="00000400000000000000" pitchFamily="2" charset="-78"/>
                  </a:rPr>
                  <a:t> </a:t>
                </a:r>
                <a:r>
                  <a:rPr lang="fa-IR" sz="2000" dirty="0">
                    <a:cs typeface="B Nazanin" panose="00000400000000000000" pitchFamily="2" charset="-78"/>
                  </a:rPr>
                  <a:t>و </a:t>
                </a:r>
                <a:r>
                  <a:rPr lang="en-US" sz="2000" dirty="0">
                    <a:cs typeface="B Nazanin" panose="00000400000000000000" pitchFamily="2" charset="-78"/>
                  </a:rPr>
                  <a:t> </a:t>
                </a:r>
                <a:r>
                  <a:rPr lang="en-US" sz="2000" dirty="0" err="1">
                    <a:cs typeface="B Nazanin" panose="00000400000000000000" pitchFamily="2" charset="-78"/>
                  </a:rPr>
                  <a:t>استاندارد</a:t>
                </a:r>
                <a:r>
                  <a:rPr lang="en-US" sz="2000" dirty="0">
                    <a:cs typeface="B Nazanin" panose="00000400000000000000" pitchFamily="2" charset="-78"/>
                  </a:rPr>
                  <a:t> </a:t>
                </a:r>
                <a:r>
                  <a:rPr lang="en-US" sz="2000" dirty="0" err="1">
                    <a:cs typeface="B Nazanin" panose="00000400000000000000" pitchFamily="2" charset="-78"/>
                  </a:rPr>
                  <a:t>مقاله</a:t>
                </a:r>
                <a:r>
                  <a:rPr lang="fa-IR" sz="2000" dirty="0">
                    <a:cs typeface="B Nazanin" panose="00000400000000000000" pitchFamily="2" charset="-78"/>
                  </a:rPr>
                  <a:t> است</a:t>
                </a:r>
                <a:r>
                  <a:rPr lang="en-US" sz="2000" dirty="0">
                    <a:cs typeface="B Nazanin" panose="00000400000000000000" pitchFamily="2" charset="-78"/>
                  </a:rPr>
                  <a:t>(</a:t>
                </a:r>
                <a:r>
                  <a:rPr lang="fa-IR" sz="2000" dirty="0">
                    <a:cs typeface="B Nazanin" panose="00000400000000000000" pitchFamily="2" charset="-78"/>
                  </a:rPr>
                  <a:t>.</a:t>
                </a:r>
                <a:endParaRPr lang="en-US" sz="2000" dirty="0">
                  <a:latin typeface="Times New Roman" panose="02020603050405020304" pitchFamily="18" charset="0"/>
                  <a:cs typeface="B Nazanin" panose="00000400000000000000" pitchFamily="2" charset="-78"/>
                </a:endParaRPr>
              </a:p>
            </p:txBody>
          </p:sp>
        </mc:Choice>
        <mc:Fallback xmlns="">
          <p:sp>
            <p:nvSpPr>
              <p:cNvPr id="7" name="TextBox 6">
                <a:extLst>
                  <a:ext uri="{FF2B5EF4-FFF2-40B4-BE49-F238E27FC236}">
                    <a16:creationId xmlns:a16="http://schemas.microsoft.com/office/drawing/2014/main" id="{F66266AF-29B6-1F10-9397-5F1FF4B6E197}"/>
                  </a:ext>
                </a:extLst>
              </p:cNvPr>
              <p:cNvSpPr txBox="1">
                <a:spLocks noRot="1" noChangeAspect="1" noMove="1" noResize="1" noEditPoints="1" noAdjustHandles="1" noChangeArrowheads="1" noChangeShapeType="1" noTextEdit="1"/>
              </p:cNvSpPr>
              <p:nvPr/>
            </p:nvSpPr>
            <p:spPr>
              <a:xfrm>
                <a:off x="193245" y="2356254"/>
                <a:ext cx="11805509" cy="3827907"/>
              </a:xfrm>
              <a:prstGeom prst="rect">
                <a:avLst/>
              </a:prstGeom>
              <a:blipFill>
                <a:blip r:embed="rId3"/>
                <a:stretch>
                  <a:fillRect r="-568" b="-271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64E910A-369B-B0A3-AE98-8178554F017C}"/>
              </a:ext>
            </a:extLst>
          </p:cNvPr>
          <p:cNvSpPr txBox="1"/>
          <p:nvPr/>
        </p:nvSpPr>
        <p:spPr>
          <a:xfrm>
            <a:off x="257189" y="19603"/>
            <a:ext cx="2841523" cy="1015663"/>
          </a:xfrm>
          <a:prstGeom prst="rect">
            <a:avLst/>
          </a:prstGeom>
          <a:noFill/>
        </p:spPr>
        <p:txBody>
          <a:bodyPr wrap="square" rtlCol="0">
            <a:spAutoFit/>
          </a:bodyPr>
          <a:lstStyle/>
          <a:p>
            <a:r>
              <a:rPr lang="en-US" sz="6000" dirty="0">
                <a:latin typeface="Times New Roman" panose="02020603050405020304" pitchFamily="18" charset="0"/>
                <a:cs typeface="B Nazanin" panose="00000400000000000000" pitchFamily="2" charset="-78"/>
              </a:rPr>
              <a:t>Utility </a:t>
            </a:r>
          </a:p>
        </p:txBody>
      </p:sp>
    </p:spTree>
    <p:extLst>
      <p:ext uri="{BB962C8B-B14F-4D97-AF65-F5344CB8AC3E}">
        <p14:creationId xmlns:p14="http://schemas.microsoft.com/office/powerpoint/2010/main" val="736992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E9B685-6EA2-F48C-6FB1-EBD4A11F238C}"/>
              </a:ext>
            </a:extLst>
          </p:cNvPr>
          <p:cNvSpPr>
            <a:spLocks noGrp="1"/>
          </p:cNvSpPr>
          <p:nvPr>
            <p:ph type="sldNum" sz="quarter" idx="12"/>
          </p:nvPr>
        </p:nvSpPr>
        <p:spPr/>
        <p:txBody>
          <a:bodyPr/>
          <a:lstStyle/>
          <a:p>
            <a:fld id="{67EFB97B-C702-468C-B184-BC2FF345C510}" type="slidenum">
              <a:rPr lang="en-US" smtClean="0"/>
              <a:t>17</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10C02D-7A8A-A371-44C2-678ACB314C87}"/>
                  </a:ext>
                </a:extLst>
              </p:cNvPr>
              <p:cNvSpPr txBox="1"/>
              <p:nvPr/>
            </p:nvSpPr>
            <p:spPr>
              <a:xfrm>
                <a:off x="-275304" y="1304022"/>
                <a:ext cx="12113342" cy="4048544"/>
              </a:xfrm>
              <a:prstGeom prst="rect">
                <a:avLst/>
              </a:prstGeom>
              <a:noFill/>
            </p:spPr>
            <p:txBody>
              <a:bodyPr wrap="square">
                <a:spAutoFit/>
              </a:bodyPr>
              <a:lstStyle/>
              <a:p>
                <a:pPr algn="r" rtl="1">
                  <a:lnSpc>
                    <a:spcPct val="200000"/>
                  </a:lnSpc>
                </a:pPr>
                <a:r>
                  <a:rPr lang="fa-IR" sz="2000" dirty="0">
                    <a:latin typeface="Times New Roman" panose="02020603050405020304" pitchFamily="18" charset="0"/>
                    <a:cs typeface="B Nazanin" panose="00000400000000000000" pitchFamily="2" charset="-78"/>
                  </a:rPr>
                  <a:t>این معیار می‌گوید: «چقدر از حالت ایده‌آل فاصله داریم؟»</a:t>
                </a:r>
              </a:p>
              <a:p>
                <a:pPr algn="r" rtl="1">
                  <a:lnSpc>
                    <a:spcPct val="200000"/>
                  </a:lnSpc>
                </a:pPr>
                <a14:m>
                  <m:oMathPara xmlns:m="http://schemas.openxmlformats.org/officeDocument/2006/math">
                    <m:oMathParaPr>
                      <m:jc m:val="centerGroup"/>
                    </m:oMathParaPr>
                    <m:oMath xmlns:m="http://schemas.openxmlformats.org/officeDocument/2006/math">
                      <m:r>
                        <m:rPr>
                          <m:nor/>
                        </m:rPr>
                        <a:rPr lang="en-US" sz="2000" b="1">
                          <a:latin typeface="Times New Roman" panose="02020603050405020304" pitchFamily="18" charset="0"/>
                          <a:cs typeface="B Nazanin" panose="00000400000000000000" pitchFamily="2" charset="-78"/>
                        </a:rPr>
                        <m:t>Simple</m:t>
                      </m:r>
                      <m:r>
                        <m:rPr>
                          <m:nor/>
                        </m:rPr>
                        <a:rPr lang="en-US" sz="2000" b="1" i="1">
                          <a:latin typeface="Times New Roman" panose="02020603050405020304" pitchFamily="18" charset="0"/>
                          <a:cs typeface="B Nazanin" panose="00000400000000000000" pitchFamily="2" charset="-78"/>
                        </a:rPr>
                        <m:t> </m:t>
                      </m:r>
                      <m:r>
                        <m:rPr>
                          <m:nor/>
                        </m:rPr>
                        <a:rPr lang="en-US" sz="2000" b="1" i="1">
                          <a:latin typeface="Times New Roman" panose="02020603050405020304" pitchFamily="18" charset="0"/>
                          <a:cs typeface="B Nazanin" panose="00000400000000000000" pitchFamily="2" charset="-78"/>
                        </a:rPr>
                        <m:t>Regret</m:t>
                      </m:r>
                      <m:r>
                        <a:rPr lang="en-US" sz="2000" b="1" i="0">
                          <a:latin typeface="Cambria Math" panose="02040503050406030204" pitchFamily="18" charset="0"/>
                        </a:rPr>
                        <m:t>=</m:t>
                      </m:r>
                      <m:sSub>
                        <m:sSubPr>
                          <m:ctrlPr>
                            <a:rPr lang="en-US" sz="2000" b="1" i="1">
                              <a:latin typeface="Cambria Math" panose="02040503050406030204" pitchFamily="18" charset="0"/>
                            </a:rPr>
                          </m:ctrlPr>
                        </m:sSubPr>
                        <m:e>
                          <m:r>
                            <m:rPr>
                              <m:nor/>
                            </m:rPr>
                            <a:rPr lang="en-US" sz="2000" b="1" i="1">
                              <a:latin typeface="Times New Roman" panose="02020603050405020304" pitchFamily="18" charset="0"/>
                              <a:cs typeface="B Nazanin" panose="00000400000000000000" pitchFamily="2" charset="-78"/>
                            </a:rPr>
                            <m:t>Utility</m:t>
                          </m:r>
                        </m:e>
                        <m:sub>
                          <m:r>
                            <m:rPr>
                              <m:nor/>
                            </m:rPr>
                            <a:rPr lang="en-US" sz="2000" b="1" i="1">
                              <a:latin typeface="Times New Roman" panose="02020603050405020304" pitchFamily="18" charset="0"/>
                              <a:cs typeface="B Nazanin" panose="00000400000000000000" pitchFamily="2" charset="-78"/>
                            </a:rPr>
                            <m:t>TrueOptimal</m:t>
                          </m:r>
                        </m:sub>
                      </m:sSub>
                      <m:r>
                        <a:rPr lang="en-US" sz="2000" b="1" i="0">
                          <a:latin typeface="Cambria Math" panose="02040503050406030204" pitchFamily="18" charset="0"/>
                        </a:rPr>
                        <m:t>−</m:t>
                      </m:r>
                      <m:sSub>
                        <m:sSubPr>
                          <m:ctrlPr>
                            <a:rPr lang="en-US" sz="2000" b="1" i="1">
                              <a:latin typeface="Cambria Math" panose="02040503050406030204" pitchFamily="18" charset="0"/>
                            </a:rPr>
                          </m:ctrlPr>
                        </m:sSubPr>
                        <m:e>
                          <m:r>
                            <m:rPr>
                              <m:nor/>
                            </m:rPr>
                            <a:rPr lang="en-US" sz="2000" b="1" i="1">
                              <a:latin typeface="Times New Roman" panose="02020603050405020304" pitchFamily="18" charset="0"/>
                              <a:cs typeface="B Nazanin" panose="00000400000000000000" pitchFamily="2" charset="-78"/>
                            </a:rPr>
                            <m:t>Utility</m:t>
                          </m:r>
                        </m:e>
                        <m:sub>
                          <m:r>
                            <m:rPr>
                              <m:nor/>
                            </m:rPr>
                            <a:rPr lang="en-US" sz="2000" b="1" i="1">
                              <a:latin typeface="Times New Roman" panose="02020603050405020304" pitchFamily="18" charset="0"/>
                              <a:cs typeface="B Nazanin" panose="00000400000000000000" pitchFamily="2" charset="-78"/>
                            </a:rPr>
                            <m:t>Chosen</m:t>
                          </m:r>
                        </m:sub>
                      </m:sSub>
                    </m:oMath>
                  </m:oMathPara>
                </a14:m>
                <a:endParaRPr lang="en-US" sz="2000" b="1" dirty="0">
                  <a:latin typeface="Times New Roman" panose="02020603050405020304" pitchFamily="18" charset="0"/>
                  <a:cs typeface="B Nazanin" panose="00000400000000000000" pitchFamily="2" charset="-78"/>
                </a:endParaRPr>
              </a:p>
              <a:p>
                <a:pPr algn="r" rtl="1">
                  <a:lnSpc>
                    <a:spcPct val="200000"/>
                  </a:lnSpc>
                </a:pPr>
                <a14:m>
                  <m:oMath xmlns:m="http://schemas.openxmlformats.org/officeDocument/2006/math">
                    <m:sSub>
                      <m:sSubPr>
                        <m:ctrlPr>
                          <a:rPr lang="fa-IR" sz="2000" b="0" i="1">
                            <a:latin typeface="Cambria Math" panose="02040503050406030204" pitchFamily="18" charset="0"/>
                          </a:rPr>
                        </m:ctrlPr>
                      </m:sSubPr>
                      <m:e>
                        <m:r>
                          <m:rPr>
                            <m:nor/>
                          </m:rPr>
                          <a:rPr lang="fa-IR" sz="2000" b="0">
                            <a:latin typeface="Times New Roman" panose="02020603050405020304" pitchFamily="18" charset="0"/>
                            <a:cs typeface="B Nazanin" panose="00000400000000000000" pitchFamily="2" charset="-78"/>
                          </a:rPr>
                          <m:t>Utility</m:t>
                        </m:r>
                      </m:e>
                      <m:sub>
                        <m:r>
                          <m:rPr>
                            <m:nor/>
                          </m:rPr>
                          <a:rPr lang="fa-IR" sz="2000" b="0" i="1">
                            <a:latin typeface="Times New Roman" panose="02020603050405020304" pitchFamily="18" charset="0"/>
                            <a:cs typeface="B Nazanin" panose="00000400000000000000" pitchFamily="2" charset="-78"/>
                          </a:rPr>
                          <m:t>TrueOptimal</m:t>
                        </m:r>
                      </m:sub>
                    </m:sSub>
                  </m:oMath>
                </a14:m>
                <a:r>
                  <a:rPr lang="fa-IR" sz="2000" b="1" dirty="0">
                    <a:latin typeface="Times New Roman" panose="02020603050405020304" pitchFamily="18" charset="0"/>
                    <a:cs typeface="B Nazanin" panose="00000400000000000000" pitchFamily="2" charset="-78"/>
                  </a:rPr>
                  <a:t>:</a:t>
                </a:r>
                <a:r>
                  <a:rPr lang="fa-IR" sz="2000" dirty="0">
                    <a:latin typeface="Times New Roman" panose="02020603050405020304" pitchFamily="18" charset="0"/>
                    <a:cs typeface="B Nazanin" panose="00000400000000000000" pitchFamily="2" charset="-78"/>
                  </a:rPr>
                  <a:t> بالاترین امتیازی که یک دوز «واقعاً» می‌تواند داشته باشد.</a:t>
                </a:r>
              </a:p>
              <a:p>
                <a:pPr algn="r" rtl="1">
                  <a:lnSpc>
                    <a:spcPct val="200000"/>
                  </a:lnSpc>
                </a:pPr>
                <a14:m>
                  <m:oMath xmlns:m="http://schemas.openxmlformats.org/officeDocument/2006/math">
                    <m:sSub>
                      <m:sSubPr>
                        <m:ctrlPr>
                          <a:rPr lang="fa-IR" sz="2000" b="0" i="1">
                            <a:latin typeface="Cambria Math" panose="02040503050406030204" pitchFamily="18" charset="0"/>
                          </a:rPr>
                        </m:ctrlPr>
                      </m:sSubPr>
                      <m:e>
                        <m:r>
                          <m:rPr>
                            <m:nor/>
                          </m:rPr>
                          <a:rPr lang="fa-IR" sz="2000" b="0">
                            <a:latin typeface="Times New Roman" panose="02020603050405020304" pitchFamily="18" charset="0"/>
                            <a:cs typeface="B Nazanin" panose="00000400000000000000" pitchFamily="2" charset="-78"/>
                          </a:rPr>
                          <m:t>Utility</m:t>
                        </m:r>
                      </m:e>
                      <m:sub>
                        <m:r>
                          <m:rPr>
                            <m:nor/>
                          </m:rPr>
                          <a:rPr lang="fa-IR" sz="2000" b="0" i="1">
                            <a:latin typeface="Times New Roman" panose="02020603050405020304" pitchFamily="18" charset="0"/>
                            <a:cs typeface="B Nazanin" panose="00000400000000000000" pitchFamily="2" charset="-78"/>
                          </a:rPr>
                          <m:t>Chosen</m:t>
                        </m:r>
                      </m:sub>
                    </m:sSub>
                  </m:oMath>
                </a14:m>
                <a:r>
                  <a:rPr lang="fa-IR" sz="2000" b="1" dirty="0">
                    <a:latin typeface="Times New Roman" panose="02020603050405020304" pitchFamily="18" charset="0"/>
                    <a:cs typeface="B Nazanin" panose="00000400000000000000" pitchFamily="2" charset="-78"/>
                  </a:rPr>
                  <a:t>:</a:t>
                </a:r>
                <a:r>
                  <a:rPr lang="fa-IR" sz="2000" dirty="0">
                    <a:latin typeface="Times New Roman" panose="02020603050405020304" pitchFamily="18" charset="0"/>
                    <a:cs typeface="B Nazanin" panose="00000400000000000000" pitchFamily="2" charset="-78"/>
                  </a:rPr>
                  <a:t> امتیازی که دوزِ پیشنهادیِ مدل ما در واقعیت کسب می‌کند.</a:t>
                </a:r>
              </a:p>
              <a:p>
                <a:pPr algn="r" rtl="1">
                  <a:lnSpc>
                    <a:spcPct val="200000"/>
                  </a:lnSpc>
                </a:pPr>
                <a:endParaRPr lang="fa-IR" sz="2000" dirty="0">
                  <a:latin typeface="Times New Roman" panose="02020603050405020304" pitchFamily="18" charset="0"/>
                  <a:cs typeface="B Nazanin" panose="00000400000000000000" pitchFamily="2" charset="-78"/>
                </a:endParaRPr>
              </a:p>
              <a:p>
                <a:pPr algn="r" rtl="1">
                  <a:lnSpc>
                    <a:spcPct val="200000"/>
                  </a:lnSpc>
                </a:pPr>
                <a:r>
                  <a:rPr lang="fa-IR" sz="2000" dirty="0">
                    <a:latin typeface="Times New Roman" panose="02020603050405020304" pitchFamily="18" charset="0"/>
                    <a:cs typeface="B Nazanin" panose="00000400000000000000" pitchFamily="2" charset="-78"/>
                  </a:rPr>
                  <a:t>هرچه این عدد به </a:t>
                </a:r>
                <a:r>
                  <a:rPr lang="fa-IR" sz="2000" b="1" dirty="0">
                    <a:latin typeface="Times New Roman" panose="02020603050405020304" pitchFamily="18" charset="0"/>
                    <a:cs typeface="B Nazanin" panose="00000400000000000000" pitchFamily="2" charset="-78"/>
                  </a:rPr>
                  <a:t>صفر</a:t>
                </a:r>
                <a:r>
                  <a:rPr lang="fa-IR" sz="2000" dirty="0">
                    <a:latin typeface="Times New Roman" panose="02020603050405020304" pitchFamily="18" charset="0"/>
                    <a:cs typeface="B Nazanin" panose="00000400000000000000" pitchFamily="2" charset="-78"/>
                  </a:rPr>
                  <a:t> نزدیک‌تر باشد، یعنی مدل ما هوشمندتر عمل کرده است.</a:t>
                </a:r>
              </a:p>
            </p:txBody>
          </p:sp>
        </mc:Choice>
        <mc:Fallback xmlns="">
          <p:sp>
            <p:nvSpPr>
              <p:cNvPr id="4" name="TextBox 3">
                <a:extLst>
                  <a:ext uri="{FF2B5EF4-FFF2-40B4-BE49-F238E27FC236}">
                    <a16:creationId xmlns:a16="http://schemas.microsoft.com/office/drawing/2014/main" id="{7810C02D-7A8A-A371-44C2-678ACB314C87}"/>
                  </a:ext>
                </a:extLst>
              </p:cNvPr>
              <p:cNvSpPr txBox="1">
                <a:spLocks noRot="1" noChangeAspect="1" noMove="1" noResize="1" noEditPoints="1" noAdjustHandles="1" noChangeArrowheads="1" noChangeShapeType="1" noTextEdit="1"/>
              </p:cNvSpPr>
              <p:nvPr/>
            </p:nvSpPr>
            <p:spPr>
              <a:xfrm>
                <a:off x="-275304" y="1304022"/>
                <a:ext cx="12113342" cy="4048544"/>
              </a:xfrm>
              <a:prstGeom prst="rect">
                <a:avLst/>
              </a:prstGeom>
              <a:blipFill>
                <a:blip r:embed="rId2"/>
                <a:stretch>
                  <a:fillRect r="-503" b="-150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7F99B57-5223-502C-32DB-55C76C73199F}"/>
              </a:ext>
            </a:extLst>
          </p:cNvPr>
          <p:cNvSpPr txBox="1"/>
          <p:nvPr/>
        </p:nvSpPr>
        <p:spPr>
          <a:xfrm>
            <a:off x="4807975" y="49161"/>
            <a:ext cx="3234813" cy="1015663"/>
          </a:xfrm>
          <a:prstGeom prst="rect">
            <a:avLst/>
          </a:prstGeom>
          <a:noFill/>
        </p:spPr>
        <p:txBody>
          <a:bodyPr wrap="square" rtlCol="0">
            <a:spAutoFit/>
          </a:bodyPr>
          <a:lstStyle/>
          <a:p>
            <a:r>
              <a:rPr lang="en-US" sz="6000" b="1" dirty="0">
                <a:latin typeface="Times New Roman" panose="02020603050405020304" pitchFamily="18" charset="0"/>
                <a:cs typeface="B Nazanin" panose="00000400000000000000" pitchFamily="2" charset="-78"/>
              </a:rPr>
              <a:t>Regret </a:t>
            </a:r>
          </a:p>
        </p:txBody>
      </p:sp>
    </p:spTree>
    <p:extLst>
      <p:ext uri="{BB962C8B-B14F-4D97-AF65-F5344CB8AC3E}">
        <p14:creationId xmlns:p14="http://schemas.microsoft.com/office/powerpoint/2010/main" val="21227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85E23F-CC9C-2793-7D68-CB017226BD00}"/>
              </a:ext>
            </a:extLst>
          </p:cNvPr>
          <p:cNvSpPr>
            <a:spLocks noGrp="1"/>
          </p:cNvSpPr>
          <p:nvPr>
            <p:ph type="sldNum" sz="quarter" idx="12"/>
          </p:nvPr>
        </p:nvSpPr>
        <p:spPr/>
        <p:txBody>
          <a:bodyPr/>
          <a:lstStyle/>
          <a:p>
            <a:fld id="{67EFB97B-C702-468C-B184-BC2FF345C510}" type="slidenum">
              <a:rPr lang="en-US" smtClean="0"/>
              <a:t>18</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3EF7EB3-42FD-0B08-5B78-3A1191247564}"/>
                  </a:ext>
                </a:extLst>
              </p:cNvPr>
              <p:cNvSpPr txBox="1"/>
              <p:nvPr/>
            </p:nvSpPr>
            <p:spPr>
              <a:xfrm>
                <a:off x="167148" y="1307005"/>
                <a:ext cx="11857703" cy="4535216"/>
              </a:xfrm>
              <a:prstGeom prst="rect">
                <a:avLst/>
              </a:prstGeom>
              <a:noFill/>
            </p:spPr>
            <p:txBody>
              <a:bodyPr wrap="square">
                <a:spAutoFit/>
              </a:bodyPr>
              <a:lstStyle/>
              <a:p>
                <a:pPr algn="r" rtl="1">
                  <a:lnSpc>
                    <a:spcPct val="250000"/>
                  </a:lnSpc>
                </a:pPr>
                <a:r>
                  <a:rPr lang="fa-IR" sz="2400" dirty="0">
                    <a:latin typeface="Times New Roman" panose="02020603050405020304" pitchFamily="18" charset="0"/>
                    <a:cs typeface="B Nazanin" panose="00000400000000000000" pitchFamily="2" charset="-78"/>
                  </a:rPr>
                  <a:t>مشکل </a:t>
                </a:r>
                <a:r>
                  <a:rPr lang="en-US" sz="2400" dirty="0">
                    <a:latin typeface="Times New Roman" panose="02020603050405020304" pitchFamily="18" charset="0"/>
                    <a:cs typeface="B Nazanin" panose="00000400000000000000" pitchFamily="2" charset="-78"/>
                  </a:rPr>
                  <a:t>Simple Regret </a:t>
                </a:r>
                <a:r>
                  <a:rPr lang="fa-IR" sz="2400" dirty="0">
                    <a:latin typeface="Times New Roman" panose="02020603050405020304" pitchFamily="18" charset="0"/>
                    <a:cs typeface="B Nazanin" panose="00000400000000000000" pitchFamily="2" charset="-78"/>
                  </a:rPr>
                  <a:t> این است که در سناریوهای مختلف، اعداد متفاوت هستند و نمی‌شود آن‌ها را با هم مقایسه کرد. برای همین آن را به </a:t>
                </a:r>
                <a:r>
                  <a:rPr lang="fa-IR" sz="2400" b="1" dirty="0">
                    <a:latin typeface="Times New Roman" panose="02020603050405020304" pitchFamily="18" charset="0"/>
                    <a:cs typeface="B Nazanin" panose="00000400000000000000" pitchFamily="2" charset="-78"/>
                  </a:rPr>
                  <a:t>درصد</a:t>
                </a:r>
                <a:r>
                  <a:rPr lang="fa-IR" sz="2400" dirty="0">
                    <a:latin typeface="Times New Roman" panose="02020603050405020304" pitchFamily="18" charset="0"/>
                    <a:cs typeface="B Nazanin" panose="00000400000000000000" pitchFamily="2" charset="-78"/>
                  </a:rPr>
                  <a:t> تبدیل می‌کنند تا مقیاس همه‌جا یکسان (بین ۰ تا ۱۰۰) باشد.</a:t>
                </a:r>
              </a:p>
              <a:p>
                <a:pPr algn="r" rtl="1">
                  <a:lnSpc>
                    <a:spcPct val="250000"/>
                  </a:lnSpc>
                </a:pPr>
                <a14:m>
                  <m:oMathPara xmlns:m="http://schemas.openxmlformats.org/officeDocument/2006/math">
                    <m:oMathParaPr>
                      <m:jc m:val="centerGroup"/>
                    </m:oMathParaPr>
                    <m:oMath xmlns:m="http://schemas.openxmlformats.org/officeDocument/2006/math">
                      <m:r>
                        <m:rPr>
                          <m:nor/>
                        </m:rPr>
                        <a:rPr lang="en-US" sz="2000" b="0">
                          <a:latin typeface="Times New Roman" panose="02020603050405020304" pitchFamily="18" charset="0"/>
                          <a:cs typeface="B Nazanin" panose="00000400000000000000" pitchFamily="2" charset="-78"/>
                        </a:rPr>
                        <m:t>PSR</m:t>
                      </m:r>
                      <m:r>
                        <a:rPr lang="en-US" sz="2000" b="0" i="0">
                          <a:latin typeface="Cambria Math" panose="02040503050406030204" pitchFamily="18" charset="0"/>
                        </a:rPr>
                        <m:t>=</m:t>
                      </m:r>
                      <m:r>
                        <a:rPr lang="en-US" sz="2000" b="0" i="0">
                          <a:latin typeface="Cambria Math" panose="02040503050406030204" pitchFamily="18" charset="0"/>
                        </a:rPr>
                        <m:t>100</m:t>
                      </m:r>
                      <m:r>
                        <a:rPr lang="en-US" sz="2000" b="0" i="0">
                          <a:latin typeface="Cambria Math" panose="02040503050406030204" pitchFamily="18" charset="0"/>
                        </a:rPr>
                        <m:t>×</m:t>
                      </m:r>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TrueOptimal</m:t>
                              </m:r>
                            </m:sub>
                          </m:sSub>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Chosen</m:t>
                              </m:r>
                            </m:sub>
                          </m:sSub>
                        </m:num>
                        <m:den>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TrueOptimal</m:t>
                              </m:r>
                            </m:sub>
                          </m:sSub>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TrueLeastOptimal</m:t>
                              </m:r>
                            </m:sub>
                          </m:sSub>
                        </m:den>
                      </m:f>
                    </m:oMath>
                  </m:oMathPara>
                </a14:m>
                <a:endParaRPr lang="en-US" sz="2000" b="0" dirty="0">
                  <a:latin typeface="Times New Roman" panose="02020603050405020304" pitchFamily="18" charset="0"/>
                  <a:cs typeface="B Nazanin" panose="00000400000000000000" pitchFamily="2" charset="-78"/>
                </a:endParaRPr>
              </a:p>
              <a:p>
                <a:pPr algn="r" rtl="1">
                  <a:lnSpc>
                    <a:spcPct val="250000"/>
                  </a:lnSpc>
                </a:pPr>
                <a:r>
                  <a:rPr lang="fa-IR" sz="2000" dirty="0">
                    <a:latin typeface="Times New Roman" panose="02020603050405020304" pitchFamily="18" charset="0"/>
                    <a:cs typeface="B Nazanin" panose="00000400000000000000" pitchFamily="2" charset="-78"/>
                  </a:rPr>
                  <a:t>در مخرج کسر، ما تفاضل </a:t>
                </a:r>
                <a:r>
                  <a:rPr lang="fa-IR" sz="2000" b="1" dirty="0">
                    <a:latin typeface="Times New Roman" panose="02020603050405020304" pitchFamily="18" charset="0"/>
                    <a:cs typeface="B Nazanin" panose="00000400000000000000" pitchFamily="2" charset="-78"/>
                  </a:rPr>
                  <a:t>«بهترین حالت ممکن»</a:t>
                </a:r>
                <a:r>
                  <a:rPr lang="fa-IR" sz="2000" dirty="0">
                    <a:latin typeface="Times New Roman" panose="02020603050405020304" pitchFamily="18" charset="0"/>
                    <a:cs typeface="B Nazanin" panose="00000400000000000000" pitchFamily="2" charset="-78"/>
                  </a:rPr>
                  <a:t> و </a:t>
                </a:r>
                <a:r>
                  <a:rPr lang="fa-IR" sz="2000" b="1" dirty="0">
                    <a:latin typeface="Times New Roman" panose="02020603050405020304" pitchFamily="18" charset="0"/>
                    <a:cs typeface="B Nazanin" panose="00000400000000000000" pitchFamily="2" charset="-78"/>
                  </a:rPr>
                  <a:t>«بدترین حالت ممکن»</a:t>
                </a:r>
                <a:r>
                  <a:rPr lang="fa-IR" sz="2000" dirty="0">
                    <a:latin typeface="Times New Roman" panose="02020603050405020304" pitchFamily="18" charset="0"/>
                    <a:cs typeface="B Nazanin" panose="00000400000000000000" pitchFamily="2" charset="-78"/>
                  </a:rPr>
                  <a:t> را داریم.</a:t>
                </a:r>
              </a:p>
            </p:txBody>
          </p:sp>
        </mc:Choice>
        <mc:Fallback xmlns="">
          <p:sp>
            <p:nvSpPr>
              <p:cNvPr id="4" name="TextBox 3">
                <a:extLst>
                  <a:ext uri="{FF2B5EF4-FFF2-40B4-BE49-F238E27FC236}">
                    <a16:creationId xmlns:a16="http://schemas.microsoft.com/office/drawing/2014/main" id="{C3EF7EB3-42FD-0B08-5B78-3A1191247564}"/>
                  </a:ext>
                </a:extLst>
              </p:cNvPr>
              <p:cNvSpPr txBox="1">
                <a:spLocks noRot="1" noChangeAspect="1" noMove="1" noResize="1" noEditPoints="1" noAdjustHandles="1" noChangeArrowheads="1" noChangeShapeType="1" noTextEdit="1"/>
              </p:cNvSpPr>
              <p:nvPr/>
            </p:nvSpPr>
            <p:spPr>
              <a:xfrm>
                <a:off x="167148" y="1307005"/>
                <a:ext cx="11857703" cy="4535216"/>
              </a:xfrm>
              <a:prstGeom prst="rect">
                <a:avLst/>
              </a:prstGeom>
              <a:blipFill>
                <a:blip r:embed="rId2"/>
                <a:stretch>
                  <a:fillRect r="-771" b="-147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B114EA2-8C21-BDDE-5BEF-F2A128AB6004}"/>
              </a:ext>
            </a:extLst>
          </p:cNvPr>
          <p:cNvSpPr txBox="1"/>
          <p:nvPr/>
        </p:nvSpPr>
        <p:spPr>
          <a:xfrm>
            <a:off x="1480456" y="-122994"/>
            <a:ext cx="7895771" cy="1138773"/>
          </a:xfrm>
          <a:prstGeom prst="rect">
            <a:avLst/>
          </a:prstGeom>
          <a:noFill/>
        </p:spPr>
        <p:txBody>
          <a:bodyPr wrap="square">
            <a:spAutoFit/>
          </a:bodyPr>
          <a:lstStyle/>
          <a:p>
            <a:pPr algn="r" rtl="1">
              <a:lnSpc>
                <a:spcPct val="250000"/>
              </a:lnSpc>
            </a:pPr>
            <a:r>
              <a:rPr lang="fa-IR" sz="3200" b="1" dirty="0">
                <a:latin typeface="Times New Roman" panose="02020603050405020304" pitchFamily="18" charset="0"/>
                <a:cs typeface="B Nazanin" panose="00000400000000000000" pitchFamily="2" charset="-78"/>
              </a:rPr>
              <a:t>PSR (Percentage Simple Regret) </a:t>
            </a:r>
          </a:p>
        </p:txBody>
      </p:sp>
    </p:spTree>
    <p:extLst>
      <p:ext uri="{BB962C8B-B14F-4D97-AF65-F5344CB8AC3E}">
        <p14:creationId xmlns:p14="http://schemas.microsoft.com/office/powerpoint/2010/main" val="2686293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F050ED-7DE9-FFD1-0E7D-FB3764782A72}"/>
              </a:ext>
            </a:extLst>
          </p:cNvPr>
          <p:cNvSpPr>
            <a:spLocks noGrp="1"/>
          </p:cNvSpPr>
          <p:nvPr>
            <p:ph type="sldNum" sz="quarter" idx="12"/>
          </p:nvPr>
        </p:nvSpPr>
        <p:spPr/>
        <p:txBody>
          <a:bodyPr/>
          <a:lstStyle/>
          <a:p>
            <a:fld id="{67EFB97B-C702-468C-B184-BC2FF345C510}" type="slidenum">
              <a:rPr lang="en-US" smtClean="0"/>
              <a:t>19</a:t>
            </a:fld>
            <a:endParaRPr lang="en-US"/>
          </a:p>
        </p:txBody>
      </p:sp>
      <p:pic>
        <p:nvPicPr>
          <p:cNvPr id="5" name="Picture 4">
            <a:extLst>
              <a:ext uri="{FF2B5EF4-FFF2-40B4-BE49-F238E27FC236}">
                <a16:creationId xmlns:a16="http://schemas.microsoft.com/office/drawing/2014/main" id="{31F5CD1F-0E49-991E-CA8A-85DCFD488927}"/>
              </a:ext>
            </a:extLst>
          </p:cNvPr>
          <p:cNvPicPr>
            <a:picLocks noChangeAspect="1"/>
          </p:cNvPicPr>
          <p:nvPr/>
        </p:nvPicPr>
        <p:blipFill>
          <a:blip r:embed="rId2"/>
          <a:srcRect r="53542" b="59878"/>
          <a:stretch>
            <a:fillRect/>
          </a:stretch>
        </p:blipFill>
        <p:spPr>
          <a:xfrm>
            <a:off x="1430954" y="550078"/>
            <a:ext cx="8408371" cy="5806272"/>
          </a:xfrm>
          <a:prstGeom prst="rect">
            <a:avLst/>
          </a:prstGeom>
        </p:spPr>
      </p:pic>
    </p:spTree>
    <p:extLst>
      <p:ext uri="{BB962C8B-B14F-4D97-AF65-F5344CB8AC3E}">
        <p14:creationId xmlns:p14="http://schemas.microsoft.com/office/powerpoint/2010/main" val="4174958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E63318-1381-E4F3-D48B-665EE0D5EAC8}"/>
              </a:ext>
            </a:extLst>
          </p:cNvPr>
          <p:cNvSpPr>
            <a:spLocks noGrp="1"/>
          </p:cNvSpPr>
          <p:nvPr>
            <p:ph type="sldNum" sz="quarter" idx="12"/>
          </p:nvPr>
        </p:nvSpPr>
        <p:spPr/>
        <p:txBody>
          <a:bodyPr/>
          <a:lstStyle/>
          <a:p>
            <a:fld id="{67EFB97B-C702-468C-B184-BC2FF345C510}" type="slidenum">
              <a:rPr lang="en-US" smtClean="0"/>
              <a:t>20</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778A2FA-B7C6-3D32-28AF-1529D570B033}"/>
                  </a:ext>
                </a:extLst>
              </p:cNvPr>
              <p:cNvSpPr txBox="1"/>
              <p:nvPr/>
            </p:nvSpPr>
            <p:spPr>
              <a:xfrm>
                <a:off x="399143" y="1186546"/>
                <a:ext cx="11393714" cy="4704558"/>
              </a:xfrm>
              <a:prstGeom prst="rect">
                <a:avLst/>
              </a:prstGeom>
              <a:noFill/>
            </p:spPr>
            <p:txBody>
              <a:bodyPr wrap="square">
                <a:spAutoFit/>
              </a:bodyPr>
              <a:lstStyle/>
              <a:p>
                <a:pPr algn="r" rtl="1">
                  <a:lnSpc>
                    <a:spcPct val="150000"/>
                  </a:lnSpc>
                  <a:buNone/>
                </a:pPr>
                <a:r>
                  <a:rPr lang="fa-IR" sz="2000" b="1" dirty="0">
                    <a:latin typeface="Times New Roman" panose="02020603050405020304" pitchFamily="18" charset="0"/>
                    <a:cs typeface="B Nazanin" panose="00000400000000000000" pitchFamily="2" charset="-78"/>
                  </a:rPr>
                  <a:t>سنجش مدل </a:t>
                </a:r>
                <a:endParaRPr lang="en-US" sz="2000" b="1" dirty="0">
                  <a:latin typeface="Times New Roman" panose="02020603050405020304" pitchFamily="18" charset="0"/>
                  <a:cs typeface="B Nazanin" panose="00000400000000000000" pitchFamily="2" charset="-78"/>
                </a:endParaRPr>
              </a:p>
              <a:p>
                <a:pPr algn="r" rtl="1">
                  <a:lnSpc>
                    <a:spcPct val="150000"/>
                  </a:lnSpc>
                  <a:buNone/>
                </a:pPr>
                <a:r>
                  <a:rPr lang="fa-IR" sz="2000" dirty="0">
                    <a:latin typeface="Times New Roman" panose="02020603050405020304" pitchFamily="18" charset="0"/>
                    <a:cs typeface="B Nazanin" panose="00000400000000000000" pitchFamily="2" charset="-78"/>
                  </a:rPr>
                  <a:t>این معیار نشان می‌دهد که مدل چقدر در پیش‌بینیِ دوزِ خودش موفق بوده است.</a:t>
                </a:r>
              </a:p>
              <a:p>
                <a:pPr algn="r" rtl="1">
                  <a:lnSpc>
                    <a:spcPct val="150000"/>
                  </a:lnSpc>
                  <a:buFont typeface="Arial" panose="020B0604020202020204" pitchFamily="34" charset="0"/>
                  <a:buChar char="•"/>
                </a:pPr>
                <a:r>
                  <a:rPr lang="fa-IR" sz="2000" b="1" dirty="0">
                    <a:latin typeface="Times New Roman" panose="02020603050405020304" pitchFamily="18" charset="0"/>
                    <a:cs typeface="B Nazanin" panose="00000400000000000000" pitchFamily="2" charset="-78"/>
                  </a:rPr>
                  <a:t>(Inaccuracy):</a:t>
                </a:r>
                <a:endParaRPr lang="fa-IR" sz="2000" dirty="0">
                  <a:latin typeface="Times New Roman" panose="02020603050405020304" pitchFamily="18" charset="0"/>
                  <a:cs typeface="B Nazanin" panose="00000400000000000000" pitchFamily="2" charset="-78"/>
                </a:endParaRPr>
              </a:p>
              <a:p>
                <a:pPr algn="r" rtl="1">
                  <a:lnSpc>
                    <a:spcPct val="150000"/>
                  </a:lnSpc>
                  <a:buNone/>
                </a:pPr>
                <a14:m>
                  <m:oMathPara xmlns:m="http://schemas.openxmlformats.org/officeDocument/2006/math">
                    <m:oMathParaPr>
                      <m:jc m:val="centerGroup"/>
                    </m:oMathParaPr>
                    <m:oMath xmlns:m="http://schemas.openxmlformats.org/officeDocument/2006/math">
                      <m:r>
                        <m:rPr>
                          <m:nor/>
                        </m:rPr>
                        <a:rPr lang="en-US" sz="2000" b="0">
                          <a:latin typeface="Times New Roman" panose="02020603050405020304" pitchFamily="18" charset="0"/>
                          <a:cs typeface="B Nazanin" panose="00000400000000000000" pitchFamily="2" charset="-78"/>
                        </a:rPr>
                        <m:t>Inaccuracy</m:t>
                      </m:r>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PredictedUtility</m:t>
                          </m:r>
                        </m:e>
                        <m:sub>
                          <m:r>
                            <m:rPr>
                              <m:nor/>
                            </m:rPr>
                            <a:rPr lang="en-US" sz="2000" b="0" i="1">
                              <a:latin typeface="Times New Roman" panose="02020603050405020304" pitchFamily="18" charset="0"/>
                              <a:cs typeface="B Nazanin" panose="00000400000000000000" pitchFamily="2" charset="-78"/>
                            </a:rPr>
                            <m:t>Chosen</m:t>
                          </m:r>
                        </m:sub>
                      </m:sSub>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Chosen</m:t>
                          </m:r>
                        </m:sub>
                      </m:sSub>
                    </m:oMath>
                  </m:oMathPara>
                </a14:m>
                <a:endParaRPr lang="en-US" sz="2000" b="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اگر این عدد </a:t>
                </a:r>
                <a:r>
                  <a:rPr lang="fa-IR" sz="2000" b="1" dirty="0">
                    <a:latin typeface="Times New Roman" panose="02020603050405020304" pitchFamily="18" charset="0"/>
                    <a:cs typeface="B Nazanin" panose="00000400000000000000" pitchFamily="2" charset="-78"/>
                  </a:rPr>
                  <a:t>مثبت</a:t>
                </a:r>
                <a:r>
                  <a:rPr lang="fa-IR" sz="2000" dirty="0">
                    <a:latin typeface="Times New Roman" panose="02020603050405020304" pitchFamily="18" charset="0"/>
                    <a:cs typeface="B Nazanin" panose="00000400000000000000" pitchFamily="2" charset="-78"/>
                  </a:rPr>
                  <a:t> باشد: مدل «خوش‌بین» است (فکر می‌کند دوز انتخابی‌اش بهتر از واقعیت عمل می‌کند).</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اگر این عدد </a:t>
                </a:r>
                <a:r>
                  <a:rPr lang="fa-IR" sz="2000" b="1" dirty="0">
                    <a:latin typeface="Times New Roman" panose="02020603050405020304" pitchFamily="18" charset="0"/>
                    <a:cs typeface="B Nazanin" panose="00000400000000000000" pitchFamily="2" charset="-78"/>
                  </a:rPr>
                  <a:t>منفی</a:t>
                </a:r>
                <a:r>
                  <a:rPr lang="fa-IR" sz="2000" dirty="0">
                    <a:latin typeface="Times New Roman" panose="02020603050405020304" pitchFamily="18" charset="0"/>
                    <a:cs typeface="B Nazanin" panose="00000400000000000000" pitchFamily="2" charset="-78"/>
                  </a:rPr>
                  <a:t> باشد: مدل «بدبین» است (قدرت دوز انتخابی‌اش را دست‌کم گرفته است).</a:t>
                </a:r>
                <a:endParaRPr lang="en-US"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endParaRPr lang="fa-IR" sz="20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000" b="1" dirty="0">
                    <a:latin typeface="Times New Roman" panose="02020603050405020304" pitchFamily="18" charset="0"/>
                    <a:cs typeface="B Nazanin" panose="00000400000000000000" pitchFamily="2" charset="-78"/>
                  </a:rPr>
                  <a:t>(Absolute Inaccuracy):</a:t>
                </a:r>
                <a:endParaRPr lang="fa-IR" sz="2000" dirty="0">
                  <a:latin typeface="Times New Roman" panose="02020603050405020304" pitchFamily="18" charset="0"/>
                  <a:cs typeface="B Nazanin" panose="00000400000000000000" pitchFamily="2" charset="-78"/>
                </a:endParaRPr>
              </a:p>
              <a:p>
                <a:pPr algn="r" rtl="1">
                  <a:lnSpc>
                    <a:spcPct val="150000"/>
                  </a:lnSpc>
                  <a:buNone/>
                </a:pPr>
                <a14:m>
                  <m:oMathPara xmlns:m="http://schemas.openxmlformats.org/officeDocument/2006/math">
                    <m:oMathParaPr>
                      <m:jc m:val="centerGroup"/>
                    </m:oMathParaPr>
                    <m:oMath xmlns:m="http://schemas.openxmlformats.org/officeDocument/2006/math">
                      <m:r>
                        <m:rPr>
                          <m:nor/>
                        </m:rPr>
                        <a:rPr lang="en-US" sz="2000" b="0">
                          <a:latin typeface="Times New Roman" panose="02020603050405020304" pitchFamily="18" charset="0"/>
                          <a:cs typeface="B Nazanin" panose="00000400000000000000" pitchFamily="2" charset="-78"/>
                        </a:rPr>
                        <m:t>Absolute</m:t>
                      </m:r>
                      <m:r>
                        <m:rPr>
                          <m:nor/>
                        </m:rPr>
                        <a:rPr lang="en-US" sz="2000" b="0" i="1">
                          <a:latin typeface="Times New Roman" panose="02020603050405020304" pitchFamily="18" charset="0"/>
                          <a:cs typeface="B Nazanin" panose="00000400000000000000" pitchFamily="2" charset="-78"/>
                        </a:rPr>
                        <m:t> </m:t>
                      </m:r>
                      <m:r>
                        <m:rPr>
                          <m:nor/>
                        </m:rPr>
                        <a:rPr lang="en-US" sz="2000" b="0" i="1">
                          <a:latin typeface="Times New Roman" panose="02020603050405020304" pitchFamily="18" charset="0"/>
                          <a:cs typeface="B Nazanin" panose="00000400000000000000" pitchFamily="2" charset="-78"/>
                        </a:rPr>
                        <m:t>Inaccuracy</m:t>
                      </m:r>
                      <m:r>
                        <a:rPr lang="en-US" sz="2000" b="0" i="0">
                          <a:latin typeface="Cambria Math" panose="02040503050406030204" pitchFamily="18" charset="0"/>
                        </a:rPr>
                        <m:t>=∣</m:t>
                      </m:r>
                      <m:r>
                        <m:rPr>
                          <m:nor/>
                        </m:rPr>
                        <a:rPr lang="en-US" sz="2000" b="0" i="1">
                          <a:latin typeface="Times New Roman" panose="02020603050405020304" pitchFamily="18" charset="0"/>
                          <a:cs typeface="B Nazanin" panose="00000400000000000000" pitchFamily="2" charset="-78"/>
                        </a:rPr>
                        <m:t>Inaccuracy</m:t>
                      </m:r>
                      <m:r>
                        <a:rPr lang="en-US" sz="2000" b="0" i="0">
                          <a:latin typeface="Cambria Math" panose="02040503050406030204" pitchFamily="18" charset="0"/>
                        </a:rPr>
                        <m:t>∣</m:t>
                      </m:r>
                    </m:oMath>
                  </m:oMathPara>
                </a14:m>
                <a:endParaRPr lang="en-US" sz="2000" b="0" dirty="0">
                  <a:latin typeface="Times New Roman" panose="02020603050405020304" pitchFamily="18" charset="0"/>
                </a:endParaRPr>
              </a:p>
              <a:p>
                <a:pPr algn="r" rtl="1">
                  <a:lnSpc>
                    <a:spcPct val="150000"/>
                  </a:lnSpc>
                  <a:buNone/>
                </a:pPr>
                <a:endParaRPr lang="fa-IR" sz="2000" dirty="0">
                  <a:latin typeface="Times New Roman" panose="02020603050405020304" pitchFamily="18" charset="0"/>
                  <a:cs typeface="B Nazanin" panose="00000400000000000000" pitchFamily="2" charset="-78"/>
                </a:endParaRPr>
              </a:p>
            </p:txBody>
          </p:sp>
        </mc:Choice>
        <mc:Fallback xmlns="">
          <p:sp>
            <p:nvSpPr>
              <p:cNvPr id="4" name="TextBox 3">
                <a:extLst>
                  <a:ext uri="{FF2B5EF4-FFF2-40B4-BE49-F238E27FC236}">
                    <a16:creationId xmlns:a16="http://schemas.microsoft.com/office/drawing/2014/main" id="{F778A2FA-B7C6-3D32-28AF-1529D570B033}"/>
                  </a:ext>
                </a:extLst>
              </p:cNvPr>
              <p:cNvSpPr txBox="1">
                <a:spLocks noRot="1" noChangeAspect="1" noMove="1" noResize="1" noEditPoints="1" noAdjustHandles="1" noChangeArrowheads="1" noChangeShapeType="1" noTextEdit="1"/>
              </p:cNvSpPr>
              <p:nvPr/>
            </p:nvSpPr>
            <p:spPr>
              <a:xfrm>
                <a:off x="399143" y="1186546"/>
                <a:ext cx="11393714" cy="4704558"/>
              </a:xfrm>
              <a:prstGeom prst="rect">
                <a:avLst/>
              </a:prstGeom>
              <a:blipFill>
                <a:blip r:embed="rId2"/>
                <a:stretch>
                  <a:fillRect r="-53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C01A89A-4AA7-9D9E-9791-BE841E71B078}"/>
              </a:ext>
            </a:extLst>
          </p:cNvPr>
          <p:cNvSpPr txBox="1"/>
          <p:nvPr/>
        </p:nvSpPr>
        <p:spPr>
          <a:xfrm>
            <a:off x="4978400" y="136525"/>
            <a:ext cx="6096000" cy="584775"/>
          </a:xfrm>
          <a:prstGeom prst="rect">
            <a:avLst/>
          </a:prstGeom>
          <a:noFill/>
        </p:spPr>
        <p:txBody>
          <a:bodyPr wrap="square">
            <a:spAutoFit/>
          </a:bodyPr>
          <a:lstStyle/>
          <a:p>
            <a:r>
              <a:rPr lang="fa-IR" sz="3200" b="1" dirty="0"/>
              <a:t>Inaccuracy</a:t>
            </a:r>
            <a:endParaRPr lang="en-US" sz="3200" dirty="0"/>
          </a:p>
        </p:txBody>
      </p:sp>
    </p:spTree>
    <p:extLst>
      <p:ext uri="{BB962C8B-B14F-4D97-AF65-F5344CB8AC3E}">
        <p14:creationId xmlns:p14="http://schemas.microsoft.com/office/powerpoint/2010/main" val="1897641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DF5F08-4496-9FC3-E5FA-43397E73F2A1}"/>
              </a:ext>
            </a:extLst>
          </p:cNvPr>
          <p:cNvSpPr>
            <a:spLocks noGrp="1"/>
          </p:cNvSpPr>
          <p:nvPr>
            <p:ph type="sldNum" sz="quarter" idx="12"/>
          </p:nvPr>
        </p:nvSpPr>
        <p:spPr/>
        <p:txBody>
          <a:bodyPr/>
          <a:lstStyle/>
          <a:p>
            <a:fld id="{67EFB97B-C702-468C-B184-BC2FF345C510}" type="slidenum">
              <a:rPr lang="en-US" smtClean="0"/>
              <a:t>21</a:t>
            </a:fld>
            <a:endParaRPr lang="en-US"/>
          </a:p>
        </p:txBody>
      </p:sp>
      <p:pic>
        <p:nvPicPr>
          <p:cNvPr id="4" name="Picture 3">
            <a:extLst>
              <a:ext uri="{FF2B5EF4-FFF2-40B4-BE49-F238E27FC236}">
                <a16:creationId xmlns:a16="http://schemas.microsoft.com/office/drawing/2014/main" id="{94625F96-38FA-A840-99FF-F95539D61596}"/>
              </a:ext>
            </a:extLst>
          </p:cNvPr>
          <p:cNvPicPr>
            <a:picLocks noChangeAspect="1"/>
          </p:cNvPicPr>
          <p:nvPr/>
        </p:nvPicPr>
        <p:blipFill>
          <a:blip r:embed="rId2"/>
          <a:srcRect l="50189" b="59348"/>
          <a:stretch>
            <a:fillRect/>
          </a:stretch>
        </p:blipFill>
        <p:spPr>
          <a:xfrm>
            <a:off x="1611086" y="0"/>
            <a:ext cx="10159569" cy="6629738"/>
          </a:xfrm>
          <a:prstGeom prst="rect">
            <a:avLst/>
          </a:prstGeom>
        </p:spPr>
      </p:pic>
    </p:spTree>
    <p:extLst>
      <p:ext uri="{BB962C8B-B14F-4D97-AF65-F5344CB8AC3E}">
        <p14:creationId xmlns:p14="http://schemas.microsoft.com/office/powerpoint/2010/main" val="2838484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6A6BDC-158C-9BEE-B924-33372D6B6842}"/>
              </a:ext>
            </a:extLst>
          </p:cNvPr>
          <p:cNvSpPr>
            <a:spLocks noGrp="1"/>
          </p:cNvSpPr>
          <p:nvPr>
            <p:ph type="sldNum" sz="quarter" idx="12"/>
          </p:nvPr>
        </p:nvSpPr>
        <p:spPr/>
        <p:txBody>
          <a:bodyPr/>
          <a:lstStyle/>
          <a:p>
            <a:fld id="{67EFB97B-C702-468C-B184-BC2FF345C510}" type="slidenum">
              <a:rPr lang="en-US" smtClean="0"/>
              <a:t>22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409D9C-256A-D66E-0A91-850C0F8ADDD3}"/>
                  </a:ext>
                </a:extLst>
              </p:cNvPr>
              <p:cNvSpPr txBox="1"/>
              <p:nvPr/>
            </p:nvSpPr>
            <p:spPr>
              <a:xfrm>
                <a:off x="137652" y="136525"/>
                <a:ext cx="11916695" cy="5842946"/>
              </a:xfrm>
              <a:prstGeom prst="rect">
                <a:avLst/>
              </a:prstGeom>
              <a:noFill/>
            </p:spPr>
            <p:txBody>
              <a:bodyPr wrap="square">
                <a:spAutoFit/>
              </a:bodyPr>
              <a:lstStyle/>
              <a:p>
                <a:pPr algn="ctr" rtl="1">
                  <a:buNone/>
                </a:pPr>
                <a:r>
                  <a:rPr lang="fa-IR" sz="2800" b="1" dirty="0">
                    <a:latin typeface="Times New Roman" panose="02020603050405020304" pitchFamily="18" charset="0"/>
                    <a:cs typeface="B Nazanin" panose="00000400000000000000" pitchFamily="2" charset="-78"/>
                  </a:rPr>
                  <a:t>Average Regret</a:t>
                </a:r>
                <a:endParaRPr lang="en-US" sz="2800" b="1" dirty="0">
                  <a:latin typeface="Times New Roman" panose="02020603050405020304" pitchFamily="18" charset="0"/>
                  <a:cs typeface="B Nazanin" panose="00000400000000000000" pitchFamily="2" charset="-78"/>
                </a:endParaRPr>
              </a:p>
              <a:p>
                <a:pPr algn="r" rtl="1">
                  <a:buNone/>
                </a:pPr>
                <a:endParaRPr lang="en-US" sz="2000" b="1" dirty="0">
                  <a:latin typeface="Times New Roman" panose="02020603050405020304" pitchFamily="18" charset="0"/>
                  <a:cs typeface="B Nazanin" panose="00000400000000000000" pitchFamily="2" charset="-78"/>
                </a:endParaRPr>
              </a:p>
              <a:p>
                <a:pPr algn="r" rtl="1">
                  <a:buNone/>
                </a:pPr>
                <a:br>
                  <a:rPr lang="en-US" sz="2000" dirty="0">
                    <a:latin typeface="Times New Roman" panose="02020603050405020304" pitchFamily="18" charset="0"/>
                    <a:cs typeface="B Nazanin" panose="00000400000000000000" pitchFamily="2" charset="-78"/>
                  </a:rPr>
                </a:br>
                <a:endParaRPr lang="en-US" sz="2000" dirty="0">
                  <a:latin typeface="Times New Roman" panose="02020603050405020304" pitchFamily="18" charset="0"/>
                  <a:cs typeface="B Nazanin" panose="00000400000000000000" pitchFamily="2" charset="-78"/>
                </a:endParaRPr>
              </a:p>
              <a:p>
                <a:pPr algn="r" rtl="1">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m:rPr>
                              <m:nor/>
                            </m:rPr>
                            <a:rPr lang="en-US" sz="2000" b="0">
                              <a:latin typeface="Times New Roman" panose="02020603050405020304" pitchFamily="18" charset="0"/>
                              <a:cs typeface="B Nazanin" panose="00000400000000000000" pitchFamily="2" charset="-78"/>
                            </a:rPr>
                            <m:t>Regret</m:t>
                          </m:r>
                        </m:e>
                        <m:sub>
                          <m:r>
                            <m:rPr>
                              <m:nor/>
                            </m:rPr>
                            <a:rPr lang="en-US" sz="2000" b="0" i="1">
                              <a:latin typeface="Times New Roman" panose="02020603050405020304" pitchFamily="18" charset="0"/>
                              <a:cs typeface="B Nazanin" panose="00000400000000000000" pitchFamily="2" charset="-78"/>
                            </a:rPr>
                            <m:t>Individual</m:t>
                          </m:r>
                        </m:sub>
                      </m:sSub>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r>
                            <m:rPr>
                              <m:nor/>
                            </m:rPr>
                            <a:rPr lang="en-US" sz="2000" b="0" i="1">
                              <a:latin typeface="Times New Roman" panose="02020603050405020304" pitchFamily="18" charset="0"/>
                              <a:cs typeface="B Nazanin" panose="00000400000000000000" pitchFamily="2" charset="-78"/>
                            </a:rPr>
                            <m:t>Individual</m:t>
                          </m:r>
                        </m:sub>
                      </m:sSub>
                      <m:r>
                        <a:rPr lang="en-US" sz="2000" b="0" i="0">
                          <a:latin typeface="Cambria Math" panose="02040503050406030204" pitchFamily="18" charset="0"/>
                        </a:rPr>
                        <m:t>−</m:t>
                      </m:r>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Utility</m:t>
                          </m:r>
                        </m:e>
                        <m:sub>
                          <m:eqArr>
                            <m:eqArrPr>
                              <m:ctrlPr>
                                <a:rPr lang="en-US" sz="2000" b="0" i="1">
                                  <a:latin typeface="Cambria Math" panose="02040503050406030204" pitchFamily="18" charset="0"/>
                                </a:rPr>
                              </m:ctrlPr>
                            </m:eqArrPr>
                            <m:e>
                              <m:r>
                                <m:rPr>
                                  <m:nor/>
                                </m:rPr>
                                <a:rPr lang="en-US" sz="2000" b="0" i="1">
                                  <a:latin typeface="Times New Roman" panose="02020603050405020304" pitchFamily="18" charset="0"/>
                                  <a:cs typeface="B Nazanin" panose="00000400000000000000" pitchFamily="2" charset="-78"/>
                                </a:rPr>
                                <m:t>True</m:t>
                              </m:r>
                              <m:r>
                                <m:rPr>
                                  <m:nor/>
                                </m:rPr>
                                <a:rPr lang="en-US" sz="2000" b="0" i="1">
                                  <a:latin typeface="Times New Roman" panose="02020603050405020304" pitchFamily="18" charset="0"/>
                                  <a:cs typeface="B Nazanin" panose="00000400000000000000" pitchFamily="2" charset="-78"/>
                                </a:rPr>
                                <m:t> </m:t>
                              </m:r>
                              <m:r>
                                <m:rPr>
                                  <m:nor/>
                                </m:rPr>
                                <a:rPr lang="en-US" sz="2000" b="0" i="1">
                                  <a:latin typeface="Times New Roman" panose="02020603050405020304" pitchFamily="18" charset="0"/>
                                  <a:cs typeface="B Nazanin" panose="00000400000000000000" pitchFamily="2" charset="-78"/>
                                </a:rPr>
                                <m:t>Optimal</m:t>
                              </m:r>
                            </m:e>
                            <m:e/>
                          </m:eqArr>
                        </m:sub>
                      </m:sSub>
                    </m:oMath>
                  </m:oMathPara>
                </a14:m>
                <a:endParaRPr lang="en-US" sz="2000" b="0" dirty="0">
                  <a:latin typeface="Times New Roman" panose="02020603050405020304" pitchFamily="18" charset="0"/>
                  <a:cs typeface="B Nazanin" panose="00000400000000000000" pitchFamily="2" charset="-78"/>
                </a:endParaRPr>
              </a:p>
              <a:p>
                <a:pPr algn="r" rtl="1">
                  <a:buNone/>
                </a:pPr>
                <a:endParaRPr lang="en-US" sz="2000" i="1" dirty="0">
                  <a:latin typeface="Times New Roman" panose="02020603050405020304" pitchFamily="18" charset="0"/>
                  <a:cs typeface="B Nazanin" panose="00000400000000000000" pitchFamily="2" charset="-78"/>
                </a:endParaRPr>
              </a:p>
              <a:p>
                <a:pPr algn="r" rtl="1">
                  <a:buNone/>
                </a:pPr>
                <a:endParaRPr lang="en-US" sz="2000" b="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14:m>
                  <m:oMathPara xmlns:m="http://schemas.openxmlformats.org/officeDocument/2006/math">
                    <m:oMathParaPr>
                      <m:jc m:val="centerGroup"/>
                    </m:oMathParaPr>
                    <m:oMath xmlns:m="http://schemas.openxmlformats.org/officeDocument/2006/math">
                      <m:r>
                        <m:rPr>
                          <m:nor/>
                        </m:rPr>
                        <a:rPr lang="en-US" sz="2000" b="0">
                          <a:latin typeface="Times New Roman" panose="02020603050405020304" pitchFamily="18" charset="0"/>
                          <a:cs typeface="B Nazanin" panose="00000400000000000000" pitchFamily="2" charset="-78"/>
                        </a:rPr>
                        <m:t>Average</m:t>
                      </m:r>
                      <m:r>
                        <m:rPr>
                          <m:nor/>
                        </m:rPr>
                        <a:rPr lang="en-US" sz="2000" b="0" i="1">
                          <a:latin typeface="Times New Roman" panose="02020603050405020304" pitchFamily="18" charset="0"/>
                          <a:cs typeface="B Nazanin" panose="00000400000000000000" pitchFamily="2" charset="-78"/>
                        </a:rPr>
                        <m:t> </m:t>
                      </m:r>
                      <m:r>
                        <m:rPr>
                          <m:nor/>
                        </m:rPr>
                        <a:rPr lang="en-US" sz="2000" b="0" i="1">
                          <a:latin typeface="Times New Roman" panose="02020603050405020304" pitchFamily="18" charset="0"/>
                          <a:cs typeface="B Nazanin" panose="00000400000000000000" pitchFamily="2" charset="-78"/>
                        </a:rPr>
                        <m:t>Regret</m:t>
                      </m:r>
                      <m:r>
                        <a:rPr lang="en-US" sz="2000" b="0" i="0">
                          <a:latin typeface="Cambria Math" panose="02040503050406030204" pitchFamily="18" charset="0"/>
                        </a:rPr>
                        <m:t>=</m:t>
                      </m:r>
                      <m:f>
                        <m:fPr>
                          <m:ctrlPr>
                            <a:rPr lang="en-US" sz="2000" b="0" i="1">
                              <a:latin typeface="Cambria Math" panose="02040503050406030204" pitchFamily="18" charset="0"/>
                            </a:rPr>
                          </m:ctrlPr>
                        </m:fPr>
                        <m:num>
                          <m:nary>
                            <m:naryPr>
                              <m:chr m:val="∑"/>
                              <m:grow m:val="on"/>
                              <m:subHide m:val="on"/>
                              <m:supHide m:val="on"/>
                              <m:ctrlPr>
                                <a:rPr lang="en-US" sz="2000" b="0" i="1">
                                  <a:latin typeface="Cambria Math" panose="02040503050406030204" pitchFamily="18" charset="0"/>
                                </a:rPr>
                              </m:ctrlPr>
                            </m:naryPr>
                            <m:sub/>
                            <m:sup/>
                            <m:e>
                              <m:sSub>
                                <m:sSubPr>
                                  <m:ctrlPr>
                                    <a:rPr lang="en-US" sz="2000" b="0" i="1">
                                      <a:latin typeface="Cambria Math" panose="02040503050406030204" pitchFamily="18" charset="0"/>
                                    </a:rPr>
                                  </m:ctrlPr>
                                </m:sSubPr>
                                <m:e>
                                  <m:r>
                                    <m:rPr>
                                      <m:nor/>
                                    </m:rPr>
                                    <a:rPr lang="en-US" sz="2000" b="0" i="1">
                                      <a:latin typeface="Times New Roman" panose="02020603050405020304" pitchFamily="18" charset="0"/>
                                      <a:cs typeface="B Nazanin" panose="00000400000000000000" pitchFamily="2" charset="-78"/>
                                    </a:rPr>
                                    <m:t>Regret</m:t>
                                  </m:r>
                                </m:e>
                                <m:sub>
                                  <m:r>
                                    <m:rPr>
                                      <m:nor/>
                                    </m:rPr>
                                    <a:rPr lang="en-US" sz="2000" b="0" i="1">
                                      <a:latin typeface="Times New Roman" panose="02020603050405020304" pitchFamily="18" charset="0"/>
                                      <a:cs typeface="B Nazanin" panose="00000400000000000000" pitchFamily="2" charset="-78"/>
                                    </a:rPr>
                                    <m:t>Individual</m:t>
                                  </m:r>
                                </m:sub>
                              </m:sSub>
                            </m:e>
                          </m:nary>
                        </m:num>
                        <m:den>
                          <m:r>
                            <a:rPr lang="en-US" sz="2000" b="0" i="1">
                              <a:latin typeface="Cambria Math" panose="02040503050406030204" pitchFamily="18" charset="0"/>
                            </a:rPr>
                            <m:t>𝑛</m:t>
                          </m:r>
                        </m:den>
                      </m:f>
                    </m:oMath>
                  </m:oMathPara>
                </a14:m>
                <a:endParaRPr lang="en-US" sz="2000" b="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endParaRPr lang="en-US" sz="2000" b="0" dirty="0">
                  <a:latin typeface="Times New Roman" panose="02020603050405020304" pitchFamily="18" charset="0"/>
                  <a:cs typeface="B Nazanin" panose="00000400000000000000" pitchFamily="2" charset="-78"/>
                </a:endParaRPr>
              </a:p>
              <a:p>
                <a:pPr algn="just" rtl="1">
                  <a:lnSpc>
                    <a:spcPct val="150000"/>
                  </a:lnSpc>
                  <a:buNone/>
                </a:pPr>
                <a:r>
                  <a:rPr lang="fa-IR" sz="2400" dirty="0">
                    <a:latin typeface="Times New Roman" panose="02020603050405020304" pitchFamily="18" charset="0"/>
                    <a:cs typeface="B Nazanin" panose="00000400000000000000" pitchFamily="2" charset="-78"/>
                  </a:rPr>
                  <a:t>در آزمایش‌های بالینی، ما اخلاقاً وظیفه داریم تا حد ممکن به داوطلبان دوزهای «خوب» بدهیم. اگر یک مدل برای یادگیری مجبور باشد دوزهای بسیار سمی یا بسیار بی‌اثر را به تعداد زیادی از افراد تزریق کند، Average Regret بالایی خواهد داشت و از نظر اخلاقی ضعیف عمل کرده است. </a:t>
                </a:r>
              </a:p>
            </p:txBody>
          </p:sp>
        </mc:Choice>
        <mc:Fallback xmlns="">
          <p:sp>
            <p:nvSpPr>
              <p:cNvPr id="4" name="TextBox 3">
                <a:extLst>
                  <a:ext uri="{FF2B5EF4-FFF2-40B4-BE49-F238E27FC236}">
                    <a16:creationId xmlns:a16="http://schemas.microsoft.com/office/drawing/2014/main" id="{9A409D9C-256A-D66E-0A91-850C0F8ADDD3}"/>
                  </a:ext>
                </a:extLst>
              </p:cNvPr>
              <p:cNvSpPr txBox="1">
                <a:spLocks noRot="1" noChangeAspect="1" noMove="1" noResize="1" noEditPoints="1" noAdjustHandles="1" noChangeArrowheads="1" noChangeShapeType="1" noTextEdit="1"/>
              </p:cNvSpPr>
              <p:nvPr/>
            </p:nvSpPr>
            <p:spPr>
              <a:xfrm>
                <a:off x="137652" y="136525"/>
                <a:ext cx="11916695" cy="5842946"/>
              </a:xfrm>
              <a:prstGeom prst="rect">
                <a:avLst/>
              </a:prstGeom>
              <a:blipFill>
                <a:blip r:embed="rId2"/>
                <a:stretch>
                  <a:fillRect l="-1484" t="-1043" r="-819" b="-1460"/>
                </a:stretch>
              </a:blipFill>
            </p:spPr>
            <p:txBody>
              <a:bodyPr/>
              <a:lstStyle/>
              <a:p>
                <a:r>
                  <a:rPr lang="en-US">
                    <a:noFill/>
                  </a:rPr>
                  <a:t> </a:t>
                </a:r>
              </a:p>
            </p:txBody>
          </p:sp>
        </mc:Fallback>
      </mc:AlternateContent>
    </p:spTree>
    <p:extLst>
      <p:ext uri="{BB962C8B-B14F-4D97-AF65-F5344CB8AC3E}">
        <p14:creationId xmlns:p14="http://schemas.microsoft.com/office/powerpoint/2010/main" val="1565148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6423A1-4E05-E892-81A7-20DAED84B933}"/>
              </a:ext>
            </a:extLst>
          </p:cNvPr>
          <p:cNvSpPr>
            <a:spLocks noGrp="1"/>
          </p:cNvSpPr>
          <p:nvPr>
            <p:ph type="sldNum" sz="quarter" idx="12"/>
          </p:nvPr>
        </p:nvSpPr>
        <p:spPr/>
        <p:txBody>
          <a:bodyPr/>
          <a:lstStyle/>
          <a:p>
            <a:fld id="{67EFB97B-C702-468C-B184-BC2FF345C510}" type="slidenum">
              <a:rPr lang="en-US" smtClean="0"/>
              <a:t>23</a:t>
            </a:fld>
            <a:endParaRPr lang="en-US"/>
          </a:p>
        </p:txBody>
      </p:sp>
      <p:pic>
        <p:nvPicPr>
          <p:cNvPr id="4" name="Picture 3">
            <a:extLst>
              <a:ext uri="{FF2B5EF4-FFF2-40B4-BE49-F238E27FC236}">
                <a16:creationId xmlns:a16="http://schemas.microsoft.com/office/drawing/2014/main" id="{C613B03D-94D2-E859-BD2A-53CF5A7C109F}"/>
              </a:ext>
            </a:extLst>
          </p:cNvPr>
          <p:cNvPicPr>
            <a:picLocks noChangeAspect="1"/>
          </p:cNvPicPr>
          <p:nvPr/>
        </p:nvPicPr>
        <p:blipFill>
          <a:blip r:embed="rId2"/>
          <a:srcRect l="19261" t="42688" r="17828" b="4408"/>
          <a:stretch>
            <a:fillRect/>
          </a:stretch>
        </p:blipFill>
        <p:spPr>
          <a:xfrm>
            <a:off x="1567544" y="302865"/>
            <a:ext cx="9545934" cy="6418610"/>
          </a:xfrm>
          <a:prstGeom prst="rect">
            <a:avLst/>
          </a:prstGeom>
        </p:spPr>
      </p:pic>
    </p:spTree>
    <p:extLst>
      <p:ext uri="{BB962C8B-B14F-4D97-AF65-F5344CB8AC3E}">
        <p14:creationId xmlns:p14="http://schemas.microsoft.com/office/powerpoint/2010/main" val="921146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53D094E-EE86-F1CA-29BB-57356B1B2C14}"/>
              </a:ext>
            </a:extLst>
          </p:cNvPr>
          <p:cNvSpPr/>
          <p:nvPr/>
        </p:nvSpPr>
        <p:spPr>
          <a:xfrm>
            <a:off x="616152" y="3510586"/>
            <a:ext cx="10711833" cy="4323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highlight>
                <a:srgbClr val="FFFF00"/>
              </a:highlight>
              <a:latin typeface="Times New Roman" panose="02020603050405020304" pitchFamily="18" charset="0"/>
              <a:cs typeface="B Nazanin" panose="00000400000000000000" pitchFamily="2" charset="-78"/>
            </a:endParaRPr>
          </a:p>
        </p:txBody>
      </p:sp>
      <p:sp>
        <p:nvSpPr>
          <p:cNvPr id="11" name="Rectangle 10">
            <a:extLst>
              <a:ext uri="{FF2B5EF4-FFF2-40B4-BE49-F238E27FC236}">
                <a16:creationId xmlns:a16="http://schemas.microsoft.com/office/drawing/2014/main" id="{7FADC994-2657-8BFB-6F0A-F657822C7851}"/>
              </a:ext>
            </a:extLst>
          </p:cNvPr>
          <p:cNvSpPr/>
          <p:nvPr/>
        </p:nvSpPr>
        <p:spPr>
          <a:xfrm>
            <a:off x="383925" y="1425702"/>
            <a:ext cx="11305801" cy="8439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Times New Roman" panose="02020603050405020304" pitchFamily="18" charset="0"/>
              <a:cs typeface="B Nazanin" panose="00000400000000000000" pitchFamily="2" charset="-78"/>
            </a:endParaRPr>
          </a:p>
        </p:txBody>
      </p:sp>
      <p:sp>
        <p:nvSpPr>
          <p:cNvPr id="12" name="Rectangle 11">
            <a:extLst>
              <a:ext uri="{FF2B5EF4-FFF2-40B4-BE49-F238E27FC236}">
                <a16:creationId xmlns:a16="http://schemas.microsoft.com/office/drawing/2014/main" id="{21497349-23B8-3D97-1BE2-C1272AE08257}"/>
              </a:ext>
            </a:extLst>
          </p:cNvPr>
          <p:cNvSpPr/>
          <p:nvPr/>
        </p:nvSpPr>
        <p:spPr>
          <a:xfrm>
            <a:off x="443099" y="2657605"/>
            <a:ext cx="11305802" cy="716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Times New Roman" panose="02020603050405020304" pitchFamily="18" charset="0"/>
              <a:cs typeface="B Nazanin" panose="00000400000000000000" pitchFamily="2" charset="-78"/>
            </a:endParaRPr>
          </a:p>
        </p:txBody>
      </p:sp>
      <p:sp>
        <p:nvSpPr>
          <p:cNvPr id="22" name="Rectangle 21">
            <a:extLst>
              <a:ext uri="{FF2B5EF4-FFF2-40B4-BE49-F238E27FC236}">
                <a16:creationId xmlns:a16="http://schemas.microsoft.com/office/drawing/2014/main" id="{8AE3AAE1-2CE0-5F7C-A133-9173044508F1}"/>
              </a:ext>
            </a:extLst>
          </p:cNvPr>
          <p:cNvSpPr/>
          <p:nvPr/>
        </p:nvSpPr>
        <p:spPr>
          <a:xfrm>
            <a:off x="616151" y="4096597"/>
            <a:ext cx="10711833" cy="4323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highlight>
                <a:srgbClr val="FFFF00"/>
              </a:highlight>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32FBC4CF-A3AC-6245-6654-FCEE67068FA7}"/>
              </a:ext>
            </a:extLst>
          </p:cNvPr>
          <p:cNvSpPr>
            <a:spLocks noGrp="1"/>
          </p:cNvSpPr>
          <p:nvPr>
            <p:ph type="sldNum" sz="quarter" idx="12"/>
          </p:nvPr>
        </p:nvSpPr>
        <p:spPr>
          <a:xfrm>
            <a:off x="6567010" y="3981549"/>
            <a:ext cx="4760974" cy="746458"/>
          </a:xfrm>
        </p:spPr>
        <p:txBody>
          <a:bodyPr/>
          <a:lstStyle/>
          <a:p>
            <a:pPr rtl="1"/>
            <a:r>
              <a:rPr lang="en-US" sz="1800" b="1" dirty="0">
                <a:solidFill>
                  <a:schemeClr val="tx1"/>
                </a:solidFill>
                <a:latin typeface="Times New Roman" panose="02020603050405020304" pitchFamily="18" charset="0"/>
                <a:cs typeface="B Nazanin" panose="00000400000000000000" pitchFamily="2" charset="-78"/>
              </a:rPr>
              <a:t>Fully continual – Balanced</a:t>
            </a:r>
            <a:endParaRPr lang="en-US" sz="1800" dirty="0">
              <a:solidFill>
                <a:schemeClr val="tx1"/>
              </a:solidFill>
              <a:latin typeface="Times New Roman" panose="02020603050405020304" pitchFamily="18" charset="0"/>
              <a:cs typeface="B Nazanin" panose="00000400000000000000" pitchFamily="2" charset="-78"/>
            </a:endParaRPr>
          </a:p>
        </p:txBody>
      </p:sp>
      <p:sp>
        <p:nvSpPr>
          <p:cNvPr id="3" name="TextBox 2">
            <a:extLst>
              <a:ext uri="{FF2B5EF4-FFF2-40B4-BE49-F238E27FC236}">
                <a16:creationId xmlns:a16="http://schemas.microsoft.com/office/drawing/2014/main" id="{C84306B7-345A-2BEA-C565-AC0F8DFE8A61}"/>
              </a:ext>
            </a:extLst>
          </p:cNvPr>
          <p:cNvSpPr txBox="1"/>
          <p:nvPr/>
        </p:nvSpPr>
        <p:spPr>
          <a:xfrm>
            <a:off x="9343649" y="83672"/>
            <a:ext cx="3942736" cy="954107"/>
          </a:xfrm>
          <a:prstGeom prst="rect">
            <a:avLst/>
          </a:prstGeom>
          <a:noFill/>
        </p:spPr>
        <p:txBody>
          <a:bodyPr wrap="square" rtlCol="0">
            <a:spAutoFit/>
          </a:bodyPr>
          <a:lstStyle/>
          <a:p>
            <a:r>
              <a:rPr lang="fa-IR" sz="2800" b="1" dirty="0">
                <a:latin typeface="Times New Roman" panose="02020603050405020304" pitchFamily="18" charset="0"/>
                <a:cs typeface="B Nazanin" panose="00000400000000000000" pitchFamily="2" charset="-78"/>
              </a:rPr>
              <a:t>روش های انتخاب دوز</a:t>
            </a:r>
          </a:p>
          <a:p>
            <a:endParaRPr lang="en-US" sz="2800" b="1" dirty="0">
              <a:latin typeface="Times New Roman" panose="02020603050405020304" pitchFamily="18" charset="0"/>
              <a:cs typeface="B Nazanin" panose="00000400000000000000" pitchFamily="2" charset="-78"/>
            </a:endParaRPr>
          </a:p>
        </p:txBody>
      </p:sp>
      <p:sp>
        <p:nvSpPr>
          <p:cNvPr id="5" name="TextBox 4">
            <a:extLst>
              <a:ext uri="{FF2B5EF4-FFF2-40B4-BE49-F238E27FC236}">
                <a16:creationId xmlns:a16="http://schemas.microsoft.com/office/drawing/2014/main" id="{0D0CA43F-1AA5-FB08-F955-68F6E739DA55}"/>
              </a:ext>
            </a:extLst>
          </p:cNvPr>
          <p:cNvSpPr txBox="1"/>
          <p:nvPr/>
        </p:nvSpPr>
        <p:spPr>
          <a:xfrm>
            <a:off x="2457235" y="1701182"/>
            <a:ext cx="9232491" cy="3416320"/>
          </a:xfrm>
          <a:prstGeom prst="rect">
            <a:avLst/>
          </a:prstGeom>
          <a:noFill/>
        </p:spPr>
        <p:txBody>
          <a:bodyPr wrap="square">
            <a:spAutoFit/>
          </a:bodyPr>
          <a:lstStyle/>
          <a:p>
            <a:pPr algn="r" rtl="1">
              <a:buNone/>
            </a:pPr>
            <a:r>
              <a:rPr lang="en-US" b="1" dirty="0">
                <a:latin typeface="Times New Roman" panose="02020603050405020304" pitchFamily="18" charset="0"/>
                <a:cs typeface="B Nazanin" panose="00000400000000000000" pitchFamily="2" charset="-78"/>
              </a:rPr>
              <a:t>Full uniform exploration</a:t>
            </a:r>
            <a:endParaRPr lang="fa-IR" b="1" dirty="0">
              <a:latin typeface="Times New Roman" panose="02020603050405020304" pitchFamily="18" charset="0"/>
              <a:cs typeface="B Nazanin" panose="00000400000000000000" pitchFamily="2" charset="-78"/>
            </a:endParaRPr>
          </a:p>
          <a:p>
            <a:pPr algn="r" rtl="1">
              <a:buNone/>
            </a:pPr>
            <a:endParaRPr lang="fa-IR" b="1" dirty="0">
              <a:latin typeface="Times New Roman" panose="02020603050405020304" pitchFamily="18" charset="0"/>
              <a:cs typeface="B Nazanin" panose="00000400000000000000" pitchFamily="2" charset="-78"/>
            </a:endParaRPr>
          </a:p>
          <a:p>
            <a:pPr algn="r" rtl="1">
              <a:buNone/>
            </a:pPr>
            <a:endParaRPr lang="fa-IR" b="1" dirty="0">
              <a:latin typeface="Times New Roman" panose="02020603050405020304" pitchFamily="18" charset="0"/>
              <a:cs typeface="B Nazanin" panose="00000400000000000000" pitchFamily="2" charset="-78"/>
            </a:endParaRPr>
          </a:p>
          <a:p>
            <a:pPr algn="r" rtl="1">
              <a:buNone/>
            </a:pPr>
            <a:endParaRPr lang="fa-IR" b="1" dirty="0">
              <a:latin typeface="Times New Roman" panose="02020603050405020304" pitchFamily="18" charset="0"/>
              <a:cs typeface="B Nazanin" panose="00000400000000000000" pitchFamily="2" charset="-78"/>
            </a:endParaRPr>
          </a:p>
          <a:p>
            <a:pPr algn="r" rtl="1">
              <a:buNone/>
            </a:pPr>
            <a:endParaRPr lang="en-US" b="1" dirty="0">
              <a:latin typeface="Times New Roman" panose="02020603050405020304" pitchFamily="18" charset="0"/>
              <a:cs typeface="B Nazanin" panose="00000400000000000000" pitchFamily="2" charset="-78"/>
            </a:endParaRPr>
          </a:p>
          <a:p>
            <a:pPr algn="r" rtl="1">
              <a:buNone/>
            </a:pPr>
            <a:br>
              <a:rPr lang="en-US" dirty="0">
                <a:latin typeface="Times New Roman" panose="02020603050405020304" pitchFamily="18" charset="0"/>
                <a:cs typeface="B Nazanin" panose="00000400000000000000" pitchFamily="2" charset="-78"/>
              </a:rPr>
            </a:br>
            <a:endParaRPr lang="en-US" dirty="0">
              <a:latin typeface="Times New Roman" panose="02020603050405020304" pitchFamily="18" charset="0"/>
              <a:cs typeface="B Nazanin" panose="00000400000000000000" pitchFamily="2" charset="-78"/>
            </a:endParaRPr>
          </a:p>
          <a:p>
            <a:pPr algn="r" rtl="1">
              <a:buNone/>
            </a:pPr>
            <a:endParaRPr lang="en-US" b="1"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br>
              <a:rPr lang="en-US" dirty="0">
                <a:latin typeface="Times New Roman" panose="02020603050405020304" pitchFamily="18" charset="0"/>
                <a:cs typeface="B Nazanin" panose="00000400000000000000" pitchFamily="2" charset="-78"/>
              </a:rPr>
            </a:br>
            <a:endParaRPr lang="en-US" dirty="0">
              <a:latin typeface="Times New Roman" panose="02020603050405020304" pitchFamily="18" charset="0"/>
              <a:cs typeface="B Nazanin" panose="00000400000000000000" pitchFamily="2" charset="-78"/>
            </a:endParaRPr>
          </a:p>
          <a:p>
            <a:pPr algn="r" rtl="1">
              <a:buNone/>
            </a:pPr>
            <a:r>
              <a:rPr lang="en-US" b="1" dirty="0">
                <a:latin typeface="Times New Roman" panose="02020603050405020304" pitchFamily="18" charset="0"/>
                <a:cs typeface="B Nazanin" panose="00000400000000000000" pitchFamily="2" charset="-78"/>
              </a:rPr>
              <a:t> </a:t>
            </a:r>
          </a:p>
        </p:txBody>
      </p:sp>
      <p:sp>
        <p:nvSpPr>
          <p:cNvPr id="20" name="TextBox 19">
            <a:extLst>
              <a:ext uri="{FF2B5EF4-FFF2-40B4-BE49-F238E27FC236}">
                <a16:creationId xmlns:a16="http://schemas.microsoft.com/office/drawing/2014/main" id="{436602FB-9C29-FDE2-09EA-E10DFCACE7DF}"/>
              </a:ext>
            </a:extLst>
          </p:cNvPr>
          <p:cNvSpPr txBox="1"/>
          <p:nvPr/>
        </p:nvSpPr>
        <p:spPr>
          <a:xfrm>
            <a:off x="8427651" y="3324660"/>
            <a:ext cx="8251370" cy="646331"/>
          </a:xfrm>
          <a:prstGeom prst="rect">
            <a:avLst/>
          </a:prstGeom>
          <a:noFill/>
        </p:spPr>
        <p:txBody>
          <a:bodyPr wrap="square">
            <a:spAutoFit/>
          </a:bodyPr>
          <a:lstStyle/>
          <a:p>
            <a:pPr rtl="1"/>
            <a:endParaRPr lang="fa-IR" b="1" dirty="0">
              <a:latin typeface="Times New Roman" panose="02020603050405020304" pitchFamily="18" charset="0"/>
              <a:cs typeface="B Nazanin" panose="00000400000000000000" pitchFamily="2" charset="-78"/>
            </a:endParaRPr>
          </a:p>
          <a:p>
            <a:pPr rtl="1"/>
            <a:r>
              <a:rPr lang="en-US" b="1" dirty="0">
                <a:latin typeface="Times New Roman" panose="02020603050405020304" pitchFamily="18" charset="0"/>
                <a:cs typeface="B Nazanin" panose="00000400000000000000" pitchFamily="2" charset="-78"/>
              </a:rPr>
              <a:t>Fully continual – Standard</a:t>
            </a:r>
            <a:endParaRPr lang="en-US" dirty="0">
              <a:latin typeface="Times New Roman" panose="02020603050405020304" pitchFamily="18" charset="0"/>
              <a:cs typeface="B Nazanin" panose="00000400000000000000" pitchFamily="2" charset="-78"/>
            </a:endParaRPr>
          </a:p>
        </p:txBody>
      </p:sp>
      <p:sp>
        <p:nvSpPr>
          <p:cNvPr id="24" name="TextBox 23">
            <a:extLst>
              <a:ext uri="{FF2B5EF4-FFF2-40B4-BE49-F238E27FC236}">
                <a16:creationId xmlns:a16="http://schemas.microsoft.com/office/drawing/2014/main" id="{841FB7A8-7B60-73AB-CD03-DE0D00E894EB}"/>
              </a:ext>
            </a:extLst>
          </p:cNvPr>
          <p:cNvSpPr txBox="1"/>
          <p:nvPr/>
        </p:nvSpPr>
        <p:spPr>
          <a:xfrm>
            <a:off x="3011301" y="2801659"/>
            <a:ext cx="8737600" cy="369332"/>
          </a:xfrm>
          <a:prstGeom prst="rect">
            <a:avLst/>
          </a:prstGeom>
          <a:noFill/>
        </p:spPr>
        <p:txBody>
          <a:bodyPr wrap="square">
            <a:spAutoFit/>
          </a:bodyPr>
          <a:lstStyle/>
          <a:p>
            <a:pPr algn="r" rtl="1"/>
            <a:r>
              <a:rPr lang="en-US" b="1" dirty="0">
                <a:latin typeface="Times New Roman" panose="02020603050405020304" pitchFamily="18" charset="0"/>
                <a:cs typeface="B Nazanin" panose="00000400000000000000" pitchFamily="2" charset="-78"/>
              </a:rPr>
              <a:t>Fully continual modelling</a:t>
            </a:r>
            <a:r>
              <a:rPr lang="fa-IR" b="1" dirty="0">
                <a:latin typeface="Times New Roman" panose="02020603050405020304" pitchFamily="18" charset="0"/>
                <a:cs typeface="B Nazanin" panose="00000400000000000000" pitchFamily="2" charset="-78"/>
              </a:rPr>
              <a:t> </a:t>
            </a:r>
          </a:p>
        </p:txBody>
      </p:sp>
      <p:sp>
        <p:nvSpPr>
          <p:cNvPr id="26" name="Rectangle 25">
            <a:extLst>
              <a:ext uri="{FF2B5EF4-FFF2-40B4-BE49-F238E27FC236}">
                <a16:creationId xmlns:a16="http://schemas.microsoft.com/office/drawing/2014/main" id="{A2DE2023-37C1-1AB8-45F6-1A220E4BC952}"/>
              </a:ext>
            </a:extLst>
          </p:cNvPr>
          <p:cNvSpPr/>
          <p:nvPr/>
        </p:nvSpPr>
        <p:spPr>
          <a:xfrm>
            <a:off x="465427" y="4890260"/>
            <a:ext cx="11305801" cy="8439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r" rtl="1">
              <a:buNone/>
            </a:pPr>
            <a:r>
              <a:rPr lang="fa-IR" b="1" dirty="0">
                <a:latin typeface="Times New Roman" panose="02020603050405020304" pitchFamily="18" charset="0"/>
                <a:cs typeface="B Nazanin" panose="00000400000000000000" pitchFamily="2" charset="-78"/>
              </a:rPr>
              <a:t>فرمول Softmax</a:t>
            </a:r>
          </a:p>
        </p:txBody>
      </p:sp>
      <p:cxnSp>
        <p:nvCxnSpPr>
          <p:cNvPr id="30" name="Connector: Curved 29">
            <a:extLst>
              <a:ext uri="{FF2B5EF4-FFF2-40B4-BE49-F238E27FC236}">
                <a16:creationId xmlns:a16="http://schemas.microsoft.com/office/drawing/2014/main" id="{E514B224-4D94-91BA-B5DE-EDD520F351F2}"/>
              </a:ext>
            </a:extLst>
          </p:cNvPr>
          <p:cNvCxnSpPr>
            <a:cxnSpLocks/>
          </p:cNvCxnSpPr>
          <p:nvPr/>
        </p:nvCxnSpPr>
        <p:spPr>
          <a:xfrm rot="5400000">
            <a:off x="10828547" y="3334267"/>
            <a:ext cx="1410105" cy="437158"/>
          </a:xfrm>
          <a:prstGeom prst="curvedConnector3">
            <a:avLst>
              <a:gd name="adj1" fmla="val 97959"/>
            </a:avLst>
          </a:prstGeom>
          <a:ln>
            <a:tailEnd type="triangle"/>
          </a:ln>
        </p:spPr>
        <p:style>
          <a:lnRef idx="3">
            <a:schemeClr val="dk1"/>
          </a:lnRef>
          <a:fillRef idx="0">
            <a:schemeClr val="dk1"/>
          </a:fillRef>
          <a:effectRef idx="2">
            <a:schemeClr val="dk1"/>
          </a:effectRef>
          <a:fontRef idx="minor">
            <a:schemeClr val="tx1"/>
          </a:fontRef>
        </p:style>
      </p:cxnSp>
      <p:cxnSp>
        <p:nvCxnSpPr>
          <p:cNvPr id="34" name="Connector: Curved 33">
            <a:extLst>
              <a:ext uri="{FF2B5EF4-FFF2-40B4-BE49-F238E27FC236}">
                <a16:creationId xmlns:a16="http://schemas.microsoft.com/office/drawing/2014/main" id="{A50B7779-349E-B429-2573-2C1D72A3D069}"/>
              </a:ext>
            </a:extLst>
          </p:cNvPr>
          <p:cNvCxnSpPr>
            <a:cxnSpLocks/>
          </p:cNvCxnSpPr>
          <p:nvPr/>
        </p:nvCxnSpPr>
        <p:spPr>
          <a:xfrm rot="5400000">
            <a:off x="10961682" y="3182077"/>
            <a:ext cx="1102453" cy="433883"/>
          </a:xfrm>
          <a:prstGeom prst="curvedConnector3">
            <a:avLst>
              <a:gd name="adj1" fmla="val 9871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06597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92FB51-4074-3582-D934-1326BBCFBC01}"/>
              </a:ext>
            </a:extLst>
          </p:cNvPr>
          <p:cNvSpPr>
            <a:spLocks noGrp="1"/>
          </p:cNvSpPr>
          <p:nvPr>
            <p:ph type="sldNum" sz="quarter" idx="12"/>
          </p:nvPr>
        </p:nvSpPr>
        <p:spPr/>
        <p:txBody>
          <a:bodyPr/>
          <a:lstStyle/>
          <a:p>
            <a:fld id="{67EFB97B-C702-468C-B184-BC2FF345C510}" type="slidenum">
              <a:rPr lang="en-US" smtClean="0"/>
              <a:t>25</a:t>
            </a:fld>
            <a:endParaRPr lang="en-US"/>
          </a:p>
        </p:txBody>
      </p:sp>
      <p:sp>
        <p:nvSpPr>
          <p:cNvPr id="4" name="TextBox 3">
            <a:extLst>
              <a:ext uri="{FF2B5EF4-FFF2-40B4-BE49-F238E27FC236}">
                <a16:creationId xmlns:a16="http://schemas.microsoft.com/office/drawing/2014/main" id="{67B01596-372C-90FD-78CE-3011EB6EE0E6}"/>
              </a:ext>
            </a:extLst>
          </p:cNvPr>
          <p:cNvSpPr txBox="1"/>
          <p:nvPr/>
        </p:nvSpPr>
        <p:spPr>
          <a:xfrm>
            <a:off x="798286" y="136525"/>
            <a:ext cx="11176000" cy="6017032"/>
          </a:xfrm>
          <a:prstGeom prst="rect">
            <a:avLst/>
          </a:prstGeom>
          <a:noFill/>
        </p:spPr>
        <p:txBody>
          <a:bodyPr wrap="square">
            <a:spAutoFit/>
          </a:bodyPr>
          <a:lstStyle/>
          <a:p>
            <a:pPr algn="ctr" rtl="1">
              <a:lnSpc>
                <a:spcPct val="200000"/>
              </a:lnSpc>
            </a:pPr>
            <a:r>
              <a:rPr lang="fa-IR" sz="2800" b="1" dirty="0">
                <a:latin typeface="Times New Roman" panose="02020603050405020304" pitchFamily="18" charset="0"/>
                <a:cs typeface="B Nazanin" panose="00000400000000000000" pitchFamily="2" charset="-78"/>
              </a:rPr>
              <a:t>Softmax Three Stage </a:t>
            </a:r>
            <a:endParaRPr lang="en-US" sz="2800" b="1" dirty="0">
              <a:latin typeface="Times New Roman" panose="02020603050405020304" pitchFamily="18" charset="0"/>
              <a:cs typeface="B Nazanin" panose="00000400000000000000" pitchFamily="2" charset="-78"/>
            </a:endParaRPr>
          </a:p>
          <a:p>
            <a:pPr algn="ctr" rtl="1">
              <a:lnSpc>
                <a:spcPct val="200000"/>
              </a:lnSpc>
            </a:pPr>
            <a:endParaRPr lang="en-US" sz="2800" b="1" dirty="0">
              <a:latin typeface="Times New Roman" panose="02020603050405020304" pitchFamily="18" charset="0"/>
              <a:cs typeface="B Nazanin" panose="00000400000000000000" pitchFamily="2" charset="-78"/>
            </a:endParaRPr>
          </a:p>
          <a:p>
            <a:pPr marL="457200" indent="-457200" algn="r" rtl="1">
              <a:lnSpc>
                <a:spcPct val="200000"/>
              </a:lnSpc>
              <a:buFont typeface="Arial" panose="020B0604020202020204" pitchFamily="34" charset="0"/>
              <a:buChar char="•"/>
            </a:pPr>
            <a:r>
              <a:rPr lang="fa-IR" sz="2800" b="1" dirty="0">
                <a:latin typeface="Times New Roman" panose="02020603050405020304" pitchFamily="18" charset="0"/>
                <a:cs typeface="B Nazanin" panose="00000400000000000000" pitchFamily="2" charset="-78"/>
              </a:rPr>
              <a:t>فاز ۱ (</a:t>
            </a:r>
            <a:r>
              <a:rPr lang="en-US" sz="2800" b="1" dirty="0">
                <a:latin typeface="Times New Roman" panose="02020603050405020304" pitchFamily="18" charset="0"/>
                <a:cs typeface="B Nazanin" panose="00000400000000000000" pitchFamily="2" charset="-78"/>
              </a:rPr>
              <a:t>exploration</a:t>
            </a:r>
            <a:r>
              <a:rPr lang="fa-IR" sz="2800" b="1" dirty="0">
                <a:latin typeface="Times New Roman" panose="02020603050405020304" pitchFamily="18" charset="0"/>
                <a:cs typeface="B Nazanin" panose="00000400000000000000" pitchFamily="2" charset="-78"/>
              </a:rPr>
              <a:t>):</a:t>
            </a:r>
            <a:r>
              <a:rPr lang="fa-IR" sz="2800" dirty="0">
                <a:latin typeface="Times New Roman" panose="02020603050405020304" pitchFamily="18" charset="0"/>
                <a:cs typeface="B Nazanin" panose="00000400000000000000" pitchFamily="2" charset="-78"/>
              </a:rPr>
              <a:t> دوزها پخش هستند تا اطلاعات اولیه جمع شود.</a:t>
            </a:r>
          </a:p>
          <a:p>
            <a:pPr marL="457200" indent="-457200" algn="r" rtl="1">
              <a:lnSpc>
                <a:spcPct val="200000"/>
              </a:lnSpc>
              <a:buFont typeface="Arial" panose="020B0604020202020204" pitchFamily="34" charset="0"/>
              <a:buChar char="•"/>
            </a:pPr>
            <a:r>
              <a:rPr lang="fa-IR" sz="2800" b="1" dirty="0">
                <a:latin typeface="Times New Roman" panose="02020603050405020304" pitchFamily="18" charset="0"/>
                <a:cs typeface="B Nazanin" panose="00000400000000000000" pitchFamily="2" charset="-78"/>
              </a:rPr>
              <a:t>فاز ۲ (انتقال):</a:t>
            </a:r>
            <a:r>
              <a:rPr lang="fa-IR" sz="2800" dirty="0">
                <a:latin typeface="Times New Roman" panose="02020603050405020304" pitchFamily="18" charset="0"/>
                <a:cs typeface="B Nazanin" panose="00000400000000000000" pitchFamily="2" charset="-78"/>
              </a:rPr>
              <a:t> مدل شروع به تحلیل داده‌ها می‌کند و دوزهای امیدوارکننده را بیشتر انتخاب می‌کند (تمرکز دوزها در نمودار کمی بیشتر می‌شود).</a:t>
            </a:r>
          </a:p>
          <a:p>
            <a:pPr marL="457200" indent="-457200" algn="r" rtl="1">
              <a:lnSpc>
                <a:spcPct val="200000"/>
              </a:lnSpc>
              <a:buFont typeface="Arial" panose="020B0604020202020204" pitchFamily="34" charset="0"/>
              <a:buChar char="•"/>
            </a:pPr>
            <a:r>
              <a:rPr lang="fa-IR" sz="2800" b="1" dirty="0">
                <a:latin typeface="Times New Roman" panose="02020603050405020304" pitchFamily="18" charset="0"/>
                <a:cs typeface="B Nazanin" panose="00000400000000000000" pitchFamily="2" charset="-78"/>
              </a:rPr>
              <a:t>فاز ۳ (</a:t>
            </a:r>
            <a:r>
              <a:rPr lang="en-US" sz="2800" b="1" dirty="0">
                <a:latin typeface="Times New Roman" panose="02020603050405020304" pitchFamily="18" charset="0"/>
                <a:cs typeface="B Nazanin" panose="00000400000000000000" pitchFamily="2" charset="-78"/>
              </a:rPr>
              <a:t>exploitation</a:t>
            </a:r>
            <a:r>
              <a:rPr lang="fa-IR" sz="2800" b="1" dirty="0">
                <a:latin typeface="Times New Roman" panose="02020603050405020304" pitchFamily="18" charset="0"/>
                <a:cs typeface="B Nazanin" panose="00000400000000000000" pitchFamily="2" charset="-78"/>
              </a:rPr>
              <a:t>):</a:t>
            </a:r>
            <a:r>
              <a:rPr lang="fa-IR" sz="2800" dirty="0">
                <a:latin typeface="Times New Roman" panose="02020603050405020304" pitchFamily="18" charset="0"/>
                <a:cs typeface="B Nazanin" panose="00000400000000000000" pitchFamily="2" charset="-78"/>
              </a:rPr>
              <a:t> تقریباً تمام دوزها در ناحیه‌ای تزریق می‌شوند که مدل حدس می‌زند بهینه است.</a:t>
            </a:r>
          </a:p>
        </p:txBody>
      </p:sp>
    </p:spTree>
    <p:extLst>
      <p:ext uri="{BB962C8B-B14F-4D97-AF65-F5344CB8AC3E}">
        <p14:creationId xmlns:p14="http://schemas.microsoft.com/office/powerpoint/2010/main" val="1942931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0116A5-6E90-A12E-4A5F-FB15A9785219}"/>
              </a:ext>
            </a:extLst>
          </p:cNvPr>
          <p:cNvSpPr>
            <a:spLocks noGrp="1"/>
          </p:cNvSpPr>
          <p:nvPr>
            <p:ph type="sldNum" sz="quarter" idx="12"/>
          </p:nvPr>
        </p:nvSpPr>
        <p:spPr/>
        <p:txBody>
          <a:bodyPr/>
          <a:lstStyle/>
          <a:p>
            <a:fld id="{67EFB97B-C702-468C-B184-BC2FF345C510}" type="slidenum">
              <a:rPr lang="en-US" smtClean="0"/>
              <a:t>26</a:t>
            </a:fld>
            <a:endParaRPr lang="en-US"/>
          </a:p>
        </p:txBody>
      </p:sp>
      <p:graphicFrame>
        <p:nvGraphicFramePr>
          <p:cNvPr id="3" name="Table 2">
            <a:extLst>
              <a:ext uri="{FF2B5EF4-FFF2-40B4-BE49-F238E27FC236}">
                <a16:creationId xmlns:a16="http://schemas.microsoft.com/office/drawing/2014/main" id="{4DEEFF47-10B7-1D41-21E9-4D7DDB8B9B63}"/>
              </a:ext>
            </a:extLst>
          </p:cNvPr>
          <p:cNvGraphicFramePr>
            <a:graphicFrameLocks noGrp="1"/>
          </p:cNvGraphicFramePr>
          <p:nvPr>
            <p:extLst>
              <p:ext uri="{D42A27DB-BD31-4B8C-83A1-F6EECF244321}">
                <p14:modId xmlns:p14="http://schemas.microsoft.com/office/powerpoint/2010/main" val="2063003194"/>
              </p:ext>
            </p:extLst>
          </p:nvPr>
        </p:nvGraphicFramePr>
        <p:xfrm>
          <a:off x="919670" y="1373834"/>
          <a:ext cx="10434130" cy="3749040"/>
        </p:xfrm>
        <a:graphic>
          <a:graphicData uri="http://schemas.openxmlformats.org/drawingml/2006/table">
            <a:tbl>
              <a:tblPr>
                <a:tableStyleId>{5940675A-B579-460E-94D1-54222C63F5DA}</a:tableStyleId>
              </a:tblPr>
              <a:tblGrid>
                <a:gridCol w="2086826">
                  <a:extLst>
                    <a:ext uri="{9D8B030D-6E8A-4147-A177-3AD203B41FA5}">
                      <a16:colId xmlns:a16="http://schemas.microsoft.com/office/drawing/2014/main" val="1307585361"/>
                    </a:ext>
                  </a:extLst>
                </a:gridCol>
                <a:gridCol w="2086826">
                  <a:extLst>
                    <a:ext uri="{9D8B030D-6E8A-4147-A177-3AD203B41FA5}">
                      <a16:colId xmlns:a16="http://schemas.microsoft.com/office/drawing/2014/main" val="1048538860"/>
                    </a:ext>
                  </a:extLst>
                </a:gridCol>
                <a:gridCol w="2086826">
                  <a:extLst>
                    <a:ext uri="{9D8B030D-6E8A-4147-A177-3AD203B41FA5}">
                      <a16:colId xmlns:a16="http://schemas.microsoft.com/office/drawing/2014/main" val="1427765649"/>
                    </a:ext>
                  </a:extLst>
                </a:gridCol>
                <a:gridCol w="2086826">
                  <a:extLst>
                    <a:ext uri="{9D8B030D-6E8A-4147-A177-3AD203B41FA5}">
                      <a16:colId xmlns:a16="http://schemas.microsoft.com/office/drawing/2014/main" val="1124340897"/>
                    </a:ext>
                  </a:extLst>
                </a:gridCol>
                <a:gridCol w="2086826">
                  <a:extLst>
                    <a:ext uri="{9D8B030D-6E8A-4147-A177-3AD203B41FA5}">
                      <a16:colId xmlns:a16="http://schemas.microsoft.com/office/drawing/2014/main" val="3631523526"/>
                    </a:ext>
                  </a:extLst>
                </a:gridCol>
              </a:tblGrid>
              <a:tr h="0">
                <a:tc>
                  <a:txBody>
                    <a:bodyPr/>
                    <a:lstStyle/>
                    <a:p>
                      <a:pPr algn="ctr">
                        <a:buNone/>
                      </a:pPr>
                      <a:r>
                        <a:rPr lang="en-US" sz="2400" b="1" baseline="0" dirty="0" err="1">
                          <a:latin typeface="Times New Roman" panose="02020603050405020304" pitchFamily="18" charset="0"/>
                          <a:cs typeface="B Nazanin" panose="00000400000000000000" pitchFamily="2" charset="-78"/>
                        </a:rPr>
                        <a:t>آپدیت</a:t>
                      </a:r>
                      <a:r>
                        <a:rPr lang="en-US" sz="2400" b="1" baseline="0" dirty="0">
                          <a:latin typeface="Times New Roman" panose="02020603050405020304" pitchFamily="18" charset="0"/>
                          <a:cs typeface="B Nazanin" panose="00000400000000000000" pitchFamily="2" charset="-78"/>
                        </a:rPr>
                        <a:t> </a:t>
                      </a:r>
                      <a:r>
                        <a:rPr lang="en-US" sz="2400" b="1" baseline="0" dirty="0" err="1">
                          <a:latin typeface="Times New Roman" panose="02020603050405020304" pitchFamily="18" charset="0"/>
                          <a:cs typeface="B Nazanin" panose="00000400000000000000" pitchFamily="2" charset="-78"/>
                        </a:rPr>
                        <a:t>مدل</a:t>
                      </a:r>
                      <a:endParaRPr lang="en-US" sz="2400" b="1" baseline="0" dirty="0">
                        <a:latin typeface="Times New Roman" panose="02020603050405020304" pitchFamily="18" charset="0"/>
                        <a:cs typeface="B Nazanin" panose="00000400000000000000" pitchFamily="2" charset="-78"/>
                      </a:endParaRPr>
                    </a:p>
                  </a:txBody>
                  <a:tcPr anchor="ctr"/>
                </a:tc>
                <a:tc>
                  <a:txBody>
                    <a:bodyPr/>
                    <a:lstStyle/>
                    <a:p>
                      <a:pPr algn="ctr">
                        <a:buNone/>
                      </a:pPr>
                      <a:r>
                        <a:rPr lang="en-US" sz="2400" b="1" baseline="0" dirty="0" err="1">
                          <a:latin typeface="Times New Roman" panose="02020603050405020304" pitchFamily="18" charset="0"/>
                          <a:cs typeface="B Nazanin" panose="00000400000000000000" pitchFamily="2" charset="-78"/>
                        </a:rPr>
                        <a:t>نحوه</a:t>
                      </a:r>
                      <a:r>
                        <a:rPr lang="en-US" sz="2400" b="1" baseline="0" dirty="0">
                          <a:latin typeface="Times New Roman" panose="02020603050405020304" pitchFamily="18" charset="0"/>
                          <a:cs typeface="B Nazanin" panose="00000400000000000000" pitchFamily="2" charset="-78"/>
                        </a:rPr>
                        <a:t> </a:t>
                      </a:r>
                      <a:r>
                        <a:rPr lang="en-US" sz="2400" b="1" baseline="0" dirty="0" err="1">
                          <a:latin typeface="Times New Roman" panose="02020603050405020304" pitchFamily="18" charset="0"/>
                          <a:cs typeface="B Nazanin" panose="00000400000000000000" pitchFamily="2" charset="-78"/>
                        </a:rPr>
                        <a:t>انتخاب</a:t>
                      </a:r>
                      <a:r>
                        <a:rPr lang="en-US" sz="2400" b="1" baseline="0" dirty="0">
                          <a:latin typeface="Times New Roman" panose="02020603050405020304" pitchFamily="18" charset="0"/>
                          <a:cs typeface="B Nazanin" panose="00000400000000000000" pitchFamily="2" charset="-78"/>
                        </a:rPr>
                        <a:t> </a:t>
                      </a:r>
                      <a:r>
                        <a:rPr lang="en-US" sz="2400" b="1" baseline="0" dirty="0" err="1">
                          <a:latin typeface="Times New Roman" panose="02020603050405020304" pitchFamily="18" charset="0"/>
                          <a:cs typeface="B Nazanin" panose="00000400000000000000" pitchFamily="2" charset="-78"/>
                        </a:rPr>
                        <a:t>دوز</a:t>
                      </a:r>
                      <a:endParaRPr lang="en-US" sz="2400" b="1" baseline="0" dirty="0">
                        <a:latin typeface="Times New Roman" panose="02020603050405020304" pitchFamily="18" charset="0"/>
                        <a:cs typeface="B Nazanin" panose="00000400000000000000" pitchFamily="2" charset="-78"/>
                      </a:endParaRPr>
                    </a:p>
                  </a:txBody>
                  <a:tcPr anchor="ctr"/>
                </a:tc>
                <a:tc>
                  <a:txBody>
                    <a:bodyPr/>
                    <a:lstStyle/>
                    <a:p>
                      <a:pPr algn="ctr">
                        <a:buNone/>
                      </a:pPr>
                      <a:r>
                        <a:rPr lang="en-US" sz="2400" b="1" baseline="0" dirty="0">
                          <a:latin typeface="Times New Roman" panose="02020603050405020304" pitchFamily="18" charset="0"/>
                          <a:cs typeface="B Nazanin" panose="00000400000000000000" pitchFamily="2" charset="-78"/>
                        </a:rPr>
                        <a:t>exploitation</a:t>
                      </a:r>
                    </a:p>
                  </a:txBody>
                  <a:tcPr anchor="ctr"/>
                </a:tc>
                <a:tc>
                  <a:txBody>
                    <a:bodyPr/>
                    <a:lstStyle/>
                    <a:p>
                      <a:pPr algn="ctr">
                        <a:buNone/>
                      </a:pPr>
                      <a:r>
                        <a:rPr lang="en-US" sz="2400" b="1" baseline="0" dirty="0">
                          <a:latin typeface="Times New Roman" panose="02020603050405020304" pitchFamily="18" charset="0"/>
                          <a:cs typeface="B Nazanin" panose="00000400000000000000" pitchFamily="2" charset="-78"/>
                        </a:rPr>
                        <a:t>exploration</a:t>
                      </a:r>
                    </a:p>
                  </a:txBody>
                  <a:tcPr anchor="ctr"/>
                </a:tc>
                <a:tc>
                  <a:txBody>
                    <a:bodyPr/>
                    <a:lstStyle/>
                    <a:p>
                      <a:pPr algn="ctr">
                        <a:buNone/>
                      </a:pPr>
                      <a:r>
                        <a:rPr lang="en-US" sz="2400" b="1" baseline="0" dirty="0" err="1">
                          <a:latin typeface="Times New Roman" panose="02020603050405020304" pitchFamily="18" charset="0"/>
                          <a:cs typeface="B Nazanin" panose="00000400000000000000" pitchFamily="2" charset="-78"/>
                        </a:rPr>
                        <a:t>روش</a:t>
                      </a:r>
                      <a:endParaRPr lang="en-US" sz="2400" b="1" baseline="0" dirty="0">
                        <a:latin typeface="Times New Roman" panose="02020603050405020304" pitchFamily="18" charset="0"/>
                        <a:cs typeface="B Nazanin" panose="00000400000000000000" pitchFamily="2" charset="-78"/>
                      </a:endParaRPr>
                    </a:p>
                  </a:txBody>
                  <a:tcPr anchor="ctr"/>
                </a:tc>
                <a:extLst>
                  <a:ext uri="{0D108BD9-81ED-4DB2-BD59-A6C34878D82A}">
                    <a16:rowId xmlns:a16="http://schemas.microsoft.com/office/drawing/2014/main" val="1469654188"/>
                  </a:ext>
                </a:extLst>
              </a:tr>
              <a:tr h="0">
                <a:tc>
                  <a:txBody>
                    <a:bodyPr/>
                    <a:lstStyle/>
                    <a:p>
                      <a:pPr algn="ctr" rtl="1">
                        <a:buNone/>
                      </a:pPr>
                      <a:r>
                        <a:rPr lang="fa-IR" sz="2400" baseline="0" dirty="0">
                          <a:latin typeface="Times New Roman" panose="02020603050405020304" pitchFamily="18" charset="0"/>
                          <a:cs typeface="B Nazanin" panose="00000400000000000000" pitchFamily="2" charset="-78"/>
                        </a:rPr>
                        <a:t>معمولاً ثابت</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تقریباً مساوی بین همه دوزها</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خیلی کم</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خیلی زیاد</a:t>
                      </a:r>
                    </a:p>
                  </a:txBody>
                  <a:tcPr anchor="ctr"/>
                </a:tc>
                <a:tc>
                  <a:txBody>
                    <a:bodyPr/>
                    <a:lstStyle/>
                    <a:p>
                      <a:pPr algn="ctr">
                        <a:buNone/>
                      </a:pPr>
                      <a:r>
                        <a:rPr lang="en-US" sz="2400" baseline="0" dirty="0">
                          <a:latin typeface="Times New Roman" panose="02020603050405020304" pitchFamily="18" charset="0"/>
                          <a:cs typeface="B Nazanin" panose="00000400000000000000" pitchFamily="2" charset="-78"/>
                        </a:rPr>
                        <a:t>Full Uniform Exploration</a:t>
                      </a:r>
                    </a:p>
                  </a:txBody>
                  <a:tcPr anchor="ctr"/>
                </a:tc>
                <a:extLst>
                  <a:ext uri="{0D108BD9-81ED-4DB2-BD59-A6C34878D82A}">
                    <a16:rowId xmlns:a16="http://schemas.microsoft.com/office/drawing/2014/main" val="575753585"/>
                  </a:ext>
                </a:extLst>
              </a:tr>
              <a:tr h="0">
                <a:tc>
                  <a:txBody>
                    <a:bodyPr/>
                    <a:lstStyle/>
                    <a:p>
                      <a:pPr algn="ctr" rtl="1">
                        <a:buNone/>
                      </a:pPr>
                      <a:r>
                        <a:rPr lang="fa-IR" sz="2400" baseline="0">
                          <a:latin typeface="Times New Roman" panose="02020603050405020304" pitchFamily="18" charset="0"/>
                          <a:cs typeface="B Nazanin" panose="00000400000000000000" pitchFamily="2" charset="-78"/>
                        </a:rPr>
                        <a:t>بعد از هر داده</a:t>
                      </a:r>
                    </a:p>
                  </a:txBody>
                  <a:tcPr anchor="ctr"/>
                </a:tc>
                <a:tc>
                  <a:txBody>
                    <a:bodyPr/>
                    <a:lstStyle/>
                    <a:p>
                      <a:pPr algn="ctr" rtl="1">
                        <a:buNone/>
                      </a:pPr>
                      <a:r>
                        <a:rPr lang="fa-IR" sz="2400" baseline="0">
                          <a:latin typeface="Times New Roman" panose="02020603050405020304" pitchFamily="18" charset="0"/>
                          <a:cs typeface="B Nazanin" panose="00000400000000000000" pitchFamily="2" charset="-78"/>
                        </a:rPr>
                        <a:t>بهترین دوز فعلی</a:t>
                      </a:r>
                    </a:p>
                  </a:txBody>
                  <a:tcPr anchor="ctr"/>
                </a:tc>
                <a:tc>
                  <a:txBody>
                    <a:bodyPr/>
                    <a:lstStyle/>
                    <a:p>
                      <a:pPr algn="ctr" rtl="1">
                        <a:buNone/>
                      </a:pPr>
                      <a:r>
                        <a:rPr lang="fa-IR" sz="2400" baseline="0">
                          <a:latin typeface="Times New Roman" panose="02020603050405020304" pitchFamily="18" charset="0"/>
                          <a:cs typeface="B Nazanin" panose="00000400000000000000" pitchFamily="2" charset="-78"/>
                        </a:rPr>
                        <a:t>زیاد</a:t>
                      </a:r>
                    </a:p>
                  </a:txBody>
                  <a:tcPr anchor="ctr"/>
                </a:tc>
                <a:tc>
                  <a:txBody>
                    <a:bodyPr/>
                    <a:lstStyle/>
                    <a:p>
                      <a:pPr algn="ctr" rtl="1">
                        <a:buNone/>
                      </a:pPr>
                      <a:r>
                        <a:rPr lang="fa-IR" sz="2400" baseline="0">
                          <a:latin typeface="Times New Roman" panose="02020603050405020304" pitchFamily="18" charset="0"/>
                          <a:cs typeface="B Nazanin" panose="00000400000000000000" pitchFamily="2" charset="-78"/>
                        </a:rPr>
                        <a:t>کم</a:t>
                      </a:r>
                    </a:p>
                  </a:txBody>
                  <a:tcPr anchor="ctr"/>
                </a:tc>
                <a:tc>
                  <a:txBody>
                    <a:bodyPr/>
                    <a:lstStyle/>
                    <a:p>
                      <a:pPr algn="ctr">
                        <a:buNone/>
                      </a:pPr>
                      <a:r>
                        <a:rPr lang="en-US" sz="2400" baseline="0" dirty="0">
                          <a:latin typeface="Times New Roman" panose="02020603050405020304" pitchFamily="18" charset="0"/>
                          <a:cs typeface="B Nazanin" panose="00000400000000000000" pitchFamily="2" charset="-78"/>
                        </a:rPr>
                        <a:t>Fully continual – Standard</a:t>
                      </a:r>
                    </a:p>
                  </a:txBody>
                  <a:tcPr anchor="ctr"/>
                </a:tc>
                <a:extLst>
                  <a:ext uri="{0D108BD9-81ED-4DB2-BD59-A6C34878D82A}">
                    <a16:rowId xmlns:a16="http://schemas.microsoft.com/office/drawing/2014/main" val="2374851508"/>
                  </a:ext>
                </a:extLst>
              </a:tr>
              <a:tr h="0">
                <a:tc>
                  <a:txBody>
                    <a:bodyPr/>
                    <a:lstStyle/>
                    <a:p>
                      <a:pPr algn="ctr" rtl="1">
                        <a:buNone/>
                      </a:pPr>
                      <a:r>
                        <a:rPr lang="fa-IR" sz="2400" baseline="0" dirty="0">
                          <a:latin typeface="Times New Roman" panose="02020603050405020304" pitchFamily="18" charset="0"/>
                          <a:cs typeface="B Nazanin" panose="00000400000000000000" pitchFamily="2" charset="-78"/>
                        </a:rPr>
                        <a:t>بعد از هر داده</a:t>
                      </a:r>
                    </a:p>
                  </a:txBody>
                  <a:tcPr anchor="ctr"/>
                </a:tc>
                <a:tc>
                  <a:txBody>
                    <a:bodyPr/>
                    <a:lstStyle/>
                    <a:p>
                      <a:pPr algn="ctr" rtl="1">
                        <a:buNone/>
                      </a:pPr>
                      <a:r>
                        <a:rPr lang="fa-IR" sz="2400" baseline="0">
                          <a:latin typeface="Times New Roman" panose="02020603050405020304" pitchFamily="18" charset="0"/>
                          <a:cs typeface="B Nazanin" panose="00000400000000000000" pitchFamily="2" charset="-78"/>
                        </a:rPr>
                        <a:t>بهترین + چند دوز امیدوارکننده</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متوسط/زیاد</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متوسط</a:t>
                      </a:r>
                    </a:p>
                  </a:txBody>
                  <a:tcPr anchor="ctr"/>
                </a:tc>
                <a:tc>
                  <a:txBody>
                    <a:bodyPr/>
                    <a:lstStyle/>
                    <a:p>
                      <a:pPr algn="ctr">
                        <a:buNone/>
                      </a:pPr>
                      <a:r>
                        <a:rPr lang="en-US" sz="2400" baseline="0" dirty="0">
                          <a:latin typeface="Times New Roman" panose="02020603050405020304" pitchFamily="18" charset="0"/>
                          <a:cs typeface="B Nazanin" panose="00000400000000000000" pitchFamily="2" charset="-78"/>
                        </a:rPr>
                        <a:t>Fully continual – Balanced</a:t>
                      </a:r>
                    </a:p>
                  </a:txBody>
                  <a:tcPr anchor="ctr"/>
                </a:tc>
                <a:extLst>
                  <a:ext uri="{0D108BD9-81ED-4DB2-BD59-A6C34878D82A}">
                    <a16:rowId xmlns:a16="http://schemas.microsoft.com/office/drawing/2014/main" val="1224620194"/>
                  </a:ext>
                </a:extLst>
              </a:tr>
              <a:tr h="0">
                <a:tc>
                  <a:txBody>
                    <a:bodyPr/>
                    <a:lstStyle/>
                    <a:p>
                      <a:pPr algn="ctr" rtl="1">
                        <a:buNone/>
                      </a:pPr>
                      <a:r>
                        <a:rPr lang="fa-IR" sz="2400" baseline="0" dirty="0">
                          <a:latin typeface="Times New Roman" panose="02020603050405020304" pitchFamily="18" charset="0"/>
                          <a:cs typeface="B Nazanin" panose="00000400000000000000" pitchFamily="2" charset="-78"/>
                        </a:rPr>
                        <a:t>مرحله‌ای/تطبیقی</a:t>
                      </a:r>
                    </a:p>
                  </a:txBody>
                  <a:tcPr anchor="ctr"/>
                </a:tc>
                <a:tc>
                  <a:txBody>
                    <a:bodyPr/>
                    <a:lstStyle/>
                    <a:p>
                      <a:pPr algn="ctr" rtl="1">
                        <a:buNone/>
                      </a:pPr>
                      <a:r>
                        <a:rPr lang="fa-IR" sz="2400" baseline="0">
                          <a:latin typeface="Times New Roman" panose="02020603050405020304" pitchFamily="18" charset="0"/>
                          <a:cs typeface="B Nazanin" panose="00000400000000000000" pitchFamily="2" charset="-78"/>
                        </a:rPr>
                        <a:t>انتخاب احتمالی با softmax</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از کم به زیاد</a:t>
                      </a:r>
                    </a:p>
                  </a:txBody>
                  <a:tcPr anchor="ctr"/>
                </a:tc>
                <a:tc>
                  <a:txBody>
                    <a:bodyPr/>
                    <a:lstStyle/>
                    <a:p>
                      <a:pPr algn="ctr" rtl="1">
                        <a:buNone/>
                      </a:pPr>
                      <a:r>
                        <a:rPr lang="fa-IR" sz="2400" baseline="0" dirty="0">
                          <a:latin typeface="Times New Roman" panose="02020603050405020304" pitchFamily="18" charset="0"/>
                          <a:cs typeface="B Nazanin" panose="00000400000000000000" pitchFamily="2" charset="-78"/>
                        </a:rPr>
                        <a:t>از زیاد به کم</a:t>
                      </a:r>
                    </a:p>
                  </a:txBody>
                  <a:tcPr anchor="ctr"/>
                </a:tc>
                <a:tc>
                  <a:txBody>
                    <a:bodyPr/>
                    <a:lstStyle/>
                    <a:p>
                      <a:pPr algn="ctr">
                        <a:buNone/>
                      </a:pPr>
                      <a:r>
                        <a:rPr lang="en-US" sz="2400" baseline="0" dirty="0">
                          <a:latin typeface="Times New Roman" panose="02020603050405020304" pitchFamily="18" charset="0"/>
                          <a:cs typeface="B Nazanin" panose="00000400000000000000" pitchFamily="2" charset="-78"/>
                        </a:rPr>
                        <a:t>Three‑stage </a:t>
                      </a:r>
                      <a:r>
                        <a:rPr lang="en-US" sz="2400" baseline="0" dirty="0" err="1">
                          <a:latin typeface="Times New Roman" panose="02020603050405020304" pitchFamily="18" charset="0"/>
                          <a:cs typeface="B Nazanin" panose="00000400000000000000" pitchFamily="2" charset="-78"/>
                        </a:rPr>
                        <a:t>Softmax</a:t>
                      </a:r>
                      <a:endParaRPr lang="en-US" sz="2400" baseline="0" dirty="0">
                        <a:latin typeface="Times New Roman" panose="02020603050405020304" pitchFamily="18" charset="0"/>
                        <a:cs typeface="B Nazanin" panose="00000400000000000000" pitchFamily="2" charset="-78"/>
                      </a:endParaRPr>
                    </a:p>
                  </a:txBody>
                  <a:tcPr anchor="ctr"/>
                </a:tc>
                <a:extLst>
                  <a:ext uri="{0D108BD9-81ED-4DB2-BD59-A6C34878D82A}">
                    <a16:rowId xmlns:a16="http://schemas.microsoft.com/office/drawing/2014/main" val="1770319796"/>
                  </a:ext>
                </a:extLst>
              </a:tr>
            </a:tbl>
          </a:graphicData>
        </a:graphic>
      </p:graphicFrame>
    </p:spTree>
    <p:extLst>
      <p:ext uri="{BB962C8B-B14F-4D97-AF65-F5344CB8AC3E}">
        <p14:creationId xmlns:p14="http://schemas.microsoft.com/office/powerpoint/2010/main" val="1689632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778A42-3A34-3D96-0599-79AAC9B48C3E}"/>
              </a:ext>
            </a:extLst>
          </p:cNvPr>
          <p:cNvSpPr>
            <a:spLocks noGrp="1"/>
          </p:cNvSpPr>
          <p:nvPr>
            <p:ph type="sldNum" sz="quarter" idx="12"/>
          </p:nvPr>
        </p:nvSpPr>
        <p:spPr/>
        <p:txBody>
          <a:bodyPr/>
          <a:lstStyle/>
          <a:p>
            <a:fld id="{67EFB97B-C702-468C-B184-BC2FF345C510}" type="slidenum">
              <a:rPr lang="en-US" smtClean="0"/>
              <a:t>27</a:t>
            </a:fld>
            <a:endParaRPr lang="en-US"/>
          </a:p>
        </p:txBody>
      </p:sp>
      <p:sp>
        <p:nvSpPr>
          <p:cNvPr id="3" name="TextBox 2">
            <a:extLst>
              <a:ext uri="{FF2B5EF4-FFF2-40B4-BE49-F238E27FC236}">
                <a16:creationId xmlns:a16="http://schemas.microsoft.com/office/drawing/2014/main" id="{ABBC757C-2D56-5FF7-63EB-10923993F2E7}"/>
              </a:ext>
            </a:extLst>
          </p:cNvPr>
          <p:cNvSpPr txBox="1"/>
          <p:nvPr/>
        </p:nvSpPr>
        <p:spPr>
          <a:xfrm>
            <a:off x="4474228" y="2581268"/>
            <a:ext cx="4136372" cy="2554545"/>
          </a:xfrm>
          <a:prstGeom prst="rect">
            <a:avLst/>
          </a:prstGeom>
          <a:noFill/>
        </p:spPr>
        <p:txBody>
          <a:bodyPr wrap="square" rtlCol="0">
            <a:spAutoFit/>
          </a:bodyPr>
          <a:lstStyle/>
          <a:p>
            <a:r>
              <a:rPr lang="en-US" sz="8000" dirty="0"/>
              <a:t>Results</a:t>
            </a:r>
          </a:p>
          <a:p>
            <a:endParaRPr lang="en-US" sz="8000" dirty="0"/>
          </a:p>
        </p:txBody>
      </p:sp>
    </p:spTree>
    <p:extLst>
      <p:ext uri="{BB962C8B-B14F-4D97-AF65-F5344CB8AC3E}">
        <p14:creationId xmlns:p14="http://schemas.microsoft.com/office/powerpoint/2010/main" val="1961239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2916B1-F534-505A-F962-1141C65053C8}"/>
              </a:ext>
            </a:extLst>
          </p:cNvPr>
          <p:cNvSpPr>
            <a:spLocks noGrp="1"/>
          </p:cNvSpPr>
          <p:nvPr>
            <p:ph type="sldNum" sz="quarter" idx="12"/>
          </p:nvPr>
        </p:nvSpPr>
        <p:spPr/>
        <p:txBody>
          <a:bodyPr/>
          <a:lstStyle/>
          <a:p>
            <a:fld id="{67EFB97B-C702-468C-B184-BC2FF345C510}" type="slidenum">
              <a:rPr lang="en-US" smtClean="0"/>
              <a:t>28</a:t>
            </a:fld>
            <a:endParaRPr lang="en-US"/>
          </a:p>
        </p:txBody>
      </p:sp>
      <p:pic>
        <p:nvPicPr>
          <p:cNvPr id="4" name="Picture 3">
            <a:extLst>
              <a:ext uri="{FF2B5EF4-FFF2-40B4-BE49-F238E27FC236}">
                <a16:creationId xmlns:a16="http://schemas.microsoft.com/office/drawing/2014/main" id="{3DC00AF2-D89B-842E-2072-679DA882632A}"/>
              </a:ext>
            </a:extLst>
          </p:cNvPr>
          <p:cNvPicPr>
            <a:picLocks noChangeAspect="1"/>
          </p:cNvPicPr>
          <p:nvPr/>
        </p:nvPicPr>
        <p:blipFill>
          <a:blip r:embed="rId2"/>
          <a:stretch>
            <a:fillRect/>
          </a:stretch>
        </p:blipFill>
        <p:spPr>
          <a:xfrm>
            <a:off x="1513360" y="0"/>
            <a:ext cx="9165279" cy="6858000"/>
          </a:xfrm>
          <a:prstGeom prst="rect">
            <a:avLst/>
          </a:prstGeom>
        </p:spPr>
      </p:pic>
    </p:spTree>
    <p:extLst>
      <p:ext uri="{BB962C8B-B14F-4D97-AF65-F5344CB8AC3E}">
        <p14:creationId xmlns:p14="http://schemas.microsoft.com/office/powerpoint/2010/main" val="1139969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54370F-AF8D-6F6E-41F6-A752B2FC4127}"/>
              </a:ext>
            </a:extLst>
          </p:cNvPr>
          <p:cNvSpPr>
            <a:spLocks noGrp="1"/>
          </p:cNvSpPr>
          <p:nvPr>
            <p:ph type="sldNum" sz="quarter" idx="12"/>
          </p:nvPr>
        </p:nvSpPr>
        <p:spPr/>
        <p:txBody>
          <a:bodyPr/>
          <a:lstStyle/>
          <a:p>
            <a:fld id="{67EFB97B-C702-468C-B184-BC2FF345C510}" type="slidenum">
              <a:rPr lang="en-US" smtClean="0"/>
              <a:t>29</a:t>
            </a:fld>
            <a:endParaRPr lang="en-US"/>
          </a:p>
        </p:txBody>
      </p:sp>
      <p:pic>
        <p:nvPicPr>
          <p:cNvPr id="4" name="Picture 3">
            <a:extLst>
              <a:ext uri="{FF2B5EF4-FFF2-40B4-BE49-F238E27FC236}">
                <a16:creationId xmlns:a16="http://schemas.microsoft.com/office/drawing/2014/main" id="{D3DE6743-6C7C-377B-8801-E25AAB51FB63}"/>
              </a:ext>
            </a:extLst>
          </p:cNvPr>
          <p:cNvPicPr>
            <a:picLocks noChangeAspect="1"/>
          </p:cNvPicPr>
          <p:nvPr/>
        </p:nvPicPr>
        <p:blipFill>
          <a:blip r:embed="rId2"/>
          <a:stretch>
            <a:fillRect/>
          </a:stretch>
        </p:blipFill>
        <p:spPr>
          <a:xfrm>
            <a:off x="0" y="532578"/>
            <a:ext cx="12192000" cy="5792844"/>
          </a:xfrm>
          <a:prstGeom prst="rect">
            <a:avLst/>
          </a:prstGeom>
        </p:spPr>
      </p:pic>
    </p:spTree>
    <p:extLst>
      <p:ext uri="{BB962C8B-B14F-4D97-AF65-F5344CB8AC3E}">
        <p14:creationId xmlns:p14="http://schemas.microsoft.com/office/powerpoint/2010/main" val="914866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770566-A935-769E-D170-D303D0C55AEA}"/>
              </a:ext>
            </a:extLst>
          </p:cNvPr>
          <p:cNvSpPr>
            <a:spLocks noGrp="1"/>
          </p:cNvSpPr>
          <p:nvPr>
            <p:ph type="sldNum" sz="quarter" idx="12"/>
          </p:nvPr>
        </p:nvSpPr>
        <p:spPr/>
        <p:txBody>
          <a:bodyPr/>
          <a:lstStyle/>
          <a:p>
            <a:fld id="{67EFB97B-C702-468C-B184-BC2FF345C510}" type="slidenum">
              <a:rPr lang="en-US" smtClean="0"/>
              <a:t>30</a:t>
            </a:fld>
            <a:endParaRPr lang="en-US"/>
          </a:p>
        </p:txBody>
      </p:sp>
      <p:pic>
        <p:nvPicPr>
          <p:cNvPr id="4" name="Picture 3">
            <a:extLst>
              <a:ext uri="{FF2B5EF4-FFF2-40B4-BE49-F238E27FC236}">
                <a16:creationId xmlns:a16="http://schemas.microsoft.com/office/drawing/2014/main" id="{4469F6C6-2626-D859-933B-292AC89D403F}"/>
              </a:ext>
            </a:extLst>
          </p:cNvPr>
          <p:cNvPicPr>
            <a:picLocks noChangeAspect="1"/>
          </p:cNvPicPr>
          <p:nvPr/>
        </p:nvPicPr>
        <p:blipFill>
          <a:blip r:embed="rId2"/>
          <a:stretch>
            <a:fillRect/>
          </a:stretch>
        </p:blipFill>
        <p:spPr>
          <a:xfrm>
            <a:off x="1550473" y="0"/>
            <a:ext cx="9091054" cy="6858000"/>
          </a:xfrm>
          <a:prstGeom prst="rect">
            <a:avLst/>
          </a:prstGeom>
        </p:spPr>
      </p:pic>
    </p:spTree>
    <p:extLst>
      <p:ext uri="{BB962C8B-B14F-4D97-AF65-F5344CB8AC3E}">
        <p14:creationId xmlns:p14="http://schemas.microsoft.com/office/powerpoint/2010/main" val="1741137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DF3F23-7241-F6DD-DB23-9813703015B9}"/>
              </a:ext>
            </a:extLst>
          </p:cNvPr>
          <p:cNvSpPr>
            <a:spLocks noGrp="1"/>
          </p:cNvSpPr>
          <p:nvPr>
            <p:ph type="sldNum" sz="quarter" idx="12"/>
          </p:nvPr>
        </p:nvSpPr>
        <p:spPr/>
        <p:txBody>
          <a:bodyPr/>
          <a:lstStyle/>
          <a:p>
            <a:fld id="{67EFB97B-C702-468C-B184-BC2FF345C510}" type="slidenum">
              <a:rPr lang="en-US" smtClean="0"/>
              <a:t>31</a:t>
            </a:fld>
            <a:endParaRPr lang="en-US"/>
          </a:p>
        </p:txBody>
      </p:sp>
      <p:graphicFrame>
        <p:nvGraphicFramePr>
          <p:cNvPr id="3" name="Table 2">
            <a:extLst>
              <a:ext uri="{FF2B5EF4-FFF2-40B4-BE49-F238E27FC236}">
                <a16:creationId xmlns:a16="http://schemas.microsoft.com/office/drawing/2014/main" id="{C4BED9B8-7364-547A-0017-EB6EEB3ADB06}"/>
              </a:ext>
            </a:extLst>
          </p:cNvPr>
          <p:cNvGraphicFramePr>
            <a:graphicFrameLocks noGrp="1"/>
          </p:cNvGraphicFramePr>
          <p:nvPr>
            <p:extLst>
              <p:ext uri="{D42A27DB-BD31-4B8C-83A1-F6EECF244321}">
                <p14:modId xmlns:p14="http://schemas.microsoft.com/office/powerpoint/2010/main" val="139984814"/>
              </p:ext>
            </p:extLst>
          </p:nvPr>
        </p:nvGraphicFramePr>
        <p:xfrm>
          <a:off x="511289" y="1755387"/>
          <a:ext cx="11169422" cy="3644705"/>
        </p:xfrm>
        <a:graphic>
          <a:graphicData uri="http://schemas.openxmlformats.org/drawingml/2006/table">
            <a:tbl>
              <a:tblPr>
                <a:tableStyleId>{5940675A-B579-460E-94D1-54222C63F5DA}</a:tableStyleId>
              </a:tblPr>
              <a:tblGrid>
                <a:gridCol w="5584711">
                  <a:extLst>
                    <a:ext uri="{9D8B030D-6E8A-4147-A177-3AD203B41FA5}">
                      <a16:colId xmlns:a16="http://schemas.microsoft.com/office/drawing/2014/main" val="835526181"/>
                    </a:ext>
                  </a:extLst>
                </a:gridCol>
                <a:gridCol w="5584711">
                  <a:extLst>
                    <a:ext uri="{9D8B030D-6E8A-4147-A177-3AD203B41FA5}">
                      <a16:colId xmlns:a16="http://schemas.microsoft.com/office/drawing/2014/main" val="754941173"/>
                    </a:ext>
                  </a:extLst>
                </a:gridCol>
              </a:tblGrid>
              <a:tr h="728941">
                <a:tc>
                  <a:txBody>
                    <a:bodyPr/>
                    <a:lstStyle/>
                    <a:p>
                      <a:pPr algn="ctr" rtl="1">
                        <a:buNone/>
                      </a:pPr>
                      <a:r>
                        <a:rPr lang="fa-IR"/>
                        <a:t>کمترین PSR (پیدا کردن OBD دقیق)</a:t>
                      </a:r>
                    </a:p>
                  </a:txBody>
                  <a:tcPr anchor="ctr"/>
                </a:tc>
                <a:tc>
                  <a:txBody>
                    <a:bodyPr/>
                    <a:lstStyle/>
                    <a:p>
                      <a:pPr algn="ctr">
                        <a:buNone/>
                      </a:pPr>
                      <a:r>
                        <a:rPr lang="en-US" dirty="0"/>
                        <a:t>Weighted + Fully Continual ( Balanced)</a:t>
                      </a:r>
                    </a:p>
                  </a:txBody>
                  <a:tcPr anchor="ctr"/>
                </a:tc>
                <a:extLst>
                  <a:ext uri="{0D108BD9-81ED-4DB2-BD59-A6C34878D82A}">
                    <a16:rowId xmlns:a16="http://schemas.microsoft.com/office/drawing/2014/main" val="4123950854"/>
                  </a:ext>
                </a:extLst>
              </a:tr>
              <a:tr h="728941">
                <a:tc>
                  <a:txBody>
                    <a:bodyPr/>
                    <a:lstStyle/>
                    <a:p>
                      <a:pPr algn="ctr" rtl="1">
                        <a:buNone/>
                      </a:pPr>
                      <a:r>
                        <a:rPr lang="fa-IR" dirty="0"/>
                        <a:t>کمترین Absolute Inaccuracy</a:t>
                      </a:r>
                    </a:p>
                  </a:txBody>
                  <a:tcPr anchor="ctr"/>
                </a:tc>
                <a:tc>
                  <a:txBody>
                    <a:bodyPr/>
                    <a:lstStyle/>
                    <a:p>
                      <a:pPr algn="ctr">
                        <a:buNone/>
                      </a:pPr>
                      <a:r>
                        <a:rPr lang="en-US" dirty="0"/>
                        <a:t>Peaking + Three-stage </a:t>
                      </a:r>
                      <a:r>
                        <a:rPr lang="en-US" dirty="0" err="1"/>
                        <a:t>Softmax</a:t>
                      </a:r>
                      <a:endParaRPr lang="en-US" dirty="0"/>
                    </a:p>
                  </a:txBody>
                  <a:tcPr anchor="ctr"/>
                </a:tc>
                <a:extLst>
                  <a:ext uri="{0D108BD9-81ED-4DB2-BD59-A6C34878D82A}">
                    <a16:rowId xmlns:a16="http://schemas.microsoft.com/office/drawing/2014/main" val="1478419911"/>
                  </a:ext>
                </a:extLst>
              </a:tr>
              <a:tr h="728941">
                <a:tc>
                  <a:txBody>
                    <a:bodyPr/>
                    <a:lstStyle/>
                    <a:p>
                      <a:pPr algn="ctr" rtl="1">
                        <a:buNone/>
                      </a:pPr>
                      <a:r>
                        <a:rPr lang="fa-IR" dirty="0"/>
                        <a:t>بدترین کلی</a:t>
                      </a:r>
                    </a:p>
                  </a:txBody>
                  <a:tcPr anchor="ctr"/>
                </a:tc>
                <a:tc>
                  <a:txBody>
                    <a:bodyPr/>
                    <a:lstStyle/>
                    <a:p>
                      <a:pPr algn="ctr">
                        <a:buNone/>
                      </a:pPr>
                      <a:r>
                        <a:rPr lang="en-US" dirty="0"/>
                        <a:t>Saturating + Full Uniform</a:t>
                      </a:r>
                    </a:p>
                  </a:txBody>
                  <a:tcPr anchor="ctr"/>
                </a:tc>
                <a:extLst>
                  <a:ext uri="{0D108BD9-81ED-4DB2-BD59-A6C34878D82A}">
                    <a16:rowId xmlns:a16="http://schemas.microsoft.com/office/drawing/2014/main" val="3200475224"/>
                  </a:ext>
                </a:extLst>
              </a:tr>
              <a:tr h="728941">
                <a:tc>
                  <a:txBody>
                    <a:bodyPr/>
                    <a:lstStyle/>
                    <a:p>
                      <a:pPr algn="ctr" rtl="1">
                        <a:buNone/>
                      </a:pPr>
                      <a:r>
                        <a:rPr lang="fa-IR" dirty="0"/>
                        <a:t>بهترین عملکرد کلی (همه معیارها با هم)</a:t>
                      </a:r>
                    </a:p>
                  </a:txBody>
                  <a:tcPr anchor="ctr"/>
                </a:tc>
                <a:tc>
                  <a:txBody>
                    <a:bodyPr/>
                    <a:lstStyle/>
                    <a:p>
                      <a:pPr algn="ctr">
                        <a:buNone/>
                      </a:pPr>
                      <a:r>
                        <a:rPr lang="en-US" dirty="0"/>
                        <a:t>Weighted + Fully Continual + Balanced</a:t>
                      </a:r>
                    </a:p>
                  </a:txBody>
                  <a:tcPr anchor="ctr"/>
                </a:tc>
                <a:extLst>
                  <a:ext uri="{0D108BD9-81ED-4DB2-BD59-A6C34878D82A}">
                    <a16:rowId xmlns:a16="http://schemas.microsoft.com/office/drawing/2014/main" val="797776056"/>
                  </a:ext>
                </a:extLst>
              </a:tr>
              <a:tr h="728941">
                <a:tc>
                  <a:txBody>
                    <a:bodyPr/>
                    <a:lstStyle/>
                    <a:p>
                      <a:pPr algn="ctr" rtl="1">
                        <a:buNone/>
                      </a:pPr>
                      <a:r>
                        <a:rPr lang="fa-IR" dirty="0"/>
                        <a:t>کمترین Average Regret (شاخص اخلاقی برای بیماران trial)</a:t>
                      </a:r>
                    </a:p>
                  </a:txBody>
                  <a:tcPr anchor="ctr"/>
                </a:tc>
                <a:tc>
                  <a:txBody>
                    <a:bodyPr/>
                    <a:lstStyle/>
                    <a:p>
                      <a:pPr algn="ctr">
                        <a:buNone/>
                      </a:pPr>
                      <a:r>
                        <a:rPr lang="fa-IR" dirty="0"/>
                        <a:t>)</a:t>
                      </a:r>
                      <a:r>
                        <a:rPr lang="en-US" dirty="0"/>
                        <a:t>Fully Continual</a:t>
                      </a:r>
                      <a:r>
                        <a:rPr lang="fa-IR" dirty="0"/>
                        <a:t> </a:t>
                      </a:r>
                      <a:r>
                        <a:rPr lang="en-US" dirty="0"/>
                        <a:t>Standard </a:t>
                      </a:r>
                      <a:r>
                        <a:rPr lang="fa-IR" dirty="0"/>
                        <a:t>(</a:t>
                      </a:r>
                      <a:endParaRPr lang="en-US" dirty="0"/>
                    </a:p>
                  </a:txBody>
                  <a:tcPr anchor="ctr"/>
                </a:tc>
                <a:extLst>
                  <a:ext uri="{0D108BD9-81ED-4DB2-BD59-A6C34878D82A}">
                    <a16:rowId xmlns:a16="http://schemas.microsoft.com/office/drawing/2014/main" val="400485741"/>
                  </a:ext>
                </a:extLst>
              </a:tr>
            </a:tbl>
          </a:graphicData>
        </a:graphic>
      </p:graphicFrame>
    </p:spTree>
    <p:extLst>
      <p:ext uri="{BB962C8B-B14F-4D97-AF65-F5344CB8AC3E}">
        <p14:creationId xmlns:p14="http://schemas.microsoft.com/office/powerpoint/2010/main" val="1915220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BA5F6BA-C8E6-4F01-9FEF-7F07646D0551}"/>
              </a:ext>
            </a:extLst>
          </p:cNvPr>
          <p:cNvCxnSpPr/>
          <p:nvPr/>
        </p:nvCxnSpPr>
        <p:spPr>
          <a:xfrm flipH="1">
            <a:off x="428842" y="663522"/>
            <a:ext cx="9380484" cy="15766"/>
          </a:xfrm>
          <a:prstGeom prst="line">
            <a:avLst/>
          </a:prstGeom>
          <a:ln w="38100"/>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4EF848A-D868-4A1B-86C2-49CBA6A21652}"/>
              </a:ext>
            </a:extLst>
          </p:cNvPr>
          <p:cNvSpPr txBox="1"/>
          <p:nvPr/>
        </p:nvSpPr>
        <p:spPr>
          <a:xfrm>
            <a:off x="428842" y="1019086"/>
            <a:ext cx="11182133" cy="584775"/>
          </a:xfrm>
          <a:prstGeom prst="rect">
            <a:avLst/>
          </a:prstGeom>
          <a:noFill/>
        </p:spPr>
        <p:txBody>
          <a:bodyPr wrap="square">
            <a:spAutoFit/>
          </a:bodyPr>
          <a:lstStyle/>
          <a:p>
            <a:r>
              <a:rPr lang="en-US" sz="1600" i="1" dirty="0">
                <a:latin typeface="Times New Roman" panose="02020603050405020304" pitchFamily="18" charset="0"/>
                <a:cs typeface="Times New Roman" panose="02020603050405020304" pitchFamily="18" charset="0"/>
              </a:rPr>
              <a:t>1. </a:t>
            </a:r>
            <a:r>
              <a:rPr lang="en-US" sz="1600" i="1" dirty="0" err="1">
                <a:latin typeface="Times New Roman" panose="02020603050405020304" pitchFamily="18" charset="0"/>
                <a:cs typeface="Times New Roman" panose="02020603050405020304" pitchFamily="18" charset="0"/>
              </a:rPr>
              <a:t>Desikan</a:t>
            </a:r>
            <a:r>
              <a:rPr lang="en-US" sz="1600" i="1" dirty="0">
                <a:latin typeface="Times New Roman" panose="02020603050405020304" pitchFamily="18" charset="0"/>
                <a:cs typeface="Times New Roman" panose="02020603050405020304" pitchFamily="18" charset="0"/>
              </a:rPr>
              <a:t> R, </a:t>
            </a:r>
            <a:r>
              <a:rPr lang="en-US" sz="1600" i="1" dirty="0" err="1">
                <a:latin typeface="Times New Roman" panose="02020603050405020304" pitchFamily="18" charset="0"/>
                <a:cs typeface="Times New Roman" panose="02020603050405020304" pitchFamily="18" charset="0"/>
              </a:rPr>
              <a:t>Germani</a:t>
            </a:r>
            <a:r>
              <a:rPr lang="en-US" sz="1600" i="1" dirty="0">
                <a:latin typeface="Times New Roman" panose="02020603050405020304" pitchFamily="18" charset="0"/>
                <a:cs typeface="Times New Roman" panose="02020603050405020304" pitchFamily="18" charset="0"/>
              </a:rPr>
              <a:t> M, van der Graaf PH, Magee M. A quantitative clinical pharmacology-based framework for model-informed vaccine development. Journal of Pharmaceutical Sciences. 2023 Nov 2.</a:t>
            </a:r>
          </a:p>
        </p:txBody>
      </p:sp>
      <p:sp>
        <p:nvSpPr>
          <p:cNvPr id="9" name="TextBox 8">
            <a:extLst>
              <a:ext uri="{FF2B5EF4-FFF2-40B4-BE49-F238E27FC236}">
                <a16:creationId xmlns:a16="http://schemas.microsoft.com/office/drawing/2014/main" id="{B1241A17-5140-45FF-81F9-C8B6674518D7}"/>
              </a:ext>
            </a:extLst>
          </p:cNvPr>
          <p:cNvSpPr txBox="1"/>
          <p:nvPr/>
        </p:nvSpPr>
        <p:spPr>
          <a:xfrm>
            <a:off x="428842" y="1809661"/>
            <a:ext cx="11401208" cy="584775"/>
          </a:xfrm>
          <a:prstGeom prst="rect">
            <a:avLst/>
          </a:prstGeom>
          <a:noFill/>
        </p:spPr>
        <p:txBody>
          <a:bodyPr wrap="square">
            <a:spAutoFit/>
          </a:bodyPr>
          <a:lstStyle/>
          <a:p>
            <a:r>
              <a:rPr lang="en-US" sz="1600" i="1" dirty="0">
                <a:latin typeface="Times New Roman" panose="02020603050405020304" pitchFamily="18" charset="0"/>
                <a:cs typeface="Times New Roman" panose="02020603050405020304" pitchFamily="18" charset="0"/>
              </a:rPr>
              <a:t>2. Rhodes SJ, Knight GM, Kirschner DE, White RG, Evans TG. Dose finding for new vaccines: The role for </a:t>
            </a:r>
            <a:r>
              <a:rPr lang="en-US" sz="1600" i="1" dirty="0" err="1">
                <a:latin typeface="Times New Roman" panose="02020603050405020304" pitchFamily="18" charset="0"/>
                <a:cs typeface="Times New Roman" panose="02020603050405020304" pitchFamily="18" charset="0"/>
              </a:rPr>
              <a:t>immunostimulation</a:t>
            </a:r>
            <a:r>
              <a:rPr lang="en-US" sz="1600" i="1" dirty="0">
                <a:latin typeface="Times New Roman" panose="02020603050405020304" pitchFamily="18" charset="0"/>
                <a:cs typeface="Times New Roman" panose="02020603050405020304" pitchFamily="18" charset="0"/>
              </a:rPr>
              <a:t> /immunodynamic modelling. Journal of theoretical biology. 2019 Mar 21;465:51-5.</a:t>
            </a:r>
          </a:p>
        </p:txBody>
      </p:sp>
      <p:sp>
        <p:nvSpPr>
          <p:cNvPr id="11" name="TextBox 10">
            <a:extLst>
              <a:ext uri="{FF2B5EF4-FFF2-40B4-BE49-F238E27FC236}">
                <a16:creationId xmlns:a16="http://schemas.microsoft.com/office/drawing/2014/main" id="{76BB9537-6525-43DA-90BF-334767177807}"/>
              </a:ext>
            </a:extLst>
          </p:cNvPr>
          <p:cNvSpPr txBox="1"/>
          <p:nvPr/>
        </p:nvSpPr>
        <p:spPr>
          <a:xfrm>
            <a:off x="428843" y="2690336"/>
            <a:ext cx="11105932" cy="584775"/>
          </a:xfrm>
          <a:prstGeom prst="rect">
            <a:avLst/>
          </a:prstGeom>
          <a:noFill/>
        </p:spPr>
        <p:txBody>
          <a:bodyPr wrap="square">
            <a:spAutoFit/>
          </a:bodyPr>
          <a:lstStyle/>
          <a:p>
            <a:r>
              <a:rPr lang="en-US" sz="1600" i="1" dirty="0">
                <a:latin typeface="Times New Roman" panose="02020603050405020304" pitchFamily="18" charset="0"/>
                <a:cs typeface="Times New Roman" panose="02020603050405020304" pitchFamily="18" charset="0"/>
              </a:rPr>
              <a:t>3. Rhodes SJ, </a:t>
            </a:r>
            <a:r>
              <a:rPr lang="en-US" sz="1600" i="1" dirty="0" err="1">
                <a:latin typeface="Times New Roman" panose="02020603050405020304" pitchFamily="18" charset="0"/>
                <a:cs typeface="Times New Roman" panose="02020603050405020304" pitchFamily="18" charset="0"/>
              </a:rPr>
              <a:t>Guedj</a:t>
            </a:r>
            <a:r>
              <a:rPr lang="en-US" sz="1600" i="1" dirty="0">
                <a:latin typeface="Times New Roman" panose="02020603050405020304" pitchFamily="18" charset="0"/>
                <a:cs typeface="Times New Roman" panose="02020603050405020304" pitchFamily="18" charset="0"/>
              </a:rPr>
              <a:t> J, Fletcher HA, </a:t>
            </a:r>
            <a:r>
              <a:rPr lang="en-US" sz="1600" i="1" dirty="0" err="1">
                <a:latin typeface="Times New Roman" panose="02020603050405020304" pitchFamily="18" charset="0"/>
                <a:cs typeface="Times New Roman" panose="02020603050405020304" pitchFamily="18" charset="0"/>
              </a:rPr>
              <a:t>Lindenstrøm</a:t>
            </a:r>
            <a:r>
              <a:rPr lang="en-US" sz="1600" i="1" dirty="0">
                <a:latin typeface="Times New Roman" panose="02020603050405020304" pitchFamily="18" charset="0"/>
                <a:cs typeface="Times New Roman" panose="02020603050405020304" pitchFamily="18" charset="0"/>
              </a:rPr>
              <a:t> T, Scriba TJ, Evans TG, Knight GM, White RG. Using vaccine </a:t>
            </a:r>
            <a:r>
              <a:rPr lang="en-US" sz="1600" i="1" dirty="0" err="1">
                <a:latin typeface="Times New Roman" panose="02020603050405020304" pitchFamily="18" charset="0"/>
                <a:cs typeface="Times New Roman" panose="02020603050405020304" pitchFamily="18" charset="0"/>
              </a:rPr>
              <a:t>Immunostimulation</a:t>
            </a:r>
            <a:r>
              <a:rPr lang="en-US" sz="1600" i="1" dirty="0">
                <a:latin typeface="Times New Roman" panose="02020603050405020304" pitchFamily="18" charset="0"/>
                <a:cs typeface="Times New Roman" panose="02020603050405020304" pitchFamily="18" charset="0"/>
              </a:rPr>
              <a:t>/ Immunodynamic modelling methods to inform vaccine dose decision-making. </a:t>
            </a:r>
            <a:r>
              <a:rPr lang="en-US" sz="1600" i="1" dirty="0" err="1">
                <a:latin typeface="Times New Roman" panose="02020603050405020304" pitchFamily="18" charset="0"/>
                <a:cs typeface="Times New Roman" panose="02020603050405020304" pitchFamily="18" charset="0"/>
              </a:rPr>
              <a:t>Npj</a:t>
            </a:r>
            <a:r>
              <a:rPr lang="en-US" sz="1600" i="1" dirty="0">
                <a:latin typeface="Times New Roman" panose="02020603050405020304" pitchFamily="18" charset="0"/>
                <a:cs typeface="Times New Roman" panose="02020603050405020304" pitchFamily="18" charset="0"/>
              </a:rPr>
              <a:t> Vaccines. 2018 Sep 17;3(1):36.</a:t>
            </a:r>
          </a:p>
        </p:txBody>
      </p:sp>
      <p:sp>
        <p:nvSpPr>
          <p:cNvPr id="13" name="TextBox 12">
            <a:extLst>
              <a:ext uri="{FF2B5EF4-FFF2-40B4-BE49-F238E27FC236}">
                <a16:creationId xmlns:a16="http://schemas.microsoft.com/office/drawing/2014/main" id="{E5FE2017-62B6-4730-9C68-51A631F2ADCD}"/>
              </a:ext>
            </a:extLst>
          </p:cNvPr>
          <p:cNvSpPr txBox="1"/>
          <p:nvPr/>
        </p:nvSpPr>
        <p:spPr>
          <a:xfrm>
            <a:off x="428842" y="3582890"/>
            <a:ext cx="11105932" cy="584775"/>
          </a:xfrm>
          <a:prstGeom prst="rect">
            <a:avLst/>
          </a:prstGeom>
          <a:noFill/>
        </p:spPr>
        <p:txBody>
          <a:bodyPr wrap="square">
            <a:spAutoFit/>
          </a:bodyPr>
          <a:lstStyle/>
          <a:p>
            <a:r>
              <a:rPr lang="en-GB" sz="1600" i="1" dirty="0">
                <a:latin typeface="Times New Roman" panose="02020603050405020304" pitchFamily="18" charset="0"/>
                <a:cs typeface="Times New Roman" panose="02020603050405020304" pitchFamily="18" charset="0"/>
              </a:rPr>
              <a:t>4. Goetz KB, </a:t>
            </a:r>
            <a:r>
              <a:rPr lang="en-GB" sz="1600" i="1" dirty="0" err="1">
                <a:latin typeface="Times New Roman" panose="02020603050405020304" pitchFamily="18" charset="0"/>
                <a:cs typeface="Times New Roman" panose="02020603050405020304" pitchFamily="18" charset="0"/>
              </a:rPr>
              <a:t>Pfleiderer</a:t>
            </a:r>
            <a:r>
              <a:rPr lang="en-GB" sz="1600" i="1" dirty="0">
                <a:latin typeface="Times New Roman" panose="02020603050405020304" pitchFamily="18" charset="0"/>
                <a:cs typeface="Times New Roman" panose="02020603050405020304" pitchFamily="18" charset="0"/>
              </a:rPr>
              <a:t> M, Schneider CK. First-in-human clinical trials with vaccines—what regulators want. Nature biotechnology. 2010 Sep;28(9):910-6.</a:t>
            </a:r>
            <a:endParaRPr lang="en-US" sz="1600" i="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4BF2F76B-148B-4C8B-A1BA-A9BFF65807FF}"/>
              </a:ext>
            </a:extLst>
          </p:cNvPr>
          <p:cNvSpPr txBox="1"/>
          <p:nvPr/>
        </p:nvSpPr>
        <p:spPr>
          <a:xfrm>
            <a:off x="428842" y="4463565"/>
            <a:ext cx="11077575" cy="584775"/>
          </a:xfrm>
          <a:prstGeom prst="rect">
            <a:avLst/>
          </a:prstGeom>
          <a:noFill/>
        </p:spPr>
        <p:txBody>
          <a:bodyPr wrap="square">
            <a:spAutoFit/>
          </a:bodyPr>
          <a:lstStyle/>
          <a:p>
            <a:r>
              <a:rPr lang="en-US" sz="1600" i="1" dirty="0">
                <a:latin typeface="Times New Roman" panose="02020603050405020304" pitchFamily="18" charset="0"/>
                <a:cs typeface="Times New Roman" panose="02020603050405020304" pitchFamily="18" charset="0"/>
              </a:rPr>
              <a:t>5. </a:t>
            </a:r>
            <a:r>
              <a:rPr lang="en-US" sz="1600" i="1" dirty="0" err="1">
                <a:latin typeface="Times New Roman" panose="02020603050405020304" pitchFamily="18" charset="0"/>
                <a:cs typeface="Times New Roman" panose="02020603050405020304" pitchFamily="18" charset="0"/>
              </a:rPr>
              <a:t>Benest</a:t>
            </a:r>
            <a:r>
              <a:rPr lang="en-US" sz="1600" i="1" dirty="0">
                <a:latin typeface="Times New Roman" panose="02020603050405020304" pitchFamily="18" charset="0"/>
                <a:cs typeface="Times New Roman" panose="02020603050405020304" pitchFamily="18" charset="0"/>
              </a:rPr>
              <a:t> J, Rhodes S, Evans TG, White RG. Mathematical modelling for optimal vaccine dose finding: </a:t>
            </a:r>
            <a:r>
              <a:rPr lang="en-US" sz="1600" i="1" dirty="0" err="1">
                <a:latin typeface="Times New Roman" panose="02020603050405020304" pitchFamily="18" charset="0"/>
                <a:cs typeface="Times New Roman" panose="02020603050405020304" pitchFamily="18" charset="0"/>
              </a:rPr>
              <a:t>maximising</a:t>
            </a:r>
            <a:r>
              <a:rPr lang="en-US" sz="1600" i="1" dirty="0">
                <a:latin typeface="Times New Roman" panose="02020603050405020304" pitchFamily="18" charset="0"/>
                <a:cs typeface="Times New Roman" panose="02020603050405020304" pitchFamily="18" charset="0"/>
              </a:rPr>
              <a:t> efficacy and </a:t>
            </a:r>
            <a:r>
              <a:rPr lang="en-US" sz="1600" i="1" dirty="0" err="1">
                <a:latin typeface="Times New Roman" panose="02020603050405020304" pitchFamily="18" charset="0"/>
                <a:cs typeface="Times New Roman" panose="02020603050405020304" pitchFamily="18" charset="0"/>
              </a:rPr>
              <a:t>minimising</a:t>
            </a:r>
            <a:r>
              <a:rPr lang="en-US" sz="1600" i="1" dirty="0">
                <a:latin typeface="Times New Roman" panose="02020603050405020304" pitchFamily="18" charset="0"/>
                <a:cs typeface="Times New Roman" panose="02020603050405020304" pitchFamily="18" charset="0"/>
              </a:rPr>
              <a:t> toxicity. Vaccines. 2022 May 11;10(5):756.</a:t>
            </a:r>
          </a:p>
        </p:txBody>
      </p:sp>
      <p:sp>
        <p:nvSpPr>
          <p:cNvPr id="10" name="TextBox 9"/>
          <p:cNvSpPr txBox="1"/>
          <p:nvPr/>
        </p:nvSpPr>
        <p:spPr>
          <a:xfrm>
            <a:off x="11484809" y="6460926"/>
            <a:ext cx="400318" cy="276999"/>
          </a:xfrm>
          <a:prstGeom prst="rect">
            <a:avLst/>
          </a:prstGeom>
          <a:noFill/>
        </p:spPr>
        <p:txBody>
          <a:bodyPr wrap="square" rtlCol="0">
            <a:spAutoFit/>
          </a:bodyPr>
          <a:lstStyle/>
          <a:p>
            <a:pPr algn="ctr"/>
            <a:r>
              <a:rPr lang="en-US" sz="1200" i="1" dirty="0">
                <a:latin typeface="Times New Roman" panose="02020603050405020304" pitchFamily="18" charset="0"/>
                <a:cs typeface="Times New Roman" panose="02020603050405020304" pitchFamily="18" charset="0"/>
              </a:rPr>
              <a:t>13</a:t>
            </a:r>
          </a:p>
        </p:txBody>
      </p:sp>
      <p:sp>
        <p:nvSpPr>
          <p:cNvPr id="3" name="TextBox 2">
            <a:extLst>
              <a:ext uri="{FF2B5EF4-FFF2-40B4-BE49-F238E27FC236}">
                <a16:creationId xmlns:a16="http://schemas.microsoft.com/office/drawing/2014/main" id="{C8DF2A0B-A07D-A810-2903-AFB612BD06F5}"/>
              </a:ext>
            </a:extLst>
          </p:cNvPr>
          <p:cNvSpPr txBox="1"/>
          <p:nvPr/>
        </p:nvSpPr>
        <p:spPr>
          <a:xfrm>
            <a:off x="108654" y="-45689"/>
            <a:ext cx="3106995" cy="1323439"/>
          </a:xfrm>
          <a:prstGeom prst="rect">
            <a:avLst/>
          </a:prstGeom>
          <a:noFill/>
        </p:spPr>
        <p:txBody>
          <a:bodyPr wrap="square" rtlCol="0">
            <a:spAutoFit/>
          </a:bodyPr>
          <a:lstStyle/>
          <a:p>
            <a:r>
              <a:rPr lang="en-US" sz="4000" dirty="0"/>
              <a:t>References</a:t>
            </a:r>
          </a:p>
          <a:p>
            <a:endParaRPr lang="en-US" sz="4000" dirty="0"/>
          </a:p>
        </p:txBody>
      </p:sp>
    </p:spTree>
    <p:extLst>
      <p:ext uri="{BB962C8B-B14F-4D97-AF65-F5344CB8AC3E}">
        <p14:creationId xmlns:p14="http://schemas.microsoft.com/office/powerpoint/2010/main" val="2837873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0B6311-4A90-911F-FE97-4381298C86C9}"/>
              </a:ext>
            </a:extLst>
          </p:cNvPr>
          <p:cNvSpPr>
            <a:spLocks noGrp="1"/>
          </p:cNvSpPr>
          <p:nvPr>
            <p:ph type="sldNum" sz="quarter" idx="12"/>
          </p:nvPr>
        </p:nvSpPr>
        <p:spPr/>
        <p:txBody>
          <a:bodyPr/>
          <a:lstStyle/>
          <a:p>
            <a:fld id="{67EFB97B-C702-468C-B184-BC2FF345C510}" type="slidenum">
              <a:rPr lang="en-US" smtClean="0"/>
              <a:t>33</a:t>
            </a:fld>
            <a:endParaRPr lang="en-US"/>
          </a:p>
        </p:txBody>
      </p:sp>
      <p:sp>
        <p:nvSpPr>
          <p:cNvPr id="3" name="TextBox 2">
            <a:extLst>
              <a:ext uri="{FF2B5EF4-FFF2-40B4-BE49-F238E27FC236}">
                <a16:creationId xmlns:a16="http://schemas.microsoft.com/office/drawing/2014/main" id="{478D9AD1-A0DB-7E65-B441-632767C12010}"/>
              </a:ext>
            </a:extLst>
          </p:cNvPr>
          <p:cNvSpPr txBox="1"/>
          <p:nvPr/>
        </p:nvSpPr>
        <p:spPr>
          <a:xfrm>
            <a:off x="2643673" y="2799518"/>
            <a:ext cx="6904653" cy="830997"/>
          </a:xfrm>
          <a:prstGeom prst="rect">
            <a:avLst/>
          </a:prstGeom>
          <a:noFill/>
        </p:spPr>
        <p:txBody>
          <a:bodyPr wrap="square" rtlCol="0">
            <a:spAutoFit/>
          </a:bodyPr>
          <a:lstStyle/>
          <a:p>
            <a:r>
              <a:rPr lang="en-US" sz="4800" dirty="0"/>
              <a:t>Thank For Your Attention</a:t>
            </a:r>
          </a:p>
        </p:txBody>
      </p:sp>
    </p:spTree>
    <p:extLst>
      <p:ext uri="{BB962C8B-B14F-4D97-AF65-F5344CB8AC3E}">
        <p14:creationId xmlns:p14="http://schemas.microsoft.com/office/powerpoint/2010/main" val="270868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2637</TotalTime>
  <Words>2171</Words>
  <Application>Microsoft Office PowerPoint</Application>
  <PresentationFormat>Widescreen</PresentationFormat>
  <Paragraphs>314</Paragraphs>
  <Slides>33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Aptos Display</vt:lpstr>
      <vt:lpstr>Arial</vt:lpstr>
      <vt:lpstr>B Nazanin</vt:lpstr>
      <vt:lpstr>B Titr</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Rahmati</dc:creator>
  <cp:lastModifiedBy>Ali Rahmati</cp:lastModifiedBy>
  <cp:revision>17</cp:revision>
  <dcterms:created xsi:type="dcterms:W3CDTF">2026-06-02T20:15:05Z</dcterms:created>
  <dcterms:modified xsi:type="dcterms:W3CDTF">2026-06-16T04:37:02Z</dcterms:modified>
</cp:coreProperties>
</file>