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3" r:id="rId28"/>
    <p:sldId id="266" r:id="rId29"/>
    <p:sldId id="264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987" autoAdjust="0"/>
  </p:normalViewPr>
  <p:slideViewPr>
    <p:cSldViewPr snapToGrid="0">
      <p:cViewPr>
        <p:scale>
          <a:sx n="75" d="100"/>
          <a:sy n="75" d="100"/>
        </p:scale>
        <p:origin x="88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3:49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888 2142 8192,'-35'0'12321,"0"1"-6667,-17 1-3860,27-1-3613,0-2-1,-44-7 1,24-7-5719,19 5 3042,9 5 4680,-10 3 10484,25 2-10529,0 1-1,1-1 1,-1 1 0,0-1-1,1 1 1,-1 0-1,1 0 1,-1 0 0,1 0-1,0 0 1,-1 0-1,1 0 1,0 0-1,-1 1 1,1-1 0,0 0-1,0 1 1,0-1-1,0 1 1,1-1-1,-1 1 1,0 0 0,1-1-1,-1 1 1,1 0-1,-1-1 1,1 1 0,0 0-1,0 0 1,0-1-1,0 1 1,0 0-1,0 2 1,0 5-109,1 0 0,0-1 0,0 1 0,1-1 1,3 13-1,10 20-419,0-2-1685,-4 0-4533,2 4-2114,-7-27 8663,0 0 0,2 0 0,17 29 1,-24-44 98,-1 0 1,0 0 0,1 0 0,-1 0-1,1 0 1,-1-1 0,1 1 0,0 0-1,0 0 1,-1 0 0,1-1 0,0 1-1,0 0 1,0-1 0,-1 1 0,1 0-1,0-1 1,0 1 0,0-1 0,0 0-1,0 1 1,0-1 0,0 0 0,0 0-1,0 1 1,0-1 0,0 0 0,1 0-1,-1 0 1,0 0 0,0 0 0,0-1-1,0 1 1,0 0 0,0 0 0,0-1-1,0 1 1,0-1 0,0 1 0,0-1-1,0 1 1,0-1 0,-1 1-1,2-2 1,1 0-114,-1-1 1,0 0-1,0 0 0,0 0 0,0 0 0,0-1 0,-1 1 0,1 0 1,-1-1-1,0 1 0,0-1 0,0-3 0,21-150 15959,-18 53-14696,-1 118-1179,0 1 1,1-1-1,9 20 1,6 23-623,-13-37-2300,0 0-1,2-1 1,0 1 0,2-2-1,13 23 1,-22-40 2918,-1-1-1,0 0 1,0 1 0,0-1 0,0 0 0,0 1-1,0-1 1,0 0 0,1 0 0,-1 1 0,0-1 0,0 0-1,0 0 1,1 1 0,-1-1 0,0 0 0,0 0-1,1 1 1,-1-1 0,0 0 0,0 0 0,1 0-1,-1 0 1,0 0 0,1 1 0,-1-1 0,0 0 0,1 0-1,-1 0 1,0 0 0,1 0 0,-1 0 0,0 0-1,1 0 1,-1 0 0,0 0 0,1 0 0,-1 0 0,0 0-1,1-1 1,-1 1 0,6-16 1506,-5-29-386,-1 42-1622,-2-59 488,0 14-2968,1 17 4030,2 5 3690,2 2 4974,-3 24-9653,0-1 0,0 1 1,0 0-1,0-1 0,0 1 1,0 0-1,0-1 0,0 1 0,0 0 1,0-1-1,0 1 0,0 0 0,1-1 1,-1 1-1,0 0 0,0-1 0,0 1 1,1 0-1,-1-1 0,0 1 0,0 0 1,0 0-1,1-1 0,-1 1 0,0 0 1,1 0-1,-1 0 0,0-1 0,0 1 1,1 0-1,-1 0 0,0 0 0,1 0 1,-1 0-1,0 0 0,1 0 0,-1 0 1,1 0-1,-1-1 0,0 1 1,1 1-1,15 10 375,8 22-705,31 56-2147,-18-29-2878,-1 0-3998,-30-50 8771,-4-7 452,0 0 1,0-1-1,-1 1 0,1 0 1,-1 1-1,1-1 0,-1 0 1,1 7-1,-2-10 67,0 1 0,0 0-1,0-1 1,0 1 0,0-1 0,0 1 0,-1-1-1,1 1 1,0 0 0,0-1 0,-1 1-1,1-1 1,0 1 0,-1-1 0,1 1 0,0-1-1,-1 1 1,1-1 0,-1 0 0,1 1 0,-1 0-1,-22 5-45,8-4 42,0-2 0,0 0 0,0-1 0,-1 0 0,2-1 0,-1-1 0,-20-5 0,13 0 0,-1-1 0,1-1 0,-38-23 0,57 31 0,-16-9 0,-54-26 15940,73 38-15738,6 19 2922,3-1-4368,17 26 1244,50 78 0,-59-98 21,-14-18-334,1-1 0,0 0 0,0 0 0,0-1-1,1 1 1,0-1 0,0 0 0,8 6 385,-13-11-30,0 0 1,0 1 0,0-1 0,1 0-1,-1 0 1,0 0 0,0 0 0,0 0-1,0 0 1,0 0 0,0 0 0,1 0-1,-1 0 1,0 0 0,0 0 0,0 0-1,0 0 1,0 0 0,0 0 0,1 0-1,0-1 642,-1 1-641,0 0 0,0-1-1,0 1 1,0 0 0,0 0 0,0 0-1,1 0 1,-1 0 0,0 0 0,0 0-1,0-1 1,-3-10 575,-8-17-1453,10 26 810,-38-97-8722,2 4 1242,17 39 7163,17 43 218,-1 1 0,-1 0 0,0 0 0,-1 0 0,0 1 0,-10-15 0,-3-7 11345,7-1-4925,-7-16-5791,19 49-505,-1 1 0,1 0 0,0-1 0,-1 1 0,1 0 0,0-1 0,0 1 0,-1 0 0,1-1 0,0 1 0,0-1 0,0 1 0,0 0 0,-1-1 0,1 1 0,0-1 0,0 1 0,0 0 0,0-1 0,0 1 0,0-1 0,0 1 0,0-1 0,0 1 0,0 0 0,1-1 0,-1 1 0,0-1 0,0 0 0,12 4 0,16 16 0,23 33-1393,24 30-9140,-1-1 4437,-65-70 6096,-1 0 0,0 0 0,0 1 0,5 13 0,14 20 0,-23-40 582,-4-7 72,-7-15 428,-17-27-2905,-101-145 3950,124 188-1990,-15-28 8066,13 15-3314,3 13-4828,0 1-1,1 0 0,-1 0 0,0-1 1,0 1-1,0 0 0,0-1 1,0 1-1,1 0 0,-1 0 0,0-1 1,0 1-1,0 0 0,1 0 1,-1 0-1,0-1 0,0 1 0,1 0 1,-1 0-1,0 0 0,0 0 1,1-1-1,-1 1 0,0 0 0,1 0 1,-1 0-1,0 0 0,1 0 1,-1 0-1,0 0 0,1 0 0,-1 0 1,0 0-1,1 0 0,-1 0 1,6 3-61,-1 0 0,1 0 0,-1 0 0,0 1 0,0-1 0,0 1 0,-1 1 0,1-1 0,4 6 0,1 1 0,24 25-2017,14 23-5815,4 6-30,-13-26 7551,-12-4 311,-26-34 0,0 0 0,-1 0 0,1 0 0,0 0 0,-1 1 0,0-1 0,1 0 0,-1 0 0,0 1 0,1-1 0,-1 0 0,0 0 0,0 3 0,0-4 0,-1 1 0,1-1 0,0 1 0,0-1 0,-1 0 0,1 1 0,-1-1 0,1 1 0,0-1 0,-1 0 0,1 1 0,-1-1 0,1 0 0,-1 1 0,1-1 0,-1 0 0,1 0 0,-1 1 0,1-1 0,-1 0 0,1 0 0,-1 0 0,1 0 0,-1 0 0,1 0 0,-1 0 0,0 0 0,1 0 0,-1 0 0,1 0 0,-1 0 0,0 0 0,-3-1 0,1 0 0,-1 1 0,1-1 0,0 0 0,0-1 0,-1 1 0,1-1 0,0 1 0,0-1 0,0 0 0,-4-4 0,-31-31 0,24 22 0,-206-209 0,148 151 0,-104-99 15215,175 173-14865,-7 14 2290,6-4-5686,7 64-4995,24 71 19619,-15-88-15709,21 132 7413,-35-190-3277,0 1 0,1-1 0,-1 1 0,0 0 0,0-1 0,0 1 0,1-1 0,-1 1 0,0 0 0,0-1 0,0 1 0,0 0 0,0-1 0,0 1 0,0-1 0,0 1 0,-1 0 0,1-1 0,0 1 0,0-1 0,0 1 0,-1 0 0,1-1 0,0 1 0,-1-1 0,1 1-1,0-1 1,-1 1 0,1-1 0,-1 1 0,1-1 0,-1 1 0,-1-1-3,1 0 0,0 0-1,0 0 1,-1 0 0,1-1-1,0 1 1,0 0 0,-1-1 0,1 1-1,0 0 1,0-1 0,0 0-1,0 1 1,-2-2 0,-37-29-17,19 9-635,1 0 0,1-2 0,-20-30 0,-43-84-5908,51 85 5121,-11-18-6530,11 27 26529,45 61-18562,-9-12 0,-1 1 0,1-1 0,-1 1 0,6 11 0,40 109-1947,-14-30-52,13 30-7935,-40-99 11662,-2 0 4416,-24-40-12957,-2-16 11770,11 15-6296,-75-168 8204,16-9-5638,15-5-5919,12 0-6201,18 46 10451,6 0 0,4-183 0,1 116 391,-1 9 661,17 108 1328,-2 67-2299,2 0 1,1 1-1,2-1 1,20-53-1,8 11 3612,-24 52-1625,1 1 0,1 0 0,2 0 0,26-27 0,-36 41-1229,2 2-1,-1-1 0,1 1 1,0 0-1,0 1 1,0 0-1,1 0 1,0 1-1,0 0 0,0 0 1,0 1-1,1 1 1,-1-1-1,20-1 1,7 2-397,0 1 0,54 6 0,-74-2 0,-1-1 0,1 2 0,-1 0 0,0 1 0,0 0 0,0 1 0,0 1 0,14 9 0,-4-1 0,0 2 0,-1 1 0,-1 0 0,-1 2 0,0 1 0,19 24 0,-16-10-1546,-1 1 1,-2 1-1,-2 1 1,-1 1-1,-2 1 1,-1 0-1,-3 1 1,-1 1-1,-2 0 1,6 56-1,-8-21 844,-1 79-1,-13-2 5357,5-145-3703,-1-1 1,0 1 0,0 0 0,0-1 0,-1 0 0,-1 1 0,1-1 0,-1 0 0,0-1 0,-1 1 0,-9 11-1,-6 3-167,0 0 0,-28 21 0,-5 6-806,21-17 22,-1-2 0,-2-1 0,0-2 0,-77 44 0,99-66 0,0 0 0,0 0 0,-1-1 0,0-1 0,0-1 0,0 0 0,0 0 0,0-2 0,0 0 0,0 0 0,0-1 0,0-1 0,-22-5 0,29 4-38,-1-1 1,1 1 0,0-1-1,0-1 1,0 1 0,0-1-1,1-1 1,0 1 0,0-1 0,1 0-1,-1 0 1,1-1 0,0 1-1,-4-10 1,-3-6-912,0 0 0,2 0 0,-11-36 0,5 3-7062,4-3 3688,6 13 3990,1 0 0,3-1 0,6-90 0,5 103 2542,-8 31-1487,0-1 0,0 1 0,1 0 0,-1 0 0,1 0 0,-1 0 0,1 0 0,0 0 0,0 0 0,0 1 0,0-1 0,0 0 0,1 1 0,1-1 0,-1 0-112,0 1 0,0 0 0,0 1 0,0-1 0,0 0 0,0 1 0,0 0 0,0-1 0,0 1-1,0 1 1,0-1 0,3 1 0,27 10-3556,-21-5 2946,-1 1 0,0 1 0,-1 0 0,0 0 0,0 1 0,-1 0 0,0 1 0,0 0 0,-1 0 0,-1 1 0,9 15 0,1 7 0,-1 0 0,20 62 0,-8-7-1739,-5 0 0,14 103 1,-28-113-4665,0 95 0,-10-158 6531,0 0 0,0 1 0,-2-1 0,0 0 0,-1-1 0,-5 16 0,6-22-162,-1 1 1,1-1 0,-1 0-1,-1-1 1,0 1-1,0-1 1,0 0 0,-1 0-1,0 0 1,0-1-1,-12 10 1,14-13 770,0-1 0,-1 0 0,1 0 1,0 0-1,-1 0 0,1-1 0,-1 1 0,0-1 1,1 0-1,-1-1 0,0 1 0,-9-1 0,6-1-183,0 0-1,1 0 1,-1-1-1,1 1 0,-1-2 1,1 1-1,-10-6 0,3 1-291,1-1 1,1 0-1,0-1 0,0-1 0,1 0 0,0 0 0,-17-21 0,16 14-175,2 0 1,0 0-1,1 0 0,1-1 1,1-1-1,0 1 0,1-1 1,1 0-1,-4-37 1,2-12-3327,3-98 1,4 150 2416,2-48-2212,2 1 1,16-86 0,8 33 1956,-21 88 1384,12-35-447,-4 35 3135,7 6 4401,-21 22-7145,-1-1-1,1 0 1,0 1 0,0-1-1,0 0 1,0 1 0,0-1 0,0 1-1,0 0 1,0-1 0,0 1-1,0 0 1,1 0 0,-1-1-1,0 1 1,0 0 0,0 0-1,0 0 1,0 0 0,0 1-1,0-1 1,1 0 0,-1 0 0,0 1-1,0-1 1,0 0 0,1 2-1,0-1-165,0 1-1,-1-1 1,1 1-1,-1 0 1,1 0-1,-1 0 1,0 0 0,0 0-1,0 0 1,0 0-1,0 0 1,1 4-1,0 4-193,1-1 0,-2 1 0,1 0 0,-2 0 0,1 13 0,-2-16 109,0-1 0,0 1 0,0 0 0,-1 0 0,0 0 0,-1-1 0,1 1 0,-1-1 0,-5 8 0,7-12 0,-1 0 0,1 0 0,0 0 0,-1 0 0,0 0 0,1 0 0,-1-1 0,0 1 0,0-1 0,0 1 0,0-1 0,0 0 0,0 0 0,0 0 0,-1 0 0,1 0 0,0 0 0,-1 0 0,1-1 0,0 0 0,-1 1 0,1-1 0,0 0 0,-1 0 0,1 0 0,-1 0 0,1-1 0,-1 1 0,1 0 0,-3-2 0,3 1 0,1 1 0,-1-1 0,0 0 0,1 0 0,-1 0 0,0 0 0,1-1 0,-1 1 0,1 0 0,0-1 0,0 1 0,-1-1 0,1 1 0,0-1 0,0 1 0,-1-3 0,-5-12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4:22.3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910 432 8192,'0'26'9815,"0"9"-3089,0 1-3951,-7 77-5422,0-63 4000,1-11-1353,5-26 0,-1 0 0,0 1 0,-6 14 0,7-24 0,-1 0 0,1 0 0,-1 0 0,0 0 0,-1-1 0,1 1 0,-1-1 0,1 1 0,-1-1 0,0 0 0,0 0 0,-1 0 0,1 0 0,-5 2 0,-13 8 0,-1 0 0,0-1 0,-1-1 0,0-2 0,-37 11 0,52-19 0,0 1 0,-1-2 0,1 1 0,-1-1 0,1-1 0,-1 1 0,1-1 0,-1-1 0,1 0 0,0 0 0,0 0 0,0-1 0,-15-7 0,12 3 0,1 0 0,0 0 0,0-1 0,0-1 0,1 1 0,0-2 0,1 1 0,-12-18 0,8 10 0,2 0 0,0 0 0,2-1 0,-1 0 0,2 0 0,1-1 0,-7-29 0,5 16 0,4 19 0,1 0 0,0 0 0,0-1 0,2 1 0,-1-15 0,2 23 0,1 1 0,0 0 0,-1 0 0,1 0 0,1 0 0,-1 0 0,0 0 0,1 0 0,0 0 0,0 0 0,0 0 0,1 1 0,-1-1 0,1 1 0,-1 0 0,1 0 0,0 0 0,1 0 0,-1 0 0,6-3 0,10-6 336,0 1 0,0 1 0,22-8 0,-13 8-2764,48-10-1,142-9-11132,-95 17 12613,-65 5 948,1 3 0,-1 2 0,109 11 0,-148-6 0,-1 1 0,0 1 0,0 1 0,-1 0 0,1 1 0,-1 1 0,-1 1 0,0 0 0,26 20 0,-23-14 0,0 2 0,-2-1 0,0 2 0,-1 0 0,-1 1 0,0 1 0,11 22 0,-22-34 113,0 0 0,-1 1 0,0 0 1,0 0-1,-1-1 0,-1 2 0,1-1 0,-1 0 0,-1 0 1,0 0-1,0 0 0,-1 0 0,0 1 0,0-1 1,-4 11-1,-5 14-567,-1-1 1,-24 49-1,34-78 325,-20 39 22,-1 0 0,-53 73 0,67-107 107,0 0 0,0 0 0,-1-1 0,0 0 0,0-1 0,-1 0 0,0 0 0,-14 6 0,-12 3 0,-45 14 0,3-1 0,39-16 11792,-1-6-5925,31-6-5847,-1 0 0,1-1 0,-1-1 0,1 1 0,-1-2 1,1 1-1,0-1 0,-1-1 0,1 0 0,0 0 0,1 0 1,-1-1-1,1-1 0,-1 1 0,1-1 0,0-1 0,-11-10 1,3 1-21,5 7 0,1-2 0,1 1 0,0-1 0,0 0 0,0-1 0,2 0 0,-1 0 0,1-1 0,-7-18 0,5 1-257,1 1 0,1-2 0,2 1 0,-3-38 0,6 6-4174,5-65 1,-1 113 3633,-1 1 0,1-1 0,1 1 0,1-1 0,-1 1 0,2 0 0,0 0 0,8-14 0,-4 11 583,1-1-1,1 2 1,1-1 0,0 2-1,17-16 1,-4 7 311,2 2 0,0 0 0,2 2 1,0 1-1,59-24 0,-38 20-97,1 2 0,1 2 0,0 3 0,1 2 0,1 2 0,98-5 0,311 18 0,-445-1-5,1 0 1,-1 0-1,0 2 1,0 0-1,0 1 1,0 1 0,-1 1-1,0 1 1,0 0-1,26 17 1,0 5 206,-1 1 1,58 56 0,-59-44 2587,-18-16-4079,38 60 0,-37-44 5258,-8-1 4012,-10 4-3935,-7 50-2674,-1-49-1489,2-34 117,-1 0 0,0 0 0,-1 0 0,0 0 0,-1 0 0,0-1 0,-1 1 0,-1-1 0,0 0 0,-1 0 0,0 0 0,0-1 0,-1 0 0,-1 0 0,0-1 0,-1 0 0,1 0 0,-19 14 0,20-19 0,0-1 0,-1 1 0,0-1 0,0-1 0,0 0 0,0 0 0,0 0 0,-10 1 0,-73 7 0,28-5 0,-134 16 293,165-21-1023,0-1 0,0-1 0,0-2 1,-36-7-1,45 4 1775,1-1 1,-33-15-1,-40-25-4156,28 12-2296,34 19 3170,0-2 0,2-1 0,-33-26 0,45 29 2153,0-1 0,2-1 0,-17-20 0,14 14 84,2-1 0,-27-47 0,39 59 0,0 0 0,1-1 0,0 1 0,1-1 0,1 0 0,0 0 0,1-1 0,-1-16 0,2-11-1558,1 1 3494,1-85 12393,1 62-10032,-2-1-8140,2 46 5559,0-13-836,-2 32-873,-1-1 0,1 0-1,0 1 1,0-1 0,-1 0 0,1 1-1,0-1 1,-1 1 0,1-1 0,-1 1 0,1-1-1,-1 0 1,1 1 0,-1 0 0,1-1 0,-1 1-1,0-1 1,1 1 0,-1 0 0,0-1-1,1 1 1,-1 0 0,0 0 0,1 0 0,-1-1-1,0 1 1,1 0 0,-1 0 0,0 0-1,0 0 1,1 0 0,-1 0 0,0 0 0,1 0-1,-1 1 1,0-1 0,1 0 0,-2 1 0,-12 3-275,0 2 0,0-1 1,0 2-1,1 0 0,0 0 1,1 1-1,0 1 1,0 0-1,-17 17 0,-32 23-411,-38 22-4246,-29 20-3006,41-34 6121,-40 29 1810,4 5 0,-121 117 0,189-161 0,-32 30 0,85-75 0,0 0 0,0 0 0,0 0 0,0-1 0,0 1 0,0-1 0,-1 0 0,1 1 0,-4 0 0,5-2 0,1 0 0,0 0 0,0 0 0,0 0 0,0 0 0,-1 0 0,1 0 0,0 0 0,0 0 0,0 0 0,0 0 0,-1 0 0,1 0 0,0 0 0,0 0 0,0 0 0,0 0 0,-1 0 0,1 0 0,0 0 0,0 0 0,0 0 0,0 0 0,0-1 0,-1 1 0,1 0 0,0 0 0,0 0 0,0 0 0,0 0 0,0 0 0,0-1 0,0 1 0,0 0 0,0 0 0,-1 0 0,1 0 0,0-1 0,0 1 0,0 0 0,0 0 0,0 0 0,0 0 0,0-1 0,0 1 0,7-18 0,19-21 0,2 1 0,1 1 0,49-46 0,-56 60 0,66-65 0,162-125 0,124-43 0,-284 196-344,-54 35 1129,1 1 0,0 2 0,60-26 0,-26 13-1677,10 4 16738,-93 49-15574,-176 182-2695,101-112 2049,-186 177 602,79-80-630,79-75-4615,-4-5 0,-157 105 0,235-179 4769,4-3 4298,-8-5 9371,44-24-13303,5-9 827,12-13-1209,216-209-6103,-204 206 4381,411-339-7434,-237 226 9171,-106 78 249,2 5 0,176-75 0,235-66 880,-466 181 1350,62-16-3343,-72 26 5417,0 1 4972,-29 5-8965,0 0 0,1 0 0,-1 0 0,0 0 0,0 1-1,1 0 1,4 1 0,-6-1-313,0 0 1,-1 1-1,1-1 1,0 1-1,0 0 0,-1 0 1,1 0-1,-1 0 0,0 0 1,1 0-1,-1 1 1,0-1-1,0 1 0,-1-1 1,1 1-1,0 0 0,-1 0 1,0 0-1,1-1 0,-1 2 1,0-1-1,-1 0 1,1 0-1,-1 0 0,1 5 1,0 11 1,0-1 0,-1 1 0,-1 0 0,-1 0 0,-1-1 0,-1 1 0,0-1 0,-12 32 0,-3-5 0,-1 0 0,-31 50 0,15-36-295,-3-1 0,-3-2 0,-49 50 0,21-34-514,-118 94 1,-132 120-9387,138-102 4522,63-59 4989,53-56 2011,-290 254 8666,343-310-7995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4:51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1894 1894 8192,'-48'-6'11264,"2"-11"-5628,32 10-5081,1-1 0,0 0 0,1-1 1,-19-17-1,7 1-1588,0-1 1,2-2-1,-33-51 1,19 26-5879,-3-7-4013,16 19 13213,19 35-2289,0 0 0,-1 0 0,1 0 0,-1 0 0,0 1 0,-1 0 0,1 0 0,-1 0 0,0 1 0,0 0 0,0 0 0,-1 0 0,1 1 0,-1 0 0,0 0 0,0 1 0,0 0 0,-11-2 0,6 2 0,0 0 0,-1 0 0,1 1 0,-1 1 0,1 0 0,-1 1 0,1 0 0,0 1 0,0 0 0,-15 5 0,23-5 0,1-1 0,0 1 0,0 0 0,0-1 0,0 1 0,1 1 0,-1-1 0,0 0 0,1 1 0,-1-1 0,1 1 0,0 0 0,0-1 0,0 1 0,0 0 0,1 1 0,-1-1 0,1 0 0,0 0 0,0 1 0,0-1 0,0 0 0,0 6 0,-1 8 0,1 0 0,1 1 0,2 27 0,0-13 0,-1 36 395,-2-41-26,1-1-1,1 1 0,2 0 1,11 49-1,-12-70 239,1 0 0,1 0 0,-1 0 0,1-1 1,0 1-1,0-1 0,0 0 0,1 0 0,0 0 0,0 0 0,0-1 0,12 7 0,-15-9-335,1 0 1,-1 0-1,1-1 0,0 1 0,0-1 0,0 0 0,0 1 1,0-1-1,0-1 0,0 1 0,0 0 0,0-1 0,0 1 0,1-1 1,-1 0-1,0 0 0,0 0 0,0-1 0,1 1 0,-1-1 0,0 0 1,0 0-1,0 0 0,0 0 0,0 0 0,0 0 0,-1-1 0,6-3 1,-6 2-365,1 0 1,-1 0-1,0 0 1,0 0-1,-1 0 1,1 0-1,-1-1 1,1 1-1,-1-1 1,0 1-1,0-1 1,-1 0-1,1-4 1,1-53 245,-2 45 588,-1-1-3848,0 0 1,-1 0 0,-1-1 0,-7-19 0,-11-31-281,15 52 4661,3 9-1275,0 0 0,-1 0 0,0 1 0,0-1 0,0 1 0,-1 0 0,0 1 0,0-1 0,-1 1 0,0 0 0,0 0 0,-10-7 0,0 3 0,0 0 0,-1 0 0,0 1 0,-19-6 0,-37-11 0,42 13 0,0 1 0,0 2 0,-1 0 0,0 3 0,0 0 0,-47-1 0,52 7 0,6-1 0,1 1 0,-1 1 0,0 1 0,1 1 0,-1 0 0,1 2 0,-38 13 0,-60 31 0,99-40 5902,-35 11-1,37-16-4093,1 0 0,-27 2 0,30-5-1728,-1 0-1,1-2 1,0 1-1,0-2 0,0 0 1,0 0-1,0-1 1,1-1-1,-23-8 1,26 7-522,0 1 0,1-1 0,-1-1 0,1 1 0,1-2 0,-1 1 0,1-1 0,0 0 0,0 0 0,1-1 0,-6-8 0,4 2-748,0 1 0,1-1-1,1 0 1,0-1-1,1 0 1,-4-20-1,3-1-1065,0 1-1,1-57 0,5-10 3808,0 88-717,2-21-834,10-52 0,-3 34 0,-5 30 0,2 0 0,1 1 0,16-40 0,7-17 0,-23 59 0,1 1 0,0 0 0,2 1 0,0 0 0,1 0 0,1 1 0,25-28 0,114-99 0,-92 91 0,-29 25 0,1 1 0,37-23 0,-57 43 0,0 0 0,1 1 0,0 0 0,0 1 0,1 1 0,-1 0 0,1 0 0,0 1 0,0 1 0,19-1 0,24 1 0,1 3 0,110 16 0,-136-12 0,-2 2 0,1 2 0,-1 0 0,0 2 0,-1 1 0,0 2 0,30 19 0,29 24 165,-2 3 0,131 123 0,-156-123 1488,71 86 14482,-89-90-16396,-24-32 261,-8-11 0,1 1 0,-2 1 0,0 0 0,0 0 0,11 32 0,-15-31-62,18 59-3287,-10-32-1181,-3 0 0,6 48 0,-11-37 4417,-2 0-1,-3 0 1,-1 0-1,-4 0 1,-1 0-1,-3-1 1,-3 0-1,-29 85 1,21-81 113,-21 52 0,34-96 0,1 0 0,-2-1 0,0 0 0,0 0 0,-1-1 0,-12 12 0,-5 3 0,-15 15 0,-2-1 0,-2-2 0,-50 32 0,60-49 0,0-1 0,-2-2 0,0-2 0,-1-1 0,0-2 0,-1-1 0,-1-3 0,0-1 0,0-1 0,0-3 0,-1-1 0,0-2 0,1-2 0,-80-12 0,76 4 0,0-2 0,-80-32 0,100 32 0,0 0 0,1-2 0,1-1 0,0 0 0,1-2 0,-27-25 0,14 10 0,2-2 0,2-1 0,0-1 0,3-1 0,-28-48 0,14 6 0,3-2 0,4-1 0,3-2 0,-26-109 0,41 124 0,4 0 0,2-1 0,-1-72 0,10 53 0,0-30 0,20-180 0,-10 255 93,2 0 0,2 0 0,2 1 1,1 1-1,25-43 0,-12 35 9753,7 7-3968,-22 29-5070,1 1 0,0 0 0,29-16 0,-3 6-2131,1 3 0,79-25 0,6 10 2867,-97 28-2458,1 2 0,39 0 0,-52 3-190,0 2 0,0 0 0,0 1 1,-1 1-1,1 1 0,0 0 1,-1 1-1,0 1 0,0 1 1,-1 0-1,0 1 0,24 16 1,-12-2 1103,0 2 0,-1 1 0,-1 1 0,-2 1 0,-1 2 0,31 47 0,-35-44 160,-2 0 0,-1 0 0,-2 2 0,-1 0-1,-1 0 1,-3 1 0,0 1 0,4 47 0,-11-71 19,-1-1 0,0 1 1,-1 0-1,-1-1 0,1 1 0,-2 0 0,0-1 0,0 0 0,-1 1 0,0-1 0,-1 0 0,-1 0 1,0-1-1,-11 19 0,-6 8-738,-3-2 1,0-1 0,-2-1-1,-2-2 1,-1 0-1,-44 34 1,34-34 485,-2-2 1,-59 32 0,81-51 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5:04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262 161 8192,'0'-23'19572,"-4"2"-22518,-2 15 4342,6 6-1396,0 0 0,-1 0 0,1 0 0,0 0 0,0 0 0,-1 0 0,1 0 0,0 0 0,-1 0 0,1 0 0,0 0 0,-1 0 0,1 1 0,0-1 0,0 0 0,-1 0 0,1 0 0,0 0 0,-1 0 0,1 1 0,0-1 0,0 0 0,0 0 0,-1 0 0,1 1 0,0-1 0,0 0 0,0 0 0,-1 1 0,1-1 0,0 0 0,0 1 0,0-1 0,0 0 0,0 1 0,0-1 0,0 0 0,0 0 0,0 1 0,0-1 0,0 0 0,0 1 0,0-1 0,-4 16 0,3-4 0,1 0 0,0-1 0,0 1 0,1-1 0,1 1 0,-1-1 0,2 1 0,0-1 0,0 0 0,8 17 0,-11-28 0,1 1 0,-1-1 0,0 1 0,0-1 0,0 1 0,1-1 0,-1 1 0,0-1 0,0 1 0,1-1 0,-1 0 0,0 1 0,1-1 0,-1 1 0,1-1 0,-1 0 0,0 0 0,1 1 0,-1-1 0,1 0 0,-1 1 0,1-1 0,-1 0 0,1 0 0,-1 0 0,2 0 0,4-10 0,-4-23 0,-5 20 0,-1 1 0,0 0 0,0 0 0,-1 1 0,-1-1 0,0 1 0,0 0 0,-1 1 0,-16-19 0,5 10 0,0 1 0,-1 1 0,-42-29 0,39 35 3848,4 12-5034,16 0 606,0 0-1,1 0 1,-1 0 0,0 0 0,1 0 0,-1 0 0,1 1 0,0-1 0,-1 1 0,1-1 0,0 1 0,0-1 0,0 1 0,0 0 0,0-1 0,-1 4-1,-7 25-5722,6-8 5689,1 9 11168,4 50-18942,0 3 1164,-4-30 8377,0-36-1153,-2 0 0,0 0 0,-7 18 0,11-73 0,14-28 0,-10 39 0,1 0 0,2 0 0,0 0 0,21-46 0,-22 114 0,-8 67 0,2 93 0,1-210 976,0 0 0,1 0 1,0 0-1,0 0 0,0 0 1,1 1-1,5-10 0,7-24 2472,-3-3-3385,18-62 3664,-21 81-11509,-2 0 6817,14-57 14544,-14 47-15437,-7 35 1858,0-1 0,0 1 0,0-1 0,-1 1 0,1-1 0,0 1 0,0-1 0,0 1 0,1-1 0,-1 1 0,0-1 0,0 1 0,0-1 0,0 1 0,0 0 0,1-1 0,-1 1 0,0-1 0,0 1 0,1-1 0,-1 1 0,0 0 0,0-1 0,1 1 0,-1 0 0,1-1 0,-1 1 0,0 0 0,1-1 0,-1 1 0,1 0 0,-1 0 0,0 0 0,1-1 0,-1 1 0,1 0 0,-1 0 0,1 0 0,0 0 0,1 1 0,-1 0 0,1 0 0,-1 0 0,0 0 0,1 0 0,-1 1 0,0-1 0,0 0 0,0 1 0,0-1 0,1 3 0,25 52 0,-26-54 0,6 16-6428,-1 0 4711,8 41 7951,-9-37-6322,1 4-5737,1-1 4618,-1-4 5842,18 36 1,-7-26-4034,-5-12-3850,1-1-3790,-3-6 6303,0 8 9025,-6-2-6401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5:07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8192,'0'0'0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5:14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19A7F-D870-492E-BECA-CAFB3426296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2979-70C5-4AB5-8552-CDEC085B7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RSV is classified under the order Mononegavirales, the family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Pneumoviridae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genus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Orthopneumovirus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virus is a non-segmented negative-strand RNA virus. The genome of RSV has an approximate length of 15.2 kb and comprises 11 open reading frames, which encode 9 structural proteins (F, G, N, P, M, SH, L, M2-1, and M2-2) and 2 non-structural (NS) proteins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2979-70C5-4AB5-8552-CDEC085B78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7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2979-70C5-4AB5-8552-CDEC085B78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5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2979-70C5-4AB5-8552-CDEC085B78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44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b="1" dirty="0"/>
              <a:t>Abrysvo</a:t>
            </a:r>
            <a:r>
              <a:rPr lang="en-US" dirty="0"/>
              <a:t> </a:t>
            </a:r>
            <a:r>
              <a:rPr lang="fa-IR" dirty="0"/>
              <a:t>اثربخشی بالایی در پیشگیری از عفونت </a:t>
            </a:r>
            <a:r>
              <a:rPr lang="en-US" b="1" dirty="0"/>
              <a:t>RSV</a:t>
            </a:r>
            <a:r>
              <a:rPr lang="en-US" dirty="0"/>
              <a:t>، </a:t>
            </a:r>
            <a:r>
              <a:rPr lang="fa-IR" dirty="0"/>
              <a:t>به‌ویژه در </a:t>
            </a:r>
            <a:r>
              <a:rPr lang="fa-IR" b="1" dirty="0"/>
              <a:t>زنان باردار</a:t>
            </a:r>
            <a:r>
              <a:rPr lang="fa-IR" dirty="0"/>
              <a:t> و </a:t>
            </a:r>
            <a:r>
              <a:rPr lang="fa-IR" b="1" dirty="0"/>
              <a:t>سالمندان</a:t>
            </a:r>
            <a:r>
              <a:rPr lang="fa-IR" dirty="0"/>
              <a:t>، نشان داده است. </a:t>
            </a:r>
          </a:p>
          <a:p>
            <a:pPr algn="r" rtl="1"/>
            <a:r>
              <a:rPr lang="fa-IR" b="1" dirty="0"/>
              <a:t>در زنان باردار:</a:t>
            </a:r>
            <a:r>
              <a:rPr lang="fa-IR" dirty="0"/>
              <a:t> </a:t>
            </a:r>
          </a:p>
          <a:p>
            <a:pPr lvl="1" algn="r"/>
            <a:r>
              <a:rPr lang="fa-IR" dirty="0"/>
              <a:t>با واکسیناسیون مادر، نوزاد از بدو تولد از طریق انتقال آنتی‌بادی‌های مادری محافظت می‌شود. </a:t>
            </a:r>
          </a:p>
          <a:p>
            <a:pPr lvl="1" algn="r" rtl="1"/>
            <a:r>
              <a:rPr lang="fa-IR" dirty="0"/>
              <a:t>خطر بستری ناشی از </a:t>
            </a:r>
            <a:r>
              <a:rPr lang="fa-IR" b="1" dirty="0"/>
              <a:t>عفونت‌های دستگاه تنفسی تحتانی </a:t>
            </a:r>
            <a:r>
              <a:rPr lang="en-US" b="1" dirty="0"/>
              <a:t>LRTI)</a:t>
            </a:r>
            <a:r>
              <a:rPr lang="en-US" dirty="0"/>
              <a:t> </a:t>
            </a:r>
            <a:r>
              <a:rPr lang="fa-IR" dirty="0"/>
              <a:t>) مرتبط با </a:t>
            </a:r>
            <a:r>
              <a:rPr lang="en-US" dirty="0"/>
              <a:t>RSV </a:t>
            </a:r>
            <a:r>
              <a:rPr lang="fa-IR" dirty="0"/>
              <a:t>در نوزادان به‌طور قابل‌توجهی کاهش می‌یابد. </a:t>
            </a:r>
          </a:p>
          <a:p>
            <a:pPr lvl="1" algn="r" rtl="1"/>
            <a:r>
              <a:rPr lang="fa-IR" dirty="0"/>
              <a:t>اگرچه احتمال اندکی برای </a:t>
            </a:r>
            <a:r>
              <a:rPr lang="fa-IR" b="1" dirty="0"/>
              <a:t>زایمان زودرس</a:t>
            </a:r>
            <a:r>
              <a:rPr lang="fa-IR" dirty="0"/>
              <a:t> و </a:t>
            </a:r>
            <a:r>
              <a:rPr lang="fa-IR" b="1" dirty="0"/>
              <a:t>اختلالات پرفشاری خون بارداری</a:t>
            </a:r>
            <a:r>
              <a:rPr lang="fa-IR" dirty="0"/>
              <a:t> گزارش شده است، اما </a:t>
            </a:r>
            <a:r>
              <a:rPr lang="en-US" b="1" dirty="0"/>
              <a:t>ACIP</a:t>
            </a:r>
            <a:r>
              <a:rPr lang="en-US" dirty="0"/>
              <a:t> </a:t>
            </a:r>
            <a:r>
              <a:rPr lang="fa-IR" dirty="0"/>
              <a:t>این خطرات را در صورت تزریق واکسن بین </a:t>
            </a:r>
            <a:r>
              <a:rPr lang="fa-IR" b="1" dirty="0"/>
              <a:t>هفته‌های ۳۲ تا ۳۶ بارداری</a:t>
            </a:r>
            <a:r>
              <a:rPr lang="fa-IR" dirty="0"/>
              <a:t> قابل قبول می‌داند. </a:t>
            </a:r>
          </a:p>
          <a:p>
            <a:pPr algn="r"/>
            <a:r>
              <a:rPr lang="fa-IR" b="1" dirty="0"/>
              <a:t>در سالمندان:</a:t>
            </a:r>
            <a:r>
              <a:rPr lang="fa-IR" dirty="0"/>
              <a:t> </a:t>
            </a:r>
          </a:p>
          <a:p>
            <a:pPr lvl="1" algn="r" rtl="1"/>
            <a:r>
              <a:rPr lang="fa-IR" dirty="0"/>
              <a:t>به دلیل </a:t>
            </a:r>
            <a:r>
              <a:rPr lang="fa-IR" b="1" dirty="0"/>
              <a:t>ایمنی و اثربخشی مطلوب</a:t>
            </a:r>
            <a:r>
              <a:rPr lang="fa-IR" dirty="0"/>
              <a:t>، </a:t>
            </a:r>
            <a:r>
              <a:rPr lang="en-US" b="1" dirty="0"/>
              <a:t>ACIP</a:t>
            </a:r>
            <a:r>
              <a:rPr lang="en-US" dirty="0"/>
              <a:t> </a:t>
            </a:r>
            <a:r>
              <a:rPr lang="fa-IR" dirty="0"/>
              <a:t>واکسیناسیون را برای </a:t>
            </a:r>
            <a:r>
              <a:rPr lang="fa-IR" b="1" dirty="0"/>
              <a:t>تمام افراد ۷۵ سال و بالاتر</a:t>
            </a:r>
            <a:r>
              <a:rPr lang="fa-IR" dirty="0"/>
              <a:t> و همچنین </a:t>
            </a:r>
            <a:r>
              <a:rPr lang="fa-IR" b="1" dirty="0"/>
              <a:t>افراد ۶۰ تا ۷۴ سال</a:t>
            </a:r>
            <a:r>
              <a:rPr lang="fa-IR" dirty="0"/>
              <a:t> که در معرض خطر بالای بیماری شدید </a:t>
            </a:r>
            <a:r>
              <a:rPr lang="en-US" dirty="0"/>
              <a:t>RSV </a:t>
            </a:r>
            <a:r>
              <a:rPr lang="fa-IR" dirty="0"/>
              <a:t>هستند، توصیه می‌کند.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2979-70C5-4AB5-8552-CDEC085B78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8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B6CACB-2DFF-4E71-83BD-D7C40C4F8899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4A5-2523-485A-88F7-9D84D2544C9B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ED60C21-1A6E-4B7D-8402-25F78A206931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CC20-99F3-4162-AF26-C827E3AABE5D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C27F-0363-48CE-BADE-67CD6865C3E2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061B-DDF3-4CAA-8A0B-B03B2F7DB33F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4B7A-36A7-4F4F-8CEE-8FDCCC7795B2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1F8A2D-B3F5-4918-A02E-FFE8A1566F47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C73F-D9C5-4753-85AA-105751B9F408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3130-06BC-4AD6-8839-6BF2354FE379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9A033B-E7FB-4C25-A8C8-2171C5EBDAA1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77B527B-C7D9-493B-9076-EAEDD8677F99}" type="datetime1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A374-34FC-9623-E8A6-316BE06ED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26" y="1066229"/>
            <a:ext cx="12209674" cy="1475013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cap="none" dirty="0"/>
              <a:t>espiratory</a:t>
            </a:r>
            <a:r>
              <a:rPr lang="en-US" dirty="0"/>
              <a:t>  s</a:t>
            </a:r>
            <a:r>
              <a:rPr lang="en-US" cap="none" dirty="0"/>
              <a:t>yncytial</a:t>
            </a:r>
            <a:r>
              <a:rPr lang="en-US" dirty="0"/>
              <a:t>  v</a:t>
            </a:r>
            <a:r>
              <a:rPr lang="en-US" cap="none" dirty="0"/>
              <a:t>irus:</a:t>
            </a:r>
            <a:r>
              <a:rPr lang="fa-IR" cap="none" dirty="0"/>
              <a:t> </a:t>
            </a:r>
            <a:r>
              <a:rPr lang="en-US" dirty="0"/>
              <a:t>r</a:t>
            </a:r>
            <a:r>
              <a:rPr lang="en-US" cap="none" dirty="0"/>
              <a:t>ecently</a:t>
            </a:r>
            <a:r>
              <a:rPr lang="en-US" dirty="0"/>
              <a:t> d</a:t>
            </a:r>
            <a:r>
              <a:rPr lang="en-US" cap="none" dirty="0"/>
              <a:t>eveloped</a:t>
            </a:r>
            <a:r>
              <a:rPr lang="en-US" dirty="0"/>
              <a:t> </a:t>
            </a:r>
            <a:r>
              <a:rPr lang="en-US" dirty="0" err="1"/>
              <a:t>rsv</a:t>
            </a:r>
            <a:r>
              <a:rPr lang="en-US" dirty="0"/>
              <a:t>  v</a:t>
            </a:r>
            <a:r>
              <a:rPr lang="en-US" cap="none" dirty="0"/>
              <a:t>accines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773C3-6BE9-2D2B-2486-36FBDD61F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4081390"/>
            <a:ext cx="10993546" cy="590321"/>
          </a:xfrm>
        </p:spPr>
        <p:txBody>
          <a:bodyPr>
            <a:noAutofit/>
          </a:bodyPr>
          <a:lstStyle/>
          <a:p>
            <a:r>
              <a:rPr lang="en-US" sz="4400" dirty="0"/>
              <a:t>S</a:t>
            </a:r>
            <a:r>
              <a:rPr lang="en-US" sz="4400" cap="none" dirty="0"/>
              <a:t>upervisor</a:t>
            </a:r>
            <a:r>
              <a:rPr lang="en-US" sz="4400" dirty="0"/>
              <a:t>: </a:t>
            </a:r>
            <a:r>
              <a:rPr lang="en-US" sz="4400" dirty="0" err="1"/>
              <a:t>d</a:t>
            </a:r>
            <a:r>
              <a:rPr lang="en-US" sz="4400" cap="none" dirty="0" err="1"/>
              <a:t>r</a:t>
            </a:r>
            <a:r>
              <a:rPr lang="en-US" sz="4400" dirty="0" err="1"/>
              <a:t>.T</a:t>
            </a:r>
            <a:r>
              <a:rPr lang="en-US" sz="4400" cap="none" dirty="0" err="1"/>
              <a:t>ehrani</a:t>
            </a:r>
            <a:endParaRPr lang="en-US" sz="4400" dirty="0"/>
          </a:p>
          <a:p>
            <a:r>
              <a:rPr lang="en-US" sz="4400" dirty="0"/>
              <a:t>B</a:t>
            </a:r>
            <a:r>
              <a:rPr lang="en-US" sz="4400" cap="none" dirty="0"/>
              <a:t>y</a:t>
            </a:r>
            <a:r>
              <a:rPr lang="en-US" sz="4400" dirty="0"/>
              <a:t>: </a:t>
            </a:r>
            <a:r>
              <a:rPr lang="en-US" sz="4400" dirty="0" err="1"/>
              <a:t>a</a:t>
            </a:r>
            <a:r>
              <a:rPr lang="en-US" sz="4400" cap="none" dirty="0" err="1"/>
              <a:t>li</a:t>
            </a:r>
            <a:r>
              <a:rPr lang="en-US" sz="4400" dirty="0"/>
              <a:t>  </a:t>
            </a:r>
            <a:r>
              <a:rPr lang="en-US" sz="4400" dirty="0" err="1"/>
              <a:t>r</a:t>
            </a:r>
            <a:r>
              <a:rPr lang="en-US" sz="4400" cap="none" dirty="0" err="1"/>
              <a:t>ahmati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00887-62E7-1900-670B-271176CCCF2D}"/>
              </a:ext>
            </a:extLst>
          </p:cNvPr>
          <p:cNvSpPr txBox="1"/>
          <p:nvPr/>
        </p:nvSpPr>
        <p:spPr>
          <a:xfrm>
            <a:off x="4710022" y="539431"/>
            <a:ext cx="386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In The Name Of God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0ED5B-4558-6C0B-998A-2027C236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7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4EA2-5038-23B7-A0BD-53A6BCDB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17485"/>
            <a:ext cx="11029616" cy="1013800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cap="none" dirty="0"/>
              <a:t>espiratory</a:t>
            </a:r>
            <a:r>
              <a:rPr lang="en-US" dirty="0"/>
              <a:t>  s</a:t>
            </a:r>
            <a:r>
              <a:rPr lang="en-US" cap="none" dirty="0"/>
              <a:t>yncytial</a:t>
            </a:r>
            <a:r>
              <a:rPr lang="en-US" dirty="0"/>
              <a:t>  v</a:t>
            </a:r>
            <a:r>
              <a:rPr lang="en-US" cap="none" dirty="0"/>
              <a:t>irus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57E37-6785-88EA-BD57-C241DC5CB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0558"/>
            <a:ext cx="11029615" cy="497744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RSV is one of the most common pathogens causing acute lower respiratory tract infection (LRTI), particularly in infants, the elderly, and immunocompromised individuals </a:t>
            </a:r>
          </a:p>
          <a:p>
            <a:r>
              <a:rPr lang="en-US" dirty="0"/>
              <a:t>Globally, RSV affects approximately 64 million people and causes 160,000 deaths annually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Newborns are particularly vulnerable to RSV infection due to:</a:t>
            </a:r>
          </a:p>
          <a:p>
            <a:pPr marL="0" indent="0">
              <a:buNone/>
            </a:pPr>
            <a:r>
              <a:rPr lang="en-US" dirty="0"/>
              <a:t>1.their immune system is underdeveloped with immature dendritic cells and low antiviral cytokine levels, which delay effective immune responses.</a:t>
            </a:r>
          </a:p>
          <a:p>
            <a:pPr marL="0" indent="0">
              <a:buNone/>
            </a:pPr>
            <a:r>
              <a:rPr lang="en-US" dirty="0"/>
              <a:t> 2.infants are vulnerable to airway blockage resulting from RSV-induced inflammation due to their physical characteristics, such as weak respiratory muscles, soft tracheobronchial cartilage, and short airways.</a:t>
            </a:r>
          </a:p>
          <a:p>
            <a:pPr marL="0" indent="0">
              <a:buNone/>
            </a:pPr>
            <a:r>
              <a:rPr lang="en-US" dirty="0"/>
              <a:t> Additionally, while maternal antibodies offer some protection, they do not completely prevent infection.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severity of RSV infection in elderly individuals is affected by a variety of factors. </a:t>
            </a:r>
          </a:p>
          <a:p>
            <a:pPr marL="0" indent="0">
              <a:buNone/>
            </a:pPr>
            <a:r>
              <a:rPr lang="en-US" dirty="0"/>
              <a:t>A key factor is </a:t>
            </a:r>
            <a:r>
              <a:rPr lang="en-US" dirty="0" err="1"/>
              <a:t>immunosenescence</a:t>
            </a:r>
            <a:r>
              <a:rPr lang="en-US" dirty="0"/>
              <a:t>, which impairs T and B cell function and weakens antiviral immune responses. Additionally, the presence of common comorbidities such as chronic obstructive pulmonary disease (COPD) and cardiovascular diseases can exacerbate the consequences of RSV infection. </a:t>
            </a:r>
          </a:p>
          <a:p>
            <a:pPr marL="0" indent="0">
              <a:buNone/>
            </a:pPr>
            <a:r>
              <a:rPr lang="en-US" dirty="0"/>
              <a:t>The aging respiratory system is characterized by reduced alveolar elasticity and impaired ciliary action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F33F-715E-6B91-94B9-E91FBD8A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113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5271-6353-473A-2608-1EC79A26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</a:t>
            </a:r>
            <a:r>
              <a:rPr lang="en-US" sz="2400" cap="none" dirty="0"/>
              <a:t>tructural and </a:t>
            </a:r>
            <a:r>
              <a:rPr lang="en-US" sz="2400" dirty="0"/>
              <a:t>g</a:t>
            </a:r>
            <a:r>
              <a:rPr lang="en-US" sz="2400" cap="none" dirty="0"/>
              <a:t>enomic</a:t>
            </a:r>
            <a:r>
              <a:rPr lang="en-US" sz="2400" dirty="0"/>
              <a:t> o</a:t>
            </a:r>
            <a:r>
              <a:rPr lang="en-US" sz="2400" cap="none" dirty="0"/>
              <a:t>rganization</a:t>
            </a:r>
            <a:r>
              <a:rPr lang="en-US" sz="2400" dirty="0"/>
              <a:t> o</a:t>
            </a:r>
            <a:r>
              <a:rPr lang="en-US" sz="2400" cap="none" dirty="0"/>
              <a:t>f</a:t>
            </a:r>
            <a:r>
              <a:rPr lang="en-US" sz="2400" dirty="0"/>
              <a:t> RSV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8385B3-C405-D381-0599-A810FE33A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4108" y="2181225"/>
            <a:ext cx="5503784" cy="3678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CD7C4DE-1A5B-E02C-4B2B-7B81FB01B135}"/>
                  </a:ext>
                </a:extLst>
              </p14:cNvPr>
              <p14:cNvContentPartPr/>
              <p14:nvPr/>
            </p14:nvContentPartPr>
            <p14:xfrm>
              <a:off x="3398380" y="4422097"/>
              <a:ext cx="373680" cy="961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CD7C4DE-1A5B-E02C-4B2B-7B81FB01B1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0380" y="4404097"/>
                <a:ext cx="40932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2044DB3-A75C-31D2-EEF7-6D671BF627C1}"/>
                  </a:ext>
                </a:extLst>
              </p14:cNvPr>
              <p14:cNvContentPartPr/>
              <p14:nvPr/>
            </p14:nvContentPartPr>
            <p14:xfrm>
              <a:off x="3545620" y="2217097"/>
              <a:ext cx="942120" cy="710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2044DB3-A75C-31D2-EEF7-6D671BF627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7620" y="2199457"/>
                <a:ext cx="977760" cy="74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7F52AE7-C3AD-2678-1FF0-BEEF3E81E0A0}"/>
                  </a:ext>
                </a:extLst>
              </p14:cNvPr>
              <p14:cNvContentPartPr/>
              <p14:nvPr/>
            </p14:nvContentPartPr>
            <p14:xfrm>
              <a:off x="3139540" y="1819657"/>
              <a:ext cx="725400" cy="864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7F52AE7-C3AD-2678-1FF0-BEEF3E81E0A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21900" y="1801657"/>
                <a:ext cx="761040" cy="8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1A1315-4882-77EE-A93A-7E0676C958F7}"/>
                  </a:ext>
                </a:extLst>
              </p14:cNvPr>
              <p14:cNvContentPartPr/>
              <p14:nvPr/>
            </p14:nvContentPartPr>
            <p14:xfrm>
              <a:off x="3580540" y="2185057"/>
              <a:ext cx="139320" cy="177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1A1315-4882-77EE-A93A-7E0676C958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62900" y="2167057"/>
                <a:ext cx="1749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8126CA-A10D-4F9C-DCE8-B8C9842FDEEE}"/>
                  </a:ext>
                </a:extLst>
              </p14:cNvPr>
              <p14:cNvContentPartPr/>
              <p14:nvPr/>
            </p14:nvContentPartPr>
            <p14:xfrm>
              <a:off x="5520940" y="454629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8126CA-A10D-4F9C-DCE8-B8C9842FDE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02940" y="452829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12834D0-CDF9-5C9A-82B6-27639440823C}"/>
                  </a:ext>
                </a:extLst>
              </p14:cNvPr>
              <p14:cNvContentPartPr/>
              <p14:nvPr/>
            </p14:nvContentPartPr>
            <p14:xfrm>
              <a:off x="-517700" y="672697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12834D0-CDF9-5C9A-82B6-2763944082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535700" y="65505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C782592-F85E-95CF-61F3-1C7BCF87CB0B}"/>
              </a:ext>
            </a:extLst>
          </p:cNvPr>
          <p:cNvSpPr txBox="1"/>
          <p:nvPr/>
        </p:nvSpPr>
        <p:spPr>
          <a:xfrm>
            <a:off x="444288" y="1911714"/>
            <a:ext cx="289982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The F and G glycoproteins are both transmembrane proteins that are highly glycosylated and mediate viral entry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Clr>
                <a:schemeClr val="accent2"/>
              </a:buClr>
            </a:pP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F protein directs virus-cell and cell-cell fusion. It presents multiple neutralizing epitopes and can elicit potent neutralizing antibody responses, making it a primary vaccine target &amp; Due to its high level of conservation among RSV strains, it is the main vaccine target antigen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7753C9-DDD7-E48F-FA88-3565ABC79BCD}"/>
              </a:ext>
            </a:extLst>
          </p:cNvPr>
          <p:cNvSpPr txBox="1"/>
          <p:nvPr/>
        </p:nvSpPr>
        <p:spPr>
          <a:xfrm>
            <a:off x="9129620" y="1911714"/>
            <a:ext cx="28998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G protein contains a central conserved region that facilitates viral attachment by interacting with cell surface heparan sulfate receptor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Clr>
                <a:schemeClr val="accent2"/>
              </a:buClr>
            </a:pPr>
            <a:endParaRPr lang="en-US" sz="1600" dirty="0"/>
          </a:p>
          <a:p>
            <a:pPr>
              <a:buClr>
                <a:schemeClr val="accent2"/>
              </a:buClr>
            </a:pPr>
            <a:r>
              <a:rPr lang="en-US" sz="1600" dirty="0"/>
              <a:t>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the G protein contains a central conserved domain (CCD) with a low degree of glycosylation and the presence of a CX3C motif. This CX3C motif is necessary for G protein to mimic the chemokine fractalkine and bind to the host CX3CR1 receptor </a:t>
            </a:r>
            <a:br>
              <a:rPr lang="en-US" sz="16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23470-ADD1-8557-B318-E40C9029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62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91A6-34AC-968E-56B4-15EF3E0F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2" y="468476"/>
            <a:ext cx="11029616" cy="1013800"/>
          </a:xfrm>
        </p:spPr>
        <p:txBody>
          <a:bodyPr/>
          <a:lstStyle/>
          <a:p>
            <a:r>
              <a:rPr lang="en-US" dirty="0"/>
              <a:t>E</a:t>
            </a:r>
            <a:r>
              <a:rPr lang="en-US" cap="none" dirty="0"/>
              <a:t>arly</a:t>
            </a:r>
            <a:r>
              <a:rPr lang="en-US" dirty="0"/>
              <a:t> </a:t>
            </a:r>
            <a:r>
              <a:rPr lang="en-US" dirty="0" err="1"/>
              <a:t>Rsv</a:t>
            </a:r>
            <a:r>
              <a:rPr lang="en-US" dirty="0"/>
              <a:t>  v</a:t>
            </a:r>
            <a:r>
              <a:rPr lang="en-US" cap="none" dirty="0"/>
              <a:t>accine</a:t>
            </a:r>
            <a:r>
              <a:rPr lang="en-US" dirty="0"/>
              <a:t>  r</a:t>
            </a:r>
            <a:r>
              <a:rPr lang="en-US" cap="none" dirty="0"/>
              <a:t>esearch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C19C-89D3-ED87-175D-745DC68B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2" y="1910080"/>
            <a:ext cx="11029615" cy="4947920"/>
          </a:xfrm>
        </p:spPr>
        <p:txBody>
          <a:bodyPr>
            <a:normAutofit/>
          </a:bodyPr>
          <a:lstStyle/>
          <a:p>
            <a:r>
              <a:rPr lang="en-US" dirty="0"/>
              <a:t>Natural RSV infection does not provide long-term immunity, leading to frequent reinfections. </a:t>
            </a:r>
          </a:p>
          <a:p>
            <a:r>
              <a:rPr lang="en-US" dirty="0"/>
              <a:t>Early </a:t>
            </a:r>
            <a:r>
              <a:rPr lang="en-US" b="1" dirty="0"/>
              <a:t>FI-RSV (</a:t>
            </a:r>
            <a:r>
              <a:rPr lang="en-US" dirty="0"/>
              <a:t>formalin-inactivated RSV)</a:t>
            </a:r>
            <a:r>
              <a:rPr lang="en-US" b="1" dirty="0"/>
              <a:t> vaccine </a:t>
            </a:r>
            <a:r>
              <a:rPr lang="en-US" dirty="0"/>
              <a:t>(1960s) caused </a:t>
            </a:r>
            <a:r>
              <a:rPr lang="en-US" b="1" dirty="0"/>
              <a:t>enhanced respiratory disease (ERD)</a:t>
            </a:r>
            <a:r>
              <a:rPr lang="en-US" dirty="0"/>
              <a:t> in RSV-naïve infants. Formalin inactivation altered the </a:t>
            </a:r>
            <a:r>
              <a:rPr lang="en-US" b="1" dirty="0"/>
              <a:t>prefusion F (</a:t>
            </a:r>
            <a:r>
              <a:rPr lang="en-US" b="1" dirty="0" err="1"/>
              <a:t>PreF</a:t>
            </a:r>
            <a:r>
              <a:rPr lang="en-US" b="1" dirty="0"/>
              <a:t>) protein</a:t>
            </a:r>
            <a:r>
              <a:rPr lang="en-US" dirty="0"/>
              <a:t>, resulting in poor induction of neutralizing antibodies. </a:t>
            </a:r>
          </a:p>
          <a:p>
            <a:r>
              <a:rPr lang="en-US" dirty="0"/>
              <a:t>Non-neutralizing antibodies failed to protect and, in some cases, worsened disease after natural RSV infection. </a:t>
            </a:r>
          </a:p>
          <a:p>
            <a:r>
              <a:rPr lang="en-US" dirty="0"/>
              <a:t>Two ERD-related deaths in 1967 delayed RSV vaccine development and led to stricter FDA regulations. </a:t>
            </a:r>
          </a:p>
          <a:p>
            <a:endParaRPr lang="en-US" dirty="0"/>
          </a:p>
          <a:p>
            <a:r>
              <a:rPr lang="en-US" dirty="0"/>
              <a:t>Sub-neutralizing antibodies bind RSV without neutralizing it. Antibody–virus complexes enhance viral entry into immune cells via </a:t>
            </a:r>
            <a:r>
              <a:rPr lang="en-US" b="1" dirty="0"/>
              <a:t>Fc</a:t>
            </a:r>
            <a:r>
              <a:rPr lang="el-GR" b="1" dirty="0"/>
              <a:t>γ </a:t>
            </a:r>
            <a:r>
              <a:rPr lang="en-US" b="1" dirty="0"/>
              <a:t>receptors</a:t>
            </a:r>
            <a:r>
              <a:rPr lang="en-US" dirty="0"/>
              <a:t>. </a:t>
            </a:r>
          </a:p>
          <a:p>
            <a:r>
              <a:rPr lang="en-US" dirty="0"/>
              <a:t>Complement activation and excessive inflammation increase tissue damage. </a:t>
            </a:r>
          </a:p>
          <a:p>
            <a:r>
              <a:rPr lang="en-US" dirty="0"/>
              <a:t>Modern RSV vaccines are designed to induce strong neutralizing antibodies while minimizing the risk of </a:t>
            </a:r>
            <a:r>
              <a:rPr lang="en-US" b="1" dirty="0"/>
              <a:t>ERD/ADE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06C63-0FEE-298B-8473-BE08D56A2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79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0509-E5FF-9184-E07F-1200CF52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92301"/>
            <a:ext cx="11029616" cy="1013800"/>
          </a:xfrm>
        </p:spPr>
        <p:txBody>
          <a:bodyPr/>
          <a:lstStyle/>
          <a:p>
            <a:r>
              <a:rPr lang="en-US" dirty="0" err="1"/>
              <a:t>Rsv</a:t>
            </a:r>
            <a:r>
              <a:rPr lang="en-US" dirty="0"/>
              <a:t>  v</a:t>
            </a:r>
            <a:r>
              <a:rPr lang="en-US" cap="none" dirty="0"/>
              <a:t>accines</a:t>
            </a:r>
            <a:r>
              <a:rPr lang="en-US" dirty="0"/>
              <a:t> s</a:t>
            </a:r>
            <a:r>
              <a:rPr lang="en-US" cap="none" dirty="0"/>
              <a:t>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BDD94-209E-A061-AD13-52545EB23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predominant strategies for RSV vaccine development: </a:t>
            </a:r>
          </a:p>
          <a:p>
            <a:endParaRPr lang="en-US" dirty="0"/>
          </a:p>
          <a:p>
            <a:r>
              <a:rPr lang="en-US" b="1" dirty="0"/>
              <a:t>Subunit vaccines </a:t>
            </a:r>
            <a:r>
              <a:rPr lang="en-US" dirty="0"/>
              <a:t>are formulated using specific proteins (subunits) of the virus instead of the complete viral entity and are devoid of viral genetic material. Such vaccines typically incorporate the F protein of RSV or other immunogenic proteins, which can stimulate the body to produce an immune response. </a:t>
            </a:r>
          </a:p>
          <a:p>
            <a:pPr marL="0" indent="0">
              <a:buNone/>
            </a:pPr>
            <a:r>
              <a:rPr lang="en-US" dirty="0"/>
              <a:t>The advantage of subunit vaccines lies in their favorable safety profile, as the absence of live viruses eliminates the risk of vaccine-induced infection. This characteristic makes them suitable for prophylactic immunization in target populations such as pregnant women and the elderly </a:t>
            </a:r>
          </a:p>
          <a:p>
            <a:endParaRPr lang="en-US" dirty="0"/>
          </a:p>
          <a:p>
            <a:r>
              <a:rPr lang="en-US" dirty="0"/>
              <a:t>Particle-based vaccines, particularly virus-like particles </a:t>
            </a:r>
            <a:r>
              <a:rPr lang="en-US" b="1" dirty="0"/>
              <a:t>(VLP)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50463-EC00-A42A-B926-2C48DE38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9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C5F5-E5A4-11C4-DC3E-408D1681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36641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US" cap="none" dirty="0"/>
              <a:t>ubunit</a:t>
            </a:r>
            <a:r>
              <a:rPr lang="en-US" dirty="0"/>
              <a:t> V</a:t>
            </a:r>
            <a:r>
              <a:rPr lang="en-US" cap="none" dirty="0"/>
              <a:t>accines: </a:t>
            </a:r>
            <a:r>
              <a:rPr lang="en-US" dirty="0"/>
              <a:t>A</a:t>
            </a:r>
            <a:r>
              <a:rPr lang="en-US" cap="none" dirty="0"/>
              <a:t>brysvo</a:t>
            </a:r>
            <a:r>
              <a:rPr lang="en-US" dirty="0"/>
              <a:t> (</a:t>
            </a:r>
            <a:r>
              <a:rPr lang="en-US" dirty="0" err="1"/>
              <a:t>RSVP</a:t>
            </a:r>
            <a:r>
              <a:rPr lang="en-US" cap="none" dirty="0" err="1"/>
              <a:t>re</a:t>
            </a:r>
            <a:r>
              <a:rPr lang="en-US" dirty="0" err="1"/>
              <a:t>F</a:t>
            </a:r>
            <a:r>
              <a:rPr lang="en-US" dirty="0"/>
              <a:t>)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BC6633-CAA6-F059-5C54-1A628109B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615610"/>
            <a:ext cx="114808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Abrysvo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(Pfizer)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bivalent prefusion F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protein subunit vaccine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to protect against both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RSV-A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RSV-B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a-I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Approved by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FDA in 2023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Maternal immunization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(pregnant women)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Adults aged ≥60 years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fa-I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dose contains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120 µg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stabilized prefusion F protein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 µg from RSV-A and 60 µg from RSV-B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vaccine antigen is produced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Chinese hamster ovary (CHO) 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engineered to maintain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prefusion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conformation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elicits potent neutralizing antibodies.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16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Efficacy</a:t>
            </a:r>
            <a:endParaRPr kumimoji="0" lang="fa-IR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MATISSE Phase III Trial (Maternal Vaccination)</a:t>
            </a:r>
            <a:endParaRPr kumimoji="0" lang="fa-I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severe RSV-associated lower respiratory tract infection (LRTI) in infants by: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81.8%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the first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 days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birth.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69.4%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the first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180 days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birth.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76616-CC8E-9DDD-31F3-5A66FE4E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40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6B9A-7420-DAE9-20E3-CBB18762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2301"/>
            <a:ext cx="11029616" cy="1013800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cap="none" dirty="0"/>
              <a:t>ubunit</a:t>
            </a:r>
            <a:r>
              <a:rPr lang="en-US" dirty="0"/>
              <a:t> V</a:t>
            </a:r>
            <a:r>
              <a:rPr lang="en-US" cap="none" dirty="0"/>
              <a:t>accines: </a:t>
            </a:r>
            <a:r>
              <a:rPr lang="en-US" dirty="0"/>
              <a:t>A</a:t>
            </a:r>
            <a:r>
              <a:rPr lang="en-US" cap="none" dirty="0"/>
              <a:t>brysvo</a:t>
            </a:r>
            <a:r>
              <a:rPr lang="en-US" dirty="0"/>
              <a:t> (</a:t>
            </a:r>
            <a:r>
              <a:rPr lang="en-US" dirty="0" err="1"/>
              <a:t>RSVP</a:t>
            </a:r>
            <a:r>
              <a:rPr lang="en-US" cap="none" dirty="0" err="1"/>
              <a:t>re</a:t>
            </a:r>
            <a:r>
              <a:rPr lang="en-US" dirty="0" err="1"/>
              <a:t>F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07D85-61E1-4D44-1D4E-1AFF6EAF4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32" y="1920240"/>
            <a:ext cx="11029615" cy="4937760"/>
          </a:xfrm>
        </p:spPr>
        <p:txBody>
          <a:bodyPr>
            <a:normAutofit lnSpcReduction="10000"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ACIP/GRADE Assessment</a:t>
            </a:r>
            <a:endParaRPr lang="fa-IR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Overall efficacy against RSV-associated LRTI: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51.3%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Efficacy increased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57.3%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when vaccination was administered during the recommended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32–36 weeks of gestation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fa-IR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Older Adults (≥60 years)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Demonstrated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75–82% effectiveness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 preventing RSV-related hospitalization.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Also showed protective benefits in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immunocompromised individuals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patients with end-stage renal disease (ESRD)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a-IR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a-IR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Safety and Immunogenicity</a:t>
            </a:r>
            <a:endParaRPr lang="fa-IR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Phase I/II and Phase III clinical trials demonstrated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favorable safety profile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Induced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high levels of RSV-neutralizing antibodies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Provides protection for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newborns through transplacental maternal antibodies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directly protects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older adults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64C97-EF35-8B35-5D49-95FBFD2B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15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9CAC-F89D-55A6-6BAE-07A38831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4F3B7-78B7-02F2-2DF4-2425505E2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D38E290E-C8B9-AA1F-FDC6-EC9B44A44B0E}"/>
              </a:ext>
            </a:extLst>
          </p:cNvPr>
          <p:cNvSpPr/>
          <p:nvPr/>
        </p:nvSpPr>
        <p:spPr>
          <a:xfrm>
            <a:off x="4182716" y="2050399"/>
            <a:ext cx="3826565" cy="3938495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7C9BA-AA6E-7BF4-5C91-0D61D2FD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9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DFE-41EC-A1D8-97E8-2DDE9D90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Arexvy</a:t>
            </a:r>
            <a:r>
              <a:rPr lang="en-US" dirty="0"/>
              <a:t> (RSVPreF3): A Prefusion RSV Vaccine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6CD8C-E323-4E27-2943-08BA6BE29340}"/>
              </a:ext>
            </a:extLst>
          </p:cNvPr>
          <p:cNvSpPr txBox="1"/>
          <p:nvPr/>
        </p:nvSpPr>
        <p:spPr>
          <a:xfrm>
            <a:off x="731520" y="2370019"/>
            <a:ext cx="10139680" cy="336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Arexvy</a:t>
            </a:r>
            <a:r>
              <a:rPr lang="en-US" dirty="0"/>
              <a:t> is a </a:t>
            </a:r>
            <a:r>
              <a:rPr lang="en-US" b="1" dirty="0"/>
              <a:t>GSK-developed RSV vaccine</a:t>
            </a:r>
            <a:r>
              <a:rPr lang="en-US" dirty="0"/>
              <a:t> approved by the FDA in </a:t>
            </a:r>
            <a:r>
              <a:rPr lang="en-US" b="1" dirty="0"/>
              <a:t>May 2023</a:t>
            </a:r>
            <a:r>
              <a:rPr lang="en-US" dirty="0"/>
              <a:t>.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It is designed to prevent </a:t>
            </a:r>
            <a:r>
              <a:rPr lang="en-US" b="1" dirty="0"/>
              <a:t>RSV-related lower respiratory tract infection (LRTI)</a:t>
            </a:r>
            <a:r>
              <a:rPr lang="en-US" dirty="0"/>
              <a:t> in older adults. 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Main antigen: </a:t>
            </a:r>
            <a:r>
              <a:rPr lang="en-US" b="1" dirty="0"/>
              <a:t>RSVPreF3</a:t>
            </a:r>
            <a:r>
              <a:rPr lang="en-US" dirty="0"/>
              <a:t>, a recombinant </a:t>
            </a:r>
            <a:r>
              <a:rPr lang="en-US" b="1" dirty="0"/>
              <a:t>prefusion F protein</a:t>
            </a:r>
            <a:r>
              <a:rPr lang="en-US" dirty="0"/>
              <a:t> stabilized in the </a:t>
            </a:r>
            <a:r>
              <a:rPr lang="en-US" dirty="0" err="1"/>
              <a:t>PreF</a:t>
            </a:r>
            <a:r>
              <a:rPr lang="en-US" dirty="0"/>
              <a:t> conformation.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Adjuvant: </a:t>
            </a:r>
            <a:r>
              <a:rPr lang="en-US" b="1" dirty="0"/>
              <a:t>AS01E</a:t>
            </a:r>
            <a:r>
              <a:rPr lang="en-US" dirty="0"/>
              <a:t>, which enhances immunogenicity and immune activation. 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AS01E contains: 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MPL</a:t>
            </a:r>
            <a:r>
              <a:rPr lang="en-US" dirty="0"/>
              <a:t>: a TLR4 agonist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QS-21</a:t>
            </a:r>
            <a:r>
              <a:rPr lang="en-US" dirty="0"/>
              <a:t>: saponin-based immune stimulator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liposomal delivery with </a:t>
            </a:r>
            <a:r>
              <a:rPr lang="en-US" b="1" dirty="0"/>
              <a:t>DOPC</a:t>
            </a:r>
            <a:r>
              <a:rPr lang="en-US" dirty="0"/>
              <a:t> and cholesterol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9BB61-B1E0-D3B2-4F16-5650398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1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6873-E747-5B80-1C7B-8F0B441F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AS01E Improves Vaccine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2EED5-2477-7E5E-D82B-BDC1D5E75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597056"/>
            <a:ext cx="11029615" cy="3678303"/>
          </a:xfrm>
        </p:spPr>
        <p:txBody>
          <a:bodyPr>
            <a:noAutofit/>
          </a:bodyPr>
          <a:lstStyle/>
          <a:p>
            <a:r>
              <a:rPr lang="en-US" sz="1400" dirty="0"/>
              <a:t>AS01E induces </a:t>
            </a:r>
            <a:r>
              <a:rPr lang="en-US" sz="1400" b="1" dirty="0"/>
              <a:t>broader and stronger neutralizing antibody responses</a:t>
            </a:r>
            <a:r>
              <a:rPr lang="en-US" sz="1400" dirty="0"/>
              <a:t>. It activates innate immunity through </a:t>
            </a:r>
            <a:r>
              <a:rPr lang="en-US" sz="1400" b="1" dirty="0"/>
              <a:t>TLR4 signaling</a:t>
            </a:r>
            <a:r>
              <a:rPr lang="en-US" sz="1400" dirty="0"/>
              <a:t>.</a:t>
            </a:r>
            <a:endParaRPr lang="fa-IR" sz="1400" dirty="0"/>
          </a:p>
          <a:p>
            <a:r>
              <a:rPr lang="en-US" sz="1400" dirty="0"/>
              <a:t>It promotes: </a:t>
            </a:r>
            <a:endParaRPr lang="fa-IR" sz="1400" dirty="0"/>
          </a:p>
          <a:p>
            <a:r>
              <a:rPr lang="en-US" sz="1400" b="1" dirty="0"/>
              <a:t>polyclonal B-cell activation</a:t>
            </a:r>
            <a:endParaRPr lang="en-US" sz="1400" dirty="0"/>
          </a:p>
          <a:p>
            <a:r>
              <a:rPr lang="en-US" sz="1400" b="1" dirty="0"/>
              <a:t>antibody affinity maturation</a:t>
            </a:r>
            <a:endParaRPr lang="en-US" sz="1400" dirty="0"/>
          </a:p>
          <a:p>
            <a:r>
              <a:rPr lang="en-US" sz="1400" dirty="0"/>
              <a:t>stronger immunity against </a:t>
            </a:r>
            <a:r>
              <a:rPr lang="en-US" sz="1400" b="1" dirty="0"/>
              <a:t>RSV-A and RSV-B</a:t>
            </a:r>
            <a:endParaRPr lang="en-US" sz="1400" dirty="0"/>
          </a:p>
          <a:p>
            <a:r>
              <a:rPr lang="en-US" sz="1400" dirty="0"/>
              <a:t>It also supports </a:t>
            </a:r>
            <a:r>
              <a:rPr lang="en-US" sz="1400" b="1" dirty="0"/>
              <a:t>Th1-biased CD4+ T-cell responses</a:t>
            </a:r>
            <a:r>
              <a:rPr lang="en-US" sz="1400" dirty="0"/>
              <a:t> and cytokine production such as: </a:t>
            </a:r>
            <a:endParaRPr lang="fa-IR" sz="1400" dirty="0"/>
          </a:p>
          <a:p>
            <a:r>
              <a:rPr lang="en-US" sz="1400" b="1" dirty="0"/>
              <a:t>IFN-γ</a:t>
            </a:r>
            <a:endParaRPr lang="en-US" sz="1400" dirty="0"/>
          </a:p>
          <a:p>
            <a:r>
              <a:rPr lang="en-US" sz="1400" b="1" dirty="0"/>
              <a:t>IL-2</a:t>
            </a:r>
            <a:endParaRPr lang="en-US" sz="1400" dirty="0"/>
          </a:p>
          <a:p>
            <a:r>
              <a:rPr lang="en-US" sz="1400" b="1" dirty="0"/>
              <a:t>TNF-α</a:t>
            </a:r>
            <a:endParaRPr lang="en-US" sz="1400" dirty="0"/>
          </a:p>
          <a:p>
            <a:r>
              <a:rPr lang="en-US" sz="1400" dirty="0"/>
              <a:t>Compared with alum, AS01E provides:</a:t>
            </a:r>
            <a:endParaRPr lang="fa-IR" sz="1400" dirty="0"/>
          </a:p>
          <a:p>
            <a:r>
              <a:rPr lang="en-US" sz="1400" dirty="0"/>
              <a:t> better cellular immunity</a:t>
            </a:r>
          </a:p>
          <a:p>
            <a:r>
              <a:rPr lang="en-US" sz="1400" dirty="0"/>
              <a:t>improved cross-presentation</a:t>
            </a:r>
          </a:p>
          <a:p>
            <a:r>
              <a:rPr lang="en-US" sz="1400" dirty="0"/>
              <a:t>stronger responses in the elderly</a:t>
            </a:r>
          </a:p>
          <a:p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A2F8-C2D0-227C-2806-93391203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232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465F-9367-30DF-ADA8-E9278DC7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Clinical Efficacy, Safety, and Key Takeaways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75D0-D83C-5E7B-9459-8A776645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adults </a:t>
            </a:r>
            <a:r>
              <a:rPr lang="en-US" b="1" dirty="0"/>
              <a:t>60+</a:t>
            </a:r>
            <a:r>
              <a:rPr lang="en-US" dirty="0"/>
              <a:t>, a Phase III trial showed: </a:t>
            </a:r>
            <a:r>
              <a:rPr lang="en-US" b="1" dirty="0"/>
              <a:t>82.6% efficacy</a:t>
            </a:r>
            <a:r>
              <a:rPr lang="en-US" dirty="0"/>
              <a:t> against RSV-confirmed LRTI</a:t>
            </a:r>
          </a:p>
          <a:p>
            <a:r>
              <a:rPr lang="en-US" b="1" dirty="0"/>
              <a:t>94.1% efficacy</a:t>
            </a:r>
            <a:r>
              <a:rPr lang="en-US" dirty="0"/>
              <a:t> against severe RSV-LRTI</a:t>
            </a:r>
          </a:p>
          <a:p>
            <a:r>
              <a:rPr lang="en-US" dirty="0"/>
              <a:t>Protection remained meaningful across </a:t>
            </a:r>
            <a:r>
              <a:rPr lang="en-US" b="1" dirty="0"/>
              <a:t>at least two RSV seasons</a:t>
            </a:r>
            <a:r>
              <a:rPr lang="en-US" dirty="0"/>
              <a:t>. In adults </a:t>
            </a:r>
            <a:r>
              <a:rPr lang="en-US" b="1" dirty="0"/>
              <a:t>50–59</a:t>
            </a:r>
            <a:r>
              <a:rPr lang="en-US" dirty="0"/>
              <a:t> with risk factors, immune responses were comparable to older adults. Common side effects: injection-site pain</a:t>
            </a:r>
          </a:p>
          <a:p>
            <a:r>
              <a:rPr lang="en-US" dirty="0"/>
              <a:t>fatigue</a:t>
            </a:r>
          </a:p>
          <a:p>
            <a:r>
              <a:rPr lang="en-US" dirty="0"/>
              <a:t>headache</a:t>
            </a:r>
          </a:p>
          <a:p>
            <a:r>
              <a:rPr lang="en-US" dirty="0"/>
              <a:t>Serious adverse events were </a:t>
            </a:r>
            <a:r>
              <a:rPr lang="en-US" b="1" dirty="0"/>
              <a:t>similar to placebo</a:t>
            </a:r>
            <a:r>
              <a:rPr lang="en-US" dirty="0"/>
              <a:t> in trials. Main caution: possible </a:t>
            </a:r>
            <a:r>
              <a:rPr lang="en-US" b="1" dirty="0"/>
              <a:t>GBS risk</a:t>
            </a:r>
            <a:endParaRPr lang="en-US" dirty="0"/>
          </a:p>
          <a:p>
            <a:r>
              <a:rPr lang="en-US" dirty="0"/>
              <a:t>cold-chain storage required at </a:t>
            </a:r>
            <a:r>
              <a:rPr lang="en-US" b="1" dirty="0"/>
              <a:t>2–8°C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18941-BEC3-A030-8296-2236CE76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1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8C0A-E439-7822-B231-169A295C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DS-Cav1: a prefusion-stabilized RSV F subunit vaccine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4985D-2918-E732-10DB-37BA8E8D9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DS-Cav1 is a </a:t>
            </a:r>
            <a:r>
              <a:rPr lang="en-US" b="1" dirty="0"/>
              <a:t>prefusion RSV F protein vaccine candidate</a:t>
            </a:r>
            <a:r>
              <a:rPr lang="en-US" dirty="0"/>
              <a:t> developed by </a:t>
            </a:r>
            <a:r>
              <a:rPr lang="en-US" b="1" dirty="0"/>
              <a:t>NIH/NIAID</a:t>
            </a:r>
            <a:r>
              <a:rPr lang="en-US" dirty="0"/>
              <a:t>. It was designed because most potent neutralizing antibodies after natural RSV infection target the </a:t>
            </a:r>
            <a:r>
              <a:rPr lang="en-US" b="1" dirty="0"/>
              <a:t>prefusion F (</a:t>
            </a:r>
            <a:r>
              <a:rPr lang="en-US" b="1" dirty="0" err="1"/>
              <a:t>PreF</a:t>
            </a:r>
            <a:r>
              <a:rPr lang="en-US" b="1" dirty="0"/>
              <a:t>)</a:t>
            </a:r>
            <a:r>
              <a:rPr lang="en-US" dirty="0"/>
              <a:t> form. The most important vulnerable neutralizing regions are </a:t>
            </a:r>
            <a:r>
              <a:rPr lang="en-US" b="1" dirty="0"/>
              <a:t>antigenic sites Ø and V</a:t>
            </a:r>
            <a:r>
              <a:rPr lang="en-US" dirty="0"/>
              <a:t>. DS-Cav1 was engineered to </a:t>
            </a:r>
            <a:r>
              <a:rPr lang="en-US" b="1" dirty="0"/>
              <a:t>stably preserve the </a:t>
            </a:r>
            <a:r>
              <a:rPr lang="en-US" b="1" dirty="0" err="1"/>
              <a:t>PreF</a:t>
            </a:r>
            <a:r>
              <a:rPr lang="en-US" b="1" dirty="0"/>
              <a:t> conformation</a:t>
            </a:r>
            <a:r>
              <a:rPr lang="en-US" dirty="0"/>
              <a:t> and expose key neutralizing epitopes.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1EFF4-FEA0-7C10-C65B-D18002D8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402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E215-D16A-664C-21AE-33A41629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DS-Cav1 stabilizes the Ø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23693-748C-9864-3A3D-1BFA632F3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DS mutation</a:t>
            </a:r>
            <a:r>
              <a:rPr lang="en-US" dirty="0"/>
              <a:t>: introduction of </a:t>
            </a:r>
            <a:r>
              <a:rPr lang="en-US" b="1" dirty="0"/>
              <a:t>S155C-S290C</a:t>
            </a:r>
            <a:r>
              <a:rPr lang="en-US" dirty="0"/>
              <a:t> creates a disulfide bond that helps prevent conversion from </a:t>
            </a:r>
            <a:r>
              <a:rPr lang="en-US" b="1" dirty="0" err="1"/>
              <a:t>PreF</a:t>
            </a:r>
            <a:r>
              <a:rPr lang="en-US" b="1" dirty="0"/>
              <a:t> to </a:t>
            </a:r>
            <a:r>
              <a:rPr lang="en-US" b="1" dirty="0" err="1"/>
              <a:t>PostF</a:t>
            </a:r>
            <a:r>
              <a:rPr lang="en-US" dirty="0"/>
              <a:t>. </a:t>
            </a:r>
            <a:r>
              <a:rPr lang="en-US" b="1" dirty="0"/>
              <a:t>Cav1 mutation</a:t>
            </a:r>
            <a:r>
              <a:rPr lang="en-US" dirty="0"/>
              <a:t>: </a:t>
            </a:r>
            <a:r>
              <a:rPr lang="en-US" b="1" dirty="0"/>
              <a:t>S190F-V207L</a:t>
            </a:r>
            <a:r>
              <a:rPr lang="en-US" dirty="0"/>
              <a:t> fills a hydrophobic cavity and makes the membrane-distal head more ordered. The </a:t>
            </a:r>
            <a:r>
              <a:rPr lang="en-US" b="1" dirty="0"/>
              <a:t>DS-only variant</a:t>
            </a:r>
            <a:r>
              <a:rPr lang="en-US" dirty="0"/>
              <a:t> is relatively unstable against </a:t>
            </a:r>
            <a:r>
              <a:rPr lang="en-US" b="1" dirty="0"/>
              <a:t>temperature and pH changes</a:t>
            </a:r>
            <a:r>
              <a:rPr lang="en-US" dirty="0"/>
              <a:t>. The combined </a:t>
            </a:r>
            <a:r>
              <a:rPr lang="en-US" b="1" dirty="0"/>
              <a:t>DS-Cav1 design</a:t>
            </a:r>
            <a:r>
              <a:rPr lang="en-US" dirty="0"/>
              <a:t> showed the best balance of: structural order</a:t>
            </a:r>
          </a:p>
          <a:p>
            <a:r>
              <a:rPr lang="en-US" dirty="0"/>
              <a:t>production yield</a:t>
            </a:r>
          </a:p>
          <a:p>
            <a:r>
              <a:rPr lang="en-US" dirty="0"/>
              <a:t>resistance to temperature, pH, osmotic stress, and freeze-thaw cycles</a:t>
            </a:r>
          </a:p>
          <a:p>
            <a:r>
              <a:rPr lang="en-US" dirty="0"/>
              <a:t>Electron microscopy showed a </a:t>
            </a:r>
            <a:r>
              <a:rPr lang="en-US" b="1" dirty="0"/>
              <a:t>homogeneous DS-Cav1 protein population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20E0-9A9B-38AB-2BF9-F6C9C626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08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B040-A9D4-A145-CBD6-35D68278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Early clinical evidence and maternal immunization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7BC56-5485-866B-C4BF-349D6CF0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</a:t>
            </a:r>
            <a:r>
              <a:rPr lang="en-US" b="1" dirty="0"/>
              <a:t>Phase I trial</a:t>
            </a:r>
            <a:r>
              <a:rPr lang="en-US" dirty="0"/>
              <a:t>, 95 participants received DS-Cav1 </a:t>
            </a:r>
            <a:r>
              <a:rPr lang="en-US" b="1" dirty="0"/>
              <a:t>with or without alum</a:t>
            </a:r>
            <a:r>
              <a:rPr lang="en-US" dirty="0"/>
              <a:t> at weeks </a:t>
            </a:r>
            <a:r>
              <a:rPr lang="en-US" b="1" dirty="0"/>
              <a:t>0 and 12</a:t>
            </a:r>
            <a:r>
              <a:rPr lang="en-US" dirty="0"/>
              <a:t>.</a:t>
            </a:r>
          </a:p>
          <a:p>
            <a:r>
              <a:rPr lang="en-US" dirty="0"/>
              <a:t>The vaccine was </a:t>
            </a:r>
            <a:r>
              <a:rPr lang="en-US" b="1" dirty="0"/>
              <a:t>safe and well tolerated</a:t>
            </a:r>
            <a:r>
              <a:rPr lang="en-US" dirty="0"/>
              <a:t> at doses up to </a:t>
            </a:r>
            <a:r>
              <a:rPr lang="en-US" b="1" dirty="0"/>
              <a:t>500 µg</a:t>
            </a:r>
            <a:r>
              <a:rPr lang="en-US" dirty="0"/>
              <a:t>.</a:t>
            </a:r>
          </a:p>
          <a:p>
            <a:r>
              <a:rPr lang="en-US" dirty="0"/>
              <a:t>A single dose produced </a:t>
            </a:r>
            <a:r>
              <a:rPr lang="en-US" b="1" dirty="0"/>
              <a:t>persistent virus-neutralizing activity</a:t>
            </a:r>
            <a:r>
              <a:rPr lang="en-US" dirty="0"/>
              <a:t> through follow-up.</a:t>
            </a:r>
          </a:p>
          <a:p>
            <a:r>
              <a:rPr lang="en-US" dirty="0"/>
              <a:t>DS-Cav1 also showed potential for </a:t>
            </a:r>
            <a:r>
              <a:rPr lang="en-US" b="1" dirty="0"/>
              <a:t>maternal immunization</a:t>
            </a:r>
            <a:r>
              <a:rPr lang="en-US" dirty="0"/>
              <a:t>, with efficient transfer of RSV-specific </a:t>
            </a:r>
            <a:r>
              <a:rPr lang="en-US" b="1" dirty="0"/>
              <a:t>IgG</a:t>
            </a:r>
            <a:r>
              <a:rPr lang="en-US" dirty="0"/>
              <a:t> from mother to infant.</a:t>
            </a:r>
          </a:p>
          <a:p>
            <a:r>
              <a:rPr lang="en-US" dirty="0"/>
              <a:t>This raises the possibility of protecting infants during the </a:t>
            </a:r>
            <a:r>
              <a:rPr lang="en-US" b="1" dirty="0"/>
              <a:t>first 6 months of life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2F9C1-5CAB-5D10-01B0-E8C06CE5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08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CF9F-219F-DED1-3A69-DAAABED0D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limitations of DS-Cav1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13DD-8507-D407-812F-BFBF6555D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DS-Cav1 still has </a:t>
            </a:r>
            <a:r>
              <a:rPr lang="en-US" b="1" dirty="0"/>
              <a:t>stability limitations</a:t>
            </a:r>
            <a:r>
              <a:rPr lang="en-US" dirty="0"/>
              <a:t> during storage and depends on the </a:t>
            </a:r>
            <a:r>
              <a:rPr lang="en-US" b="1" dirty="0"/>
              <a:t>cold chain</a:t>
            </a:r>
            <a:r>
              <a:rPr lang="en-US" dirty="0"/>
              <a:t>. </a:t>
            </a:r>
          </a:p>
          <a:p>
            <a:r>
              <a:rPr lang="en-US" dirty="0"/>
              <a:t>After storage at </a:t>
            </a:r>
            <a:r>
              <a:rPr lang="en-US" b="1" dirty="0"/>
              <a:t>4°C</a:t>
            </a:r>
            <a:r>
              <a:rPr lang="en-US" dirty="0"/>
              <a:t>, binding to some </a:t>
            </a:r>
            <a:r>
              <a:rPr lang="en-US" dirty="0" err="1"/>
              <a:t>PreF</a:t>
            </a:r>
            <a:r>
              <a:rPr lang="en-US" dirty="0"/>
              <a:t>-specific antibodies declines markedly. </a:t>
            </a:r>
          </a:p>
          <a:p>
            <a:r>
              <a:rPr lang="en-US" dirty="0"/>
              <a:t>In </a:t>
            </a:r>
            <a:r>
              <a:rPr lang="en-US" b="1" dirty="0"/>
              <a:t>aged mice</a:t>
            </a:r>
            <a:r>
              <a:rPr lang="en-US" dirty="0"/>
              <a:t>, DS-Cav1 induces much weaker </a:t>
            </a:r>
            <a:r>
              <a:rPr lang="en-US" b="1" dirty="0"/>
              <a:t>humoral and cellular immunity</a:t>
            </a:r>
            <a:r>
              <a:rPr lang="en-US" dirty="0"/>
              <a:t> than in young mice. </a:t>
            </a:r>
          </a:p>
          <a:p>
            <a:r>
              <a:rPr lang="en-US" dirty="0"/>
              <a:t>Even with </a:t>
            </a:r>
            <a:r>
              <a:rPr lang="en-US" b="1" dirty="0"/>
              <a:t>GLA-SE adjuvant</a:t>
            </a:r>
            <a:r>
              <a:rPr lang="en-US" dirty="0"/>
              <a:t>, improvement in elderly-like immune responses remains limited. </a:t>
            </a:r>
          </a:p>
          <a:p>
            <a:r>
              <a:rPr lang="en-US" dirty="0"/>
              <a:t>These findings may explain why DS-Cav1 has </a:t>
            </a:r>
            <a:r>
              <a:rPr lang="en-US" b="1" dirty="0"/>
              <a:t>not progressed to late-stage trials in older adults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9A7C-3387-1915-576A-6DD766B0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9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83EF-FF36-436F-C2F9-957B032E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: a highly stable RSV prefusion subunit vaccine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1885-9774-85F1-8558-A8390187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 is an </a:t>
            </a:r>
            <a:r>
              <a:rPr lang="en-US" b="1" dirty="0"/>
              <a:t>RSV subunit vaccine candidate</a:t>
            </a:r>
            <a:r>
              <a:rPr lang="en-US" dirty="0"/>
              <a:t> developed by </a:t>
            </a:r>
            <a:r>
              <a:rPr lang="en-US" b="1" dirty="0"/>
              <a:t>Calder Biosciences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It is a </a:t>
            </a:r>
            <a:r>
              <a:rPr lang="en-US" b="1" dirty="0"/>
              <a:t>stable mutant of RSV prefusion F (</a:t>
            </a:r>
            <a:r>
              <a:rPr lang="en-US" b="1" dirty="0" err="1"/>
              <a:t>PreF</a:t>
            </a:r>
            <a:r>
              <a:rPr lang="en-US" b="1" dirty="0"/>
              <a:t>)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Its key innovation is the use of </a:t>
            </a:r>
            <a:r>
              <a:rPr lang="en-US" b="1" dirty="0" err="1"/>
              <a:t>dityrosine</a:t>
            </a:r>
            <a:r>
              <a:rPr lang="en-US" b="1" dirty="0"/>
              <a:t> (DT) bonds</a:t>
            </a:r>
            <a:r>
              <a:rPr lang="en-US" dirty="0"/>
              <a:t> instead of conventional disulfide bonds. </a:t>
            </a:r>
            <a:endParaRPr lang="fa-IR" dirty="0"/>
          </a:p>
          <a:p>
            <a:r>
              <a:rPr lang="en-US" dirty="0"/>
              <a:t>DT bonds are </a:t>
            </a:r>
            <a:r>
              <a:rPr lang="en-US" b="1" dirty="0"/>
              <a:t>zero-length covalent cross-links</a:t>
            </a:r>
            <a:r>
              <a:rPr lang="en-US" dirty="0"/>
              <a:t> with very high chemical stability. </a:t>
            </a:r>
            <a:endParaRPr lang="fa-IR" dirty="0"/>
          </a:p>
          <a:p>
            <a:r>
              <a:rPr lang="en-US" dirty="0"/>
              <a:t>This “</a:t>
            </a:r>
            <a:r>
              <a:rPr lang="en-US" b="1" dirty="0"/>
              <a:t>post-folding modification</a:t>
            </a:r>
            <a:r>
              <a:rPr lang="en-US" dirty="0"/>
              <a:t>” helps stabilize the native </a:t>
            </a:r>
            <a:r>
              <a:rPr lang="en-US" dirty="0" err="1"/>
              <a:t>PreF</a:t>
            </a:r>
            <a:r>
              <a:rPr lang="en-US" dirty="0"/>
              <a:t> structure while reducing risks of: </a:t>
            </a:r>
            <a:endParaRPr lang="fa-IR" dirty="0"/>
          </a:p>
          <a:p>
            <a:pPr lvl="1"/>
            <a:r>
              <a:rPr lang="en-US" dirty="0"/>
              <a:t>misfolding</a:t>
            </a:r>
          </a:p>
          <a:p>
            <a:pPr lvl="1"/>
            <a:r>
              <a:rPr lang="en-US" dirty="0"/>
              <a:t>abnormal aggregation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21E5E-F53F-EF57-97A9-592EF39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924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FFF3-22C0-C7ED-6B9F-1C59002E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design and epitope preservation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99E8-C2D8-45A0-54B0-04210FED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 contains </a:t>
            </a:r>
            <a:r>
              <a:rPr lang="en-US" b="1" dirty="0"/>
              <a:t>two engineered </a:t>
            </a:r>
            <a:r>
              <a:rPr lang="en-US" b="1" dirty="0" err="1"/>
              <a:t>dityrosine</a:t>
            </a:r>
            <a:r>
              <a:rPr lang="en-US" b="1" dirty="0"/>
              <a:t> bonds</a:t>
            </a:r>
            <a:r>
              <a:rPr lang="en-US" dirty="0"/>
              <a:t>: </a:t>
            </a:r>
            <a:endParaRPr lang="fa-IR" dirty="0"/>
          </a:p>
          <a:p>
            <a:r>
              <a:rPr lang="en-US" b="1" dirty="0"/>
              <a:t>V185Y–N428Y</a:t>
            </a:r>
            <a:r>
              <a:rPr lang="en-US" dirty="0"/>
              <a:t> → stabilizes the </a:t>
            </a:r>
            <a:r>
              <a:rPr lang="en-US" b="1" dirty="0"/>
              <a:t>IV/V interface</a:t>
            </a:r>
            <a:endParaRPr lang="en-US" dirty="0"/>
          </a:p>
          <a:p>
            <a:r>
              <a:rPr lang="en-US" b="1" dirty="0"/>
              <a:t>K226Y–Y198</a:t>
            </a:r>
            <a:r>
              <a:rPr lang="en-US" dirty="0"/>
              <a:t> → locks the major neutralizing </a:t>
            </a:r>
            <a:r>
              <a:rPr lang="en-US" b="1" dirty="0"/>
              <a:t>Site Ø</a:t>
            </a:r>
            <a:endParaRPr lang="en-US" dirty="0"/>
          </a:p>
          <a:p>
            <a:r>
              <a:rPr lang="en-US" dirty="0"/>
              <a:t>These modifications keep key neutralizing epitopes exposed and prevent </a:t>
            </a:r>
            <a:r>
              <a:rPr lang="en-US" b="1" dirty="0" err="1"/>
              <a:t>PreF</a:t>
            </a:r>
            <a:r>
              <a:rPr lang="en-US" b="1" dirty="0"/>
              <a:t>-to-</a:t>
            </a:r>
            <a:r>
              <a:rPr lang="en-US" b="1" dirty="0" err="1"/>
              <a:t>PostF</a:t>
            </a:r>
            <a:r>
              <a:rPr lang="en-US" b="1" dirty="0"/>
              <a:t> transition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Additional </a:t>
            </a:r>
            <a:r>
              <a:rPr lang="en-US" dirty="0" err="1"/>
              <a:t>foldon</a:t>
            </a:r>
            <a:r>
              <a:rPr lang="en-US" dirty="0"/>
              <a:t> mutations: </a:t>
            </a:r>
            <a:endParaRPr lang="fa-IR" dirty="0"/>
          </a:p>
          <a:p>
            <a:pPr lvl="1"/>
            <a:r>
              <a:rPr lang="en-US" b="1" dirty="0"/>
              <a:t>L512V</a:t>
            </a:r>
            <a:endParaRPr lang="en-US" dirty="0"/>
          </a:p>
          <a:p>
            <a:pPr lvl="1"/>
            <a:r>
              <a:rPr lang="en-US" b="1" dirty="0"/>
              <a:t>L513V</a:t>
            </a:r>
            <a:endParaRPr lang="en-US" dirty="0"/>
          </a:p>
          <a:p>
            <a:pPr lvl="1"/>
            <a:r>
              <a:rPr lang="en-US" b="1" dirty="0"/>
              <a:t>Y519F</a:t>
            </a:r>
            <a:endParaRPr lang="en-US" dirty="0"/>
          </a:p>
          <a:p>
            <a:r>
              <a:rPr lang="en-US" dirty="0"/>
              <a:t>These changes further improve </a:t>
            </a:r>
            <a:r>
              <a:rPr lang="en-US" b="1" dirty="0"/>
              <a:t>trimer stability</a:t>
            </a:r>
            <a:r>
              <a:rPr lang="en-US" dirty="0"/>
              <a:t> without blocking epitope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CC61D-B7E2-2DFE-9DA0-B2FE3895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33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7371-7CB3-EA4C-8687-1D490C9E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Exceptional thermostability and reduced cold-chain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84157-92F0-2C6A-E409-0BA9DB9A4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 shows much greater stability than </a:t>
            </a:r>
            <a:r>
              <a:rPr lang="en-US" b="1" dirty="0"/>
              <a:t>DS-Cav1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Melting temperature (</a:t>
            </a:r>
            <a:r>
              <a:rPr lang="en-US" b="1" dirty="0"/>
              <a:t>Tm</a:t>
            </a:r>
            <a:r>
              <a:rPr lang="en-US" dirty="0"/>
              <a:t>) is </a:t>
            </a:r>
            <a:r>
              <a:rPr lang="en-US" b="1" dirty="0"/>
              <a:t>78°C</a:t>
            </a:r>
            <a:r>
              <a:rPr lang="en-US" dirty="0"/>
              <a:t>:</a:t>
            </a:r>
            <a:endParaRPr lang="fa-IR" dirty="0"/>
          </a:p>
          <a:p>
            <a:r>
              <a:rPr lang="en-US" dirty="0"/>
              <a:t> </a:t>
            </a:r>
            <a:r>
              <a:rPr lang="en-US" b="1" dirty="0"/>
              <a:t>+25°C</a:t>
            </a:r>
            <a:r>
              <a:rPr lang="en-US" dirty="0"/>
              <a:t> vs uncross-linked </a:t>
            </a:r>
            <a:r>
              <a:rPr lang="en-US" dirty="0" err="1"/>
              <a:t>PreF</a:t>
            </a:r>
            <a:endParaRPr lang="en-US" dirty="0"/>
          </a:p>
          <a:p>
            <a:r>
              <a:rPr lang="en-US" b="1" dirty="0"/>
              <a:t>+17°C</a:t>
            </a:r>
            <a:r>
              <a:rPr lang="en-US" dirty="0"/>
              <a:t> vs DS-Cav1</a:t>
            </a:r>
          </a:p>
          <a:p>
            <a:r>
              <a:rPr lang="en-US" dirty="0"/>
              <a:t>After </a:t>
            </a:r>
            <a:r>
              <a:rPr lang="en-US" b="1" dirty="0"/>
              <a:t>11 weeks at 4°C</a:t>
            </a:r>
            <a:r>
              <a:rPr lang="en-US" dirty="0"/>
              <a:t>, DT-</a:t>
            </a:r>
            <a:r>
              <a:rPr lang="en-US" dirty="0" err="1"/>
              <a:t>PreF</a:t>
            </a:r>
            <a:r>
              <a:rPr lang="en-US" dirty="0"/>
              <a:t> preserves prefusion structure and immunogenicity. </a:t>
            </a:r>
            <a:endParaRPr lang="fa-IR" dirty="0"/>
          </a:p>
          <a:p>
            <a:r>
              <a:rPr lang="en-US" dirty="0"/>
              <a:t>At </a:t>
            </a:r>
            <a:r>
              <a:rPr lang="en-US" b="1" dirty="0"/>
              <a:t>25°C for 7 days</a:t>
            </a:r>
            <a:r>
              <a:rPr lang="en-US" dirty="0"/>
              <a:t>, DT-</a:t>
            </a:r>
            <a:r>
              <a:rPr lang="en-US" dirty="0" err="1"/>
              <a:t>PreF</a:t>
            </a:r>
            <a:r>
              <a:rPr lang="en-US" dirty="0"/>
              <a:t> retains </a:t>
            </a:r>
            <a:r>
              <a:rPr lang="en-US" b="1" dirty="0"/>
              <a:t>85%</a:t>
            </a:r>
            <a:r>
              <a:rPr lang="en-US" dirty="0"/>
              <a:t> of prefusion conformation, while DS-Cav1 retains only </a:t>
            </a:r>
            <a:r>
              <a:rPr lang="en-US" b="1" dirty="0"/>
              <a:t>42%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In transport simulation, DT-</a:t>
            </a:r>
            <a:r>
              <a:rPr lang="en-US" dirty="0" err="1"/>
              <a:t>PreF</a:t>
            </a:r>
            <a:r>
              <a:rPr lang="en-US" dirty="0"/>
              <a:t> maintained </a:t>
            </a:r>
            <a:r>
              <a:rPr lang="en-US" b="1" dirty="0"/>
              <a:t>90% prefusion purity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After opening, it remains usable for </a:t>
            </a:r>
            <a:r>
              <a:rPr lang="en-US" b="1" dirty="0"/>
              <a:t>72 hours at 4°C</a:t>
            </a:r>
            <a:r>
              <a:rPr lang="en-US" dirty="0"/>
              <a:t>, which may reduce vaccine waste.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EDE7-30EB-1F28-DB03-8FAAD3FF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943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2F3F-2D19-F327-E9C7-910F065D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Preclinical efficacy and current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EB054-F414-CF6B-9EBD-1F52A970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 has </a:t>
            </a:r>
            <a:r>
              <a:rPr lang="en-US" b="1" dirty="0"/>
              <a:t>not yet entered clinical trials</a:t>
            </a:r>
            <a:r>
              <a:rPr lang="en-US" dirty="0"/>
              <a:t>. In animal studies, it showed strong protection: </a:t>
            </a:r>
            <a:r>
              <a:rPr lang="en-US" b="1" dirty="0"/>
              <a:t>sterile lung protection</a:t>
            </a:r>
            <a:r>
              <a:rPr lang="en-US" dirty="0"/>
              <a:t> in cotton rats</a:t>
            </a:r>
          </a:p>
          <a:p>
            <a:r>
              <a:rPr lang="en-US" dirty="0"/>
              <a:t>potent responses against both </a:t>
            </a:r>
            <a:r>
              <a:rPr lang="en-US" b="1" dirty="0"/>
              <a:t>RSV-A and RSV-B</a:t>
            </a:r>
            <a:endParaRPr lang="en-US" dirty="0"/>
          </a:p>
          <a:p>
            <a:r>
              <a:rPr lang="en-US" dirty="0"/>
              <a:t>In mice, DT-</a:t>
            </a:r>
            <a:r>
              <a:rPr lang="en-US" dirty="0" err="1"/>
              <a:t>PreF</a:t>
            </a:r>
            <a:r>
              <a:rPr lang="en-US" dirty="0"/>
              <a:t> induced </a:t>
            </a:r>
            <a:r>
              <a:rPr lang="en-US" b="1" dirty="0"/>
              <a:t>11-fold higher neutralizing antibody titers</a:t>
            </a:r>
            <a:r>
              <a:rPr lang="en-US" dirty="0"/>
              <a:t> than DS-Cav1. In aged mice, higher antigen dose helped overcome </a:t>
            </a:r>
            <a:r>
              <a:rPr lang="en-US" b="1" dirty="0" err="1"/>
              <a:t>immunosenescence</a:t>
            </a:r>
            <a:r>
              <a:rPr lang="en-US" dirty="0"/>
              <a:t> without requiring stronger adjuvants. Main limitation: lack of </a:t>
            </a:r>
            <a:r>
              <a:rPr lang="en-US" b="1" dirty="0"/>
              <a:t>human clinical data</a:t>
            </a:r>
            <a:endParaRPr lang="en-US" dirty="0"/>
          </a:p>
          <a:p>
            <a:r>
              <a:rPr lang="en-US" dirty="0"/>
              <a:t>future approval timeline remains uncertain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4437-BF08-8FC9-3BD2-40A44284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506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1BF0-DF89-F6CF-CDDE-F250EB7B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ADV110 (BARS13): an RSV G-protein subunit vaccine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1CA5-8F39-E91A-BF41-C318FBE72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ADV110 (BARS13) is a </a:t>
            </a:r>
            <a:r>
              <a:rPr lang="en-US" b="1" dirty="0"/>
              <a:t>recombinant protein subunit RSV vaccine</a:t>
            </a:r>
            <a:r>
              <a:rPr lang="en-US" dirty="0"/>
              <a:t> developed by </a:t>
            </a:r>
            <a:r>
              <a:rPr lang="en-US" b="1" dirty="0" err="1"/>
              <a:t>Advaccine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Unlike most RSV vaccines, it targets the </a:t>
            </a:r>
            <a:r>
              <a:rPr lang="en-US" b="1" dirty="0"/>
              <a:t>G protein</a:t>
            </a:r>
            <a:r>
              <a:rPr lang="en-US" dirty="0"/>
              <a:t>, not the F protein. </a:t>
            </a:r>
            <a:endParaRPr lang="fa-IR" dirty="0"/>
          </a:p>
          <a:p>
            <a:r>
              <a:rPr lang="en-US" dirty="0"/>
              <a:t>The RSV G protein functions as the </a:t>
            </a:r>
            <a:r>
              <a:rPr lang="en-US" b="1" dirty="0"/>
              <a:t>viral attachment protein</a:t>
            </a:r>
            <a:r>
              <a:rPr lang="en-US" dirty="0"/>
              <a:t>.</a:t>
            </a:r>
            <a:endParaRPr lang="fa-IR" dirty="0"/>
          </a:p>
          <a:p>
            <a:r>
              <a:rPr lang="en-US" dirty="0"/>
              <a:t> ADV110 aims to prevent RSV infection by targeting a more </a:t>
            </a:r>
            <a:r>
              <a:rPr lang="en-US" b="1" dirty="0"/>
              <a:t>structurally independent neutralizing region</a:t>
            </a:r>
            <a:r>
              <a:rPr lang="en-US" dirty="0"/>
              <a:t> of G protein. </a:t>
            </a:r>
            <a:endParaRPr lang="fa-IR" dirty="0"/>
          </a:p>
          <a:p>
            <a:r>
              <a:rPr lang="en-US" dirty="0"/>
              <a:t>It is formulated with the novel adjuvant </a:t>
            </a:r>
            <a:r>
              <a:rPr lang="en-US" b="1" dirty="0"/>
              <a:t>AE011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BC167-4316-73B2-FFBD-1AB359B1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853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1283-8B03-B207-25B5-CCA24C21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Targeting the CCD/CX3C region of RSV G protein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2A52-E6DD-2488-0A3B-2F9419C8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ADV110 is designed around the </a:t>
            </a:r>
            <a:r>
              <a:rPr lang="en-US" b="1" dirty="0"/>
              <a:t>central conserved domain (CCD)</a:t>
            </a:r>
            <a:r>
              <a:rPr lang="en-US" dirty="0"/>
              <a:t> of RSV G protein. </a:t>
            </a:r>
            <a:endParaRPr lang="fa-IR" dirty="0"/>
          </a:p>
          <a:p>
            <a:r>
              <a:rPr lang="en-US" dirty="0"/>
              <a:t>This region includes the </a:t>
            </a:r>
            <a:r>
              <a:rPr lang="en-US" b="1" dirty="0"/>
              <a:t>CX3C motif</a:t>
            </a:r>
            <a:r>
              <a:rPr lang="en-US" dirty="0"/>
              <a:t>, which binds to </a:t>
            </a:r>
            <a:r>
              <a:rPr lang="en-US" b="1" dirty="0"/>
              <a:t>CX3CR1</a:t>
            </a:r>
            <a:r>
              <a:rPr lang="en-US" dirty="0"/>
              <a:t> on respiratory epithelial cells. </a:t>
            </a:r>
            <a:endParaRPr lang="fa-IR" dirty="0"/>
          </a:p>
          <a:p>
            <a:r>
              <a:rPr lang="en-US" dirty="0"/>
              <a:t>Antibodies against this domain may show:</a:t>
            </a:r>
            <a:endParaRPr lang="fa-IR" dirty="0"/>
          </a:p>
          <a:p>
            <a:pPr lvl="1"/>
            <a:r>
              <a:rPr lang="en-US" dirty="0"/>
              <a:t> </a:t>
            </a:r>
            <a:r>
              <a:rPr lang="en-US" b="1" dirty="0"/>
              <a:t>strain-independent activity</a:t>
            </a:r>
            <a:endParaRPr lang="en-US" dirty="0"/>
          </a:p>
          <a:p>
            <a:pPr lvl="1"/>
            <a:r>
              <a:rPr lang="en-US" dirty="0"/>
              <a:t>interference with viral attachment and entry</a:t>
            </a:r>
          </a:p>
          <a:p>
            <a:r>
              <a:rPr lang="en-US" dirty="0"/>
              <a:t>The vaccine also includes </a:t>
            </a:r>
            <a:r>
              <a:rPr lang="en-US" b="1" dirty="0"/>
              <a:t>cyclosporin A (</a:t>
            </a:r>
            <a:r>
              <a:rPr lang="en-US" b="1" dirty="0" err="1"/>
              <a:t>CsA</a:t>
            </a:r>
            <a:r>
              <a:rPr lang="en-US" b="1" dirty="0"/>
              <a:t>)</a:t>
            </a:r>
            <a:r>
              <a:rPr lang="en-US" dirty="0"/>
              <a:t> in its design. </a:t>
            </a:r>
            <a:endParaRPr lang="fa-IR" dirty="0"/>
          </a:p>
          <a:p>
            <a:r>
              <a:rPr lang="en-US" dirty="0"/>
              <a:t>Proposed immune effect: </a:t>
            </a:r>
            <a:endParaRPr lang="fa-IR" dirty="0"/>
          </a:p>
          <a:p>
            <a:pPr lvl="1"/>
            <a:r>
              <a:rPr lang="en-US" dirty="0"/>
              <a:t>induction of </a:t>
            </a:r>
            <a:r>
              <a:rPr lang="en-US" b="1" dirty="0"/>
              <a:t>neutralizing antibodies</a:t>
            </a:r>
            <a:endParaRPr lang="en-US" dirty="0"/>
          </a:p>
          <a:p>
            <a:pPr lvl="1"/>
            <a:r>
              <a:rPr lang="en-US" dirty="0"/>
              <a:t>induction of </a:t>
            </a:r>
            <a:r>
              <a:rPr lang="en-US" b="1" dirty="0"/>
              <a:t>antigen-specific Tregs</a:t>
            </a:r>
            <a:endParaRPr lang="en-US" dirty="0"/>
          </a:p>
          <a:p>
            <a:pPr lvl="1"/>
            <a:r>
              <a:rPr lang="en-US" dirty="0"/>
              <a:t>reduced excessive T-cell activation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6CDF2-6D84-4593-018C-709D359B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31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C9C8-31C9-8A72-5083-325392A6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Immunogenicity and clinical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E0CBC-5061-D831-C7CD-5F758E216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BALB/c mice, ADV110 induced a </a:t>
            </a:r>
            <a:r>
              <a:rPr lang="en-US" b="1" dirty="0"/>
              <a:t>dose-dependent antibody response</a:t>
            </a:r>
            <a:r>
              <a:rPr lang="en-US" dirty="0"/>
              <a:t>.</a:t>
            </a:r>
          </a:p>
          <a:p>
            <a:r>
              <a:rPr lang="en-US" dirty="0"/>
              <a:t>Even very low doses were able to generate detectable antibodies.</a:t>
            </a:r>
          </a:p>
          <a:p>
            <a:r>
              <a:rPr lang="en-US" dirty="0"/>
              <a:t>Vaccinated mice showed </a:t>
            </a:r>
            <a:r>
              <a:rPr lang="en-US" b="1" dirty="0"/>
              <a:t>significantly reduced lung viral load</a:t>
            </a:r>
            <a:r>
              <a:rPr lang="en-US" dirty="0"/>
              <a:t>.</a:t>
            </a:r>
          </a:p>
          <a:p>
            <a:r>
              <a:rPr lang="en-US" dirty="0"/>
              <a:t>In Phase II clinical data: </a:t>
            </a:r>
          </a:p>
          <a:p>
            <a:pPr lvl="1"/>
            <a:r>
              <a:rPr lang="en-US" dirty="0"/>
              <a:t>both </a:t>
            </a:r>
            <a:r>
              <a:rPr lang="en-US" b="1" dirty="0"/>
              <a:t>low-dose</a:t>
            </a:r>
            <a:r>
              <a:rPr lang="en-US" dirty="0"/>
              <a:t> and </a:t>
            </a:r>
            <a:r>
              <a:rPr lang="en-US" b="1" dirty="0"/>
              <a:t>high-dose</a:t>
            </a:r>
            <a:r>
              <a:rPr lang="en-US" dirty="0"/>
              <a:t> groups showed higher IgG levels than placebo</a:t>
            </a:r>
          </a:p>
          <a:p>
            <a:pPr lvl="1"/>
            <a:r>
              <a:rPr lang="en-US" dirty="0"/>
              <a:t>antibody levels increased further by </a:t>
            </a:r>
            <a:r>
              <a:rPr lang="en-US" b="1" dirty="0"/>
              <a:t>day 60</a:t>
            </a:r>
            <a:endParaRPr lang="en-US" dirty="0"/>
          </a:p>
          <a:p>
            <a:pPr lvl="1"/>
            <a:r>
              <a:rPr lang="en-US" dirty="0"/>
              <a:t>two-dose regimens produced stronger responses than early single-dose time points</a:t>
            </a:r>
          </a:p>
          <a:p>
            <a:r>
              <a:rPr lang="en-US" dirty="0"/>
              <a:t>Phase II data suggest </a:t>
            </a:r>
            <a:r>
              <a:rPr lang="en-US" b="1" dirty="0"/>
              <a:t>good safety and immunogenicity</a:t>
            </a:r>
            <a:r>
              <a:rPr lang="en-US" dirty="0"/>
              <a:t> in adults aged </a:t>
            </a:r>
            <a:r>
              <a:rPr lang="en-US" b="1" dirty="0"/>
              <a:t>60–80 years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B29A2-45B6-C08E-4E24-8676E9AA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612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C259-270E-0350-0F1F-093C4091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advantages and key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A02E-AF3F-DD6A-84AC-0286BAFE4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Potential advantages: </a:t>
            </a:r>
            <a:endParaRPr lang="fa-IR" dirty="0"/>
          </a:p>
          <a:p>
            <a:pPr lvl="1"/>
            <a:r>
              <a:rPr lang="en-US" dirty="0"/>
              <a:t>novel </a:t>
            </a:r>
            <a:r>
              <a:rPr lang="en-US" b="1" dirty="0"/>
              <a:t>G-protein targeting strategy</a:t>
            </a:r>
            <a:endParaRPr lang="en-US" dirty="0"/>
          </a:p>
          <a:p>
            <a:pPr lvl="1"/>
            <a:r>
              <a:rPr lang="en-US" dirty="0"/>
              <a:t>may reduce risk of </a:t>
            </a:r>
            <a:r>
              <a:rPr lang="en-US" b="1" dirty="0"/>
              <a:t>vaccine-enhanced disease (VED)</a:t>
            </a:r>
            <a:endParaRPr lang="en-US" dirty="0"/>
          </a:p>
          <a:p>
            <a:pPr lvl="1"/>
            <a:r>
              <a:rPr lang="en-US" dirty="0"/>
              <a:t>controlled T-cell activation through </a:t>
            </a:r>
            <a:r>
              <a:rPr lang="en-US" b="1" dirty="0"/>
              <a:t>AE011</a:t>
            </a:r>
            <a:endParaRPr lang="en-US" dirty="0"/>
          </a:p>
          <a:p>
            <a:r>
              <a:rPr lang="en-US" dirty="0"/>
              <a:t>Safety profile was generally acceptable: </a:t>
            </a:r>
            <a:endParaRPr lang="fa-IR" dirty="0"/>
          </a:p>
          <a:p>
            <a:pPr lvl="1"/>
            <a:r>
              <a:rPr lang="en-US" dirty="0"/>
              <a:t>common adverse effects included </a:t>
            </a:r>
            <a:r>
              <a:rPr lang="en-US" b="1" dirty="0"/>
              <a:t>fatigue, headache, myalgia, discomfort</a:t>
            </a:r>
            <a:endParaRPr lang="en-US" dirty="0"/>
          </a:p>
          <a:p>
            <a:r>
              <a:rPr lang="en-US" dirty="0"/>
              <a:t>Key concern: </a:t>
            </a:r>
            <a:endParaRPr lang="fa-IR" dirty="0"/>
          </a:p>
          <a:p>
            <a:pPr lvl="1"/>
            <a:r>
              <a:rPr lang="en-US" b="1" dirty="0"/>
              <a:t>Treg induction</a:t>
            </a:r>
            <a:r>
              <a:rPr lang="en-US" dirty="0"/>
              <a:t> may be a double-edged sword</a:t>
            </a:r>
          </a:p>
          <a:p>
            <a:pPr lvl="1"/>
            <a:r>
              <a:rPr lang="en-US" dirty="0"/>
              <a:t>too much immune suppression could reduce:</a:t>
            </a:r>
          </a:p>
          <a:p>
            <a:r>
              <a:rPr lang="en-US" b="1" dirty="0"/>
              <a:t>Th1/CTL responses</a:t>
            </a:r>
            <a:r>
              <a:rPr lang="en-US" dirty="0"/>
              <a:t> viral clearance </a:t>
            </a:r>
            <a:endParaRPr lang="fa-IR" dirty="0"/>
          </a:p>
          <a:p>
            <a:r>
              <a:rPr lang="en-US" dirty="0"/>
              <a:t>long-term immune memory </a:t>
            </a:r>
            <a:endParaRPr lang="fa-IR" dirty="0"/>
          </a:p>
          <a:p>
            <a:r>
              <a:rPr lang="en-US" dirty="0"/>
              <a:t>Overall, ADV110 is a promising but </a:t>
            </a:r>
            <a:r>
              <a:rPr lang="en-US" b="1" dirty="0"/>
              <a:t>immunologically unconventional</a:t>
            </a:r>
            <a:r>
              <a:rPr lang="en-US" dirty="0"/>
              <a:t> RSV vaccine candidate.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800C5-7B1B-6F73-0C6C-144A1BA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37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07EA-0E6F-DE80-31DF-F4F95EB0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Particle-Based Vaccines (VLPs) in RSV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4DD1-C42C-147C-5211-FDB5BAE0A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742888" cy="3678303"/>
          </a:xfrm>
        </p:spPr>
        <p:txBody>
          <a:bodyPr/>
          <a:lstStyle/>
          <a:p>
            <a:r>
              <a:rPr lang="en-US" b="1" dirty="0"/>
              <a:t>Virus-like particles (VLPs)</a:t>
            </a:r>
            <a:r>
              <a:rPr lang="en-US" dirty="0"/>
              <a:t> are self-assembling multi-protein complexes structurally similar to viral capsids.</a:t>
            </a:r>
            <a:endParaRPr lang="fa-IR" dirty="0"/>
          </a:p>
          <a:p>
            <a:r>
              <a:rPr lang="en-US" dirty="0"/>
              <a:t>They </a:t>
            </a:r>
            <a:r>
              <a:rPr lang="en-US" b="1" dirty="0"/>
              <a:t>lack genetic material</a:t>
            </a:r>
            <a:r>
              <a:rPr lang="en-US" dirty="0"/>
              <a:t>, so they cannot replicate or infect cells. </a:t>
            </a:r>
            <a:endParaRPr lang="fa-IR" dirty="0"/>
          </a:p>
          <a:p>
            <a:r>
              <a:rPr lang="en-US" dirty="0"/>
              <a:t>In RSV, VLPs are designed as </a:t>
            </a:r>
            <a:r>
              <a:rPr lang="en-US" b="1" dirty="0"/>
              <a:t>non-replicating nanoparticles</a:t>
            </a:r>
            <a:r>
              <a:rPr lang="en-US" dirty="0"/>
              <a:t> approximately </a:t>
            </a:r>
            <a:r>
              <a:rPr lang="en-US" b="1" dirty="0"/>
              <a:t>80–400 nm</a:t>
            </a:r>
            <a:r>
              <a:rPr lang="en-US" dirty="0"/>
              <a:t> in size.</a:t>
            </a:r>
            <a:endParaRPr lang="fa-IR" dirty="0"/>
          </a:p>
          <a:p>
            <a:r>
              <a:rPr lang="en-US" dirty="0"/>
              <a:t> VLPs can induce both </a:t>
            </a:r>
            <a:r>
              <a:rPr lang="en-US" b="1" dirty="0"/>
              <a:t>humoral</a:t>
            </a:r>
            <a:r>
              <a:rPr lang="en-US" dirty="0"/>
              <a:t> and </a:t>
            </a:r>
            <a:r>
              <a:rPr lang="en-US" b="1" dirty="0"/>
              <a:t>cellular immune responses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Compared with conventional subunit vaccines, they provide </a:t>
            </a:r>
            <a:r>
              <a:rPr lang="en-US" b="1" dirty="0"/>
              <a:t>denser epitope display</a:t>
            </a:r>
            <a:r>
              <a:rPr lang="en-US" dirty="0"/>
              <a:t> and stronger antibody reactivity.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B62DD-DDFD-963B-D30B-4403F46B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409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AC2B-3164-17B2-A356-D9633A2C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Logic and Immunological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A0EFB-D84A-F29D-A5D7-2EF8A113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RSV VLPs typically display </a:t>
            </a:r>
            <a:r>
              <a:rPr lang="en-US" b="1" dirty="0"/>
              <a:t>prefusion F protein trimers</a:t>
            </a:r>
            <a:r>
              <a:rPr lang="en-US" dirty="0"/>
              <a:t> and </a:t>
            </a:r>
            <a:r>
              <a:rPr lang="en-US" b="1" dirty="0"/>
              <a:t>membrane-anchored G glycoproteins</a:t>
            </a:r>
            <a:r>
              <a:rPr lang="en-US" dirty="0"/>
              <a:t> with preserved </a:t>
            </a:r>
            <a:r>
              <a:rPr lang="en-US" b="1" dirty="0"/>
              <a:t>CX3C motifs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Two major assembly strategies are used: </a:t>
            </a:r>
            <a:endParaRPr lang="fa-IR" dirty="0"/>
          </a:p>
          <a:p>
            <a:pPr lvl="1"/>
            <a:r>
              <a:rPr lang="en-US" b="1" dirty="0"/>
              <a:t>RSV M protein-based assembly</a:t>
            </a:r>
            <a:endParaRPr lang="en-US" dirty="0"/>
          </a:p>
          <a:p>
            <a:pPr lvl="1"/>
            <a:r>
              <a:rPr lang="en-US" b="1" dirty="0"/>
              <a:t>Heterologous scaffold platforms</a:t>
            </a:r>
            <a:r>
              <a:rPr lang="en-US" dirty="0"/>
              <a:t> such as HIV Gag or NDV chimeras</a:t>
            </a:r>
          </a:p>
          <a:p>
            <a:r>
              <a:rPr lang="en-US" dirty="0"/>
              <a:t>Their optimal size (</a:t>
            </a:r>
            <a:r>
              <a:rPr lang="en-US" b="1" dirty="0"/>
              <a:t>80–300 nm</a:t>
            </a:r>
            <a:r>
              <a:rPr lang="en-US" dirty="0"/>
              <a:t>) supports efficient </a:t>
            </a:r>
            <a:r>
              <a:rPr lang="en-US" b="1" dirty="0"/>
              <a:t>lymphatic trafficking</a:t>
            </a:r>
            <a:r>
              <a:rPr lang="en-US" dirty="0"/>
              <a:t> and </a:t>
            </a:r>
            <a:r>
              <a:rPr lang="en-US" b="1" dirty="0"/>
              <a:t>dendritic cell uptake</a:t>
            </a:r>
            <a:r>
              <a:rPr lang="en-US" dirty="0"/>
              <a:t>.</a:t>
            </a:r>
            <a:endParaRPr lang="fa-IR" dirty="0"/>
          </a:p>
          <a:p>
            <a:r>
              <a:rPr lang="en-US" dirty="0"/>
              <a:t>Repetitive antigen presentation strongly enhances </a:t>
            </a:r>
            <a:r>
              <a:rPr lang="en-US" b="1" dirty="0"/>
              <a:t>B-cell activation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VLPs co-displaying </a:t>
            </a:r>
            <a:r>
              <a:rPr lang="en-US" b="1" dirty="0"/>
              <a:t>F + G proteins</a:t>
            </a:r>
            <a:r>
              <a:rPr lang="en-US" dirty="0"/>
              <a:t> may provide broader and more durable neutralization than </a:t>
            </a:r>
            <a:r>
              <a:rPr lang="en-US" b="1" dirty="0"/>
              <a:t>F-only</a:t>
            </a:r>
            <a:r>
              <a:rPr lang="en-US" dirty="0"/>
              <a:t> vaccines.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FCB50-E19F-810E-4302-12975173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93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1195-F667-E738-6C28-6F60804A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IVX-A12?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A1EBBE-BD26-52E6-1D59-744C22DAB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81225"/>
            <a:ext cx="11029950" cy="3678238"/>
          </a:xfrm>
        </p:spPr>
        <p:txBody>
          <a:bodyPr/>
          <a:lstStyle/>
          <a:p>
            <a:r>
              <a:rPr lang="en-US" b="1" dirty="0"/>
              <a:t>IVX-A12</a:t>
            </a:r>
            <a:r>
              <a:rPr lang="en-US" dirty="0"/>
              <a:t> is a </a:t>
            </a:r>
            <a:r>
              <a:rPr lang="en-US" b="1" dirty="0"/>
              <a:t>bivalent VLP-based vaccine</a:t>
            </a:r>
            <a:r>
              <a:rPr lang="en-US" dirty="0"/>
              <a:t> developed by </a:t>
            </a:r>
            <a:r>
              <a:rPr lang="en-US" b="1" dirty="0" err="1"/>
              <a:t>Icosavax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It is designed to prevent lower respiratory tract infections caused by:</a:t>
            </a:r>
            <a:endParaRPr lang="fa-IR" dirty="0"/>
          </a:p>
          <a:p>
            <a:pPr lvl="1"/>
            <a:r>
              <a:rPr lang="en-US" dirty="0"/>
              <a:t> </a:t>
            </a:r>
            <a:r>
              <a:rPr lang="en-US" b="1" dirty="0"/>
              <a:t>RSV</a:t>
            </a:r>
            <a:endParaRPr lang="en-US" dirty="0"/>
          </a:p>
          <a:p>
            <a:pPr lvl="1"/>
            <a:r>
              <a:rPr lang="en-US" b="1" dirty="0"/>
              <a:t>human metapneumovirus (hMPV)</a:t>
            </a:r>
            <a:endParaRPr lang="en-US" dirty="0"/>
          </a:p>
          <a:p>
            <a:r>
              <a:rPr lang="en-US" dirty="0"/>
              <a:t>The vaccine combines two components: </a:t>
            </a:r>
            <a:endParaRPr lang="fa-IR" dirty="0"/>
          </a:p>
          <a:p>
            <a:pPr lvl="1"/>
            <a:r>
              <a:rPr lang="en-US" b="1" dirty="0"/>
              <a:t>IVX-121</a:t>
            </a:r>
            <a:r>
              <a:rPr lang="en-US" dirty="0"/>
              <a:t> targeting RSV</a:t>
            </a:r>
          </a:p>
          <a:p>
            <a:pPr lvl="1"/>
            <a:r>
              <a:rPr lang="en-US" b="1" dirty="0"/>
              <a:t>IVX-241</a:t>
            </a:r>
            <a:r>
              <a:rPr lang="en-US" dirty="0"/>
              <a:t> targeting hMPV</a:t>
            </a:r>
          </a:p>
          <a:p>
            <a:r>
              <a:rPr lang="en-US" dirty="0"/>
              <a:t>The RSV component, </a:t>
            </a:r>
            <a:r>
              <a:rPr lang="en-US" b="1" dirty="0"/>
              <a:t>IVX-121</a:t>
            </a:r>
            <a:r>
              <a:rPr lang="en-US" dirty="0"/>
              <a:t>, is based on the </a:t>
            </a:r>
            <a:r>
              <a:rPr lang="en-US" b="1" dirty="0"/>
              <a:t>prefusion F (</a:t>
            </a:r>
            <a:r>
              <a:rPr lang="en-US" b="1" dirty="0" err="1"/>
              <a:t>PreF</a:t>
            </a:r>
            <a:r>
              <a:rPr lang="en-US" b="1" dirty="0"/>
              <a:t>) conformation</a:t>
            </a:r>
            <a:r>
              <a:rPr lang="en-US" dirty="0"/>
              <a:t> of RSV F protein. </a:t>
            </a:r>
            <a:endParaRPr lang="fa-IR" dirty="0"/>
          </a:p>
          <a:p>
            <a:r>
              <a:rPr lang="en-US" dirty="0"/>
              <a:t>IVX-A12 is one of the most advanced </a:t>
            </a:r>
            <a:r>
              <a:rPr lang="en-US" b="1" dirty="0"/>
              <a:t>combined RSV/hMPV vaccine candidates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F6C8C-3C57-5552-7B3E-300632F6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13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E1B9-93C2-A759-E803-B305A2CC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Evidence, Strengths, and Limitations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0C6A4F-8A71-5257-46B0-BF76E786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Phase II</a:t>
            </a:r>
            <a:r>
              <a:rPr lang="en-US" dirty="0"/>
              <a:t> data showed strong immune responses against both RSV and hMPV.</a:t>
            </a:r>
            <a:endParaRPr lang="fa-IR" dirty="0"/>
          </a:p>
          <a:p>
            <a:r>
              <a:rPr lang="en-US" b="1" dirty="0"/>
              <a:t>RSV-A/B neutralizing antibodies</a:t>
            </a:r>
            <a:r>
              <a:rPr lang="en-US" dirty="0"/>
              <a:t> increased by </a:t>
            </a:r>
            <a:r>
              <a:rPr lang="en-US" b="1" dirty="0"/>
              <a:t>2- to 6-fold</a:t>
            </a:r>
            <a:r>
              <a:rPr lang="en-US" dirty="0"/>
              <a:t>, with GMT reaching about </a:t>
            </a:r>
            <a:r>
              <a:rPr lang="en-US" b="1" dirty="0"/>
              <a:t>12,200 IU/</a:t>
            </a:r>
            <a:r>
              <a:rPr lang="en-US" b="1" dirty="0" err="1"/>
              <a:t>mL</a:t>
            </a:r>
            <a:r>
              <a:rPr lang="en-US" dirty="0" err="1"/>
              <a:t>.</a:t>
            </a:r>
            <a:endParaRPr lang="fa-IR" dirty="0"/>
          </a:p>
          <a:p>
            <a:r>
              <a:rPr lang="en-US" b="1" dirty="0"/>
              <a:t>hMPV-A/B antibodies</a:t>
            </a:r>
            <a:r>
              <a:rPr lang="en-US" dirty="0"/>
              <a:t> increased by about </a:t>
            </a:r>
            <a:r>
              <a:rPr lang="en-US" b="1" dirty="0"/>
              <a:t>2.3- to 4-fold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The vaccine was generally </a:t>
            </a:r>
            <a:r>
              <a:rPr lang="en-US" b="1" dirty="0"/>
              <a:t>well tolerated</a:t>
            </a:r>
            <a:r>
              <a:rPr lang="en-US" dirty="0"/>
              <a:t>, with a favorable safety profile. </a:t>
            </a:r>
            <a:endParaRPr lang="fa-IR" dirty="0"/>
          </a:p>
          <a:p>
            <a:r>
              <a:rPr lang="en-US" dirty="0"/>
              <a:t>Key limitations include:</a:t>
            </a:r>
            <a:endParaRPr lang="fa-IR" dirty="0"/>
          </a:p>
          <a:p>
            <a:pPr lvl="1"/>
            <a:r>
              <a:rPr lang="en-US" b="1" dirty="0"/>
              <a:t>complex manufacturing</a:t>
            </a:r>
            <a:endParaRPr lang="en-US" dirty="0"/>
          </a:p>
          <a:p>
            <a:pPr lvl="1"/>
            <a:r>
              <a:rPr lang="en-US" b="1" dirty="0"/>
              <a:t>higher production cost</a:t>
            </a:r>
            <a:endParaRPr lang="en-US" dirty="0"/>
          </a:p>
          <a:p>
            <a:pPr lvl="1"/>
            <a:r>
              <a:rPr lang="en-US" dirty="0"/>
              <a:t>need for confirmation in </a:t>
            </a:r>
            <a:r>
              <a:rPr lang="en-US" b="1" dirty="0"/>
              <a:t>Phase III</a:t>
            </a:r>
            <a:endParaRPr lang="en-US" dirty="0"/>
          </a:p>
          <a:p>
            <a:pPr lvl="1"/>
            <a:r>
              <a:rPr lang="en-US" dirty="0"/>
              <a:t>uncertain </a:t>
            </a:r>
            <a:r>
              <a:rPr lang="en-US" b="1" dirty="0"/>
              <a:t>long-term durability and real-world effectiveness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CA01F-E1FC-CA83-210F-308D5BE2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770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F215-8B61-4124-3D4B-C1DFC193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subunit RSV vaccines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FB52-8AAB-3602-1CB7-656D7A3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8556D-B061-E706-7339-1A56247D2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84"/>
          <a:stretch>
            <a:fillRect/>
          </a:stretch>
        </p:blipFill>
        <p:spPr>
          <a:xfrm>
            <a:off x="273877" y="1715956"/>
            <a:ext cx="11237843" cy="514204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C5B3FF-0354-C808-6A54-502D4A8B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622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C012-51AF-4794-5FC8-4420E270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subunit RSV vaccines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4E71-BD39-06DC-8C85-9D7910E85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F043A-DCBB-69E5-E590-55502556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2" y="1835613"/>
            <a:ext cx="11794435" cy="510824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92858-74DC-61B7-B26B-F9F60BE0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23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A8AB2E-869E-1611-F0B6-B9E2BB18CA55}"/>
              </a:ext>
            </a:extLst>
          </p:cNvPr>
          <p:cNvSpPr txBox="1"/>
          <p:nvPr/>
        </p:nvSpPr>
        <p:spPr>
          <a:xfrm>
            <a:off x="1808480" y="2921168"/>
            <a:ext cx="84232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Thanks For Your Attention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8B03F-4592-B40D-0C78-3208DE48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865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512</TotalTime>
  <Words>2698</Words>
  <Application>Microsoft Office PowerPoint</Application>
  <PresentationFormat>Widescreen</PresentationFormat>
  <Paragraphs>276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Gill Sans MT</vt:lpstr>
      <vt:lpstr>Wingdings</vt:lpstr>
      <vt:lpstr>Wingdings 2</vt:lpstr>
      <vt:lpstr>Dividend</vt:lpstr>
      <vt:lpstr>Respiratory  syncytial  virus: recently developed rsv  vaccines</vt:lpstr>
      <vt:lpstr>Respiratory  syncytial  virus</vt:lpstr>
      <vt:lpstr>Structural and genomic organization of RSV  </vt:lpstr>
      <vt:lpstr>Early Rsv  vaccine  research</vt:lpstr>
      <vt:lpstr>Rsv  vaccines strategies</vt:lpstr>
      <vt:lpstr>Subunit Vaccines: Abrysvo (RSVPreF)  </vt:lpstr>
      <vt:lpstr>Subunit Vaccines: Abrysvo (RSVPreF)</vt:lpstr>
      <vt:lpstr>PowerPoint Presentation</vt:lpstr>
      <vt:lpstr>Arexvy (RSVPreF3): A Prefusion RSV Vaccine</vt:lpstr>
      <vt:lpstr>Why AS01E Improves Vaccine Performance</vt:lpstr>
      <vt:lpstr>Clinical Efficacy, Safety, and Key Takeaways </vt:lpstr>
      <vt:lpstr>DS-Cav1: a prefusion-stabilized RSV F subunit vaccine</vt:lpstr>
      <vt:lpstr>How DS-Cav1 stabilizes the Ø site</vt:lpstr>
      <vt:lpstr>Early clinical evidence and maternal immunization potential</vt:lpstr>
      <vt:lpstr>Key limitations of DS-Cav1</vt:lpstr>
      <vt:lpstr>DT-PreF: a highly stable RSV prefusion subunit vaccine</vt:lpstr>
      <vt:lpstr>Structural design and epitope preservation</vt:lpstr>
      <vt:lpstr>Exceptional thermostability and reduced cold-chain dependence</vt:lpstr>
      <vt:lpstr>Preclinical efficacy and current limitations</vt:lpstr>
      <vt:lpstr>ADV110 (BARS13): an RSV G-protein subunit vaccine</vt:lpstr>
      <vt:lpstr>Targeting the CCD/CX3C region of RSV G protein </vt:lpstr>
      <vt:lpstr>Immunogenicity and clinical findings</vt:lpstr>
      <vt:lpstr>Potential advantages and key concerns</vt:lpstr>
      <vt:lpstr>Particle-Based Vaccines (VLPs) in RSV</vt:lpstr>
      <vt:lpstr>Design Logic and Immunological Advantages</vt:lpstr>
      <vt:lpstr>What Is IVX-A12?</vt:lpstr>
      <vt:lpstr>Clinical Evidence, Strengths, and Limitations</vt:lpstr>
      <vt:lpstr>Summary of subunit RSV vaccines  </vt:lpstr>
      <vt:lpstr>Summary of subunit RSV vaccines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hannaneh jalilzadeh</dc:creator>
  <cp:lastModifiedBy>Ali Rahmati</cp:lastModifiedBy>
  <cp:revision>6</cp:revision>
  <dcterms:created xsi:type="dcterms:W3CDTF">2026-06-26T12:03:02Z</dcterms:created>
  <dcterms:modified xsi:type="dcterms:W3CDTF">2026-07-09T23:35:11Z</dcterms:modified>
</cp:coreProperties>
</file>