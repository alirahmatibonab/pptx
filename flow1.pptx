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258" r:id="rId3"/>
    <p:sldId id="260" r:id="rId4"/>
    <p:sldId id="262" r:id="rId5"/>
    <p:sldId id="261" r:id="rId6"/>
    <p:sldId id="343" r:id="rId7"/>
    <p:sldId id="394" r:id="rId8"/>
    <p:sldId id="395" r:id="rId9"/>
    <p:sldId id="396" r:id="rId10"/>
    <p:sldId id="381" r:id="rId11"/>
    <p:sldId id="385" r:id="rId12"/>
    <p:sldId id="383" r:id="rId13"/>
    <p:sldId id="375" r:id="rId14"/>
    <p:sldId id="378" r:id="rId15"/>
    <p:sldId id="351" r:id="rId16"/>
    <p:sldId id="373" r:id="rId17"/>
    <p:sldId id="347" r:id="rId18"/>
    <p:sldId id="346" r:id="rId19"/>
    <p:sldId id="345" r:id="rId20"/>
    <p:sldId id="356" r:id="rId21"/>
    <p:sldId id="362" r:id="rId22"/>
    <p:sldId id="364" r:id="rId23"/>
    <p:sldId id="366" r:id="rId24"/>
    <p:sldId id="368" r:id="rId25"/>
    <p:sldId id="390" r:id="rId26"/>
    <p:sldId id="391" r:id="rId27"/>
    <p:sldId id="392" r:id="rId28"/>
    <p:sldId id="344" r:id="rId29"/>
    <p:sldId id="397" r:id="rId30"/>
    <p:sldId id="39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980" autoAdjust="0"/>
  </p:normalViewPr>
  <p:slideViewPr>
    <p:cSldViewPr snapToGrid="0">
      <p:cViewPr varScale="1">
        <p:scale>
          <a:sx n="58" d="100"/>
          <a:sy n="58" d="100"/>
        </p:scale>
        <p:origin x="164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4T19:02:03.243"/>
    </inkml:context>
    <inkml:brush xml:id="br0">
      <inkml:brushProperty name="width" value="0.05" units="cm"/>
      <inkml:brushProperty name="height" value="0.05" units="cm"/>
    </inkml:brush>
  </inkml:definitions>
  <inkml:trace contextRef="#ctx0" brushRef="#br0">28 42 156,'-14'-23'604,"1"4"-572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4T14:47:33.815"/>
    </inkml:context>
    <inkml:brush xml:id="br0">
      <inkml:brushProperty name="width" value="0.05" units="cm"/>
      <inkml:brushProperty name="height" value="0.05" units="cm"/>
    </inkml:brush>
  </inkml:definitions>
  <inkml:trace contextRef="#ctx0" brushRef="#br0">1 0 760,'0'0'2094,"4"3"-365,18 9 4307,-18-10-5473,10 6-105,-10-6 524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3019A-00CA-4A3D-87EB-ED9CDE4151E6}"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0E5AC8-2829-4E7F-B3E3-8FF460CA1E3C}" type="slidenum">
              <a:rPr lang="en-US" smtClean="0"/>
              <a:t>‹#›</a:t>
            </a:fld>
            <a:endParaRPr lang="en-US"/>
          </a:p>
        </p:txBody>
      </p:sp>
    </p:spTree>
    <p:extLst>
      <p:ext uri="{BB962C8B-B14F-4D97-AF65-F5344CB8AC3E}">
        <p14:creationId xmlns:p14="http://schemas.microsoft.com/office/powerpoint/2010/main" val="115185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a-IR" b="1" dirty="0"/>
              <a:t>در سطح آزمایش:</a:t>
            </a:r>
            <a:r>
              <a:rPr lang="fa-IR" dirty="0"/>
              <a:t> حجم آنتی‌بادی، زمان انکوباسیون، دمای محیط و روش شستشوی سلول‌ها برای همه اپراتورها کاملاً یکسان و فرموله می‌شود</a:t>
            </a:r>
            <a:endParaRPr lang="en-US" dirty="0"/>
          </a:p>
        </p:txBody>
      </p:sp>
      <p:sp>
        <p:nvSpPr>
          <p:cNvPr id="4" name="Slide Number Placeholder 3"/>
          <p:cNvSpPr>
            <a:spLocks noGrp="1"/>
          </p:cNvSpPr>
          <p:nvPr>
            <p:ph type="sldNum" sz="quarter" idx="5"/>
          </p:nvPr>
        </p:nvSpPr>
        <p:spPr/>
        <p:txBody>
          <a:bodyPr/>
          <a:lstStyle/>
          <a:p>
            <a:fld id="{D60E5AC8-2829-4E7F-B3E3-8FF460CA1E3C}" type="slidenum">
              <a:rPr lang="en-US" smtClean="0"/>
              <a:t>2</a:t>
            </a:fld>
            <a:endParaRPr lang="en-US"/>
          </a:p>
        </p:txBody>
      </p:sp>
    </p:spTree>
    <p:extLst>
      <p:ext uri="{BB962C8B-B14F-4D97-AF65-F5344CB8AC3E}">
        <p14:creationId xmlns:p14="http://schemas.microsoft.com/office/powerpoint/2010/main" val="3475578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buFont typeface="Arial" panose="020B0604020202020204" pitchFamily="34" charset="0"/>
              <a:buChar char="•"/>
            </a:pPr>
            <a:r>
              <a:rPr lang="fa-IR" dirty="0"/>
              <a:t>ولتاژ PMT متفاوت</a:t>
            </a:r>
          </a:p>
          <a:p>
            <a:pPr rtl="1">
              <a:buFont typeface="Arial" panose="020B0604020202020204" pitchFamily="34" charset="0"/>
              <a:buChar char="•"/>
            </a:pPr>
            <a:r>
              <a:rPr lang="fa-IR" dirty="0"/>
              <a:t>laser power متفاوت</a:t>
            </a:r>
          </a:p>
          <a:p>
            <a:pPr rtl="1">
              <a:buFont typeface="Arial" panose="020B0604020202020204" pitchFamily="34" charset="0"/>
              <a:buChar char="•"/>
            </a:pPr>
            <a:r>
              <a:rPr lang="fa-IR" dirty="0"/>
              <a:t>filter متفاوت</a:t>
            </a:r>
          </a:p>
          <a:p>
            <a:pPr rtl="1">
              <a:buFont typeface="Arial" panose="020B0604020202020204" pitchFamily="34" charset="0"/>
              <a:buChar char="•"/>
            </a:pPr>
            <a:r>
              <a:rPr lang="fa-IR" dirty="0"/>
              <a:t>detector متفاوت</a:t>
            </a:r>
          </a:p>
          <a:p>
            <a:pPr rtl="1">
              <a:buFont typeface="Arial" panose="020B0604020202020204" pitchFamily="34" charset="0"/>
              <a:buChar char="•"/>
            </a:pPr>
            <a:r>
              <a:rPr lang="fa-IR" dirty="0"/>
              <a:t>gain متفاوت</a:t>
            </a:r>
          </a:p>
          <a:p>
            <a:pPr rtl="1">
              <a:buFont typeface="Arial" panose="020B0604020202020204" pitchFamily="34" charset="0"/>
              <a:buChar char="•"/>
            </a:pPr>
            <a:r>
              <a:rPr lang="fa-IR" dirty="0"/>
              <a:t>scale متفاوت</a:t>
            </a:r>
          </a:p>
          <a:p>
            <a:pPr rtl="1">
              <a:buFont typeface="Arial" panose="020B0604020202020204" pitchFamily="34" charset="0"/>
              <a:buChar char="•"/>
            </a:pPr>
            <a:r>
              <a:rPr lang="fa-IR" dirty="0"/>
              <a:t>alignment متفاوت</a:t>
            </a:r>
          </a:p>
          <a:p>
            <a:pPr rtl="1">
              <a:buFont typeface="Arial" panose="020B0604020202020204" pitchFamily="34" charset="0"/>
              <a:buChar char="•"/>
            </a:pPr>
            <a:r>
              <a:rPr lang="fa-IR" dirty="0"/>
              <a:t>software transformation متفاوت</a:t>
            </a:r>
          </a:p>
          <a:p>
            <a:pPr rtl="1">
              <a:buNone/>
            </a:pPr>
            <a:r>
              <a:rPr lang="fa-IR" dirty="0"/>
              <a:t>پس MFI خام به‌تنهایی </a:t>
            </a:r>
            <a:r>
              <a:rPr lang="fa-IR" b="1" dirty="0"/>
              <a:t>قابل مقایسه بین دستگاه‌ها نیست</a:t>
            </a:r>
            <a:r>
              <a:rPr lang="fa-IR" dirty="0"/>
              <a:t>.</a:t>
            </a:r>
          </a:p>
          <a:p>
            <a:pPr rtl="1">
              <a:buNone/>
            </a:pPr>
            <a:br>
              <a:rPr lang="en-US" dirty="0"/>
            </a:br>
            <a:r>
              <a:rPr lang="fa-IR" b="1" dirty="0"/>
              <a:t>در فلوسایتومتری (NIST Traceability)</a:t>
            </a:r>
          </a:p>
          <a:p>
            <a:pPr rtl="1">
              <a:buNone/>
            </a:pPr>
            <a:r>
              <a:rPr lang="fa-IR" dirty="0"/>
              <a:t>در فلوسایتومتری، ما با “طول” سروکار نداریم، بلکه با </a:t>
            </a:r>
            <a:r>
              <a:rPr lang="fa-IR" b="1" dirty="0"/>
              <a:t>“تعداد مولکول فلوروفور”</a:t>
            </a:r>
            <a:r>
              <a:rPr lang="fa-IR" dirty="0"/>
              <a:t> سروکار داریم. فرآیند اتصال به NIST اینگونه است:</a:t>
            </a:r>
          </a:p>
          <a:p>
            <a:pPr rtl="1">
              <a:buFont typeface="+mj-lt"/>
              <a:buAutoNum type="arabicPeriod"/>
            </a:pPr>
            <a:r>
              <a:rPr lang="fa-IR" b="1" dirty="0"/>
              <a:t>NIST (سطح اول):</a:t>
            </a:r>
            <a:r>
              <a:rPr lang="fa-IR" dirty="0"/>
              <a:t> دانشمندان در NIST، محلول‌های خالص فلوروفور (مثل Fluorescein) را با غلظت بسیار دقیق (مثلاً با دقت ۹۹.۹٪) تهیه می‌کنند و مقدار نوری که یک مولکول از آن‌ها ساطع می‌کند را با دستگاه‌های فوق‌پیشرفته اندازه‌گیری می‌کنند.</a:t>
            </a:r>
          </a:p>
          <a:p>
            <a:pPr rtl="1">
              <a:buFont typeface="+mj-lt"/>
              <a:buAutoNum type="arabicPeriod"/>
            </a:pPr>
            <a:r>
              <a:rPr lang="fa-IR" b="1" dirty="0"/>
              <a:t>شرکت‌های سازنده بید (سطح دوم):</a:t>
            </a:r>
            <a:r>
              <a:rPr lang="fa-IR" dirty="0"/>
              <a:t> شرکت‌هایی مثل </a:t>
            </a:r>
            <a:r>
              <a:rPr lang="fa-IR" i="1" dirty="0"/>
              <a:t>Becton Dickinson</a:t>
            </a:r>
            <a:r>
              <a:rPr lang="fa-IR" dirty="0"/>
              <a:t> یا </a:t>
            </a:r>
            <a:r>
              <a:rPr lang="fa-IR" i="1" dirty="0"/>
              <a:t>Thermo Fisher</a:t>
            </a:r>
            <a:r>
              <a:rPr lang="fa-IR" dirty="0"/>
              <a:t>، بیدهای کالیبراسیون خود را می‌سازند و آن‌ها را با همان محلول‌های مرجع NIST مقایسه می‌کنند. آن‌ها روی جعبه بید می‌نویسند: </a:t>
            </a:r>
            <a:r>
              <a:rPr lang="fa-IR" i="1" dirty="0"/>
              <a:t>“این بید دقیقاً معادل ۵۰,۰۰۰ مولکول فلورسین (MESF) است”</a:t>
            </a:r>
            <a:r>
              <a:rPr lang="fa-IR" dirty="0"/>
              <a:t>.</a:t>
            </a:r>
          </a:p>
          <a:p>
            <a:pPr rtl="1">
              <a:buFont typeface="+mj-lt"/>
              <a:buAutoNum type="arabicPeriod"/>
            </a:pPr>
            <a:r>
              <a:rPr lang="fa-IR" b="1" dirty="0"/>
              <a:t>شما در آزمایشگاه (سطح سوم):</a:t>
            </a:r>
            <a:r>
              <a:rPr lang="fa-IR" dirty="0"/>
              <a:t> شما آن بید را در دستگاه خود می‌گذارید. اگر دستگاه شما عدد ۵,۰۰۰ (MFI) را نشان داد، شما حالا می‌دانید که در دستگاه شما، هر ۱ واحد MFI برابر با ۱۰ مولکول واقعی است</a:t>
            </a:r>
          </a:p>
          <a:p>
            <a:endParaRPr lang="en-US" dirty="0"/>
          </a:p>
        </p:txBody>
      </p:sp>
      <p:sp>
        <p:nvSpPr>
          <p:cNvPr id="4" name="Slide Number Placeholder 3"/>
          <p:cNvSpPr>
            <a:spLocks noGrp="1"/>
          </p:cNvSpPr>
          <p:nvPr>
            <p:ph type="sldNum" sz="quarter" idx="5"/>
          </p:nvPr>
        </p:nvSpPr>
        <p:spPr/>
        <p:txBody>
          <a:bodyPr/>
          <a:lstStyle/>
          <a:p>
            <a:fld id="{D60E5AC8-2829-4E7F-B3E3-8FF460CA1E3C}" type="slidenum">
              <a:rPr lang="en-US" smtClean="0"/>
              <a:t>6</a:t>
            </a:fld>
            <a:endParaRPr lang="en-US"/>
          </a:p>
        </p:txBody>
      </p:sp>
    </p:spTree>
    <p:extLst>
      <p:ext uri="{BB962C8B-B14F-4D97-AF65-F5344CB8AC3E}">
        <p14:creationId xmlns:p14="http://schemas.microsoft.com/office/powerpoint/2010/main" val="375691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0E5AC8-2829-4E7F-B3E3-8FF460CA1E3C}" type="slidenum">
              <a:rPr lang="en-US" smtClean="0"/>
              <a:t>10</a:t>
            </a:fld>
            <a:endParaRPr lang="en-US"/>
          </a:p>
        </p:txBody>
      </p:sp>
    </p:spTree>
    <p:extLst>
      <p:ext uri="{BB962C8B-B14F-4D97-AF65-F5344CB8AC3E}">
        <p14:creationId xmlns:p14="http://schemas.microsoft.com/office/powerpoint/2010/main" val="1637255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rtl="1">
                  <a:buNone/>
                </a:pPr>
                <a:r>
                  <a:rPr lang="fa-IR" dirty="0"/>
                  <a:t>فرض کن در کانال PE داریم:</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𝑀𝑒𝑑𝑖𝑎</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𝑛𝑒𝑔</m:t>
                          </m:r>
                        </m:sub>
                      </m:sSub>
                      <m:r>
                        <a:rPr lang="en-US" i="0">
                          <a:latin typeface="Cambria Math" panose="02040503050406030204" pitchFamily="18" charset="0"/>
                        </a:rPr>
                        <m:t>=</m:t>
                      </m:r>
                      <m:r>
                        <a:rPr lang="en-US" i="0">
                          <a:latin typeface="Cambria Math" panose="02040503050406030204" pitchFamily="18" charset="0"/>
                        </a:rPr>
                        <m:t>500</m:t>
                      </m:r>
                    </m:oMath>
                  </m:oMathPara>
                </a14:m>
                <a:endParaRPr lang="en-US" dirty="0"/>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𝑀𝑒𝑑𝑖𝑎</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𝑝𝑜𝑠</m:t>
                          </m:r>
                        </m:sub>
                      </m:sSub>
                      <m:r>
                        <a:rPr lang="en-US" i="0">
                          <a:latin typeface="Cambria Math" panose="02040503050406030204" pitchFamily="18" charset="0"/>
                        </a:rPr>
                        <m:t>=</m:t>
                      </m:r>
                      <m:r>
                        <a:rPr lang="en-US" i="0">
                          <a:latin typeface="Cambria Math" panose="02040503050406030204" pitchFamily="18" charset="0"/>
                        </a:rPr>
                        <m:t>5000</m:t>
                      </m:r>
                    </m:oMath>
                  </m:oMathPara>
                </a14:m>
                <a:endParaRPr lang="en-US" dirty="0"/>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𝑟𝑆</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𝑛𝑒𝑔</m:t>
                          </m:r>
                        </m:sub>
                      </m:sSub>
                      <m:r>
                        <a:rPr lang="en-US" i="0">
                          <a:latin typeface="Cambria Math" panose="02040503050406030204" pitchFamily="18" charset="0"/>
                        </a:rPr>
                        <m:t>=</m:t>
                      </m:r>
                      <m:r>
                        <a:rPr lang="en-US" i="0">
                          <a:latin typeface="Cambria Math" panose="02040503050406030204" pitchFamily="18" charset="0"/>
                        </a:rPr>
                        <m:t>300</m:t>
                      </m:r>
                    </m:oMath>
                  </m:oMathPara>
                </a14:m>
                <a:endParaRPr lang="en-US" dirty="0"/>
              </a:p>
              <a:p>
                <a:pPr rtl="1">
                  <a:buNone/>
                </a:pPr>
                <a:r>
                  <a:rPr lang="fa-IR" dirty="0"/>
                  <a:t>پس:</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𝑆𝐼</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5000</m:t>
                          </m:r>
                          <m:r>
                            <a:rPr lang="en-US" i="0">
                              <a:latin typeface="Cambria Math" panose="02040503050406030204" pitchFamily="18" charset="0"/>
                            </a:rPr>
                            <m:t>−</m:t>
                          </m:r>
                          <m:r>
                            <a:rPr lang="en-US" i="0">
                              <a:latin typeface="Cambria Math" panose="02040503050406030204" pitchFamily="18" charset="0"/>
                            </a:rPr>
                            <m:t>500</m:t>
                          </m:r>
                        </m:num>
                        <m:den>
                          <m:r>
                            <a:rPr lang="en-US" i="0">
                              <a:latin typeface="Cambria Math" panose="02040503050406030204" pitchFamily="18" charset="0"/>
                            </a:rPr>
                            <m:t>2</m:t>
                          </m:r>
                          <m:r>
                            <a:rPr lang="en-US" i="0">
                              <a:latin typeface="Cambria Math" panose="02040503050406030204" pitchFamily="18" charset="0"/>
                            </a:rPr>
                            <m:t>×</m:t>
                          </m:r>
                          <m:r>
                            <a:rPr lang="en-US" i="0">
                              <a:latin typeface="Cambria Math" panose="02040503050406030204" pitchFamily="18" charset="0"/>
                            </a:rPr>
                            <m:t>300</m:t>
                          </m:r>
                        </m:den>
                      </m:f>
                    </m:oMath>
                  </m:oMathPara>
                </a14:m>
                <a:endParaRPr lang="en-US" dirty="0"/>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𝑆𝐼</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4500</m:t>
                          </m:r>
                        </m:num>
                        <m:den>
                          <m:r>
                            <a:rPr lang="en-US" i="0">
                              <a:latin typeface="Cambria Math" panose="02040503050406030204" pitchFamily="18" charset="0"/>
                            </a:rPr>
                            <m:t>600</m:t>
                          </m:r>
                        </m:den>
                      </m:f>
                      <m:r>
                        <a:rPr lang="en-US" i="0">
                          <a:latin typeface="Cambria Math" panose="02040503050406030204" pitchFamily="18" charset="0"/>
                        </a:rPr>
                        <m:t>=</m:t>
                      </m:r>
                      <m:r>
                        <a:rPr lang="en-US" i="0">
                          <a:latin typeface="Cambria Math" panose="02040503050406030204" pitchFamily="18" charset="0"/>
                        </a:rPr>
                        <m:t>7</m:t>
                      </m:r>
                      <m:r>
                        <a:rPr lang="en-US" i="0">
                          <a:latin typeface="Cambria Math" panose="02040503050406030204" pitchFamily="18" charset="0"/>
                        </a:rPr>
                        <m:t>.</m:t>
                      </m:r>
                      <m:r>
                        <a:rPr lang="en-US" i="0">
                          <a:latin typeface="Cambria Math" panose="02040503050406030204" pitchFamily="18" charset="0"/>
                        </a:rPr>
                        <m:t>5</m:t>
                      </m:r>
                    </m:oMath>
                  </m:oMathPara>
                </a14:m>
                <a:endParaRPr lang="en-US" dirty="0"/>
              </a:p>
              <a:p>
                <a:pPr rtl="1">
                  <a:buNone/>
                </a:pPr>
                <a:r>
                  <a:rPr lang="fa-IR" dirty="0"/>
                  <a:t>یعنی جداسازی خوب است.</a:t>
                </a:r>
              </a:p>
              <a:p>
                <a:endParaRPr lang="en-US" dirty="0"/>
              </a:p>
            </p:txBody>
          </p:sp>
        </mc:Choice>
        <mc:Fallback xmlns="">
          <p:sp>
            <p:nvSpPr>
              <p:cNvPr id="3" name="Notes Placeholder 2"/>
              <p:cNvSpPr>
                <a:spLocks noGrp="1"/>
              </p:cNvSpPr>
              <p:nvPr>
                <p:ph type="body" idx="1"/>
              </p:nvPr>
            </p:nvSpPr>
            <p:spPr/>
            <p:txBody>
              <a:bodyPr/>
              <a:lstStyle/>
              <a:p>
                <a:pPr rtl="1">
                  <a:buNone/>
                </a:pPr>
                <a:r>
                  <a:rPr lang="fa-IR" dirty="0"/>
                  <a:t>فرض کن در کانال PE داریم:</a:t>
                </a:r>
              </a:p>
              <a:p>
                <a:pPr>
                  <a:buNone/>
                </a:pPr>
                <a:r>
                  <a:rPr lang="en-US" i="0">
                    <a:latin typeface="Cambria Math" panose="02040503050406030204" pitchFamily="18" charset="0"/>
                  </a:rPr>
                  <a:t>𝑀𝑒𝑑𝑖𝑎𝑛_𝑛𝑒𝑔=500</a:t>
                </a:r>
                <a:endParaRPr lang="en-US" dirty="0"/>
              </a:p>
              <a:p>
                <a:pPr>
                  <a:buNone/>
                </a:pPr>
                <a:r>
                  <a:rPr lang="en-US" i="0">
                    <a:latin typeface="Cambria Math" panose="02040503050406030204" pitchFamily="18" charset="0"/>
                  </a:rPr>
                  <a:t>𝑀𝑒𝑑𝑖𝑎𝑛_𝑝𝑜𝑠=5000</a:t>
                </a:r>
                <a:endParaRPr lang="en-US" dirty="0"/>
              </a:p>
              <a:p>
                <a:pPr>
                  <a:buNone/>
                </a:pPr>
                <a:r>
                  <a:rPr lang="en-US" i="0">
                    <a:latin typeface="Cambria Math" panose="02040503050406030204" pitchFamily="18" charset="0"/>
                  </a:rPr>
                  <a:t>𝑟𝑆𝐷_𝑛𝑒𝑔=300</a:t>
                </a:r>
                <a:endParaRPr lang="en-US" dirty="0"/>
              </a:p>
              <a:p>
                <a:pPr rtl="1">
                  <a:buNone/>
                </a:pPr>
                <a:r>
                  <a:rPr lang="fa-IR" dirty="0"/>
                  <a:t>پس:</a:t>
                </a:r>
              </a:p>
              <a:p>
                <a:pPr>
                  <a:buNone/>
                </a:pPr>
                <a:r>
                  <a:rPr lang="en-US" i="0">
                    <a:latin typeface="Cambria Math" panose="02040503050406030204" pitchFamily="18" charset="0"/>
                  </a:rPr>
                  <a:t>𝑆𝐼=(5000−500)/(2×300)</a:t>
                </a:r>
                <a:endParaRPr lang="en-US" dirty="0"/>
              </a:p>
              <a:p>
                <a:pPr>
                  <a:buNone/>
                </a:pPr>
                <a:r>
                  <a:rPr lang="en-US" i="0">
                    <a:latin typeface="Cambria Math" panose="02040503050406030204" pitchFamily="18" charset="0"/>
                  </a:rPr>
                  <a:t>𝑆𝐼=4500/600=7.5</a:t>
                </a:r>
                <a:endParaRPr lang="en-US" dirty="0"/>
              </a:p>
              <a:p>
                <a:pPr rtl="1">
                  <a:buNone/>
                </a:pPr>
                <a:r>
                  <a:rPr lang="fa-IR" dirty="0"/>
                  <a:t>یعنی جداسازی خوب است.</a:t>
                </a:r>
              </a:p>
              <a:p>
                <a:endParaRPr lang="en-US" dirty="0"/>
              </a:p>
            </p:txBody>
          </p:sp>
        </mc:Fallback>
      </mc:AlternateContent>
      <p:sp>
        <p:nvSpPr>
          <p:cNvPr id="4" name="Slide Number Placeholder 3"/>
          <p:cNvSpPr>
            <a:spLocks noGrp="1"/>
          </p:cNvSpPr>
          <p:nvPr>
            <p:ph type="sldNum" sz="quarter" idx="5"/>
          </p:nvPr>
        </p:nvSpPr>
        <p:spPr/>
        <p:txBody>
          <a:bodyPr/>
          <a:lstStyle/>
          <a:p>
            <a:fld id="{D60E5AC8-2829-4E7F-B3E3-8FF460CA1E3C}" type="slidenum">
              <a:rPr lang="en-US" smtClean="0"/>
              <a:t>13</a:t>
            </a:fld>
            <a:endParaRPr lang="en-US"/>
          </a:p>
        </p:txBody>
      </p:sp>
    </p:spTree>
    <p:extLst>
      <p:ext uri="{BB962C8B-B14F-4D97-AF65-F5344CB8AC3E}">
        <p14:creationId xmlns:p14="http://schemas.microsoft.com/office/powerpoint/2010/main" val="3662858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None/>
            </a:pPr>
            <a:r>
              <a:rPr lang="fa-IR" dirty="0"/>
              <a:t>PMT voltage وقتی زیاد می‌شود، سیگنال‌ها تقویت می‌شوند. اما همه چیز با هم بالا می‌رود:</a:t>
            </a:r>
          </a:p>
          <a:p>
            <a:pPr algn="r" rtl="1">
              <a:buFont typeface="Arial" panose="020B0604020202020204" pitchFamily="34" charset="0"/>
              <a:buChar char="•"/>
            </a:pPr>
            <a:r>
              <a:rPr lang="fa-IR" dirty="0"/>
              <a:t>سیگنال مثبت بالا می‌رود</a:t>
            </a:r>
          </a:p>
          <a:p>
            <a:pPr algn="r" rtl="1">
              <a:buFont typeface="Arial" panose="020B0604020202020204" pitchFamily="34" charset="0"/>
              <a:buChar char="•"/>
            </a:pPr>
            <a:r>
              <a:rPr lang="fa-IR" dirty="0"/>
              <a:t>background بالا می‌رود</a:t>
            </a:r>
          </a:p>
          <a:p>
            <a:pPr algn="r" rtl="1">
              <a:buFont typeface="Arial" panose="020B0604020202020204" pitchFamily="34" charset="0"/>
              <a:buChar char="•"/>
            </a:pPr>
            <a:r>
              <a:rPr lang="fa-IR" dirty="0"/>
              <a:t>بعضی نویزها هم بالا می‌روند</a:t>
            </a:r>
          </a:p>
          <a:p>
            <a:pPr algn="r" rtl="1">
              <a:buFont typeface="Arial" panose="020B0604020202020204" pitchFamily="34" charset="0"/>
              <a:buChar char="•"/>
            </a:pPr>
            <a:r>
              <a:rPr lang="fa-IR" dirty="0"/>
              <a:t>احتمال saturation هم بیشتر می‌شود</a:t>
            </a:r>
          </a:p>
          <a:p>
            <a:pPr algn="r" rtl="1">
              <a:buNone/>
            </a:pPr>
            <a:r>
              <a:rPr lang="fa-IR" dirty="0"/>
              <a:t>هدف این است که ولتاژ را در نقطه‌ای تنظیم کنیم که:</a:t>
            </a:r>
          </a:p>
          <a:p>
            <a:pPr algn="r" rtl="1">
              <a:buFont typeface="+mj-lt"/>
              <a:buAutoNum type="arabicPeriod"/>
            </a:pPr>
            <a:r>
              <a:rPr lang="fa-IR" dirty="0"/>
              <a:t>سیگنال‌های dim از electronic noise جدا شوند</a:t>
            </a:r>
          </a:p>
          <a:p>
            <a:pPr algn="r" rtl="1">
              <a:buFont typeface="+mj-lt"/>
              <a:buAutoNum type="arabicPeriod"/>
            </a:pPr>
            <a:r>
              <a:rPr lang="fa-IR" dirty="0"/>
              <a:t>جمعیت‌های bright اشباع نشوند</a:t>
            </a:r>
          </a:p>
          <a:p>
            <a:pPr algn="r" rtl="1">
              <a:buFont typeface="+mj-lt"/>
              <a:buAutoNum type="arabicPeriod"/>
            </a:pPr>
            <a:r>
              <a:rPr lang="fa-IR" dirty="0"/>
              <a:t>dynamic range حفظ شود</a:t>
            </a:r>
          </a:p>
          <a:p>
            <a:pPr>
              <a:buNone/>
            </a:pPr>
            <a:r>
              <a:rPr lang="fa-IR" dirty="0"/>
              <a:t>Stain Index خوب شود</a:t>
            </a:r>
            <a:br>
              <a:rPr lang="en-US" dirty="0"/>
            </a:br>
            <a:br>
              <a:rPr lang="en-US" dirty="0"/>
            </a:br>
            <a:br>
              <a:rPr lang="en-US" dirty="0"/>
            </a:br>
            <a:r>
              <a:rPr lang="en-US" dirty="0">
                <a:effectLst/>
                <a:latin typeface="Courier New" panose="02070309020205020404" pitchFamily="49" charset="0"/>
              </a:rPr>
              <a:t>Electronic noise floor: ██</a:t>
            </a:r>
          </a:p>
          <a:p>
            <a:pPr>
              <a:buNone/>
            </a:pPr>
            <a:r>
              <a:rPr lang="en-US" dirty="0">
                <a:effectLst/>
                <a:latin typeface="Courier New" panose="02070309020205020404" pitchFamily="49" charset="0"/>
              </a:rPr>
              <a:t>Negative signal:          ████</a:t>
            </a:r>
          </a:p>
          <a:p>
            <a:pPr>
              <a:buNone/>
            </a:pPr>
            <a:r>
              <a:rPr lang="en-US" dirty="0">
                <a:effectLst/>
                <a:latin typeface="Courier New" panose="02070309020205020404" pitchFamily="49" charset="0"/>
              </a:rPr>
              <a:t>Dim positive: </a:t>
            </a:r>
            <a:endParaRPr lang="fa-IR" dirty="0"/>
          </a:p>
          <a:p>
            <a:endParaRPr lang="en-US" dirty="0"/>
          </a:p>
        </p:txBody>
      </p:sp>
      <p:sp>
        <p:nvSpPr>
          <p:cNvPr id="4" name="Slide Number Placeholder 3"/>
          <p:cNvSpPr>
            <a:spLocks noGrp="1"/>
          </p:cNvSpPr>
          <p:nvPr>
            <p:ph type="sldNum" sz="quarter" idx="5"/>
          </p:nvPr>
        </p:nvSpPr>
        <p:spPr/>
        <p:txBody>
          <a:bodyPr/>
          <a:lstStyle/>
          <a:p>
            <a:fld id="{D60E5AC8-2829-4E7F-B3E3-8FF460CA1E3C}" type="slidenum">
              <a:rPr lang="en-US" smtClean="0"/>
              <a:t>15</a:t>
            </a:fld>
            <a:endParaRPr lang="en-US"/>
          </a:p>
        </p:txBody>
      </p:sp>
    </p:spTree>
    <p:extLst>
      <p:ext uri="{BB962C8B-B14F-4D97-AF65-F5344CB8AC3E}">
        <p14:creationId xmlns:p14="http://schemas.microsoft.com/office/powerpoint/2010/main" val="2815263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rtl="1"/>
                <a:r>
                  <a:rPr lang="fa-IR" dirty="0"/>
                  <a:t>ه </a:t>
                </a:r>
                <a:r>
                  <a:rPr lang="fa-IR" b="1" dirty="0"/>
                  <a:t>ماهیت آماری فوتون‌ها</a:t>
                </a:r>
                <a:r>
                  <a:rPr lang="fa-IR" dirty="0"/>
                  <a:t> است.</a:t>
                </a:r>
              </a:p>
              <a:p>
                <a:pPr rtl="1"/>
                <a:r>
                  <a:rPr lang="fa-IR" dirty="0"/>
                  <a:t>وقتی نور به detector می‌رسد، فوتون‌ها به صورت کاملاً یکنواخت نمی‌رسند؛ ورودشان </a:t>
                </a:r>
                <a:r>
                  <a:rPr lang="fa-IR" b="1" dirty="0"/>
                  <a:t>تصادفی</a:t>
                </a:r>
                <a:r>
                  <a:rPr lang="fa-IR" dirty="0"/>
                  <a:t> است.</a:t>
                </a:r>
              </a:p>
              <a:p>
                <a:pPr rtl="1"/>
                <a:r>
                  <a:rPr lang="fa-IR" dirty="0"/>
                  <a:t>پس تعداد فوتون‌هایی که در یک بازه زمانی کوتاه می‌رسند، نوسان دارد.</a:t>
                </a:r>
              </a:p>
              <a:p>
                <a:pPr rtl="1"/>
                <a:r>
                  <a:rPr lang="fa-IR" dirty="0"/>
                  <a:t>این نوسان آماری را می‌گویند:</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𝑝</m:t>
                      </m:r>
                      <m:r>
                        <a:rPr lang="en-US" sz="1200" i="1" kern="1200">
                          <a:solidFill>
                            <a:schemeClr val="tx1"/>
                          </a:solidFill>
                          <a:latin typeface="Cambria Math" panose="02040503050406030204" pitchFamily="18" charset="0"/>
                          <a:ea typeface="+mn-ea"/>
                          <a:cs typeface="+mn-cs"/>
                        </a:rPr>
                        <m:t>h</m:t>
                      </m:r>
                      <m:r>
                        <a:rPr lang="en-US" sz="1200" i="1" kern="1200">
                          <a:solidFill>
                            <a:schemeClr val="tx1"/>
                          </a:solidFill>
                          <a:latin typeface="Cambria Math" panose="02040503050406030204" pitchFamily="18" charset="0"/>
                          <a:ea typeface="+mn-ea"/>
                          <a:cs typeface="+mn-cs"/>
                        </a:rPr>
                        <m:t>𝑜𝑡𝑜𝑒𝑙𝑒𝑐𝑡𝑟𝑜𝑛</m:t>
                      </m:r>
                      <m:r>
                        <m:rPr>
                          <m:nor/>
                        </m:rPr>
                        <a:rPr lang="en-US" sz="1200" b="0" i="0" kern="1200">
                          <a:solidFill>
                            <a:schemeClr val="tx1"/>
                          </a:solidFill>
                          <a:latin typeface="+mn-lt"/>
                          <a:ea typeface="+mn-ea"/>
                          <a:cs typeface="+mn-cs"/>
                        </a:rPr>
                        <m:t> </m:t>
                      </m:r>
                      <m:r>
                        <a:rPr lang="en-US" sz="1200" b="0" i="1" kern="1200">
                          <a:solidFill>
                            <a:schemeClr val="tx1"/>
                          </a:solidFill>
                          <a:latin typeface="Cambria Math" panose="02040503050406030204" pitchFamily="18" charset="0"/>
                          <a:ea typeface="+mn-ea"/>
                          <a:cs typeface="+mn-cs"/>
                        </a:rPr>
                        <m:t>𝑠𝑡𝑎𝑡𝑖𝑠𝑡𝑖𝑐𝑠</m:t>
                      </m:r>
                    </m:oMath>
                  </m:oMathPara>
                </a14:m>
                <a:endParaRPr lang="en-US" b="0" dirty="0"/>
              </a:p>
              <a:p>
                <a:pPr rtl="1"/>
                <a:r>
                  <a:rPr lang="fa-IR" dirty="0"/>
                  <a:t>یا گاهی به زبان ساده‌تر:</a:t>
                </a:r>
              </a:p>
              <a:p>
                <a:pPr rtl="1"/>
                <a:br>
                  <a:rPr lang="fa-IR" dirty="0"/>
                </a:br>
                <a:br>
                  <a:rPr lang="fa-IR" dirty="0"/>
                </a:br>
                <a:r>
                  <a:rPr lang="fa-IR" dirty="0">
                    <a:solidFill>
                      <a:srgbClr val="FF0000"/>
                    </a:solidFill>
                  </a:rPr>
                  <a:t>PMT برای اینکه فوتون‌ها را تبدیل به سیگنال الکتریکی کند، ولتاژ بالا می‌گیرد.</a:t>
                </a:r>
              </a:p>
              <a:p>
                <a:pPr rtl="1"/>
                <a:r>
                  <a:rPr lang="fa-IR" dirty="0">
                    <a:solidFill>
                      <a:srgbClr val="FF0000"/>
                    </a:solidFill>
                  </a:rPr>
                  <a:t>اما حتی در تاریکی کامل هم، به خاطر عوامل فیزیکی داخل لوله:</a:t>
                </a:r>
              </a:p>
              <a:p>
                <a:pPr rtl="1"/>
                <a:r>
                  <a:rPr lang="fa-IR" dirty="0">
                    <a:solidFill>
                      <a:srgbClr val="FF0000"/>
                    </a:solidFill>
                  </a:rPr>
                  <a:t>گرما</a:t>
                </a:r>
              </a:p>
              <a:p>
                <a:pPr rtl="1"/>
                <a:r>
                  <a:rPr lang="fa-IR" dirty="0">
                    <a:solidFill>
                      <a:srgbClr val="FF0000"/>
                    </a:solidFill>
                  </a:rPr>
                  <a:t>نشت الکترون‌ها</a:t>
                </a:r>
              </a:p>
              <a:p>
                <a:pPr rtl="1"/>
                <a:r>
                  <a:rPr lang="fa-IR" dirty="0">
                    <a:solidFill>
                      <a:srgbClr val="FF0000"/>
                    </a:solidFill>
                  </a:rPr>
                  <a:t>انتشار خودبه‌خودی الکترون از کاتد یا دینودها</a:t>
                </a:r>
              </a:p>
              <a:p>
                <a:pPr rtl="1"/>
                <a:r>
                  <a:rPr lang="fa-IR" dirty="0">
                    <a:solidFill>
                      <a:srgbClr val="FF0000"/>
                    </a:solidFill>
                  </a:rPr>
                  <a:t>یک مقدار خیلی کوچک جریان تولید می‌شود</a:t>
                </a:r>
                <a:r>
                  <a:rPr lang="fa-IR" dirty="0"/>
                  <a:t>.</a:t>
                </a:r>
              </a:p>
              <a:p>
                <a:endParaRPr lang="en-US" dirty="0"/>
              </a:p>
            </p:txBody>
          </p:sp>
        </mc:Choice>
        <mc:Fallback xmlns="">
          <p:sp>
            <p:nvSpPr>
              <p:cNvPr id="3" name="Notes Placeholder 2"/>
              <p:cNvSpPr>
                <a:spLocks noGrp="1"/>
              </p:cNvSpPr>
              <p:nvPr>
                <p:ph type="body" idx="1"/>
              </p:nvPr>
            </p:nvSpPr>
            <p:spPr/>
            <p:txBody>
              <a:bodyPr/>
              <a:lstStyle/>
              <a:p>
                <a:pPr rtl="1"/>
                <a:r>
                  <a:rPr lang="fa-IR" dirty="0"/>
                  <a:t>ه </a:t>
                </a:r>
                <a:r>
                  <a:rPr lang="fa-IR" b="1" dirty="0"/>
                  <a:t>ماهیت آماری فوتون‌ها</a:t>
                </a:r>
                <a:r>
                  <a:rPr lang="fa-IR" dirty="0"/>
                  <a:t> است.</a:t>
                </a:r>
              </a:p>
              <a:p>
                <a:pPr rtl="1"/>
                <a:r>
                  <a:rPr lang="fa-IR" dirty="0"/>
                  <a:t>وقتی نور به detector می‌رسد، فوتون‌ها به صورت کاملاً یکنواخت نمی‌رسند؛ ورودشان </a:t>
                </a:r>
                <a:r>
                  <a:rPr lang="fa-IR" b="1" dirty="0"/>
                  <a:t>تصادفی</a:t>
                </a:r>
                <a:r>
                  <a:rPr lang="fa-IR" dirty="0"/>
                  <a:t> است.</a:t>
                </a:r>
              </a:p>
              <a:p>
                <a:pPr rtl="1"/>
                <a:r>
                  <a:rPr lang="fa-IR" dirty="0"/>
                  <a:t>پس تعداد فوتون‌هایی که در یک بازه زمانی کوتاه می‌رسند، نوسان دارد.</a:t>
                </a:r>
              </a:p>
              <a:p>
                <a:pPr rtl="1"/>
                <a:r>
                  <a:rPr lang="fa-IR" dirty="0"/>
                  <a:t>این نوسان آماری را می‌گویند:</a:t>
                </a:r>
              </a:p>
              <a:p>
                <a:r>
                  <a:rPr lang="en-US" sz="1200" i="0" kern="1200">
                    <a:solidFill>
                      <a:schemeClr val="tx1"/>
                    </a:solidFill>
                    <a:latin typeface="+mn-lt"/>
                    <a:ea typeface="+mn-ea"/>
                    <a:cs typeface="+mn-cs"/>
                  </a:rPr>
                  <a:t>𝑝ℎ𝑜𝑡𝑜𝑒𝑙𝑒𝑐𝑡𝑟𝑜𝑛</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𝑠𝑡𝑎𝑡𝑖𝑠𝑡𝑖𝑐𝑠</a:t>
                </a:r>
                <a:endParaRPr lang="en-US" b="0" dirty="0"/>
              </a:p>
              <a:p>
                <a:pPr rtl="1"/>
                <a:r>
                  <a:rPr lang="fa-IR" dirty="0"/>
                  <a:t>یا گاهی به زبان ساده‌تر:</a:t>
                </a:r>
              </a:p>
              <a:p>
                <a:pPr rtl="1"/>
                <a:br>
                  <a:rPr lang="fa-IR" dirty="0"/>
                </a:br>
                <a:br>
                  <a:rPr lang="fa-IR" dirty="0"/>
                </a:br>
                <a:r>
                  <a:rPr lang="fa-IR" dirty="0"/>
                  <a:t>PMT برای اینکه فوتون‌ها را تبدیل به سیگنال الکتریکی کند، ولتاژ بالا می‌گیرد.</a:t>
                </a:r>
              </a:p>
              <a:p>
                <a:pPr rtl="1"/>
                <a:r>
                  <a:rPr lang="fa-IR" dirty="0"/>
                  <a:t>اما حتی در تاریکی کامل هم، به خاطر عوامل فیزیکی داخل لوله:</a:t>
                </a:r>
              </a:p>
              <a:p>
                <a:pPr rtl="1"/>
                <a:r>
                  <a:rPr lang="fa-IR" dirty="0"/>
                  <a:t>گرما</a:t>
                </a:r>
              </a:p>
              <a:p>
                <a:pPr rtl="1"/>
                <a:r>
                  <a:rPr lang="fa-IR" dirty="0"/>
                  <a:t>نشت الکترون‌ها</a:t>
                </a:r>
              </a:p>
              <a:p>
                <a:pPr rtl="1"/>
                <a:r>
                  <a:rPr lang="fa-IR" dirty="0"/>
                  <a:t>انتشار خودبه‌خودی الکترون از کاتد یا دینودها</a:t>
                </a:r>
              </a:p>
              <a:p>
                <a:pPr rtl="1"/>
                <a:r>
                  <a:rPr lang="fa-IR" dirty="0"/>
                  <a:t>یک مقدار خیلی کوچک جریان تولید می‌شود.</a:t>
                </a:r>
              </a:p>
              <a:p>
                <a:endParaRPr lang="en-US" dirty="0"/>
              </a:p>
            </p:txBody>
          </p:sp>
        </mc:Fallback>
      </mc:AlternateContent>
      <p:sp>
        <p:nvSpPr>
          <p:cNvPr id="4" name="Slide Number Placeholder 3"/>
          <p:cNvSpPr>
            <a:spLocks noGrp="1"/>
          </p:cNvSpPr>
          <p:nvPr>
            <p:ph type="sldNum" sz="quarter" idx="5"/>
          </p:nvPr>
        </p:nvSpPr>
        <p:spPr/>
        <p:txBody>
          <a:bodyPr/>
          <a:lstStyle/>
          <a:p>
            <a:fld id="{D60E5AC8-2829-4E7F-B3E3-8FF460CA1E3C}" type="slidenum">
              <a:rPr lang="en-US" smtClean="0"/>
              <a:t>17</a:t>
            </a:fld>
            <a:endParaRPr lang="en-US"/>
          </a:p>
        </p:txBody>
      </p:sp>
    </p:spTree>
    <p:extLst>
      <p:ext uri="{BB962C8B-B14F-4D97-AF65-F5344CB8AC3E}">
        <p14:creationId xmlns:p14="http://schemas.microsoft.com/office/powerpoint/2010/main" val="500292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r">
                  <a:buNone/>
                </a:pPr>
                <a:r>
                  <a:rPr lang="en-US" dirty="0"/>
                  <a:t>LOL : LIMIT OF LINEARITY</a:t>
                </a:r>
                <a:br>
                  <a:rPr lang="en-US" dirty="0"/>
                </a:br>
                <a14:m>
                  <m:oMathPara xmlns:m="http://schemas.openxmlformats.org/officeDocument/2006/math">
                    <m:oMathParaPr>
                      <m:jc m:val="centerGroup"/>
                    </m:oMathParaPr>
                    <m:oMath xmlns:m="http://schemas.openxmlformats.org/officeDocument/2006/math">
                      <m:r>
                        <a:rPr lang="en-US" sz="1200" b="1" i="1" smtClean="0">
                          <a:solidFill>
                            <a:srgbClr val="FF0000"/>
                          </a:solidFill>
                          <a:latin typeface="Cambria Math" panose="02040503050406030204" pitchFamily="18" charset="0"/>
                        </a:rPr>
                        <m:t>𝑳𝑶𝑫</m:t>
                      </m:r>
                      <m:r>
                        <a:rPr lang="en-US" sz="1200" b="1" i="0" smtClean="0">
                          <a:solidFill>
                            <a:srgbClr val="FF0000"/>
                          </a:solidFill>
                          <a:latin typeface="Cambria Math" panose="02040503050406030204" pitchFamily="18" charset="0"/>
                        </a:rPr>
                        <m:t>=</m:t>
                      </m:r>
                      <m:sSub>
                        <m:sSubPr>
                          <m:ctrlPr>
                            <a:rPr lang="en-US" sz="1200" b="1" i="1">
                              <a:solidFill>
                                <a:srgbClr val="FF0000"/>
                              </a:solidFill>
                              <a:latin typeface="Cambria Math" panose="02040503050406030204" pitchFamily="18" charset="0"/>
                            </a:rPr>
                          </m:ctrlPr>
                        </m:sSubPr>
                        <m:e>
                          <m:r>
                            <a:rPr lang="en-US" sz="1200" b="1" i="1" smtClean="0">
                              <a:solidFill>
                                <a:srgbClr val="FF0000"/>
                              </a:solidFill>
                              <a:latin typeface="Cambria Math" panose="02040503050406030204" pitchFamily="18" charset="0"/>
                            </a:rPr>
                            <m:t>𝝁</m:t>
                          </m:r>
                        </m:e>
                        <m:sub>
                          <m:r>
                            <a:rPr lang="en-US" sz="1200" b="1" i="1" smtClean="0">
                              <a:solidFill>
                                <a:srgbClr val="FF0000"/>
                              </a:solidFill>
                              <a:latin typeface="Cambria Math" panose="02040503050406030204" pitchFamily="18" charset="0"/>
                            </a:rPr>
                            <m:t>𝒏𝒐𝒊𝒔𝒆</m:t>
                          </m:r>
                        </m:sub>
                      </m:sSub>
                      <m:r>
                        <a:rPr lang="en-US" sz="1200" b="1" i="0" smtClean="0">
                          <a:solidFill>
                            <a:srgbClr val="FF0000"/>
                          </a:solidFill>
                          <a:latin typeface="Cambria Math" panose="02040503050406030204" pitchFamily="18" charset="0"/>
                        </a:rPr>
                        <m:t>+</m:t>
                      </m:r>
                      <m:r>
                        <a:rPr lang="en-US" sz="1200" b="1" i="0" smtClean="0">
                          <a:solidFill>
                            <a:srgbClr val="FF0000"/>
                          </a:solidFill>
                          <a:latin typeface="Cambria Math" panose="02040503050406030204" pitchFamily="18" charset="0"/>
                        </a:rPr>
                        <m:t>𝟑</m:t>
                      </m:r>
                      <m:r>
                        <a:rPr lang="en-US" sz="1200" b="1" i="1" smtClean="0">
                          <a:solidFill>
                            <a:srgbClr val="FF0000"/>
                          </a:solidFill>
                          <a:latin typeface="Cambria Math" panose="02040503050406030204" pitchFamily="18" charset="0"/>
                        </a:rPr>
                        <m:t>𝝈</m:t>
                      </m:r>
                    </m:oMath>
                  </m:oMathPara>
                </a14:m>
                <a:endParaRPr lang="en-US" sz="1200" b="1" dirty="0">
                  <a:solidFill>
                    <a:srgbClr val="FF0000"/>
                  </a:solidFill>
                  <a:latin typeface="Times New Roman" panose="02020603050405020304" pitchFamily="18" charset="0"/>
                  <a:cs typeface="B Nazanin" panose="00000400000000000000" pitchFamily="2" charset="-78"/>
                </a:endParaRPr>
              </a:p>
              <a:p>
                <a:pPr algn="r">
                  <a:buNone/>
                </a:pPr>
                <a:br>
                  <a:rPr lang="en-US" sz="1200" b="1" dirty="0">
                    <a:latin typeface="Times New Roman" panose="02020603050405020304" pitchFamily="18" charset="0"/>
                    <a:cs typeface="B Nazanin" panose="00000400000000000000" pitchFamily="2" charset="-78"/>
                  </a:rPr>
                </a:br>
                <a:endParaRPr lang="en-US" sz="1200" b="1" dirty="0">
                  <a:latin typeface="Times New Roman" panose="02020603050405020304" pitchFamily="18" charset="0"/>
                  <a:cs typeface="B Nazanin" panose="00000400000000000000" pitchFamily="2" charset="-78"/>
                </a:endParaRPr>
              </a:p>
              <a:p>
                <a:endParaRPr lang="en-US" dirty="0"/>
              </a:p>
            </p:txBody>
          </p:sp>
        </mc:Choice>
        <mc:Fallback xmlns="">
          <p:sp>
            <p:nvSpPr>
              <p:cNvPr id="3" name="Notes Placeholder 2"/>
              <p:cNvSpPr>
                <a:spLocks noGrp="1"/>
              </p:cNvSpPr>
              <p:nvPr>
                <p:ph type="body" idx="1"/>
              </p:nvPr>
            </p:nvSpPr>
            <p:spPr/>
            <p:txBody>
              <a:bodyPr/>
              <a:lstStyle/>
              <a:p>
                <a:pPr algn="r">
                  <a:buNone/>
                </a:pPr>
                <a:r>
                  <a:rPr lang="en-US" dirty="0"/>
                  <a:t>LOL : LIMIT OF LINEARITY</a:t>
                </a:r>
                <a:br>
                  <a:rPr lang="en-US" dirty="0"/>
                </a:br>
                <a:r>
                  <a:rPr lang="en-US" sz="1200" b="1" i="0">
                    <a:solidFill>
                      <a:srgbClr val="FF0000"/>
                    </a:solidFill>
                    <a:latin typeface="Cambria Math" panose="02040503050406030204" pitchFamily="18" charset="0"/>
                  </a:rPr>
                  <a:t>𝑳𝑶𝑫=𝝁_𝒏𝒐𝒊𝒔𝒆+𝟑𝝈</a:t>
                </a:r>
                <a:endParaRPr lang="en-US" sz="1200" b="1" dirty="0">
                  <a:solidFill>
                    <a:srgbClr val="FF0000"/>
                  </a:solidFill>
                  <a:latin typeface="Times New Roman" panose="02020603050405020304" pitchFamily="18" charset="0"/>
                  <a:cs typeface="B Nazanin" panose="00000400000000000000" pitchFamily="2" charset="-78"/>
                </a:endParaRPr>
              </a:p>
              <a:p>
                <a:pPr algn="r">
                  <a:buNone/>
                </a:pPr>
                <a:br>
                  <a:rPr lang="en-US" sz="1200" b="1" dirty="0">
                    <a:latin typeface="Times New Roman" panose="02020603050405020304" pitchFamily="18" charset="0"/>
                    <a:cs typeface="B Nazanin" panose="00000400000000000000" pitchFamily="2" charset="-78"/>
                  </a:rPr>
                </a:br>
                <a:endParaRPr lang="en-US" sz="1200" b="1" dirty="0">
                  <a:latin typeface="Times New Roman" panose="02020603050405020304" pitchFamily="18" charset="0"/>
                  <a:cs typeface="B Nazanin" panose="00000400000000000000" pitchFamily="2" charset="-78"/>
                </a:endParaRPr>
              </a:p>
              <a:p>
                <a:endParaRPr lang="en-US" dirty="0"/>
              </a:p>
            </p:txBody>
          </p:sp>
        </mc:Fallback>
      </mc:AlternateContent>
      <p:sp>
        <p:nvSpPr>
          <p:cNvPr id="4" name="Slide Number Placeholder 3"/>
          <p:cNvSpPr>
            <a:spLocks noGrp="1"/>
          </p:cNvSpPr>
          <p:nvPr>
            <p:ph type="sldNum" sz="quarter" idx="5"/>
          </p:nvPr>
        </p:nvSpPr>
        <p:spPr/>
        <p:txBody>
          <a:bodyPr/>
          <a:lstStyle/>
          <a:p>
            <a:fld id="{D60E5AC8-2829-4E7F-B3E3-8FF460CA1E3C}" type="slidenum">
              <a:rPr lang="en-US" smtClean="0"/>
              <a:t>18</a:t>
            </a:fld>
            <a:endParaRPr lang="en-US"/>
          </a:p>
        </p:txBody>
      </p:sp>
    </p:spTree>
    <p:extLst>
      <p:ext uri="{BB962C8B-B14F-4D97-AF65-F5344CB8AC3E}">
        <p14:creationId xmlns:p14="http://schemas.microsoft.com/office/powerpoint/2010/main" val="2565171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None/>
            </a:pPr>
            <a:r>
              <a:rPr lang="fa-IR" b="1" dirty="0"/>
              <a:t>ارتباط </a:t>
            </a:r>
            <a:r>
              <a:rPr lang="en-US" b="1" dirty="0"/>
              <a:t>dynamic range with </a:t>
            </a:r>
            <a:r>
              <a:rPr lang="fa-IR" b="1" dirty="0"/>
              <a:t>PMT voltage</a:t>
            </a:r>
          </a:p>
          <a:p>
            <a:pPr algn="r" rtl="1">
              <a:buNone/>
            </a:pPr>
            <a:r>
              <a:rPr lang="fa-IR" dirty="0"/>
              <a:t>ولتاژ PMT dynamic range مؤثر را تغییر می‌دهد.</a:t>
            </a:r>
          </a:p>
          <a:p>
            <a:pPr algn="r" rtl="1">
              <a:buNone/>
            </a:pPr>
            <a:r>
              <a:rPr lang="fa-IR" dirty="0"/>
              <a:t>اگر ولتاژ زیاد شود:</a:t>
            </a:r>
          </a:p>
          <a:p>
            <a:pPr algn="r" rtl="1">
              <a:buFont typeface="Arial" panose="020B0604020202020204" pitchFamily="34" charset="0"/>
              <a:buChar char="•"/>
            </a:pPr>
            <a:r>
              <a:rPr lang="en-US" dirty="0"/>
              <a:t>sensitivity ↑</a:t>
            </a:r>
          </a:p>
          <a:p>
            <a:pPr algn="r" rtl="1">
              <a:buFont typeface="Arial" panose="020B0604020202020204" pitchFamily="34" charset="0"/>
              <a:buChar char="•"/>
            </a:pPr>
            <a:r>
              <a:rPr lang="en-US" dirty="0" err="1"/>
              <a:t>سیگنال‌های</a:t>
            </a:r>
            <a:r>
              <a:rPr lang="en-US" dirty="0"/>
              <a:t> </a:t>
            </a:r>
            <a:r>
              <a:rPr lang="en-US" dirty="0" err="1"/>
              <a:t>ضعیف</a:t>
            </a:r>
            <a:r>
              <a:rPr lang="en-US" dirty="0"/>
              <a:t> </a:t>
            </a:r>
            <a:r>
              <a:rPr lang="en-US" dirty="0" err="1"/>
              <a:t>بهتر</a:t>
            </a:r>
            <a:r>
              <a:rPr lang="en-US" dirty="0"/>
              <a:t> </a:t>
            </a:r>
            <a:r>
              <a:rPr lang="en-US" dirty="0" err="1"/>
              <a:t>دیده</a:t>
            </a:r>
            <a:r>
              <a:rPr lang="en-US" dirty="0"/>
              <a:t> </a:t>
            </a:r>
            <a:r>
              <a:rPr lang="en-US" dirty="0" err="1"/>
              <a:t>می‌شوند</a:t>
            </a:r>
            <a:endParaRPr lang="en-US" dirty="0"/>
          </a:p>
          <a:p>
            <a:pPr algn="r" rtl="1">
              <a:buNone/>
            </a:pPr>
            <a:r>
              <a:rPr lang="fa-IR" dirty="0"/>
              <a:t>اما:</a:t>
            </a:r>
          </a:p>
          <a:p>
            <a:pPr algn="r" rtl="1">
              <a:buFont typeface="Arial" panose="020B0604020202020204" pitchFamily="34" charset="0"/>
              <a:buChar char="•"/>
            </a:pPr>
            <a:r>
              <a:rPr lang="fa-IR" dirty="0"/>
              <a:t>سیگنال‌های قوی سریع‌تر </a:t>
            </a:r>
            <a:r>
              <a:rPr lang="fa-IR" b="1" dirty="0"/>
              <a:t>saturate</a:t>
            </a:r>
            <a:r>
              <a:rPr lang="fa-IR" dirty="0"/>
              <a:t> می‌شوند.</a:t>
            </a:r>
          </a:p>
          <a:p>
            <a:pPr algn="r" rtl="1">
              <a:buNone/>
            </a:pPr>
            <a:r>
              <a:rPr lang="fa-IR" dirty="0"/>
              <a:t>اگر ولتاژ کم شود:</a:t>
            </a:r>
          </a:p>
          <a:p>
            <a:pPr algn="r" rtl="1">
              <a:buFont typeface="Arial" panose="020B0604020202020204" pitchFamily="34" charset="0"/>
              <a:buChar char="•"/>
            </a:pPr>
            <a:r>
              <a:rPr lang="fa-IR" dirty="0"/>
              <a:t>saturation کمتر</a:t>
            </a:r>
          </a:p>
          <a:p>
            <a:pPr algn="r" rtl="1">
              <a:buFont typeface="Arial" panose="020B0604020202020204" pitchFamily="34" charset="0"/>
              <a:buChar char="•"/>
            </a:pPr>
            <a:r>
              <a:rPr lang="fa-IR" dirty="0"/>
              <a:t>ولی dim signals ممکن است از دست بروند.</a:t>
            </a:r>
          </a:p>
          <a:p>
            <a:pPr rtl="1"/>
            <a:r>
              <a:rPr lang="fa-IR" dirty="0"/>
              <a:t>پس تنظیم ولتاژ یعنی </a:t>
            </a:r>
            <a:r>
              <a:rPr lang="fa-IR" b="1" dirty="0"/>
              <a:t>متعادل کردن dynamic range</a:t>
            </a:r>
            <a:r>
              <a:rPr lang="fa-IR" dirty="0"/>
              <a:t>.</a:t>
            </a:r>
            <a:br>
              <a:rPr lang="fa-IR" dirty="0"/>
            </a:br>
            <a:br>
              <a:rPr lang="fa-IR" dirty="0"/>
            </a:br>
            <a:r>
              <a:rPr lang="fa-IR" b="1" dirty="0"/>
              <a:t>تفاوت PMT saturation و ADC limit</a:t>
            </a:r>
            <a:endParaRPr lang="fa-IR" dirty="0"/>
          </a:p>
          <a:p>
            <a:pPr rtl="1"/>
            <a:r>
              <a:rPr lang="fa-IR" b="1" dirty="0"/>
              <a:t>PMT saturation:</a:t>
            </a:r>
            <a:r>
              <a:rPr lang="fa-IR" dirty="0"/>
              <a:t> خود آشکارساز یا مدار تقویت‌کننده دیگر به افزایش نور پاسخ متناسب نمی‌دهد؛ بنابراین خطی‌بودن سیگنال پیش از دیجیتال‌سازی از بین می‌رود.</a:t>
            </a:r>
          </a:p>
          <a:p>
            <a:pPr rtl="1"/>
            <a:r>
              <a:rPr lang="fa-IR" b="1" dirty="0"/>
              <a:t>ADC limit:</a:t>
            </a:r>
            <a:r>
              <a:rPr lang="fa-IR" dirty="0"/>
              <a:t> ممکن است PMT هنوز سیگنال را درست تولید کند، اما عدد حاصل از محدوده قابل ثبت ADC بزرگ‌تر است و در سقف مقیاس بریده می‌شود.</a:t>
            </a:r>
          </a:p>
          <a:p>
            <a:pPr algn="r" rtl="1">
              <a:buNone/>
            </a:pPr>
            <a:endParaRPr lang="fa-IR" dirty="0"/>
          </a:p>
          <a:p>
            <a:endParaRPr lang="en-US" dirty="0"/>
          </a:p>
          <a:p>
            <a:endParaRPr lang="en-US" dirty="0"/>
          </a:p>
        </p:txBody>
      </p:sp>
      <p:sp>
        <p:nvSpPr>
          <p:cNvPr id="4" name="Slide Number Placeholder 3"/>
          <p:cNvSpPr>
            <a:spLocks noGrp="1"/>
          </p:cNvSpPr>
          <p:nvPr>
            <p:ph type="sldNum" sz="quarter" idx="5"/>
          </p:nvPr>
        </p:nvSpPr>
        <p:spPr/>
        <p:txBody>
          <a:bodyPr/>
          <a:lstStyle/>
          <a:p>
            <a:fld id="{D60E5AC8-2829-4E7F-B3E3-8FF460CA1E3C}" type="slidenum">
              <a:rPr lang="en-US" smtClean="0"/>
              <a:t>19</a:t>
            </a:fld>
            <a:endParaRPr lang="en-US"/>
          </a:p>
        </p:txBody>
      </p:sp>
    </p:spTree>
    <p:extLst>
      <p:ext uri="{BB962C8B-B14F-4D97-AF65-F5344CB8AC3E}">
        <p14:creationId xmlns:p14="http://schemas.microsoft.com/office/powerpoint/2010/main" val="32623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dirty="0"/>
              <a:t>شدت </a:t>
            </a:r>
            <a:r>
              <a:rPr lang="en-US" dirty="0"/>
              <a:t>Scatter </a:t>
            </a:r>
            <a:r>
              <a:rPr lang="ar-SA" dirty="0"/>
              <a:t>فقط به اندازه سلول وابسته نیست.زاویه جمع‌آوری نور در هر دستگاه متفاوت است.</a:t>
            </a:r>
            <a:endParaRPr lang="en-US" dirty="0"/>
          </a:p>
          <a:p>
            <a:pPr marL="0" marR="0" lvl="0" indent="0" algn="r" defTabSz="914400" rtl="1" eaLnBrk="1" fontAlgn="auto" latinLnBrk="0" hangingPunct="1">
              <a:lnSpc>
                <a:spcPct val="100000"/>
              </a:lnSpc>
              <a:spcBef>
                <a:spcPts val="0"/>
              </a:spcBef>
              <a:spcAft>
                <a:spcPts val="0"/>
              </a:spcAft>
              <a:buClrTx/>
              <a:buSzTx/>
              <a:buFontTx/>
              <a:buNone/>
              <a:tabLst/>
              <a:defRPr/>
            </a:pPr>
            <a:endParaRPr lang="en-US" dirty="0"/>
          </a:p>
          <a:p>
            <a:pPr marL="0" marR="0" lvl="0" indent="0" algn="r" defTabSz="914400" rtl="1" eaLnBrk="1" fontAlgn="auto" latinLnBrk="0" hangingPunct="1">
              <a:lnSpc>
                <a:spcPct val="100000"/>
              </a:lnSpc>
              <a:spcBef>
                <a:spcPts val="0"/>
              </a:spcBef>
              <a:spcAft>
                <a:spcPts val="0"/>
              </a:spcAft>
              <a:buClrTx/>
              <a:buSzTx/>
              <a:buFontTx/>
              <a:buNone/>
              <a:tabLst/>
              <a:defRPr/>
            </a:pPr>
            <a:r>
              <a:rPr lang="ar-SA" dirty="0"/>
              <a:t>ضریب شکست نوری ذره مهم است.</a:t>
            </a:r>
            <a:endParaRPr lang="en-US" dirty="0"/>
          </a:p>
          <a:p>
            <a:pPr marL="0" marR="0" lvl="0" indent="0" algn="r" defTabSz="914400" rtl="1" eaLnBrk="1" fontAlgn="auto" latinLnBrk="0" hangingPunct="1">
              <a:lnSpc>
                <a:spcPct val="100000"/>
              </a:lnSpc>
              <a:spcBef>
                <a:spcPts val="0"/>
              </a:spcBef>
              <a:spcAft>
                <a:spcPts val="0"/>
              </a:spcAft>
              <a:buClrTx/>
              <a:buSzTx/>
              <a:buFontTx/>
              <a:buNone/>
              <a:tabLst/>
              <a:defRPr/>
            </a:pPr>
            <a:endParaRPr lang="en-US" dirty="0"/>
          </a:p>
          <a:p>
            <a:pPr marL="0" marR="0" lvl="0" indent="0" algn="r" defTabSz="914400" rtl="1" eaLnBrk="1" fontAlgn="auto" latinLnBrk="0" hangingPunct="1">
              <a:lnSpc>
                <a:spcPct val="100000"/>
              </a:lnSpc>
              <a:spcBef>
                <a:spcPts val="0"/>
              </a:spcBef>
              <a:spcAft>
                <a:spcPts val="0"/>
              </a:spcAft>
              <a:buClrTx/>
              <a:buSzTx/>
              <a:buFontTx/>
              <a:buNone/>
              <a:tabLst/>
              <a:defRPr/>
            </a:pPr>
            <a:r>
              <a:rPr lang="ar-SA" dirty="0"/>
              <a:t>ساختار داخلی، شکل، محتوا و سطح سلول روی </a:t>
            </a:r>
            <a:r>
              <a:rPr lang="en-US" dirty="0"/>
              <a:t>Scatter </a:t>
            </a:r>
            <a:r>
              <a:rPr lang="ar-SA" dirty="0"/>
              <a:t>اثر می‌گذارند</a:t>
            </a:r>
            <a:endParaRPr lang="en-US" dirty="0"/>
          </a:p>
          <a:p>
            <a:pPr marL="0" marR="0" lvl="0" indent="0" algn="r" defTabSz="914400" rtl="1" eaLnBrk="1" fontAlgn="auto" latinLnBrk="0" hangingPunct="1">
              <a:lnSpc>
                <a:spcPct val="100000"/>
              </a:lnSpc>
              <a:spcBef>
                <a:spcPts val="0"/>
              </a:spcBef>
              <a:spcAft>
                <a:spcPts val="0"/>
              </a:spcAft>
              <a:buClrTx/>
              <a:buSzTx/>
              <a:buFontTx/>
              <a:buNone/>
              <a:tabLst/>
              <a:defRPr/>
            </a:pPr>
            <a:endParaRPr lang="en-US" dirty="0"/>
          </a:p>
          <a:p>
            <a:pPr marL="0" marR="0" lvl="0" indent="0" algn="r" defTabSz="914400" rtl="1" eaLnBrk="1" fontAlgn="auto" latinLnBrk="0" hangingPunct="1">
              <a:lnSpc>
                <a:spcPct val="100000"/>
              </a:lnSpc>
              <a:spcBef>
                <a:spcPts val="0"/>
              </a:spcBef>
              <a:spcAft>
                <a:spcPts val="0"/>
              </a:spcAft>
              <a:buClrTx/>
              <a:buSzTx/>
              <a:buFontTx/>
              <a:buNone/>
              <a:tabLst/>
              <a:defRPr/>
            </a:pPr>
            <a:r>
              <a:rPr lang="ar-SA" dirty="0"/>
              <a:t>.رابطه بین اندازه ذره و شدت </a:t>
            </a:r>
            <a:r>
              <a:rPr lang="en-US" dirty="0"/>
              <a:t>Scatter </a:t>
            </a:r>
            <a:r>
              <a:rPr lang="ar-SA" dirty="0"/>
              <a:t>خطی نیست.حتی ممکن است در بعضی زاویه‌ها، ذره بزرگ‌تر سیگنال </a:t>
            </a:r>
            <a:r>
              <a:rPr lang="en-US" dirty="0"/>
              <a:t>Scatter</a:t>
            </a:r>
          </a:p>
        </p:txBody>
      </p:sp>
      <p:sp>
        <p:nvSpPr>
          <p:cNvPr id="4" name="Slide Number Placeholder 3"/>
          <p:cNvSpPr>
            <a:spLocks noGrp="1"/>
          </p:cNvSpPr>
          <p:nvPr>
            <p:ph type="sldNum" sz="quarter" idx="5"/>
          </p:nvPr>
        </p:nvSpPr>
        <p:spPr/>
        <p:txBody>
          <a:bodyPr/>
          <a:lstStyle/>
          <a:p>
            <a:fld id="{D60E5AC8-2829-4E7F-B3E3-8FF460CA1E3C}" type="slidenum">
              <a:rPr lang="en-US" smtClean="0"/>
              <a:t>20</a:t>
            </a:fld>
            <a:endParaRPr lang="en-US"/>
          </a:p>
        </p:txBody>
      </p:sp>
    </p:spTree>
    <p:extLst>
      <p:ext uri="{BB962C8B-B14F-4D97-AF65-F5344CB8AC3E}">
        <p14:creationId xmlns:p14="http://schemas.microsoft.com/office/powerpoint/2010/main" val="753255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3934C-9CA3-1505-2BB3-09DA3D4F3E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0A675F-272F-012B-4CC4-01D4A463E1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36414C-2DAA-C407-83BF-8A253DFE363C}"/>
              </a:ext>
            </a:extLst>
          </p:cNvPr>
          <p:cNvSpPr>
            <a:spLocks noGrp="1"/>
          </p:cNvSpPr>
          <p:nvPr>
            <p:ph type="dt" sz="half" idx="10"/>
          </p:nvPr>
        </p:nvSpPr>
        <p:spPr/>
        <p:txBody>
          <a:bodyPr/>
          <a:lstStyle/>
          <a:p>
            <a:fld id="{D6816A68-36F2-43BA-BF6E-203E4AD551A1}" type="datetime1">
              <a:rPr lang="en-US" smtClean="0"/>
              <a:t>7/14/2026</a:t>
            </a:fld>
            <a:endParaRPr lang="en-US"/>
          </a:p>
        </p:txBody>
      </p:sp>
      <p:sp>
        <p:nvSpPr>
          <p:cNvPr id="5" name="Footer Placeholder 4">
            <a:extLst>
              <a:ext uri="{FF2B5EF4-FFF2-40B4-BE49-F238E27FC236}">
                <a16:creationId xmlns:a16="http://schemas.microsoft.com/office/drawing/2014/main" id="{6F87A003-9DB0-14FA-E4E3-3B570DA33D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808D20-CC1F-058D-A41B-0D5CE3C88876}"/>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673374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3A9CB-0123-30ED-42CB-0058D614AE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8D99BA-AD74-64A1-6C15-706EAD30DD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1EEA6F-3F01-B35F-5074-AB97B00BDB1D}"/>
              </a:ext>
            </a:extLst>
          </p:cNvPr>
          <p:cNvSpPr>
            <a:spLocks noGrp="1"/>
          </p:cNvSpPr>
          <p:nvPr>
            <p:ph type="dt" sz="half" idx="10"/>
          </p:nvPr>
        </p:nvSpPr>
        <p:spPr/>
        <p:txBody>
          <a:bodyPr/>
          <a:lstStyle/>
          <a:p>
            <a:fld id="{24892F34-32A1-42A4-A412-3881DD3AF7C5}" type="datetime1">
              <a:rPr lang="en-US" smtClean="0"/>
              <a:t>7/14/2026</a:t>
            </a:fld>
            <a:endParaRPr lang="en-US"/>
          </a:p>
        </p:txBody>
      </p:sp>
      <p:sp>
        <p:nvSpPr>
          <p:cNvPr id="5" name="Footer Placeholder 4">
            <a:extLst>
              <a:ext uri="{FF2B5EF4-FFF2-40B4-BE49-F238E27FC236}">
                <a16:creationId xmlns:a16="http://schemas.microsoft.com/office/drawing/2014/main" id="{92455E67-AD3F-CBB0-44B5-17E9C99991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721F30-738E-AB04-A9FA-EE194E0F15C8}"/>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1165711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2419A-3675-7D9D-EAC8-AE26952029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F3686F-E6E4-AA30-745F-10625D5C46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B454AC-52D6-CF1E-E1E1-E195660F485D}"/>
              </a:ext>
            </a:extLst>
          </p:cNvPr>
          <p:cNvSpPr>
            <a:spLocks noGrp="1"/>
          </p:cNvSpPr>
          <p:nvPr>
            <p:ph type="dt" sz="half" idx="10"/>
          </p:nvPr>
        </p:nvSpPr>
        <p:spPr/>
        <p:txBody>
          <a:bodyPr/>
          <a:lstStyle/>
          <a:p>
            <a:fld id="{D456826F-6058-499D-9079-67FF2A9A1B7B}" type="datetime1">
              <a:rPr lang="en-US" smtClean="0"/>
              <a:t>7/14/2026</a:t>
            </a:fld>
            <a:endParaRPr lang="en-US"/>
          </a:p>
        </p:txBody>
      </p:sp>
      <p:sp>
        <p:nvSpPr>
          <p:cNvPr id="5" name="Footer Placeholder 4">
            <a:extLst>
              <a:ext uri="{FF2B5EF4-FFF2-40B4-BE49-F238E27FC236}">
                <a16:creationId xmlns:a16="http://schemas.microsoft.com/office/drawing/2014/main" id="{012398AA-058A-5B98-A020-AB8CB85302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FDF1AF-303F-A914-BBC6-2F049AF8CA09}"/>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1526415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7DACA-FEF4-B658-EDDC-ACF82D4BBF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F99E3E-2380-CF6F-DC27-B6B068B2D5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BFC502-AC1C-1E71-B1AD-80336D7644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60FB24-91C8-D648-A234-97095CEE059E}"/>
              </a:ext>
            </a:extLst>
          </p:cNvPr>
          <p:cNvSpPr>
            <a:spLocks noGrp="1"/>
          </p:cNvSpPr>
          <p:nvPr>
            <p:ph type="dt" sz="half" idx="10"/>
          </p:nvPr>
        </p:nvSpPr>
        <p:spPr/>
        <p:txBody>
          <a:bodyPr/>
          <a:lstStyle/>
          <a:p>
            <a:fld id="{B63AB0FF-1A89-4325-9D3A-8A919A717910}" type="datetime1">
              <a:rPr lang="en-US" smtClean="0"/>
              <a:t>7/14/2026</a:t>
            </a:fld>
            <a:endParaRPr lang="en-US"/>
          </a:p>
        </p:txBody>
      </p:sp>
      <p:sp>
        <p:nvSpPr>
          <p:cNvPr id="6" name="Footer Placeholder 5">
            <a:extLst>
              <a:ext uri="{FF2B5EF4-FFF2-40B4-BE49-F238E27FC236}">
                <a16:creationId xmlns:a16="http://schemas.microsoft.com/office/drawing/2014/main" id="{C6454BF0-99A0-5D05-2D64-191759E706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782A17-7C7C-60C1-671D-57E6104098B3}"/>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2500809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0FA0-F250-C5E0-B9D7-F8809F5A85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3271A2-BE16-075E-1E18-72ED3AF60C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9EAF89-5615-3652-7AB7-6FD8163E84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23C078-3F3C-C1EC-B794-D93063EECB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9A3BF5-7A3E-3B82-86D2-7E9AAD6F74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A25DDC-804C-9A02-A55C-FCCBD94F3702}"/>
              </a:ext>
            </a:extLst>
          </p:cNvPr>
          <p:cNvSpPr>
            <a:spLocks noGrp="1"/>
          </p:cNvSpPr>
          <p:nvPr>
            <p:ph type="dt" sz="half" idx="10"/>
          </p:nvPr>
        </p:nvSpPr>
        <p:spPr/>
        <p:txBody>
          <a:bodyPr/>
          <a:lstStyle/>
          <a:p>
            <a:fld id="{24ED22FA-F645-49A5-99A7-5F166D880355}" type="datetime1">
              <a:rPr lang="en-US" smtClean="0"/>
              <a:t>7/14/2026</a:t>
            </a:fld>
            <a:endParaRPr lang="en-US"/>
          </a:p>
        </p:txBody>
      </p:sp>
      <p:sp>
        <p:nvSpPr>
          <p:cNvPr id="8" name="Footer Placeholder 7">
            <a:extLst>
              <a:ext uri="{FF2B5EF4-FFF2-40B4-BE49-F238E27FC236}">
                <a16:creationId xmlns:a16="http://schemas.microsoft.com/office/drawing/2014/main" id="{9F966005-2088-A2BF-F0B6-8C8A0560C5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A0090-4481-117A-6D24-33CEE391F525}"/>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612742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6256C-4A7C-8F57-220E-665F92F75E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7F14EC-8AD4-DFCF-3393-C9C6C79F2280}"/>
              </a:ext>
            </a:extLst>
          </p:cNvPr>
          <p:cNvSpPr>
            <a:spLocks noGrp="1"/>
          </p:cNvSpPr>
          <p:nvPr>
            <p:ph type="dt" sz="half" idx="10"/>
          </p:nvPr>
        </p:nvSpPr>
        <p:spPr/>
        <p:txBody>
          <a:bodyPr/>
          <a:lstStyle/>
          <a:p>
            <a:fld id="{B4E872B3-D871-4868-86D6-37FF302D9957}" type="datetime1">
              <a:rPr lang="en-US" smtClean="0"/>
              <a:t>7/14/2026</a:t>
            </a:fld>
            <a:endParaRPr lang="en-US"/>
          </a:p>
        </p:txBody>
      </p:sp>
      <p:sp>
        <p:nvSpPr>
          <p:cNvPr id="4" name="Footer Placeholder 3">
            <a:extLst>
              <a:ext uri="{FF2B5EF4-FFF2-40B4-BE49-F238E27FC236}">
                <a16:creationId xmlns:a16="http://schemas.microsoft.com/office/drawing/2014/main" id="{E875ADA3-434E-0BA5-B761-3E6C63DBD5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D42856-C25E-1C87-EFF2-43A46BAC8FD2}"/>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3693507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F934FE-B96C-DB20-ACD5-6B94D34C27BB}"/>
              </a:ext>
            </a:extLst>
          </p:cNvPr>
          <p:cNvSpPr>
            <a:spLocks noGrp="1"/>
          </p:cNvSpPr>
          <p:nvPr>
            <p:ph type="dt" sz="half" idx="10"/>
          </p:nvPr>
        </p:nvSpPr>
        <p:spPr/>
        <p:txBody>
          <a:bodyPr/>
          <a:lstStyle/>
          <a:p>
            <a:fld id="{15E7F62B-E46B-4123-BB1A-3905EF4C6082}" type="datetime1">
              <a:rPr lang="en-US" smtClean="0"/>
              <a:t>7/14/2026</a:t>
            </a:fld>
            <a:endParaRPr lang="en-US"/>
          </a:p>
        </p:txBody>
      </p:sp>
      <p:sp>
        <p:nvSpPr>
          <p:cNvPr id="3" name="Footer Placeholder 2">
            <a:extLst>
              <a:ext uri="{FF2B5EF4-FFF2-40B4-BE49-F238E27FC236}">
                <a16:creationId xmlns:a16="http://schemas.microsoft.com/office/drawing/2014/main" id="{4366730D-96D4-BB4C-421A-0388CD74D5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AD6DDC-6355-6305-1CB9-67D4E92A3D1A}"/>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226829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31C10-6407-1325-003A-23B0957C64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5C9DFF-3E17-BC84-64A6-32D7AA6813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12E624-9197-8D02-3A68-7991B5F37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51B758-61DF-4317-0C9D-C928D70D7727}"/>
              </a:ext>
            </a:extLst>
          </p:cNvPr>
          <p:cNvSpPr>
            <a:spLocks noGrp="1"/>
          </p:cNvSpPr>
          <p:nvPr>
            <p:ph type="dt" sz="half" idx="10"/>
          </p:nvPr>
        </p:nvSpPr>
        <p:spPr/>
        <p:txBody>
          <a:bodyPr/>
          <a:lstStyle/>
          <a:p>
            <a:fld id="{D52E7670-265D-41CE-AC49-F1425ACFB16F}" type="datetime1">
              <a:rPr lang="en-US" smtClean="0"/>
              <a:t>7/14/2026</a:t>
            </a:fld>
            <a:endParaRPr lang="en-US"/>
          </a:p>
        </p:txBody>
      </p:sp>
      <p:sp>
        <p:nvSpPr>
          <p:cNvPr id="6" name="Footer Placeholder 5">
            <a:extLst>
              <a:ext uri="{FF2B5EF4-FFF2-40B4-BE49-F238E27FC236}">
                <a16:creationId xmlns:a16="http://schemas.microsoft.com/office/drawing/2014/main" id="{7E2BACA1-7C42-9AE9-D370-A3DD04A7CE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6CFD6-2215-2805-25EA-C036752BA23D}"/>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951727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B87B2-7660-4DAF-C6F8-716DB193D0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3C19892-AE2F-4DA4-1AF1-4DE196A5A0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CA48F7-F53B-3601-8AC1-EDAEF2B61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6B1257-9338-5C30-F855-130C10D7F0D3}"/>
              </a:ext>
            </a:extLst>
          </p:cNvPr>
          <p:cNvSpPr>
            <a:spLocks noGrp="1"/>
          </p:cNvSpPr>
          <p:nvPr>
            <p:ph type="dt" sz="half" idx="10"/>
          </p:nvPr>
        </p:nvSpPr>
        <p:spPr/>
        <p:txBody>
          <a:bodyPr/>
          <a:lstStyle/>
          <a:p>
            <a:fld id="{200AB43B-A3B9-4D3D-B3F8-90D46A70E733}" type="datetime1">
              <a:rPr lang="en-US" smtClean="0"/>
              <a:t>7/14/2026</a:t>
            </a:fld>
            <a:endParaRPr lang="en-US"/>
          </a:p>
        </p:txBody>
      </p:sp>
      <p:sp>
        <p:nvSpPr>
          <p:cNvPr id="6" name="Footer Placeholder 5">
            <a:extLst>
              <a:ext uri="{FF2B5EF4-FFF2-40B4-BE49-F238E27FC236}">
                <a16:creationId xmlns:a16="http://schemas.microsoft.com/office/drawing/2014/main" id="{07CA7BAC-7DC0-A035-670A-C7FAC58FAE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E44510-B81A-AE89-37E2-480AC2936C9E}"/>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953538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FB97-0A02-0872-E534-76A3623DF7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19D540-C0FC-F4A1-AEAB-0C0539B6A2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281BB8-A979-B2DA-15EC-DCE752E5DFDB}"/>
              </a:ext>
            </a:extLst>
          </p:cNvPr>
          <p:cNvSpPr>
            <a:spLocks noGrp="1"/>
          </p:cNvSpPr>
          <p:nvPr>
            <p:ph type="dt" sz="half" idx="10"/>
          </p:nvPr>
        </p:nvSpPr>
        <p:spPr/>
        <p:txBody>
          <a:bodyPr/>
          <a:lstStyle/>
          <a:p>
            <a:fld id="{D62D38B6-25DD-45C1-BBB5-2B65FF99A086}" type="datetime1">
              <a:rPr lang="en-US" smtClean="0"/>
              <a:t>7/14/2026</a:t>
            </a:fld>
            <a:endParaRPr lang="en-US"/>
          </a:p>
        </p:txBody>
      </p:sp>
      <p:sp>
        <p:nvSpPr>
          <p:cNvPr id="5" name="Footer Placeholder 4">
            <a:extLst>
              <a:ext uri="{FF2B5EF4-FFF2-40B4-BE49-F238E27FC236}">
                <a16:creationId xmlns:a16="http://schemas.microsoft.com/office/drawing/2014/main" id="{7B00CF18-5F1F-2B1E-87F8-9733260803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274408-B342-D215-B2AF-A89DBE3F59A3}"/>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815004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BF6FB8-BCA2-E539-0A35-C07131051F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128454-106C-3080-E8BD-E5AEB2523D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E47E08-4C52-2D35-A01F-A6BE157C17C6}"/>
              </a:ext>
            </a:extLst>
          </p:cNvPr>
          <p:cNvSpPr>
            <a:spLocks noGrp="1"/>
          </p:cNvSpPr>
          <p:nvPr>
            <p:ph type="dt" sz="half" idx="10"/>
          </p:nvPr>
        </p:nvSpPr>
        <p:spPr/>
        <p:txBody>
          <a:bodyPr/>
          <a:lstStyle/>
          <a:p>
            <a:fld id="{7437DDA5-FE16-409E-A481-5A020A9D155E}" type="datetime1">
              <a:rPr lang="en-US" smtClean="0"/>
              <a:t>7/14/2026</a:t>
            </a:fld>
            <a:endParaRPr lang="en-US"/>
          </a:p>
        </p:txBody>
      </p:sp>
      <p:sp>
        <p:nvSpPr>
          <p:cNvPr id="5" name="Footer Placeholder 4">
            <a:extLst>
              <a:ext uri="{FF2B5EF4-FFF2-40B4-BE49-F238E27FC236}">
                <a16:creationId xmlns:a16="http://schemas.microsoft.com/office/drawing/2014/main" id="{17429663-140B-ADC7-5836-184C8330D0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CFE47A-1223-F374-0BAE-9C2DD147B793}"/>
              </a:ext>
            </a:extLst>
          </p:cNvPr>
          <p:cNvSpPr>
            <a:spLocks noGrp="1"/>
          </p:cNvSpPr>
          <p:nvPr>
            <p:ph type="sldNum" sz="quarter" idx="12"/>
          </p:nvPr>
        </p:nvSpPr>
        <p:spPr/>
        <p:txBody>
          <a:bodyPr/>
          <a:lstStyle/>
          <a:p>
            <a:fld id="{111A70C6-53E1-4616-9BEB-862F2340207D}" type="slidenum">
              <a:rPr lang="en-US" smtClean="0"/>
              <a:t>‹#›</a:t>
            </a:fld>
            <a:endParaRPr lang="en-US"/>
          </a:p>
        </p:txBody>
      </p:sp>
    </p:spTree>
    <p:extLst>
      <p:ext uri="{BB962C8B-B14F-4D97-AF65-F5344CB8AC3E}">
        <p14:creationId xmlns:p14="http://schemas.microsoft.com/office/powerpoint/2010/main" val="795719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7BB892-54B8-AA5E-3FB8-72C3D602CB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958BBB-CB7C-1F47-C962-37915BB86C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1191A9-F06C-2A55-FF6D-9AA8067F6F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E3EBEA-631F-416C-B4EF-25AEEB4B65EA}" type="datetime1">
              <a:rPr lang="en-US" smtClean="0"/>
              <a:t>7/14/2026</a:t>
            </a:fld>
            <a:endParaRPr lang="en-US"/>
          </a:p>
        </p:txBody>
      </p:sp>
      <p:sp>
        <p:nvSpPr>
          <p:cNvPr id="5" name="Footer Placeholder 4">
            <a:extLst>
              <a:ext uri="{FF2B5EF4-FFF2-40B4-BE49-F238E27FC236}">
                <a16:creationId xmlns:a16="http://schemas.microsoft.com/office/drawing/2014/main" id="{C4F629A5-A07E-1AD9-34F1-1ABEF0679C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1D4397-DACB-92CC-B651-ED99CDB4CF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1A70C6-53E1-4616-9BEB-862F2340207D}" type="slidenum">
              <a:rPr lang="en-US" smtClean="0"/>
              <a:t>‹#›</a:t>
            </a:fld>
            <a:endParaRPr lang="en-US"/>
          </a:p>
        </p:txBody>
      </p:sp>
    </p:spTree>
    <p:extLst>
      <p:ext uri="{BB962C8B-B14F-4D97-AF65-F5344CB8AC3E}">
        <p14:creationId xmlns:p14="http://schemas.microsoft.com/office/powerpoint/2010/main" val="1630311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customXml" Target="../ink/ink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customXml" Target="../ink/ink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0.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4E1688-4850-CDC0-1EE4-0D0E56053939}"/>
              </a:ext>
            </a:extLst>
          </p:cNvPr>
          <p:cNvSpPr txBox="1"/>
          <p:nvPr/>
        </p:nvSpPr>
        <p:spPr>
          <a:xfrm>
            <a:off x="56535" y="2828835"/>
            <a:ext cx="12078927" cy="1200329"/>
          </a:xfrm>
          <a:prstGeom prst="rect">
            <a:avLst/>
          </a:prstGeom>
          <a:noFill/>
        </p:spPr>
        <p:txBody>
          <a:bodyPr wrap="square">
            <a:spAutoFit/>
          </a:bodyPr>
          <a:lstStyle/>
          <a:p>
            <a:pPr algn="ctr"/>
            <a:r>
              <a:rPr lang="en-US" sz="3600" b="1" dirty="0"/>
              <a:t>Standardization and Calibration of Flow Cytometry Instruments</a:t>
            </a:r>
          </a:p>
        </p:txBody>
      </p:sp>
      <p:pic>
        <p:nvPicPr>
          <p:cNvPr id="5" name="Picture 4">
            <a:extLst>
              <a:ext uri="{FF2B5EF4-FFF2-40B4-BE49-F238E27FC236}">
                <a16:creationId xmlns:a16="http://schemas.microsoft.com/office/drawing/2014/main" id="{D17B787B-1F9D-2F1C-8661-4AF58AC5423A}"/>
              </a:ext>
            </a:extLst>
          </p:cNvPr>
          <p:cNvPicPr>
            <a:picLocks noChangeAspect="1"/>
          </p:cNvPicPr>
          <p:nvPr/>
        </p:nvPicPr>
        <p:blipFill>
          <a:blip r:embed="rId2"/>
          <a:stretch>
            <a:fillRect/>
          </a:stretch>
        </p:blipFill>
        <p:spPr>
          <a:xfrm>
            <a:off x="5307016" y="105585"/>
            <a:ext cx="1577968" cy="1669808"/>
          </a:xfrm>
          <a:prstGeom prst="rect">
            <a:avLst/>
          </a:prstGeom>
        </p:spPr>
      </p:pic>
      <p:sp>
        <p:nvSpPr>
          <p:cNvPr id="7" name="Content Placeholder 3">
            <a:extLst>
              <a:ext uri="{FF2B5EF4-FFF2-40B4-BE49-F238E27FC236}">
                <a16:creationId xmlns:a16="http://schemas.microsoft.com/office/drawing/2014/main" id="{4A03AE7F-018A-78BD-B2D5-5A5AD3B6F10A}"/>
              </a:ext>
            </a:extLst>
          </p:cNvPr>
          <p:cNvSpPr txBox="1">
            <a:spLocks/>
          </p:cNvSpPr>
          <p:nvPr/>
        </p:nvSpPr>
        <p:spPr>
          <a:xfrm>
            <a:off x="1731950" y="1844512"/>
            <a:ext cx="8728099" cy="478001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1600" i="1" dirty="0">
                <a:latin typeface="Times New Roman" panose="02020603050405020304" pitchFamily="18" charset="0"/>
                <a:cs typeface="Times New Roman" panose="02020603050405020304" pitchFamily="18" charset="0"/>
              </a:rPr>
              <a:t>Mazandaran University of Medical Sciences</a:t>
            </a:r>
          </a:p>
          <a:p>
            <a:pPr>
              <a:lnSpc>
                <a:spcPct val="100000"/>
              </a:lnSpc>
              <a:spcBef>
                <a:spcPts val="0"/>
              </a:spcBef>
            </a:pPr>
            <a:r>
              <a:rPr lang="en-US" sz="1600" i="1" dirty="0">
                <a:latin typeface="Times New Roman" panose="02020603050405020304" pitchFamily="18" charset="0"/>
                <a:cs typeface="Times New Roman" panose="02020603050405020304" pitchFamily="18" charset="0"/>
              </a:rPr>
              <a:t> Department of Immunology</a:t>
            </a:r>
          </a:p>
          <a:p>
            <a:pPr>
              <a:lnSpc>
                <a:spcPct val="100000"/>
              </a:lnSpc>
              <a:spcBef>
                <a:spcPts val="0"/>
              </a:spcBef>
            </a:pPr>
            <a:r>
              <a:rPr lang="en-US" sz="1100" b="1" dirty="0">
                <a:latin typeface="Times New Roman" panose="02020603050405020304" pitchFamily="18" charset="0"/>
                <a:cs typeface="Times New Roman" panose="02020603050405020304" pitchFamily="18" charset="0"/>
              </a:rPr>
              <a:t>     </a:t>
            </a:r>
            <a:endParaRPr lang="en-US" sz="1000" dirty="0">
              <a:latin typeface="Times New Roman" panose="02020603050405020304" pitchFamily="18" charset="0"/>
              <a:cs typeface="Times New Roman" panose="02020603050405020304" pitchFamily="18" charset="0"/>
            </a:endParaRPr>
          </a:p>
          <a:p>
            <a:pPr lvl="1">
              <a:lnSpc>
                <a:spcPct val="100000"/>
              </a:lnSpc>
              <a:spcBef>
                <a:spcPts val="0"/>
              </a:spcBef>
            </a:pPr>
            <a:endParaRPr lang="en-US" sz="1200" dirty="0">
              <a:latin typeface="Times New Roman" panose="02020603050405020304" pitchFamily="18" charset="0"/>
              <a:cs typeface="Times New Roman" panose="02020603050405020304" pitchFamily="18" charset="0"/>
            </a:endParaRPr>
          </a:p>
          <a:p>
            <a:endParaRPr lang="en-US" sz="1200" dirty="0"/>
          </a:p>
        </p:txBody>
      </p:sp>
      <p:sp>
        <p:nvSpPr>
          <p:cNvPr id="9" name="TextBox 8">
            <a:extLst>
              <a:ext uri="{FF2B5EF4-FFF2-40B4-BE49-F238E27FC236}">
                <a16:creationId xmlns:a16="http://schemas.microsoft.com/office/drawing/2014/main" id="{E361E3DB-8F7C-FA73-28AD-E206CF7BEB47}"/>
              </a:ext>
            </a:extLst>
          </p:cNvPr>
          <p:cNvSpPr txBox="1"/>
          <p:nvPr/>
        </p:nvSpPr>
        <p:spPr>
          <a:xfrm>
            <a:off x="-1" y="5239527"/>
            <a:ext cx="6096000" cy="1384995"/>
          </a:xfrm>
          <a:prstGeom prst="rect">
            <a:avLst/>
          </a:prstGeom>
          <a:noFill/>
        </p:spPr>
        <p:txBody>
          <a:bodyPr wrap="square">
            <a:spAutoFit/>
          </a:bodyPr>
          <a:lstStyle/>
          <a:p>
            <a:pPr lvl="1" algn="l">
              <a:lnSpc>
                <a:spcPct val="100000"/>
              </a:lnSpc>
              <a:spcBef>
                <a:spcPts val="0"/>
              </a:spcBef>
            </a:pPr>
            <a:r>
              <a:rPr lang="en-US" sz="2800" b="1" i="1" dirty="0">
                <a:latin typeface="Times New Roman" panose="02020603050405020304" pitchFamily="18" charset="0"/>
                <a:cs typeface="Times New Roman" panose="02020603050405020304" pitchFamily="18" charset="0"/>
              </a:rPr>
              <a:t>Advisor</a:t>
            </a:r>
            <a:r>
              <a:rPr lang="fa-IR" sz="2800" b="1" i="1"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  Dr. </a:t>
            </a:r>
            <a:r>
              <a:rPr lang="en-US" sz="2800" b="1" i="1" dirty="0" err="1">
                <a:latin typeface="Times New Roman" panose="02020603050405020304" pitchFamily="18" charset="0"/>
                <a:cs typeface="Times New Roman" panose="02020603050405020304" pitchFamily="18" charset="0"/>
              </a:rPr>
              <a:t>Asgarian</a:t>
            </a:r>
            <a:endParaRPr lang="en-US" sz="2800" b="1" i="1" dirty="0">
              <a:latin typeface="Times New Roman" panose="02020603050405020304" pitchFamily="18" charset="0"/>
              <a:cs typeface="Times New Roman" panose="02020603050405020304" pitchFamily="18" charset="0"/>
            </a:endParaRPr>
          </a:p>
          <a:p>
            <a:pPr>
              <a:lnSpc>
                <a:spcPct val="100000"/>
              </a:lnSpc>
              <a:spcBef>
                <a:spcPts val="0"/>
              </a:spcBef>
            </a:pPr>
            <a:endParaRPr lang="en-US" sz="2800" b="1" dirty="0">
              <a:latin typeface="Times New Roman" panose="02020603050405020304" pitchFamily="18" charset="0"/>
              <a:cs typeface="Times New Roman" panose="02020603050405020304" pitchFamily="18" charset="0"/>
            </a:endParaRPr>
          </a:p>
          <a:p>
            <a:pPr algn="l">
              <a:lnSpc>
                <a:spcPct val="100000"/>
              </a:lnSpc>
              <a:spcBef>
                <a:spcPts val="0"/>
              </a:spcBef>
            </a:pPr>
            <a:r>
              <a:rPr lang="en-US" sz="2800" b="1"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Presenter: Ali Rahmati</a:t>
            </a:r>
            <a:endParaRPr lang="en-US" sz="28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5984DDD-9B74-78F6-7AF7-741B01EBC3CF}"/>
              </a:ext>
            </a:extLst>
          </p:cNvPr>
          <p:cNvSpPr>
            <a:spLocks noGrp="1"/>
          </p:cNvSpPr>
          <p:nvPr>
            <p:ph type="sldNum" sz="quarter" idx="12"/>
          </p:nvPr>
        </p:nvSpPr>
        <p:spPr/>
        <p:txBody>
          <a:bodyPr/>
          <a:lstStyle/>
          <a:p>
            <a:fld id="{111A70C6-53E1-4616-9BEB-862F2340207D}" type="slidenum">
              <a:rPr lang="en-US" smtClean="0"/>
              <a:t>1</a:t>
            </a:fld>
            <a:endParaRPr lang="en-US"/>
          </a:p>
        </p:txBody>
      </p:sp>
    </p:spTree>
    <p:extLst>
      <p:ext uri="{BB962C8B-B14F-4D97-AF65-F5344CB8AC3E}">
        <p14:creationId xmlns:p14="http://schemas.microsoft.com/office/powerpoint/2010/main" val="2817294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EB87D0-7255-826D-F51B-B0AE263EC9B3}"/>
              </a:ext>
            </a:extLst>
          </p:cNvPr>
          <p:cNvSpPr txBox="1"/>
          <p:nvPr/>
        </p:nvSpPr>
        <p:spPr>
          <a:xfrm>
            <a:off x="73756" y="213182"/>
            <a:ext cx="11813443" cy="1323439"/>
          </a:xfrm>
          <a:prstGeom prst="rect">
            <a:avLst/>
          </a:prstGeom>
          <a:noFill/>
        </p:spPr>
        <p:txBody>
          <a:bodyPr wrap="square">
            <a:spAutoFit/>
          </a:bodyPr>
          <a:lstStyle/>
          <a:p>
            <a:pPr algn="r" rtl="1"/>
            <a:r>
              <a:rPr lang="fa-IR" sz="2000" b="1" dirty="0">
                <a:latin typeface="Times New Roman" panose="02020603050405020304" pitchFamily="18" charset="0"/>
                <a:cs typeface="B Nazanin" panose="00000400000000000000" pitchFamily="2" charset="-78"/>
              </a:rPr>
              <a:t>استاندارد سازی: تعریف و اعمال یک روش یا تنظیمات مشخص به طوری که در نهایت سبب ایجاد یک مرجع ثابت برای مقایسه عملکرد دستگاه ها ،آزمایش ها و سبب اطمینان از تکرارپذیری روزانه شود</a:t>
            </a:r>
          </a:p>
          <a:p>
            <a:pPr algn="r" rtl="1"/>
            <a:endParaRPr lang="fa-IR" sz="2000" b="1" dirty="0">
              <a:latin typeface="Times New Roman" panose="02020603050405020304" pitchFamily="18" charset="0"/>
              <a:cs typeface="B Nazanin" panose="00000400000000000000" pitchFamily="2" charset="-78"/>
            </a:endParaRPr>
          </a:p>
          <a:p>
            <a:pPr algn="r" rtl="1"/>
            <a:endParaRPr lang="fa-IR" sz="2000" b="1" dirty="0">
              <a:latin typeface="Times New Roman" panose="02020603050405020304" pitchFamily="18" charset="0"/>
              <a:cs typeface="B Nazanin" panose="00000400000000000000" pitchFamily="2" charset="-78"/>
            </a:endParaRPr>
          </a:p>
        </p:txBody>
      </p:sp>
      <p:sp>
        <p:nvSpPr>
          <p:cNvPr id="5" name="TextBox 4">
            <a:extLst>
              <a:ext uri="{FF2B5EF4-FFF2-40B4-BE49-F238E27FC236}">
                <a16:creationId xmlns:a16="http://schemas.microsoft.com/office/drawing/2014/main" id="{08D77688-AE96-E6A4-6A1C-3E9A76ACD5DA}"/>
              </a:ext>
            </a:extLst>
          </p:cNvPr>
          <p:cNvSpPr txBox="1"/>
          <p:nvPr/>
        </p:nvSpPr>
        <p:spPr>
          <a:xfrm>
            <a:off x="1307689" y="3607050"/>
            <a:ext cx="10579510" cy="369332"/>
          </a:xfrm>
          <a:prstGeom prst="rect">
            <a:avLst/>
          </a:prstGeom>
          <a:noFill/>
        </p:spPr>
        <p:txBody>
          <a:bodyPr wrap="square">
            <a:spAutoFit/>
          </a:bodyPr>
          <a:lstStyle/>
          <a:p>
            <a:pPr algn="r" rtl="1">
              <a:buNone/>
            </a:pPr>
            <a:r>
              <a:rPr lang="fa-IR" b="1" dirty="0">
                <a:latin typeface="Times New Roman" panose="02020603050405020304" pitchFamily="18" charset="0"/>
                <a:cs typeface="B Nazanin" panose="00000400000000000000" pitchFamily="2" charset="-78"/>
              </a:rPr>
              <a:t>کالیبراسیون </a:t>
            </a:r>
            <a:r>
              <a:rPr lang="en-US" b="1" dirty="0">
                <a:latin typeface="Times New Roman" panose="02020603050405020304" pitchFamily="18" charset="0"/>
                <a:cs typeface="B Nazanin" panose="00000400000000000000" pitchFamily="2" charset="-78"/>
              </a:rPr>
              <a:t> </a:t>
            </a:r>
            <a:r>
              <a:rPr lang="fa-IR" b="1" dirty="0">
                <a:latin typeface="Times New Roman" panose="02020603050405020304" pitchFamily="18" charset="0"/>
                <a:cs typeface="B Nazanin" panose="00000400000000000000" pitchFamily="2" charset="-78"/>
              </a:rPr>
              <a:t>: ارتباط دادن خروجی دستگاه به یک مقیاس فیزیکی استاندارد و واقعی</a:t>
            </a:r>
            <a:endParaRPr lang="en-US" b="1" dirty="0">
              <a:latin typeface="Times New Roman" panose="02020603050405020304" pitchFamily="18" charset="0"/>
              <a:cs typeface="B Nazanin" panose="00000400000000000000" pitchFamily="2" charset="-78"/>
            </a:endParaRPr>
          </a:p>
        </p:txBody>
      </p:sp>
      <p:sp>
        <p:nvSpPr>
          <p:cNvPr id="9" name="TextBox 8">
            <a:extLst>
              <a:ext uri="{FF2B5EF4-FFF2-40B4-BE49-F238E27FC236}">
                <a16:creationId xmlns:a16="http://schemas.microsoft.com/office/drawing/2014/main" id="{EB1FA38B-8F24-D490-F166-6CBD45826211}"/>
              </a:ext>
            </a:extLst>
          </p:cNvPr>
          <p:cNvSpPr txBox="1"/>
          <p:nvPr/>
        </p:nvSpPr>
        <p:spPr>
          <a:xfrm>
            <a:off x="-501446" y="5013602"/>
            <a:ext cx="11248073" cy="369332"/>
          </a:xfrm>
          <a:prstGeom prst="rect">
            <a:avLst/>
          </a:prstGeom>
          <a:noFill/>
        </p:spPr>
        <p:txBody>
          <a:bodyPr wrap="square">
            <a:spAutoFit/>
          </a:bodyPr>
          <a:lstStyle/>
          <a:p>
            <a:pPr lvl="1" algn="r" rtl="1"/>
            <a:r>
              <a:rPr lang="fa-IR" b="1" dirty="0">
                <a:latin typeface="Times New Roman" panose="02020603050405020304" pitchFamily="18" charset="0"/>
                <a:cs typeface="B Nazanin" panose="00000400000000000000" pitchFamily="2" charset="-78"/>
              </a:rPr>
              <a:t>در سطح دستگاه</a:t>
            </a:r>
          </a:p>
        </p:txBody>
      </p:sp>
      <p:sp>
        <p:nvSpPr>
          <p:cNvPr id="4" name="TextBox 3">
            <a:extLst>
              <a:ext uri="{FF2B5EF4-FFF2-40B4-BE49-F238E27FC236}">
                <a16:creationId xmlns:a16="http://schemas.microsoft.com/office/drawing/2014/main" id="{E47B962F-79A9-C9B8-D596-D35F06BC8F71}"/>
              </a:ext>
            </a:extLst>
          </p:cNvPr>
          <p:cNvSpPr txBox="1"/>
          <p:nvPr/>
        </p:nvSpPr>
        <p:spPr>
          <a:xfrm>
            <a:off x="8839199" y="4426352"/>
            <a:ext cx="6096000" cy="369332"/>
          </a:xfrm>
          <a:prstGeom prst="rect">
            <a:avLst/>
          </a:prstGeom>
          <a:noFill/>
        </p:spPr>
        <p:txBody>
          <a:bodyPr wrap="square">
            <a:spAutoFit/>
          </a:bodyPr>
          <a:lstStyle/>
          <a:p>
            <a:r>
              <a:rPr lang="fa-IR" b="1" dirty="0">
                <a:latin typeface="Times New Roman" panose="02020603050405020304" pitchFamily="18" charset="0"/>
                <a:cs typeface="B Nazanin" panose="00000400000000000000" pitchFamily="2" charset="-78"/>
              </a:rPr>
              <a:t>در سطح آزمایش</a:t>
            </a:r>
            <a:endParaRPr lang="en-US" b="1" dirty="0">
              <a:latin typeface="Times New Roman" panose="02020603050405020304" pitchFamily="18" charset="0"/>
              <a:cs typeface="B Nazanin" panose="00000400000000000000" pitchFamily="2" charset="-78"/>
            </a:endParaRPr>
          </a:p>
        </p:txBody>
      </p:sp>
      <p:sp>
        <p:nvSpPr>
          <p:cNvPr id="2" name="Slide Number Placeholder 1">
            <a:extLst>
              <a:ext uri="{FF2B5EF4-FFF2-40B4-BE49-F238E27FC236}">
                <a16:creationId xmlns:a16="http://schemas.microsoft.com/office/drawing/2014/main" id="{1B0B9E40-9F40-6B00-6086-AA569F1B78A3}"/>
              </a:ext>
            </a:extLst>
          </p:cNvPr>
          <p:cNvSpPr>
            <a:spLocks noGrp="1"/>
          </p:cNvSpPr>
          <p:nvPr>
            <p:ph type="sldNum" sz="quarter" idx="12"/>
          </p:nvPr>
        </p:nvSpPr>
        <p:spPr/>
        <p:txBody>
          <a:bodyPr/>
          <a:lstStyle/>
          <a:p>
            <a:fld id="{111A70C6-53E1-4616-9BEB-862F2340207D}" type="slidenum">
              <a:rPr lang="en-US" smtClean="0"/>
              <a:t>2</a:t>
            </a:fld>
            <a:endParaRPr lang="en-US"/>
          </a:p>
        </p:txBody>
      </p:sp>
      <p:cxnSp>
        <p:nvCxnSpPr>
          <p:cNvPr id="7" name="Connector: Elbow 6">
            <a:extLst>
              <a:ext uri="{FF2B5EF4-FFF2-40B4-BE49-F238E27FC236}">
                <a16:creationId xmlns:a16="http://schemas.microsoft.com/office/drawing/2014/main" id="{C6F4E9C6-2C90-CFBB-B75D-71CB3A3A9377}"/>
              </a:ext>
            </a:extLst>
          </p:cNvPr>
          <p:cNvCxnSpPr/>
          <p:nvPr/>
        </p:nvCxnSpPr>
        <p:spPr>
          <a:xfrm rot="10800000" flipV="1">
            <a:off x="10392697" y="3976382"/>
            <a:ext cx="766916" cy="684108"/>
          </a:xfrm>
          <a:prstGeom prst="bentConnector3">
            <a:avLst>
              <a:gd name="adj1" fmla="val -1282"/>
            </a:avLst>
          </a:prstGeom>
          <a:ln>
            <a:tailEnd type="triangle"/>
          </a:ln>
        </p:spPr>
        <p:style>
          <a:lnRef idx="2">
            <a:schemeClr val="dk1"/>
          </a:lnRef>
          <a:fillRef idx="0">
            <a:schemeClr val="dk1"/>
          </a:fillRef>
          <a:effectRef idx="1">
            <a:schemeClr val="dk1"/>
          </a:effectRef>
          <a:fontRef idx="minor">
            <a:schemeClr val="tx1"/>
          </a:fontRef>
        </p:style>
      </p:cxnSp>
      <p:cxnSp>
        <p:nvCxnSpPr>
          <p:cNvPr id="8" name="Connector: Elbow 7">
            <a:extLst>
              <a:ext uri="{FF2B5EF4-FFF2-40B4-BE49-F238E27FC236}">
                <a16:creationId xmlns:a16="http://schemas.microsoft.com/office/drawing/2014/main" id="{98F8EED0-7881-41A1-DDD7-CE075C15B6BA}"/>
              </a:ext>
            </a:extLst>
          </p:cNvPr>
          <p:cNvCxnSpPr>
            <a:cxnSpLocks/>
          </p:cNvCxnSpPr>
          <p:nvPr/>
        </p:nvCxnSpPr>
        <p:spPr>
          <a:xfrm rot="5400000">
            <a:off x="10345607" y="4106939"/>
            <a:ext cx="1131480" cy="997975"/>
          </a:xfrm>
          <a:prstGeom prst="bentConnector3">
            <a:avLst>
              <a:gd name="adj1" fmla="val 100400"/>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52841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576271-91B1-FC15-ABC5-02D8E03AE739}"/>
              </a:ext>
            </a:extLst>
          </p:cNvPr>
          <p:cNvSpPr txBox="1"/>
          <p:nvPr/>
        </p:nvSpPr>
        <p:spPr>
          <a:xfrm>
            <a:off x="5129414" y="1442574"/>
            <a:ext cx="6096000" cy="369332"/>
          </a:xfrm>
          <a:prstGeom prst="rect">
            <a:avLst/>
          </a:prstGeom>
          <a:noFill/>
        </p:spPr>
        <p:txBody>
          <a:bodyPr wrap="square">
            <a:spAutoFit/>
          </a:bodyPr>
          <a:lstStyle/>
          <a:p>
            <a:pPr algn="r" rtl="1"/>
            <a:r>
              <a:rPr lang="fa-IR" b="1" dirty="0">
                <a:latin typeface="Times New Roman" panose="02020603050405020304" pitchFamily="18" charset="0"/>
                <a:cs typeface="B Nazanin" panose="00000400000000000000" pitchFamily="2" charset="-78"/>
              </a:rPr>
              <a:t> استانداردسازی اپتیکی (Optical Standardization)</a:t>
            </a:r>
          </a:p>
        </p:txBody>
      </p:sp>
      <p:sp>
        <p:nvSpPr>
          <p:cNvPr id="6" name="TextBox 5">
            <a:extLst>
              <a:ext uri="{FF2B5EF4-FFF2-40B4-BE49-F238E27FC236}">
                <a16:creationId xmlns:a16="http://schemas.microsoft.com/office/drawing/2014/main" id="{557FE6BE-9D40-BAC7-136F-BBA22BA9D51A}"/>
              </a:ext>
            </a:extLst>
          </p:cNvPr>
          <p:cNvSpPr txBox="1"/>
          <p:nvPr/>
        </p:nvSpPr>
        <p:spPr>
          <a:xfrm>
            <a:off x="4696794" y="297094"/>
            <a:ext cx="3084499" cy="523220"/>
          </a:xfrm>
          <a:prstGeom prst="rect">
            <a:avLst/>
          </a:prstGeom>
          <a:noFill/>
        </p:spPr>
        <p:txBody>
          <a:bodyPr wrap="none" rtlCol="0">
            <a:spAutoFit/>
          </a:bodyPr>
          <a:lstStyle/>
          <a:p>
            <a:r>
              <a:rPr lang="fa-IR" sz="2800" b="1" dirty="0">
                <a:latin typeface="Times New Roman" panose="02020603050405020304" pitchFamily="18" charset="0"/>
                <a:cs typeface="B Nazanin" panose="00000400000000000000" pitchFamily="2" charset="-78"/>
              </a:rPr>
              <a:t>انواع استاندارد سازی ها</a:t>
            </a:r>
            <a:endParaRPr lang="en-US" sz="2800" b="1" dirty="0">
              <a:latin typeface="Times New Roman" panose="02020603050405020304" pitchFamily="18" charset="0"/>
              <a:cs typeface="B Nazanin" panose="00000400000000000000" pitchFamily="2" charset="-78"/>
            </a:endParaRPr>
          </a:p>
        </p:txBody>
      </p:sp>
      <p:sp>
        <p:nvSpPr>
          <p:cNvPr id="8" name="TextBox 7">
            <a:extLst>
              <a:ext uri="{FF2B5EF4-FFF2-40B4-BE49-F238E27FC236}">
                <a16:creationId xmlns:a16="http://schemas.microsoft.com/office/drawing/2014/main" id="{32209C62-D30C-4984-111F-542B22D59B53}"/>
              </a:ext>
            </a:extLst>
          </p:cNvPr>
          <p:cNvSpPr txBox="1"/>
          <p:nvPr/>
        </p:nvSpPr>
        <p:spPr>
          <a:xfrm>
            <a:off x="5893843" y="2062637"/>
            <a:ext cx="6096000" cy="369332"/>
          </a:xfrm>
          <a:prstGeom prst="rect">
            <a:avLst/>
          </a:prstGeom>
          <a:noFill/>
        </p:spPr>
        <p:txBody>
          <a:bodyPr wrap="square">
            <a:spAutoFit/>
          </a:bodyPr>
          <a:lstStyle/>
          <a:p>
            <a:pPr rtl="1"/>
            <a:r>
              <a:rPr lang="fa-IR" b="1" dirty="0">
                <a:latin typeface="Times New Roman" panose="02020603050405020304" pitchFamily="18" charset="0"/>
                <a:cs typeface="B Nazanin" panose="00000400000000000000" pitchFamily="2" charset="-78"/>
              </a:rPr>
              <a:t>استانداردسازی فلورسانس (Fluorescence Standardization)</a:t>
            </a:r>
          </a:p>
        </p:txBody>
      </p:sp>
      <p:sp>
        <p:nvSpPr>
          <p:cNvPr id="10" name="TextBox 9">
            <a:extLst>
              <a:ext uri="{FF2B5EF4-FFF2-40B4-BE49-F238E27FC236}">
                <a16:creationId xmlns:a16="http://schemas.microsoft.com/office/drawing/2014/main" id="{A1055431-2DF8-95CB-E6E4-793CC6AE8F7B}"/>
              </a:ext>
            </a:extLst>
          </p:cNvPr>
          <p:cNvSpPr txBox="1"/>
          <p:nvPr/>
        </p:nvSpPr>
        <p:spPr>
          <a:xfrm>
            <a:off x="3349775" y="2694156"/>
            <a:ext cx="7875639" cy="369332"/>
          </a:xfrm>
          <a:prstGeom prst="rect">
            <a:avLst/>
          </a:prstGeom>
          <a:noFill/>
        </p:spPr>
        <p:txBody>
          <a:bodyPr wrap="square">
            <a:spAutoFit/>
          </a:bodyPr>
          <a:lstStyle/>
          <a:p>
            <a:pPr algn="r" rtl="1"/>
            <a:r>
              <a:rPr lang="fa-IR" b="1" dirty="0">
                <a:latin typeface="Times New Roman" panose="02020603050405020304" pitchFamily="18" charset="0"/>
                <a:cs typeface="B Nazanin" panose="00000400000000000000" pitchFamily="2" charset="-78"/>
              </a:rPr>
              <a:t>استانداردسازی حساسیت فلورسانس (Fluorescence Sensitivity Standardization)</a:t>
            </a:r>
          </a:p>
        </p:txBody>
      </p:sp>
      <p:sp>
        <p:nvSpPr>
          <p:cNvPr id="12" name="TextBox 11">
            <a:extLst>
              <a:ext uri="{FF2B5EF4-FFF2-40B4-BE49-F238E27FC236}">
                <a16:creationId xmlns:a16="http://schemas.microsoft.com/office/drawing/2014/main" id="{428AB41B-321F-FB5B-DF8A-827D294A4B62}"/>
              </a:ext>
            </a:extLst>
          </p:cNvPr>
          <p:cNvSpPr txBox="1"/>
          <p:nvPr/>
        </p:nvSpPr>
        <p:spPr>
          <a:xfrm>
            <a:off x="5678101" y="3284429"/>
            <a:ext cx="6096000" cy="369332"/>
          </a:xfrm>
          <a:prstGeom prst="rect">
            <a:avLst/>
          </a:prstGeom>
          <a:noFill/>
        </p:spPr>
        <p:txBody>
          <a:bodyPr wrap="square">
            <a:spAutoFit/>
          </a:bodyPr>
          <a:lstStyle/>
          <a:p>
            <a:pPr rtl="1"/>
            <a:r>
              <a:rPr lang="fa-IR" b="1" dirty="0">
                <a:latin typeface="Times New Roman" panose="02020603050405020304" pitchFamily="18" charset="0"/>
                <a:cs typeface="B Nazanin" panose="00000400000000000000" pitchFamily="2" charset="-78"/>
              </a:rPr>
              <a:t>استانداردسازی پراکندگی نور (Light Scatter Standardization)</a:t>
            </a:r>
          </a:p>
        </p:txBody>
      </p:sp>
      <p:sp>
        <p:nvSpPr>
          <p:cNvPr id="14" name="TextBox 13">
            <a:extLst>
              <a:ext uri="{FF2B5EF4-FFF2-40B4-BE49-F238E27FC236}">
                <a16:creationId xmlns:a16="http://schemas.microsoft.com/office/drawing/2014/main" id="{0050E822-D45B-9E13-F0AC-84DFAEA5A743}"/>
              </a:ext>
            </a:extLst>
          </p:cNvPr>
          <p:cNvSpPr txBox="1"/>
          <p:nvPr/>
        </p:nvSpPr>
        <p:spPr>
          <a:xfrm>
            <a:off x="4950515" y="3895325"/>
            <a:ext cx="6961239" cy="369332"/>
          </a:xfrm>
          <a:prstGeom prst="rect">
            <a:avLst/>
          </a:prstGeom>
          <a:noFill/>
        </p:spPr>
        <p:txBody>
          <a:bodyPr wrap="square">
            <a:spAutoFit/>
          </a:bodyPr>
          <a:lstStyle/>
          <a:p>
            <a:pPr rtl="1"/>
            <a:r>
              <a:rPr lang="fa-IR" b="1" dirty="0">
                <a:latin typeface="Times New Roman" panose="02020603050405020304" pitchFamily="18" charset="0"/>
                <a:cs typeface="B Nazanin" panose="00000400000000000000" pitchFamily="2" charset="-78"/>
              </a:rPr>
              <a:t>استانداردسازی تنظیمات دستگاه (Instrument Setup Standardization)</a:t>
            </a:r>
          </a:p>
        </p:txBody>
      </p:sp>
      <p:sp>
        <p:nvSpPr>
          <p:cNvPr id="18" name="TextBox 17">
            <a:extLst>
              <a:ext uri="{FF2B5EF4-FFF2-40B4-BE49-F238E27FC236}">
                <a16:creationId xmlns:a16="http://schemas.microsoft.com/office/drawing/2014/main" id="{46E7A925-12D4-DBAF-4E5C-5AA46C79D209}"/>
              </a:ext>
            </a:extLst>
          </p:cNvPr>
          <p:cNvSpPr txBox="1"/>
          <p:nvPr/>
        </p:nvSpPr>
        <p:spPr>
          <a:xfrm>
            <a:off x="8177414" y="4506221"/>
            <a:ext cx="6096000" cy="369332"/>
          </a:xfrm>
          <a:prstGeom prst="rect">
            <a:avLst/>
          </a:prstGeom>
          <a:noFill/>
        </p:spPr>
        <p:txBody>
          <a:bodyPr wrap="square">
            <a:spAutoFit/>
          </a:bodyPr>
          <a:lstStyle/>
          <a:p>
            <a:pPr rtl="1"/>
            <a:r>
              <a:rPr lang="fa-IR" b="1" dirty="0">
                <a:latin typeface="Times New Roman" panose="02020603050405020304" pitchFamily="18" charset="0"/>
                <a:cs typeface="B Nazanin" panose="00000400000000000000" pitchFamily="2" charset="-78"/>
              </a:rPr>
              <a:t>استانداردسازی عملکرد روزانه با QC</a:t>
            </a:r>
          </a:p>
        </p:txBody>
      </p:sp>
      <p:sp>
        <p:nvSpPr>
          <p:cNvPr id="20" name="TextBox 19">
            <a:extLst>
              <a:ext uri="{FF2B5EF4-FFF2-40B4-BE49-F238E27FC236}">
                <a16:creationId xmlns:a16="http://schemas.microsoft.com/office/drawing/2014/main" id="{0B5F00E2-D6DA-16A4-FEE1-B9191DB8EB6F}"/>
              </a:ext>
            </a:extLst>
          </p:cNvPr>
          <p:cNvSpPr txBox="1"/>
          <p:nvPr/>
        </p:nvSpPr>
        <p:spPr>
          <a:xfrm>
            <a:off x="8610600" y="5117117"/>
            <a:ext cx="7084142" cy="369332"/>
          </a:xfrm>
          <a:prstGeom prst="rect">
            <a:avLst/>
          </a:prstGeom>
          <a:noFill/>
        </p:spPr>
        <p:txBody>
          <a:bodyPr wrap="square">
            <a:spAutoFit/>
          </a:bodyPr>
          <a:lstStyle/>
          <a:p>
            <a:pPr rtl="1"/>
            <a:r>
              <a:rPr lang="fa-IR" b="1" dirty="0">
                <a:latin typeface="Times New Roman" panose="02020603050405020304" pitchFamily="18" charset="0"/>
                <a:cs typeface="B Nazanin" panose="00000400000000000000" pitchFamily="2" charset="-78"/>
              </a:rPr>
              <a:t>استانداردسازی پروتکل آزمایش</a:t>
            </a:r>
          </a:p>
        </p:txBody>
      </p:sp>
      <p:sp>
        <p:nvSpPr>
          <p:cNvPr id="2" name="Slide Number Placeholder 1">
            <a:extLst>
              <a:ext uri="{FF2B5EF4-FFF2-40B4-BE49-F238E27FC236}">
                <a16:creationId xmlns:a16="http://schemas.microsoft.com/office/drawing/2014/main" id="{3216F901-671F-C7EE-DC4B-AF3BC52620BE}"/>
              </a:ext>
            </a:extLst>
          </p:cNvPr>
          <p:cNvSpPr>
            <a:spLocks noGrp="1"/>
          </p:cNvSpPr>
          <p:nvPr>
            <p:ph type="sldNum" sz="quarter" idx="12"/>
          </p:nvPr>
        </p:nvSpPr>
        <p:spPr/>
        <p:txBody>
          <a:bodyPr/>
          <a:lstStyle/>
          <a:p>
            <a:fld id="{111A70C6-53E1-4616-9BEB-862F2340207D}" type="slidenum">
              <a:rPr lang="en-US" smtClean="0">
                <a:solidFill>
                  <a:schemeClr val="tx1"/>
                </a:solidFill>
                <a:latin typeface="Times New Roman" panose="02020603050405020304" pitchFamily="18" charset="0"/>
                <a:cs typeface="B Nazanin" panose="00000400000000000000" pitchFamily="2" charset="-78"/>
              </a:rPr>
              <a:t>3</a:t>
            </a:fld>
            <a:endParaRPr lang="en-US">
              <a:solidFill>
                <a:schemeClr val="tx1"/>
              </a:solidFill>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4011212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AC6337-125A-0C50-E08B-235251464EEF}"/>
              </a:ext>
            </a:extLst>
          </p:cNvPr>
          <p:cNvSpPr txBox="1"/>
          <p:nvPr/>
        </p:nvSpPr>
        <p:spPr>
          <a:xfrm>
            <a:off x="1871782" y="218537"/>
            <a:ext cx="6473536" cy="369332"/>
          </a:xfrm>
          <a:prstGeom prst="rect">
            <a:avLst/>
          </a:prstGeom>
          <a:noFill/>
        </p:spPr>
        <p:txBody>
          <a:bodyPr wrap="square">
            <a:spAutoFit/>
          </a:bodyPr>
          <a:lstStyle/>
          <a:p>
            <a:pPr algn="r" rtl="1">
              <a:buNone/>
            </a:pPr>
            <a:r>
              <a:rPr lang="fa-IR" b="1" dirty="0">
                <a:solidFill>
                  <a:srgbClr val="FF0000"/>
                </a:solidFill>
                <a:latin typeface="Times New Roman" panose="02020603050405020304" pitchFamily="18" charset="0"/>
                <a:cs typeface="B Nazanin" panose="00000400000000000000" pitchFamily="2" charset="-78"/>
              </a:rPr>
              <a:t>استانداردسازی اپتیکی (Optical Standardization)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7C598B8-05D9-428A-5DAA-93680265D03E}"/>
                  </a:ext>
                </a:extLst>
              </p:cNvPr>
              <p:cNvSpPr txBox="1"/>
              <p:nvPr/>
            </p:nvSpPr>
            <p:spPr>
              <a:xfrm>
                <a:off x="-449378" y="763332"/>
                <a:ext cx="12470004" cy="3753848"/>
              </a:xfrm>
              <a:prstGeom prst="rect">
                <a:avLst/>
              </a:prstGeom>
              <a:noFill/>
            </p:spPr>
            <p:txBody>
              <a:bodyPr wrap="square">
                <a:spAutoFit/>
              </a:bodyPr>
              <a:lstStyle/>
              <a:p>
                <a:pPr algn="r" rtl="1">
                  <a:lnSpc>
                    <a:spcPct val="150000"/>
                  </a:lnSpc>
                  <a:buNone/>
                </a:pPr>
                <a:r>
                  <a:rPr lang="fa-IR" b="1" dirty="0">
                    <a:latin typeface="Times New Roman" panose="02020603050405020304" pitchFamily="18" charset="0"/>
                    <a:cs typeface="B Nazanin" panose="00000400000000000000" pitchFamily="2" charset="-78"/>
                  </a:rPr>
                  <a:t>کارایی کوانتومی (Efficiency - </a:t>
                </a:r>
                <a14:m>
                  <m:oMath xmlns:m="http://schemas.openxmlformats.org/officeDocument/2006/math">
                    <m:r>
                      <a:rPr lang="fa-IR" b="1" i="1">
                        <a:latin typeface="Cambria Math" panose="02040503050406030204" pitchFamily="18" charset="0"/>
                      </a:rPr>
                      <m:t>𝑸</m:t>
                    </m:r>
                  </m:oMath>
                </a14:m>
                <a:r>
                  <a:rPr lang="fa-IR" b="1" dirty="0">
                    <a:latin typeface="Times New Roman" panose="02020603050405020304" pitchFamily="18" charset="0"/>
                    <a:cs typeface="B Nazanin" panose="00000400000000000000" pitchFamily="2" charset="-78"/>
                  </a:rPr>
                  <a:t>)</a:t>
                </a:r>
              </a:p>
              <a:p>
                <a:pPr algn="r" rtl="1">
                  <a:lnSpc>
                    <a:spcPct val="150000"/>
                  </a:lnSpc>
                  <a:buNone/>
                </a:pPr>
                <a:r>
                  <a:rPr lang="fa-IR" dirty="0">
                    <a:latin typeface="Times New Roman" panose="02020603050405020304" pitchFamily="18" charset="0"/>
                    <a:cs typeface="B Nazanin" panose="00000400000000000000" pitchFamily="2" charset="-78"/>
                  </a:rPr>
                  <a:t>پارامتر </a:t>
                </a:r>
                <a14:m>
                  <m:oMath xmlns:m="http://schemas.openxmlformats.org/officeDocument/2006/math">
                    <m:r>
                      <a:rPr lang="fa-IR" b="0" i="0" smtClean="0">
                        <a:latin typeface="Cambria Math" panose="02040503050406030204" pitchFamily="18" charset="0"/>
                      </a:rPr>
                      <m:t> </m:t>
                    </m:r>
                    <m:r>
                      <a:rPr lang="fa-IR" i="1">
                        <a:latin typeface="Cambria Math" panose="02040503050406030204" pitchFamily="18" charset="0"/>
                      </a:rPr>
                      <m:t>𝑄</m:t>
                    </m:r>
                  </m:oMath>
                </a14:m>
                <a:r>
                  <a:rPr lang="fa-IR" dirty="0">
                    <a:latin typeface="Times New Roman" panose="02020603050405020304" pitchFamily="18" charset="0"/>
                    <a:cs typeface="B Nazanin" panose="00000400000000000000" pitchFamily="2" charset="-78"/>
                  </a:rPr>
                  <a:t>نشان می‌دهد که دستگاه چقدر در تبدیل فوتون‌های ساطع شده از سلول به سیگنال الکترونیکی موفق است. هرچه </a:t>
                </a:r>
                <a14:m>
                  <m:oMath xmlns:m="http://schemas.openxmlformats.org/officeDocument/2006/math">
                    <m:r>
                      <a:rPr lang="fa-IR" i="1">
                        <a:latin typeface="Cambria Math" panose="02040503050406030204" pitchFamily="18" charset="0"/>
                      </a:rPr>
                      <m:t>𝑄</m:t>
                    </m:r>
                    <m:r>
                      <a:rPr lang="fa-IR" b="0" i="0" smtClean="0">
                        <a:latin typeface="Cambria Math" panose="02040503050406030204" pitchFamily="18" charset="0"/>
                      </a:rPr>
                      <m:t> </m:t>
                    </m:r>
                  </m:oMath>
                </a14:m>
                <a:r>
                  <a:rPr lang="fa-IR" dirty="0">
                    <a:latin typeface="Times New Roman" panose="02020603050405020304" pitchFamily="18" charset="0"/>
                    <a:cs typeface="B Nazanin" panose="00000400000000000000" pitchFamily="2" charset="-78"/>
                  </a:rPr>
                  <a:t> بالاتر باشد، دستگاه حساس‌تر است.</a:t>
                </a:r>
                <a:endParaRPr lang="en-US" dirty="0">
                  <a:latin typeface="Times New Roman" panose="02020603050405020304" pitchFamily="18" charset="0"/>
                  <a:cs typeface="B Nazanin" panose="00000400000000000000" pitchFamily="2" charset="-78"/>
                </a:endParaRPr>
              </a:p>
              <a:p>
                <a:pPr algn="r" rtl="1">
                  <a:lnSpc>
                    <a:spcPct val="150000"/>
                  </a:lnSpc>
                  <a:buNone/>
                </a:pPr>
                <a:endParaRPr lang="fa-IR" dirty="0">
                  <a:latin typeface="Times New Roman" panose="02020603050405020304" pitchFamily="18" charset="0"/>
                  <a:cs typeface="B Nazanin" panose="00000400000000000000" pitchFamily="2" charset="-78"/>
                </a:endParaRPr>
              </a:p>
              <a:p>
                <a:pPr algn="r" rtl="1">
                  <a:lnSpc>
                    <a:spcPct val="150000"/>
                  </a:lnSpc>
                  <a:buNone/>
                </a:pPr>
                <a:r>
                  <a:rPr lang="fa-IR" b="1" dirty="0">
                    <a:latin typeface="Times New Roman" panose="02020603050405020304" pitchFamily="18" charset="0"/>
                    <a:cs typeface="B Nazanin" panose="00000400000000000000" pitchFamily="2" charset="-78"/>
                  </a:rPr>
                  <a:t>فرمول محاسباتی:</a:t>
                </a:r>
                <a:endParaRPr lang="fa-IR" dirty="0">
                  <a:latin typeface="Times New Roman" panose="02020603050405020304" pitchFamily="18" charset="0"/>
                  <a:cs typeface="B Nazanin" panose="00000400000000000000" pitchFamily="2" charset="-78"/>
                </a:endParaRPr>
              </a:p>
              <a:p>
                <a:pPr algn="r" rtl="1">
                  <a:lnSpc>
                    <a:spcPct val="150000"/>
                  </a:lnSpc>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𝑄</m:t>
                      </m:r>
                      <m:r>
                        <a:rPr lang="en-US" sz="2000" i="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𝜇</m:t>
                          </m:r>
                        </m:num>
                        <m:den>
                          <m:r>
                            <a:rPr lang="en-US" sz="2000" i="1">
                              <a:latin typeface="Cambria Math" panose="02040503050406030204" pitchFamily="18" charset="0"/>
                            </a:rPr>
                            <m:t>𝑟𝑆</m:t>
                          </m:r>
                          <m:sSup>
                            <m:sSupPr>
                              <m:ctrlPr>
                                <a:rPr lang="en-US" sz="2000" i="1">
                                  <a:latin typeface="Cambria Math" panose="02040503050406030204" pitchFamily="18" charset="0"/>
                                </a:rPr>
                              </m:ctrlPr>
                            </m:sSupPr>
                            <m:e>
                              <m:r>
                                <a:rPr lang="en-US" sz="2000" i="1">
                                  <a:latin typeface="Cambria Math" panose="02040503050406030204" pitchFamily="18" charset="0"/>
                                </a:rPr>
                                <m:t>𝐷</m:t>
                              </m:r>
                            </m:e>
                            <m:sup>
                              <m:r>
                                <a:rPr lang="en-US" sz="2000" i="0">
                                  <a:latin typeface="Cambria Math" panose="02040503050406030204" pitchFamily="18" charset="0"/>
                                </a:rPr>
                                <m:t>2</m:t>
                              </m:r>
                            </m:sup>
                          </m:sSup>
                        </m:den>
                      </m:f>
                    </m:oMath>
                  </m:oMathPara>
                </a14:m>
                <a:endParaRPr lang="en-US"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14:m>
                  <m:oMath xmlns:m="http://schemas.openxmlformats.org/officeDocument/2006/math">
                    <m:r>
                      <a:rPr lang="fa-IR" i="1">
                        <a:latin typeface="Cambria Math" panose="02040503050406030204" pitchFamily="18" charset="0"/>
                      </a:rPr>
                      <m:t>𝜇</m:t>
                    </m:r>
                  </m:oMath>
                </a14:m>
                <a:r>
                  <a:rPr lang="fa-IR" b="1" dirty="0">
                    <a:latin typeface="Times New Roman" panose="02020603050405020304" pitchFamily="18" charset="0"/>
                    <a:cs typeface="B Nazanin" panose="00000400000000000000" pitchFamily="2" charset="-78"/>
                  </a:rPr>
                  <a:t>:</a:t>
                </a:r>
                <a:r>
                  <a:rPr lang="fa-IR" dirty="0">
                    <a:latin typeface="Times New Roman" panose="02020603050405020304" pitchFamily="18" charset="0"/>
                    <a:cs typeface="B Nazanin" panose="00000400000000000000" pitchFamily="2" charset="-78"/>
                  </a:rPr>
                  <a:t> میانگین شدت سیگنال (MFI) بید مرجع.</a:t>
                </a:r>
              </a:p>
              <a:p>
                <a:pPr algn="r" rtl="1">
                  <a:lnSpc>
                    <a:spcPct val="150000"/>
                  </a:lnSpc>
                  <a:buFont typeface="Arial" panose="020B0604020202020204" pitchFamily="34" charset="0"/>
                  <a:buChar char="•"/>
                </a:pPr>
                <a14:m>
                  <m:oMath xmlns:m="http://schemas.openxmlformats.org/officeDocument/2006/math">
                    <m:r>
                      <a:rPr lang="fa-IR" i="1" smtClean="0">
                        <a:solidFill>
                          <a:schemeClr val="tx1"/>
                        </a:solidFill>
                        <a:latin typeface="Cambria Math" panose="02040503050406030204" pitchFamily="18" charset="0"/>
                      </a:rPr>
                      <m:t>𝑟𝑆𝐷</m:t>
                    </m:r>
                  </m:oMath>
                </a14:m>
                <a:r>
                  <a:rPr lang="fa-IR" b="1" dirty="0">
                    <a:solidFill>
                      <a:schemeClr val="tx1"/>
                    </a:solidFill>
                    <a:latin typeface="Times New Roman" panose="02020603050405020304" pitchFamily="18" charset="0"/>
                    <a:cs typeface="B Nazanin" panose="00000400000000000000" pitchFamily="2" charset="-78"/>
                  </a:rPr>
                  <a:t>:</a:t>
                </a:r>
                <a:r>
                  <a:rPr lang="fa-IR" dirty="0">
                    <a:solidFill>
                      <a:schemeClr val="tx1"/>
                    </a:solidFill>
                    <a:latin typeface="Times New Roman" panose="02020603050405020304" pitchFamily="18" charset="0"/>
                    <a:cs typeface="B Nazanin" panose="00000400000000000000" pitchFamily="2" charset="-78"/>
                  </a:rPr>
                  <a:t> انحراف معیار مستحکم (Robust Standard Deviation).</a:t>
                </a:r>
              </a:p>
              <a:p>
                <a:pPr algn="r" rtl="1">
                  <a:lnSpc>
                    <a:spcPct val="150000"/>
                  </a:lnSpc>
                  <a:buNone/>
                </a:pPr>
                <a:r>
                  <a:rPr lang="fa-IR" b="1" dirty="0">
                    <a:latin typeface="Times New Roman" panose="02020603050405020304" pitchFamily="18" charset="0"/>
                    <a:cs typeface="B Nazanin" panose="00000400000000000000" pitchFamily="2" charset="-78"/>
                  </a:rPr>
                  <a:t>تفسیر:</a:t>
                </a:r>
                <a:r>
                  <a:rPr lang="fa-IR" dirty="0">
                    <a:latin typeface="Times New Roman" panose="02020603050405020304" pitchFamily="18" charset="0"/>
                    <a:cs typeface="B Nazanin" panose="00000400000000000000" pitchFamily="2" charset="-78"/>
                  </a:rPr>
                  <a:t> </a:t>
                </a:r>
                <a14:m>
                  <m:oMath xmlns:m="http://schemas.openxmlformats.org/officeDocument/2006/math">
                    <m:r>
                      <a:rPr lang="fa-IR" i="1">
                        <a:latin typeface="Cambria Math" panose="02040503050406030204" pitchFamily="18" charset="0"/>
                      </a:rPr>
                      <m:t>𝑄</m:t>
                    </m:r>
                  </m:oMath>
                </a14:m>
                <a:r>
                  <a:rPr lang="fa-IR" dirty="0">
                    <a:latin typeface="Times New Roman" panose="02020603050405020304" pitchFamily="18" charset="0"/>
                    <a:cs typeface="B Nazanin" panose="00000400000000000000" pitchFamily="2" charset="-78"/>
                  </a:rPr>
                  <a:t> در واقع بازدهی کل سیستم اپتیکی است. اگر لنز کثیف باشد یا لیزر ضعیف شده باشد، </a:t>
                </a:r>
                <a14:m>
                  <m:oMath xmlns:m="http://schemas.openxmlformats.org/officeDocument/2006/math">
                    <m:r>
                      <a:rPr lang="fa-IR" b="0" i="0" smtClean="0">
                        <a:latin typeface="Cambria Math" panose="02040503050406030204" pitchFamily="18" charset="0"/>
                      </a:rPr>
                      <m:t> </m:t>
                    </m:r>
                    <m:r>
                      <a:rPr lang="fa-IR" i="1">
                        <a:latin typeface="Cambria Math" panose="02040503050406030204" pitchFamily="18" charset="0"/>
                      </a:rPr>
                      <m:t>𝑄</m:t>
                    </m:r>
                  </m:oMath>
                </a14:m>
                <a:r>
                  <a:rPr lang="fa-IR" dirty="0">
                    <a:latin typeface="Times New Roman" panose="02020603050405020304" pitchFamily="18" charset="0"/>
                    <a:cs typeface="B Nazanin" panose="00000400000000000000" pitchFamily="2" charset="-78"/>
                  </a:rPr>
                  <a:t>افت می‌کند.</a:t>
                </a:r>
              </a:p>
            </p:txBody>
          </p:sp>
        </mc:Choice>
        <mc:Fallback xmlns="">
          <p:sp>
            <p:nvSpPr>
              <p:cNvPr id="6" name="TextBox 5">
                <a:extLst>
                  <a:ext uri="{FF2B5EF4-FFF2-40B4-BE49-F238E27FC236}">
                    <a16:creationId xmlns:a16="http://schemas.microsoft.com/office/drawing/2014/main" id="{C7C598B8-05D9-428A-5DAA-93680265D03E}"/>
                  </a:ext>
                </a:extLst>
              </p:cNvPr>
              <p:cNvSpPr txBox="1">
                <a:spLocks noRot="1" noChangeAspect="1" noMove="1" noResize="1" noEditPoints="1" noAdjustHandles="1" noChangeArrowheads="1" noChangeShapeType="1" noTextEdit="1"/>
              </p:cNvSpPr>
              <p:nvPr/>
            </p:nvSpPr>
            <p:spPr>
              <a:xfrm>
                <a:off x="-449378" y="763332"/>
                <a:ext cx="12470004" cy="3753848"/>
              </a:xfrm>
              <a:prstGeom prst="rect">
                <a:avLst/>
              </a:prstGeom>
              <a:blipFill>
                <a:blip r:embed="rId2"/>
                <a:stretch>
                  <a:fillRect r="-391" b="-1948"/>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6B238141-A867-6BE3-736E-5D7EAE23430B}"/>
              </a:ext>
            </a:extLst>
          </p:cNvPr>
          <p:cNvSpPr txBox="1"/>
          <p:nvPr/>
        </p:nvSpPr>
        <p:spPr>
          <a:xfrm>
            <a:off x="5097664" y="4749140"/>
            <a:ext cx="6912076" cy="1296381"/>
          </a:xfrm>
          <a:prstGeom prst="rect">
            <a:avLst/>
          </a:prstGeom>
          <a:noFill/>
        </p:spPr>
        <p:txBody>
          <a:bodyPr wrap="square">
            <a:spAutoFit/>
          </a:bodyPr>
          <a:lstStyle/>
          <a:p>
            <a:pPr algn="r" rtl="1">
              <a:lnSpc>
                <a:spcPct val="150000"/>
              </a:lnSpc>
              <a:buNone/>
            </a:pPr>
            <a:r>
              <a:rPr lang="fa-IR" b="1" dirty="0">
                <a:latin typeface="Times New Roman" panose="02020603050405020304" pitchFamily="18" charset="0"/>
                <a:cs typeface="B Nazanin" panose="00000400000000000000" pitchFamily="2" charset="-78"/>
              </a:rPr>
              <a:t>rSD یعنی:</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یک برآورد مقاوم از پراکندگی سیگنال</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در فلوسایتومتری برای اینکه اثر </a:t>
            </a:r>
            <a:r>
              <a:rPr lang="en-US" dirty="0">
                <a:latin typeface="Times New Roman" panose="02020603050405020304" pitchFamily="18" charset="0"/>
                <a:cs typeface="B Nazanin" panose="00000400000000000000" pitchFamily="2" charset="-78"/>
              </a:rPr>
              <a:t> </a:t>
            </a:r>
            <a:r>
              <a:rPr lang="fa-IR" dirty="0">
                <a:latin typeface="Times New Roman" panose="02020603050405020304" pitchFamily="18" charset="0"/>
                <a:cs typeface="B Nazanin" panose="00000400000000000000" pitchFamily="2" charset="-78"/>
              </a:rPr>
              <a:t>outlierها یا نویزهای غیرعادی کمتر شود</a:t>
            </a:r>
          </a:p>
        </p:txBody>
      </p:sp>
      <p:sp>
        <p:nvSpPr>
          <p:cNvPr id="2" name="Slide Number Placeholder 1">
            <a:extLst>
              <a:ext uri="{FF2B5EF4-FFF2-40B4-BE49-F238E27FC236}">
                <a16:creationId xmlns:a16="http://schemas.microsoft.com/office/drawing/2014/main" id="{CE59659D-8493-BCC5-AA18-547F3B3AF48E}"/>
              </a:ext>
            </a:extLst>
          </p:cNvPr>
          <p:cNvSpPr>
            <a:spLocks noGrp="1"/>
          </p:cNvSpPr>
          <p:nvPr>
            <p:ph type="sldNum" sz="quarter" idx="12"/>
          </p:nvPr>
        </p:nvSpPr>
        <p:spPr/>
        <p:txBody>
          <a:bodyPr/>
          <a:lstStyle/>
          <a:p>
            <a:fld id="{111A70C6-53E1-4616-9BEB-862F2340207D}" type="slidenum">
              <a:rPr lang="en-US" smtClean="0">
                <a:latin typeface="Times New Roman" panose="02020603050405020304" pitchFamily="18" charset="0"/>
                <a:cs typeface="B Nazanin" panose="00000400000000000000" pitchFamily="2" charset="-78"/>
              </a:rPr>
              <a:t>4</a:t>
            </a:fld>
            <a:endParaRPr lang="en-US">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1949731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B4F169-B240-5CF2-7C36-7149ACFAE0FA}"/>
              </a:ext>
            </a:extLst>
          </p:cNvPr>
          <p:cNvSpPr txBox="1"/>
          <p:nvPr/>
        </p:nvSpPr>
        <p:spPr>
          <a:xfrm>
            <a:off x="703006" y="795567"/>
            <a:ext cx="10785987" cy="1154162"/>
          </a:xfrm>
          <a:prstGeom prst="rect">
            <a:avLst/>
          </a:prstGeom>
          <a:noFill/>
        </p:spPr>
        <p:txBody>
          <a:bodyPr wrap="square">
            <a:spAutoFit/>
          </a:bodyPr>
          <a:lstStyle/>
          <a:p>
            <a:pPr algn="r" rtl="1">
              <a:lnSpc>
                <a:spcPct val="150000"/>
              </a:lnSpc>
            </a:pPr>
            <a:r>
              <a:rPr lang="en-US" sz="2400" dirty="0">
                <a:latin typeface="Times New Roman" panose="02020603050405020304" pitchFamily="18" charset="0"/>
                <a:cs typeface="B Nazanin" panose="00000400000000000000" pitchFamily="2" charset="-78"/>
              </a:rPr>
              <a:t>ذ</a:t>
            </a:r>
            <a:r>
              <a:rPr lang="fa-IR" sz="2400" dirty="0">
                <a:latin typeface="Times New Roman" panose="02020603050405020304" pitchFamily="18" charset="0"/>
                <a:cs typeface="B Nazanin" panose="00000400000000000000" pitchFamily="2" charset="-78"/>
              </a:rPr>
              <a:t>ر</a:t>
            </a:r>
            <a:r>
              <a:rPr lang="en-US" sz="2400" dirty="0" err="1">
                <a:latin typeface="Times New Roman" panose="02020603050405020304" pitchFamily="18" charset="0"/>
                <a:cs typeface="B Nazanin" panose="00000400000000000000" pitchFamily="2" charset="-78"/>
              </a:rPr>
              <a:t>ات</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مصنوعی</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بسیار</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کوچک</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معمولاً</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پلی‌استایرن</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یا</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لاتکس</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هستند</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که</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مقدار</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فلورسانس</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یا</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ویژگی‌های</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فیزیکی</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آن‌ها</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از</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قبل</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به‌طور</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دقیق</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مشخص</a:t>
            </a:r>
            <a:r>
              <a:rPr lang="en-US" sz="2400" dirty="0">
                <a:latin typeface="Times New Roman" panose="02020603050405020304" pitchFamily="18" charset="0"/>
                <a:cs typeface="B Nazanin" panose="00000400000000000000" pitchFamily="2" charset="-78"/>
              </a:rPr>
              <a:t> و </a:t>
            </a:r>
            <a:r>
              <a:rPr lang="en-US" sz="2400" dirty="0" err="1">
                <a:latin typeface="Times New Roman" panose="02020603050405020304" pitchFamily="18" charset="0"/>
                <a:cs typeface="B Nazanin" panose="00000400000000000000" pitchFamily="2" charset="-78"/>
              </a:rPr>
              <a:t>استاندارد</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شده</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است</a:t>
            </a:r>
            <a:r>
              <a:rPr lang="en-US" sz="2400" dirty="0">
                <a:latin typeface="Times New Roman" panose="02020603050405020304" pitchFamily="18" charset="0"/>
                <a:cs typeface="B Nazanin" panose="00000400000000000000" pitchFamily="2" charset="-78"/>
              </a:rPr>
              <a:t> و </a:t>
            </a:r>
            <a:r>
              <a:rPr lang="en-US" sz="2400" dirty="0" err="1">
                <a:latin typeface="Times New Roman" panose="02020603050405020304" pitchFamily="18" charset="0"/>
                <a:cs typeface="B Nazanin" panose="00000400000000000000" pitchFamily="2" charset="-78"/>
              </a:rPr>
              <a:t>برای</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تنظیم</a:t>
            </a:r>
            <a:r>
              <a:rPr lang="en-US" sz="2400" dirty="0">
                <a:latin typeface="Times New Roman" panose="02020603050405020304" pitchFamily="18" charset="0"/>
                <a:cs typeface="B Nazanin" panose="00000400000000000000" pitchFamily="2" charset="-78"/>
              </a:rPr>
              <a:t> و </a:t>
            </a:r>
            <a:r>
              <a:rPr lang="en-US" sz="2400" dirty="0" err="1">
                <a:latin typeface="Times New Roman" panose="02020603050405020304" pitchFamily="18" charset="0"/>
                <a:cs typeface="B Nazanin" panose="00000400000000000000" pitchFamily="2" charset="-78"/>
              </a:rPr>
              <a:t>بررسی</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عملکرد</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دستگاه</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استفاده</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می‌شوند</a:t>
            </a:r>
            <a:r>
              <a:rPr lang="en-US" sz="2400" dirty="0">
                <a:latin typeface="Times New Roman" panose="02020603050405020304" pitchFamily="18" charset="0"/>
                <a:cs typeface="B Nazanin" panose="00000400000000000000" pitchFamily="2" charset="-78"/>
              </a:rPr>
              <a:t>.</a:t>
            </a:r>
          </a:p>
        </p:txBody>
      </p:sp>
      <p:sp>
        <p:nvSpPr>
          <p:cNvPr id="4" name="Slide Number Placeholder 3">
            <a:extLst>
              <a:ext uri="{FF2B5EF4-FFF2-40B4-BE49-F238E27FC236}">
                <a16:creationId xmlns:a16="http://schemas.microsoft.com/office/drawing/2014/main" id="{848CE0F9-B06D-793D-4C3E-BEA08F456E07}"/>
              </a:ext>
            </a:extLst>
          </p:cNvPr>
          <p:cNvSpPr>
            <a:spLocks noGrp="1"/>
          </p:cNvSpPr>
          <p:nvPr>
            <p:ph type="sldNum" sz="quarter" idx="12"/>
          </p:nvPr>
        </p:nvSpPr>
        <p:spPr/>
        <p:txBody>
          <a:bodyPr/>
          <a:lstStyle/>
          <a:p>
            <a:fld id="{111A70C6-53E1-4616-9BEB-862F2340207D}" type="slidenum">
              <a:rPr lang="en-US" smtClean="0"/>
              <a:t>5</a:t>
            </a:fld>
            <a:endParaRPr lang="en-US"/>
          </a:p>
        </p:txBody>
      </p:sp>
      <p:sp>
        <p:nvSpPr>
          <p:cNvPr id="9" name="TextBox 8">
            <a:extLst>
              <a:ext uri="{FF2B5EF4-FFF2-40B4-BE49-F238E27FC236}">
                <a16:creationId xmlns:a16="http://schemas.microsoft.com/office/drawing/2014/main" id="{41C68E2D-0495-B830-3319-D0E5920958FD}"/>
              </a:ext>
            </a:extLst>
          </p:cNvPr>
          <p:cNvSpPr txBox="1"/>
          <p:nvPr/>
        </p:nvSpPr>
        <p:spPr>
          <a:xfrm>
            <a:off x="10982902" y="136525"/>
            <a:ext cx="4837471" cy="461665"/>
          </a:xfrm>
          <a:prstGeom prst="rect">
            <a:avLst/>
          </a:prstGeom>
          <a:noFill/>
        </p:spPr>
        <p:txBody>
          <a:bodyPr wrap="square" rtlCol="0">
            <a:spAutoFit/>
          </a:bodyPr>
          <a:lstStyle/>
          <a:p>
            <a:r>
              <a:rPr lang="fa-IR" sz="2400" b="1" dirty="0">
                <a:cs typeface="B Nazanin" panose="00000400000000000000" pitchFamily="2" charset="-78"/>
              </a:rPr>
              <a:t>بید ها</a:t>
            </a:r>
            <a:endParaRPr lang="en-US" sz="2400" b="1" dirty="0">
              <a:cs typeface="B Nazanin" panose="00000400000000000000" pitchFamily="2" charset="-78"/>
            </a:endParaRPr>
          </a:p>
        </p:txBody>
      </p:sp>
      <p:sp>
        <p:nvSpPr>
          <p:cNvPr id="5" name="TextBox 4">
            <a:extLst>
              <a:ext uri="{FF2B5EF4-FFF2-40B4-BE49-F238E27FC236}">
                <a16:creationId xmlns:a16="http://schemas.microsoft.com/office/drawing/2014/main" id="{74C2041C-B3D3-00F3-1F95-56A1EC622BB3}"/>
              </a:ext>
            </a:extLst>
          </p:cNvPr>
          <p:cNvSpPr txBox="1"/>
          <p:nvPr/>
        </p:nvSpPr>
        <p:spPr>
          <a:xfrm>
            <a:off x="1881810" y="2032464"/>
            <a:ext cx="9607184" cy="3693319"/>
          </a:xfrm>
          <a:prstGeom prst="rect">
            <a:avLst/>
          </a:prstGeom>
          <a:noFill/>
        </p:spPr>
        <p:txBody>
          <a:bodyPr wrap="square">
            <a:spAutoFit/>
          </a:bodyPr>
          <a:lstStyle/>
          <a:p>
            <a:pPr algn="r" rtl="1">
              <a:lnSpc>
                <a:spcPct val="200000"/>
              </a:lnSpc>
            </a:pPr>
            <a:r>
              <a:rPr lang="en-US" sz="2400" b="1" dirty="0">
                <a:latin typeface="Times New Roman" panose="02020603050405020304" pitchFamily="18" charset="0"/>
                <a:cs typeface="B Nazanin" panose="00000400000000000000" pitchFamily="2" charset="-78"/>
              </a:rPr>
              <a:t>Bead </a:t>
            </a:r>
            <a:r>
              <a:rPr lang="en-US" sz="2400" b="1" dirty="0" err="1">
                <a:latin typeface="Times New Roman" panose="02020603050405020304" pitchFamily="18" charset="0"/>
                <a:cs typeface="B Nazanin" panose="00000400000000000000" pitchFamily="2" charset="-78"/>
              </a:rPr>
              <a:t>یکنواخت</a:t>
            </a:r>
            <a:r>
              <a:rPr lang="en-US" sz="2400" b="1" dirty="0">
                <a:latin typeface="Times New Roman" panose="02020603050405020304" pitchFamily="18" charset="0"/>
                <a:cs typeface="B Nazanin" panose="00000400000000000000" pitchFamily="2" charset="-78"/>
              </a:rPr>
              <a:t> و </a:t>
            </a:r>
            <a:r>
              <a:rPr lang="en-US" sz="2400" b="1" dirty="0" err="1">
                <a:latin typeface="Times New Roman" panose="02020603050405020304" pitchFamily="18" charset="0"/>
                <a:cs typeface="B Nazanin" panose="00000400000000000000" pitchFamily="2" charset="-78"/>
              </a:rPr>
              <a:t>تک‌پیک</a:t>
            </a:r>
            <a:r>
              <a:rPr lang="en-US" sz="2400" b="1" dirty="0">
                <a:latin typeface="Times New Roman" panose="02020603050405020304" pitchFamily="18" charset="0"/>
                <a:cs typeface="B Nazanin" panose="00000400000000000000" pitchFamily="2" charset="-78"/>
              </a:rPr>
              <a:t>:</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بررسی</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پایداری</a:t>
            </a:r>
            <a:r>
              <a:rPr lang="en-US" sz="2400" dirty="0">
                <a:latin typeface="Times New Roman" panose="02020603050405020304" pitchFamily="18" charset="0"/>
                <a:cs typeface="B Nazanin" panose="00000400000000000000" pitchFamily="2" charset="-78"/>
              </a:rPr>
              <a:t>، CV، alignment </a:t>
            </a:r>
            <a:r>
              <a:rPr lang="fa-IR" sz="2400" dirty="0">
                <a:latin typeface="Times New Roman" panose="02020603050405020304" pitchFamily="18" charset="0"/>
                <a:cs typeface="B Nazanin" panose="00000400000000000000" pitchFamily="2" charset="-78"/>
              </a:rPr>
              <a:t> </a:t>
            </a:r>
            <a:r>
              <a:rPr lang="en-US" sz="2400" dirty="0">
                <a:latin typeface="Times New Roman" panose="02020603050405020304" pitchFamily="18" charset="0"/>
                <a:cs typeface="B Nazanin" panose="00000400000000000000" pitchFamily="2" charset="-78"/>
              </a:rPr>
              <a:t>و </a:t>
            </a:r>
            <a:r>
              <a:rPr lang="en-US" sz="2400" dirty="0" err="1">
                <a:latin typeface="Times New Roman" panose="02020603050405020304" pitchFamily="18" charset="0"/>
                <a:cs typeface="B Nazanin" panose="00000400000000000000" pitchFamily="2" charset="-78"/>
              </a:rPr>
              <a:t>حساسیت</a:t>
            </a:r>
            <a:endParaRPr lang="en-US" sz="2400" dirty="0">
              <a:latin typeface="Times New Roman" panose="02020603050405020304" pitchFamily="18" charset="0"/>
              <a:cs typeface="B Nazanin" panose="00000400000000000000" pitchFamily="2" charset="-78"/>
            </a:endParaRPr>
          </a:p>
          <a:p>
            <a:pPr algn="r" rtl="1">
              <a:lnSpc>
                <a:spcPct val="200000"/>
              </a:lnSpc>
            </a:pPr>
            <a:r>
              <a:rPr lang="en-US" sz="2400" dirty="0">
                <a:latin typeface="Times New Roman" panose="02020603050405020304" pitchFamily="18" charset="0"/>
                <a:cs typeface="B Nazanin" panose="00000400000000000000" pitchFamily="2" charset="-78"/>
              </a:rPr>
              <a:t> </a:t>
            </a:r>
            <a:r>
              <a:rPr lang="en-US" sz="2400" b="1" dirty="0">
                <a:latin typeface="Times New Roman" panose="02020603050405020304" pitchFamily="18" charset="0"/>
                <a:cs typeface="B Nazanin" panose="00000400000000000000" pitchFamily="2" charset="-78"/>
              </a:rPr>
              <a:t>Bead </a:t>
            </a:r>
            <a:r>
              <a:rPr lang="en-US" sz="2400" b="1" dirty="0" err="1">
                <a:latin typeface="Times New Roman" panose="02020603050405020304" pitchFamily="18" charset="0"/>
                <a:cs typeface="B Nazanin" panose="00000400000000000000" pitchFamily="2" charset="-78"/>
              </a:rPr>
              <a:t>چندپیکی</a:t>
            </a:r>
            <a:r>
              <a:rPr lang="en-US" sz="2400" b="1" dirty="0">
                <a:latin typeface="Times New Roman" panose="02020603050405020304" pitchFamily="18" charset="0"/>
                <a:cs typeface="B Nazanin" panose="00000400000000000000" pitchFamily="2" charset="-78"/>
              </a:rPr>
              <a:t> </a:t>
            </a:r>
            <a:r>
              <a:rPr lang="en-US" sz="2400" b="1" dirty="0" err="1">
                <a:latin typeface="Times New Roman" panose="02020603050405020304" pitchFamily="18" charset="0"/>
                <a:cs typeface="B Nazanin" panose="00000400000000000000" pitchFamily="2" charset="-78"/>
              </a:rPr>
              <a:t>با</a:t>
            </a:r>
            <a:r>
              <a:rPr lang="en-US" sz="2400" b="1" dirty="0">
                <a:latin typeface="Times New Roman" panose="02020603050405020304" pitchFamily="18" charset="0"/>
                <a:cs typeface="B Nazanin" panose="00000400000000000000" pitchFamily="2" charset="-78"/>
              </a:rPr>
              <a:t> </a:t>
            </a:r>
            <a:r>
              <a:rPr lang="en-US" sz="2400" b="1" dirty="0" err="1">
                <a:latin typeface="Times New Roman" panose="02020603050405020304" pitchFamily="18" charset="0"/>
                <a:cs typeface="B Nazanin" panose="00000400000000000000" pitchFamily="2" charset="-78"/>
              </a:rPr>
              <a:t>شدت‌های</a:t>
            </a:r>
            <a:r>
              <a:rPr lang="en-US" sz="2400" b="1" dirty="0">
                <a:latin typeface="Times New Roman" panose="02020603050405020304" pitchFamily="18" charset="0"/>
                <a:cs typeface="B Nazanin" panose="00000400000000000000" pitchFamily="2" charset="-78"/>
              </a:rPr>
              <a:t> </a:t>
            </a:r>
            <a:r>
              <a:rPr lang="en-US" sz="2400" b="1" dirty="0" err="1">
                <a:latin typeface="Times New Roman" panose="02020603050405020304" pitchFamily="18" charset="0"/>
                <a:cs typeface="B Nazanin" panose="00000400000000000000" pitchFamily="2" charset="-78"/>
              </a:rPr>
              <a:t>مختلف</a:t>
            </a:r>
            <a:r>
              <a:rPr lang="en-US" sz="2400" b="1" dirty="0">
                <a:latin typeface="Times New Roman" panose="02020603050405020304" pitchFamily="18" charset="0"/>
                <a:cs typeface="B Nazanin" panose="00000400000000000000" pitchFamily="2" charset="-78"/>
              </a:rPr>
              <a:t>:</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بررسی</a:t>
            </a:r>
            <a:r>
              <a:rPr lang="en-US" sz="2400" dirty="0">
                <a:latin typeface="Times New Roman" panose="02020603050405020304" pitchFamily="18" charset="0"/>
                <a:cs typeface="B Nazanin" panose="00000400000000000000" pitchFamily="2" charset="-78"/>
              </a:rPr>
              <a:t> linearity </a:t>
            </a:r>
            <a:r>
              <a:rPr lang="fa-IR" sz="2400" dirty="0">
                <a:latin typeface="Times New Roman" panose="02020603050405020304" pitchFamily="18" charset="0"/>
                <a:cs typeface="B Nazanin" panose="00000400000000000000" pitchFamily="2" charset="-78"/>
              </a:rPr>
              <a:t> </a:t>
            </a:r>
            <a:r>
              <a:rPr lang="en-US" sz="2400" dirty="0">
                <a:latin typeface="Times New Roman" panose="02020603050405020304" pitchFamily="18" charset="0"/>
                <a:cs typeface="B Nazanin" panose="00000400000000000000" pitchFamily="2" charset="-78"/>
              </a:rPr>
              <a:t>و dynamic range </a:t>
            </a:r>
            <a:r>
              <a:rPr lang="fa-IR" sz="2400" dirty="0">
                <a:latin typeface="Times New Roman" panose="02020603050405020304" pitchFamily="18" charset="0"/>
                <a:cs typeface="B Nazanin" panose="00000400000000000000" pitchFamily="2" charset="-78"/>
              </a:rPr>
              <a:t> </a:t>
            </a:r>
            <a:r>
              <a:rPr lang="en-US" sz="2400" b="1" dirty="0" err="1">
                <a:latin typeface="Times New Roman" panose="02020603050405020304" pitchFamily="18" charset="0"/>
                <a:cs typeface="B Nazanin" panose="00000400000000000000" pitchFamily="2" charset="-78"/>
              </a:rPr>
              <a:t>فلورسانس‌کالیبره</a:t>
            </a:r>
            <a:r>
              <a:rPr lang="en-US" sz="2400" b="1" dirty="0">
                <a:latin typeface="Times New Roman" panose="02020603050405020304" pitchFamily="18" charset="0"/>
                <a:cs typeface="B Nazanin" panose="00000400000000000000" pitchFamily="2" charset="-78"/>
              </a:rPr>
              <a:t> MESF/ERF</a:t>
            </a:r>
            <a:r>
              <a:rPr lang="en-US" sz="2400" dirty="0">
                <a:latin typeface="Times New Roman" panose="02020603050405020304" pitchFamily="18" charset="0"/>
                <a:cs typeface="B Nazanin" panose="00000400000000000000" pitchFamily="2" charset="-78"/>
              </a:rPr>
              <a:t> </a:t>
            </a:r>
            <a:r>
              <a:rPr lang="fa-IR"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تبدیل</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شدت</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فلورسانس</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به</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واحد</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استاندارد</a:t>
            </a:r>
            <a:endParaRPr lang="fa-IR" sz="2400" dirty="0">
              <a:latin typeface="Times New Roman" panose="02020603050405020304" pitchFamily="18" charset="0"/>
              <a:cs typeface="B Nazanin" panose="00000400000000000000" pitchFamily="2" charset="-78"/>
            </a:endParaRPr>
          </a:p>
          <a:p>
            <a:pPr algn="r" rtl="1">
              <a:lnSpc>
                <a:spcPct val="200000"/>
              </a:lnSpc>
            </a:pPr>
            <a:r>
              <a:rPr lang="en-US" sz="2400" dirty="0">
                <a:latin typeface="Times New Roman" panose="02020603050405020304" pitchFamily="18" charset="0"/>
                <a:cs typeface="B Nazanin" panose="00000400000000000000" pitchFamily="2" charset="-78"/>
              </a:rPr>
              <a:t> </a:t>
            </a:r>
            <a:r>
              <a:rPr lang="en-US" sz="2400" b="1" dirty="0">
                <a:latin typeface="Times New Roman" panose="02020603050405020304" pitchFamily="18" charset="0"/>
                <a:cs typeface="B Nazanin" panose="00000400000000000000" pitchFamily="2" charset="-78"/>
              </a:rPr>
              <a:t>Bead </a:t>
            </a:r>
            <a:r>
              <a:rPr lang="en-US" sz="2400" b="1" dirty="0" err="1">
                <a:latin typeface="Times New Roman" panose="02020603050405020304" pitchFamily="18" charset="0"/>
                <a:cs typeface="B Nazanin" panose="00000400000000000000" pitchFamily="2" charset="-78"/>
              </a:rPr>
              <a:t>با</a:t>
            </a:r>
            <a:r>
              <a:rPr lang="en-US" sz="2400" b="1" dirty="0">
                <a:latin typeface="Times New Roman" panose="02020603050405020304" pitchFamily="18" charset="0"/>
                <a:cs typeface="B Nazanin" panose="00000400000000000000" pitchFamily="2" charset="-78"/>
              </a:rPr>
              <a:t> </a:t>
            </a:r>
            <a:r>
              <a:rPr lang="en-US" sz="2400" b="1" dirty="0" err="1">
                <a:latin typeface="Times New Roman" panose="02020603050405020304" pitchFamily="18" charset="0"/>
                <a:cs typeface="B Nazanin" panose="00000400000000000000" pitchFamily="2" charset="-78"/>
              </a:rPr>
              <a:t>قطر</a:t>
            </a:r>
            <a:r>
              <a:rPr lang="en-US" sz="2400" b="1" dirty="0">
                <a:latin typeface="Times New Roman" panose="02020603050405020304" pitchFamily="18" charset="0"/>
                <a:cs typeface="B Nazanin" panose="00000400000000000000" pitchFamily="2" charset="-78"/>
              </a:rPr>
              <a:t> </a:t>
            </a:r>
            <a:r>
              <a:rPr lang="en-US" sz="2400" b="1" dirty="0" err="1">
                <a:latin typeface="Times New Roman" panose="02020603050405020304" pitchFamily="18" charset="0"/>
                <a:cs typeface="B Nazanin" panose="00000400000000000000" pitchFamily="2" charset="-78"/>
              </a:rPr>
              <a:t>مشخص</a:t>
            </a:r>
            <a:r>
              <a:rPr lang="en-US" sz="2400" b="1" dirty="0">
                <a:latin typeface="Times New Roman" panose="02020603050405020304" pitchFamily="18" charset="0"/>
                <a:cs typeface="B Nazanin" panose="00000400000000000000" pitchFamily="2" charset="-78"/>
              </a:rPr>
              <a:t>:</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بررسی</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نسبی</a:t>
            </a:r>
            <a:r>
              <a:rPr lang="en-US" sz="2400" dirty="0">
                <a:latin typeface="Times New Roman" panose="02020603050405020304" pitchFamily="18" charset="0"/>
                <a:cs typeface="B Nazanin" panose="00000400000000000000" pitchFamily="2" charset="-78"/>
              </a:rPr>
              <a:t> FSC/SSC </a:t>
            </a:r>
            <a:r>
              <a:rPr lang="en-US" sz="2400" dirty="0" err="1">
                <a:latin typeface="Times New Roman" panose="02020603050405020304" pitchFamily="18" charset="0"/>
                <a:cs typeface="B Nazanin" panose="00000400000000000000" pitchFamily="2" charset="-78"/>
              </a:rPr>
              <a:t>یا</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تنظیم</a:t>
            </a:r>
            <a:r>
              <a:rPr lang="en-US" sz="2400" dirty="0">
                <a:latin typeface="Times New Roman" panose="02020603050405020304" pitchFamily="18" charset="0"/>
                <a:cs typeface="B Nazanin" panose="00000400000000000000" pitchFamily="2" charset="-78"/>
              </a:rPr>
              <a:t> و </a:t>
            </a:r>
            <a:r>
              <a:rPr lang="en-US" sz="2400" dirty="0" err="1">
                <a:latin typeface="Times New Roman" panose="02020603050405020304" pitchFamily="18" charset="0"/>
                <a:cs typeface="B Nazanin" panose="00000400000000000000" pitchFamily="2" charset="-78"/>
              </a:rPr>
              <a:t>محاسبه</a:t>
            </a:r>
            <a:r>
              <a:rPr lang="en-US" sz="2400" dirty="0">
                <a:latin typeface="Times New Roman" panose="02020603050405020304" pitchFamily="18" charset="0"/>
                <a:cs typeface="B Nazanin" panose="00000400000000000000" pitchFamily="2" charset="-78"/>
              </a:rPr>
              <a:t> Pulse Width </a:t>
            </a:r>
            <a:endParaRPr lang="fa-IR" sz="2400" dirty="0">
              <a:latin typeface="Times New Roman" panose="02020603050405020304" pitchFamily="18" charset="0"/>
              <a:cs typeface="B Nazanin" panose="00000400000000000000" pitchFamily="2" charset="-78"/>
            </a:endParaRPr>
          </a:p>
          <a:p>
            <a:pPr algn="r" rtl="1">
              <a:lnSpc>
                <a:spcPct val="200000"/>
              </a:lnSpc>
            </a:pPr>
            <a:r>
              <a:rPr lang="en-US" sz="2400" dirty="0">
                <a:latin typeface="Times New Roman" panose="02020603050405020304" pitchFamily="18" charset="0"/>
                <a:cs typeface="B Nazanin" panose="00000400000000000000" pitchFamily="2" charset="-78"/>
              </a:rPr>
              <a:t> </a:t>
            </a:r>
            <a:r>
              <a:rPr lang="en-US" sz="2400" b="1" dirty="0">
                <a:latin typeface="Times New Roman" panose="02020603050405020304" pitchFamily="18" charset="0"/>
                <a:cs typeface="B Nazanin" panose="00000400000000000000" pitchFamily="2" charset="-78"/>
              </a:rPr>
              <a:t>:</a:t>
            </a:r>
            <a:r>
              <a:rPr lang="en-US" sz="2400" dirty="0">
                <a:latin typeface="Times New Roman" panose="02020603050405020304" pitchFamily="18" charset="0"/>
                <a:cs typeface="B Nazanin" panose="00000400000000000000" pitchFamily="2" charset="-78"/>
              </a:rPr>
              <a:t> </a:t>
            </a:r>
            <a:r>
              <a:rPr lang="en-US" sz="2400" b="1" dirty="0">
                <a:latin typeface="Times New Roman" panose="02020603050405020304" pitchFamily="18" charset="0"/>
                <a:cs typeface="B Nazanin" panose="00000400000000000000" pitchFamily="2" charset="-78"/>
              </a:rPr>
              <a:t>Counting bead</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شمارش</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مطلق</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سلول‌ها</a:t>
            </a:r>
            <a:endParaRPr lang="en-US" sz="2400" dirty="0">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2509538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F65DB-7721-9A71-6F2B-AC2822458E0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EB725C-FC19-F3E8-A370-1F2695BACE9F}"/>
              </a:ext>
            </a:extLst>
          </p:cNvPr>
          <p:cNvSpPr txBox="1"/>
          <p:nvPr/>
        </p:nvSpPr>
        <p:spPr>
          <a:xfrm>
            <a:off x="0" y="880591"/>
            <a:ext cx="7264958" cy="1608325"/>
          </a:xfrm>
          <a:prstGeom prst="rect">
            <a:avLst/>
          </a:prstGeom>
          <a:noFill/>
        </p:spPr>
        <p:txBody>
          <a:bodyPr wrap="square">
            <a:spAutoFit/>
          </a:bodyPr>
          <a:lstStyle/>
          <a:p>
            <a:pPr marL="285750" indent="-285750">
              <a:lnSpc>
                <a:spcPct val="300000"/>
              </a:lnSpc>
              <a:buFont typeface="Arial" panose="020B0604020202020204" pitchFamily="34" charset="0"/>
              <a:buChar char="•"/>
            </a:pPr>
            <a:r>
              <a:rPr lang="en-US" b="1" dirty="0">
                <a:latin typeface="Times New Roman" panose="02020603050405020304" pitchFamily="18" charset="0"/>
                <a:cs typeface="B Nazanin" panose="00000400000000000000" pitchFamily="2" charset="-78"/>
              </a:rPr>
              <a:t>MESF : Molecules of Equivalent Soluble Fluorochrome </a:t>
            </a:r>
            <a:r>
              <a:rPr lang="en-US" b="1" u="sng" dirty="0">
                <a:latin typeface="Times New Roman" panose="02020603050405020304" pitchFamily="18" charset="0"/>
                <a:cs typeface="B Nazanin" panose="00000400000000000000" pitchFamily="2" charset="-78"/>
              </a:rPr>
              <a:t>based on</a:t>
            </a:r>
          </a:p>
          <a:p>
            <a:pPr marL="285750" indent="-285750">
              <a:lnSpc>
                <a:spcPct val="300000"/>
              </a:lnSpc>
              <a:buFont typeface="Arial" panose="020B0604020202020204" pitchFamily="34" charset="0"/>
              <a:buChar char="•"/>
            </a:pPr>
            <a:r>
              <a:rPr lang="en-US" b="1" dirty="0">
                <a:latin typeface="Times New Roman" panose="02020603050405020304" pitchFamily="18" charset="0"/>
                <a:cs typeface="B Nazanin" panose="00000400000000000000" pitchFamily="2" charset="-78"/>
              </a:rPr>
              <a:t>ERF:</a:t>
            </a:r>
            <a:r>
              <a:rPr lang="en-US" b="1" dirty="0">
                <a:solidFill>
                  <a:srgbClr val="FF0000"/>
                </a:solidFill>
                <a:latin typeface="Times New Roman" panose="02020603050405020304" pitchFamily="18" charset="0"/>
                <a:cs typeface="B Nazanin" panose="00000400000000000000" pitchFamily="2" charset="-78"/>
              </a:rPr>
              <a:t> </a:t>
            </a:r>
            <a:r>
              <a:rPr lang="en-US" b="1" dirty="0"/>
              <a:t>Equivalent Reference Fluorophore</a:t>
            </a:r>
            <a:endParaRPr lang="en-US" b="1" dirty="0">
              <a:solidFill>
                <a:srgbClr val="FF0000"/>
              </a:solidFill>
              <a:latin typeface="Times New Roman" panose="02020603050405020304" pitchFamily="18" charset="0"/>
              <a:cs typeface="B Nazanin" panose="00000400000000000000" pitchFamily="2" charset="-78"/>
            </a:endParaRPr>
          </a:p>
        </p:txBody>
      </p:sp>
      <p:graphicFrame>
        <p:nvGraphicFramePr>
          <p:cNvPr id="7" name="Table 6">
            <a:extLst>
              <a:ext uri="{FF2B5EF4-FFF2-40B4-BE49-F238E27FC236}">
                <a16:creationId xmlns:a16="http://schemas.microsoft.com/office/drawing/2014/main" id="{B90542BC-B453-BCCC-9769-EA66F75F3EED}"/>
              </a:ext>
            </a:extLst>
          </p:cNvPr>
          <p:cNvGraphicFramePr>
            <a:graphicFrameLocks noGrp="1"/>
          </p:cNvGraphicFramePr>
          <p:nvPr>
            <p:extLst>
              <p:ext uri="{D42A27DB-BD31-4B8C-83A1-F6EECF244321}">
                <p14:modId xmlns:p14="http://schemas.microsoft.com/office/powerpoint/2010/main" val="1756714297"/>
              </p:ext>
            </p:extLst>
          </p:nvPr>
        </p:nvGraphicFramePr>
        <p:xfrm>
          <a:off x="1277815" y="2817258"/>
          <a:ext cx="9636369" cy="1584960"/>
        </p:xfrm>
        <a:graphic>
          <a:graphicData uri="http://schemas.openxmlformats.org/drawingml/2006/table">
            <a:tbl>
              <a:tblPr>
                <a:tableStyleId>{5940675A-B579-460E-94D1-54222C63F5DA}</a:tableStyleId>
              </a:tblPr>
              <a:tblGrid>
                <a:gridCol w="3212123">
                  <a:extLst>
                    <a:ext uri="{9D8B030D-6E8A-4147-A177-3AD203B41FA5}">
                      <a16:colId xmlns:a16="http://schemas.microsoft.com/office/drawing/2014/main" val="3945113534"/>
                    </a:ext>
                  </a:extLst>
                </a:gridCol>
                <a:gridCol w="3212123">
                  <a:extLst>
                    <a:ext uri="{9D8B030D-6E8A-4147-A177-3AD203B41FA5}">
                      <a16:colId xmlns:a16="http://schemas.microsoft.com/office/drawing/2014/main" val="79534340"/>
                    </a:ext>
                  </a:extLst>
                </a:gridCol>
                <a:gridCol w="3212123">
                  <a:extLst>
                    <a:ext uri="{9D8B030D-6E8A-4147-A177-3AD203B41FA5}">
                      <a16:colId xmlns:a16="http://schemas.microsoft.com/office/drawing/2014/main" val="2032457794"/>
                    </a:ext>
                  </a:extLst>
                </a:gridCol>
              </a:tblGrid>
              <a:tr h="0">
                <a:tc>
                  <a:txBody>
                    <a:bodyPr/>
                    <a:lstStyle/>
                    <a:p>
                      <a:pPr algn="ctr">
                        <a:buNone/>
                      </a:pPr>
                      <a:r>
                        <a:rPr lang="en-US" sz="2000" b="1" dirty="0">
                          <a:cs typeface="B Nazanin" panose="00000400000000000000" pitchFamily="2" charset="-78"/>
                        </a:rPr>
                        <a:t>MESF</a:t>
                      </a:r>
                    </a:p>
                  </a:txBody>
                  <a:tcPr anchor="ctr"/>
                </a:tc>
                <a:tc>
                  <a:txBody>
                    <a:bodyPr/>
                    <a:lstStyle/>
                    <a:p>
                      <a:pPr algn="ctr">
                        <a:buNone/>
                      </a:pPr>
                      <a:r>
                        <a:rPr lang="en-US" sz="2000" b="1" dirty="0">
                          <a:solidFill>
                            <a:schemeClr val="tx1"/>
                          </a:solidFill>
                          <a:cs typeface="B Nazanin" panose="00000400000000000000" pitchFamily="2" charset="-78"/>
                        </a:rPr>
                        <a:t>ERF</a:t>
                      </a:r>
                    </a:p>
                  </a:txBody>
                  <a:tcPr anchor="ctr"/>
                </a:tc>
                <a:tc>
                  <a:txBody>
                    <a:bodyPr/>
                    <a:lstStyle/>
                    <a:p>
                      <a:pPr algn="ctr">
                        <a:buNone/>
                      </a:pPr>
                      <a:r>
                        <a:rPr lang="en-US" sz="2000" b="1" dirty="0" err="1">
                          <a:cs typeface="B Nazanin" panose="00000400000000000000" pitchFamily="2" charset="-78"/>
                        </a:rPr>
                        <a:t>ویژگی</a:t>
                      </a:r>
                      <a:endParaRPr lang="en-US" sz="2000" b="1" dirty="0">
                        <a:cs typeface="B Nazanin" panose="00000400000000000000" pitchFamily="2" charset="-78"/>
                      </a:endParaRPr>
                    </a:p>
                  </a:txBody>
                  <a:tcPr anchor="ctr"/>
                </a:tc>
                <a:extLst>
                  <a:ext uri="{0D108BD9-81ED-4DB2-BD59-A6C34878D82A}">
                    <a16:rowId xmlns:a16="http://schemas.microsoft.com/office/drawing/2014/main" val="2151103875"/>
                  </a:ext>
                </a:extLst>
              </a:tr>
              <a:tr h="0">
                <a:tc>
                  <a:txBody>
                    <a:bodyPr/>
                    <a:lstStyle/>
                    <a:p>
                      <a:pPr algn="ctr" rtl="1">
                        <a:buNone/>
                      </a:pPr>
                      <a:r>
                        <a:rPr lang="fa-IR" sz="2000" dirty="0">
                          <a:cs typeface="B Nazanin" panose="00000400000000000000" pitchFamily="2" charset="-78"/>
                        </a:rPr>
                        <a:t>همان فلوروفور</a:t>
                      </a:r>
                    </a:p>
                  </a:txBody>
                  <a:tcPr anchor="ctr"/>
                </a:tc>
                <a:tc>
                  <a:txBody>
                    <a:bodyPr/>
                    <a:lstStyle/>
                    <a:p>
                      <a:pPr algn="ctr" rtl="1">
                        <a:buNone/>
                      </a:pPr>
                      <a:r>
                        <a:rPr lang="fa-IR" sz="2000" dirty="0">
                          <a:solidFill>
                            <a:schemeClr val="tx1"/>
                          </a:solidFill>
                          <a:cs typeface="B Nazanin" panose="00000400000000000000" pitchFamily="2" charset="-78"/>
                        </a:rPr>
                        <a:t>فلوروفور مرجع عمومی</a:t>
                      </a:r>
                    </a:p>
                  </a:txBody>
                  <a:tcPr anchor="ctr"/>
                </a:tc>
                <a:tc>
                  <a:txBody>
                    <a:bodyPr/>
                    <a:lstStyle/>
                    <a:p>
                      <a:pPr algn="ctr" rtl="1">
                        <a:buNone/>
                      </a:pPr>
                      <a:r>
                        <a:rPr lang="fa-IR" sz="2000" dirty="0">
                          <a:cs typeface="B Nazanin" panose="00000400000000000000" pitchFamily="2" charset="-78"/>
                        </a:rPr>
                        <a:t>نوع مرجع</a:t>
                      </a:r>
                    </a:p>
                  </a:txBody>
                  <a:tcPr anchor="ctr"/>
                </a:tc>
                <a:extLst>
                  <a:ext uri="{0D108BD9-81ED-4DB2-BD59-A6C34878D82A}">
                    <a16:rowId xmlns:a16="http://schemas.microsoft.com/office/drawing/2014/main" val="2966643224"/>
                  </a:ext>
                </a:extLst>
              </a:tr>
              <a:tr h="0">
                <a:tc>
                  <a:txBody>
                    <a:bodyPr/>
                    <a:lstStyle/>
                    <a:p>
                      <a:pPr algn="ctr" rtl="1">
                        <a:buNone/>
                      </a:pPr>
                      <a:r>
                        <a:rPr lang="fa-IR" sz="2000" dirty="0">
                          <a:cs typeface="B Nazanin" panose="00000400000000000000" pitchFamily="2" charset="-78"/>
                        </a:rPr>
                        <a:t>بله</a:t>
                      </a:r>
                    </a:p>
                  </a:txBody>
                  <a:tcPr anchor="ctr"/>
                </a:tc>
                <a:tc>
                  <a:txBody>
                    <a:bodyPr/>
                    <a:lstStyle/>
                    <a:p>
                      <a:pPr algn="ctr" rtl="1">
                        <a:buNone/>
                      </a:pPr>
                      <a:r>
                        <a:rPr lang="fa-IR" sz="2000" dirty="0">
                          <a:solidFill>
                            <a:schemeClr val="tx1"/>
                          </a:solidFill>
                          <a:cs typeface="B Nazanin" panose="00000400000000000000" pitchFamily="2" charset="-78"/>
                        </a:rPr>
                        <a:t>نه</a:t>
                      </a:r>
                    </a:p>
                  </a:txBody>
                  <a:tcPr anchor="ctr"/>
                </a:tc>
                <a:tc>
                  <a:txBody>
                    <a:bodyPr/>
                    <a:lstStyle/>
                    <a:p>
                      <a:pPr algn="ctr" rtl="1">
                        <a:buNone/>
                      </a:pPr>
                      <a:r>
                        <a:rPr lang="fa-IR" sz="2000" dirty="0">
                          <a:cs typeface="B Nazanin" panose="00000400000000000000" pitchFamily="2" charset="-78"/>
                        </a:rPr>
                        <a:t>الزام یکسان بودن فلوروفور</a:t>
                      </a:r>
                    </a:p>
                  </a:txBody>
                  <a:tcPr anchor="ctr"/>
                </a:tc>
                <a:extLst>
                  <a:ext uri="{0D108BD9-81ED-4DB2-BD59-A6C34878D82A}">
                    <a16:rowId xmlns:a16="http://schemas.microsoft.com/office/drawing/2014/main" val="2110161919"/>
                  </a:ext>
                </a:extLst>
              </a:tr>
              <a:tr h="0">
                <a:tc>
                  <a:txBody>
                    <a:bodyPr/>
                    <a:lstStyle/>
                    <a:p>
                      <a:pPr algn="ctr" rtl="1">
                        <a:buNone/>
                      </a:pPr>
                      <a:r>
                        <a:rPr lang="fa-IR" sz="2000" dirty="0">
                          <a:cs typeface="B Nazanin" panose="00000400000000000000" pitchFamily="2" charset="-78"/>
                        </a:rPr>
                        <a:t>بیشتر</a:t>
                      </a:r>
                    </a:p>
                  </a:txBody>
                  <a:tcPr anchor="ctr"/>
                </a:tc>
                <a:tc>
                  <a:txBody>
                    <a:bodyPr/>
                    <a:lstStyle/>
                    <a:p>
                      <a:pPr algn="ctr" rtl="1">
                        <a:buNone/>
                      </a:pPr>
                      <a:r>
                        <a:rPr lang="fa-IR" sz="2000" dirty="0">
                          <a:solidFill>
                            <a:schemeClr val="tx1"/>
                          </a:solidFill>
                          <a:cs typeface="B Nazanin" panose="00000400000000000000" pitchFamily="2" charset="-78"/>
                        </a:rPr>
                        <a:t>عمومی‌تر</a:t>
                      </a:r>
                    </a:p>
                  </a:txBody>
                  <a:tcPr anchor="ctr"/>
                </a:tc>
                <a:tc>
                  <a:txBody>
                    <a:bodyPr/>
                    <a:lstStyle/>
                    <a:p>
                      <a:pPr algn="ctr" rtl="1">
                        <a:buNone/>
                      </a:pPr>
                      <a:r>
                        <a:rPr lang="fa-IR" sz="2000" dirty="0">
                          <a:cs typeface="B Nazanin" panose="00000400000000000000" pitchFamily="2" charset="-78"/>
                        </a:rPr>
                        <a:t>دقت فیزیکی</a:t>
                      </a:r>
                    </a:p>
                  </a:txBody>
                  <a:tcPr anchor="ctr"/>
                </a:tc>
                <a:extLst>
                  <a:ext uri="{0D108BD9-81ED-4DB2-BD59-A6C34878D82A}">
                    <a16:rowId xmlns:a16="http://schemas.microsoft.com/office/drawing/2014/main" val="2321888750"/>
                  </a:ext>
                </a:extLst>
              </a:tr>
            </a:tbl>
          </a:graphicData>
        </a:graphic>
      </p:graphicFrame>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FD9BB5B-1B2C-9747-F2C7-BD3D759CBBEF}"/>
                  </a:ext>
                </a:extLst>
              </p:cNvPr>
              <p:cNvSpPr txBox="1"/>
              <p:nvPr/>
            </p:nvSpPr>
            <p:spPr>
              <a:xfrm>
                <a:off x="1910590" y="5463958"/>
                <a:ext cx="8370818" cy="523220"/>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m:rPr>
                          <m:sty m:val="p"/>
                        </m:rPr>
                        <a:rPr lang="en-US" sz="2800">
                          <a:latin typeface="Cambria Math" panose="02040503050406030204" pitchFamily="18" charset="0"/>
                        </a:rPr>
                        <m:t>log</m:t>
                      </m:r>
                      <m:r>
                        <a:rPr lang="en-US" sz="2800" i="0">
                          <a:latin typeface="Cambria Math" panose="02040503050406030204" pitchFamily="18" charset="0"/>
                        </a:rPr>
                        <m:t>⁡</m:t>
                      </m:r>
                      <m:d>
                        <m:dPr>
                          <m:ctrlPr>
                            <a:rPr lang="en-US" sz="2800" i="1">
                              <a:latin typeface="Cambria Math" panose="02040503050406030204" pitchFamily="18" charset="0"/>
                            </a:rPr>
                          </m:ctrlPr>
                        </m:dPr>
                        <m:e>
                          <m:r>
                            <a:rPr lang="en-US" sz="2800" i="1">
                              <a:latin typeface="Cambria Math" panose="02040503050406030204" pitchFamily="18" charset="0"/>
                            </a:rPr>
                            <m:t>𝑀𝐸𝑆𝐹</m:t>
                          </m:r>
                        </m:e>
                      </m:d>
                      <m:r>
                        <a:rPr lang="en-US" sz="2800" i="0">
                          <a:latin typeface="Cambria Math" panose="02040503050406030204" pitchFamily="18" charset="0"/>
                        </a:rPr>
                        <m:t>=</m:t>
                      </m:r>
                      <m:r>
                        <a:rPr lang="en-US" sz="2800" i="1">
                          <a:latin typeface="Cambria Math" panose="02040503050406030204" pitchFamily="18" charset="0"/>
                        </a:rPr>
                        <m:t>𝑎</m:t>
                      </m:r>
                      <m:r>
                        <a:rPr lang="en-US" sz="2800" i="0">
                          <a:latin typeface="Cambria Math" panose="02040503050406030204" pitchFamily="18" charset="0"/>
                        </a:rPr>
                        <m:t>⋅</m:t>
                      </m:r>
                      <m:r>
                        <m:rPr>
                          <m:sty m:val="p"/>
                        </m:rPr>
                        <a:rPr lang="en-US" sz="2800" i="0">
                          <a:latin typeface="Cambria Math" panose="02040503050406030204" pitchFamily="18" charset="0"/>
                        </a:rPr>
                        <m:t>log</m:t>
                      </m:r>
                      <m:r>
                        <a:rPr lang="en-US" sz="2800" i="0">
                          <a:latin typeface="Cambria Math" panose="02040503050406030204" pitchFamily="18" charset="0"/>
                        </a:rPr>
                        <m:t>⁡</m:t>
                      </m:r>
                      <m:d>
                        <m:dPr>
                          <m:ctrlPr>
                            <a:rPr lang="en-US" sz="2800" i="1">
                              <a:latin typeface="Cambria Math" panose="02040503050406030204" pitchFamily="18" charset="0"/>
                            </a:rPr>
                          </m:ctrlPr>
                        </m:dPr>
                        <m:e>
                          <m:r>
                            <a:rPr lang="en-US" sz="2800" i="1">
                              <a:latin typeface="Cambria Math" panose="02040503050406030204" pitchFamily="18" charset="0"/>
                            </a:rPr>
                            <m:t>𝑀𝐹𝐼</m:t>
                          </m:r>
                        </m:e>
                      </m:d>
                      <m:r>
                        <a:rPr lang="en-US" sz="2800" i="0">
                          <a:latin typeface="Cambria Math" panose="02040503050406030204" pitchFamily="18" charset="0"/>
                        </a:rPr>
                        <m:t>+</m:t>
                      </m:r>
                      <m:r>
                        <a:rPr lang="en-US" sz="2800" i="1">
                          <a:latin typeface="Cambria Math" panose="02040503050406030204" pitchFamily="18" charset="0"/>
                        </a:rPr>
                        <m:t>𝑏</m:t>
                      </m:r>
                    </m:oMath>
                  </m:oMathPara>
                </a14:m>
                <a:endParaRPr lang="en-US" sz="2800" dirty="0">
                  <a:latin typeface="Times New Roman" panose="02020603050405020304" pitchFamily="18" charset="0"/>
                  <a:cs typeface="B Nazanin" panose="00000400000000000000" pitchFamily="2" charset="-78"/>
                </a:endParaRPr>
              </a:p>
            </p:txBody>
          </p:sp>
        </mc:Choice>
        <mc:Fallback>
          <p:sp>
            <p:nvSpPr>
              <p:cNvPr id="3" name="TextBox 2">
                <a:extLst>
                  <a:ext uri="{FF2B5EF4-FFF2-40B4-BE49-F238E27FC236}">
                    <a16:creationId xmlns:a16="http://schemas.microsoft.com/office/drawing/2014/main" id="{4FD9BB5B-1B2C-9747-F2C7-BD3D759CBBEF}"/>
                  </a:ext>
                </a:extLst>
              </p:cNvPr>
              <p:cNvSpPr txBox="1">
                <a:spLocks noRot="1" noChangeAspect="1" noMove="1" noResize="1" noEditPoints="1" noAdjustHandles="1" noChangeArrowheads="1" noChangeShapeType="1" noTextEdit="1"/>
              </p:cNvSpPr>
              <p:nvPr/>
            </p:nvSpPr>
            <p:spPr>
              <a:xfrm>
                <a:off x="1910590" y="5463958"/>
                <a:ext cx="8370818" cy="523220"/>
              </a:xfrm>
              <a:prstGeom prst="rect">
                <a:avLst/>
              </a:prstGeom>
              <a:blipFill>
                <a:blip r:embed="rId3"/>
                <a:stretch>
                  <a:fillRect/>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02C6BCEB-7D6A-F29E-077C-0EECC9A261CD}"/>
              </a:ext>
            </a:extLst>
          </p:cNvPr>
          <p:cNvSpPr>
            <a:spLocks noGrp="1"/>
          </p:cNvSpPr>
          <p:nvPr>
            <p:ph type="sldNum" sz="quarter" idx="12"/>
          </p:nvPr>
        </p:nvSpPr>
        <p:spPr/>
        <p:txBody>
          <a:bodyPr/>
          <a:lstStyle/>
          <a:p>
            <a:fld id="{111A70C6-53E1-4616-9BEB-862F2340207D}" type="slidenum">
              <a:rPr lang="en-US" smtClean="0"/>
              <a:t>6</a:t>
            </a:fld>
            <a:endParaRPr lang="en-US"/>
          </a:p>
        </p:txBody>
      </p:sp>
      <p:sp>
        <p:nvSpPr>
          <p:cNvPr id="6" name="TextBox 5">
            <a:extLst>
              <a:ext uri="{FF2B5EF4-FFF2-40B4-BE49-F238E27FC236}">
                <a16:creationId xmlns:a16="http://schemas.microsoft.com/office/drawing/2014/main" id="{F1BCD42E-CB0F-2C81-15D0-DAB3680024F1}"/>
              </a:ext>
            </a:extLst>
          </p:cNvPr>
          <p:cNvSpPr txBox="1"/>
          <p:nvPr/>
        </p:nvSpPr>
        <p:spPr>
          <a:xfrm>
            <a:off x="438995" y="130678"/>
            <a:ext cx="4454552" cy="646331"/>
          </a:xfrm>
          <a:prstGeom prst="rect">
            <a:avLst/>
          </a:prstGeom>
          <a:noFill/>
        </p:spPr>
        <p:txBody>
          <a:bodyPr wrap="square" rtlCol="0">
            <a:spAutoFit/>
          </a:bodyPr>
          <a:lstStyle/>
          <a:p>
            <a:r>
              <a:rPr lang="fa-IR" sz="3600" b="1" dirty="0">
                <a:solidFill>
                  <a:srgbClr val="FF0000"/>
                </a:solidFill>
                <a:latin typeface="Times New Roman" panose="02020603050405020304" pitchFamily="18" charset="0"/>
                <a:cs typeface="B Nazanin" panose="00000400000000000000" pitchFamily="2" charset="-78"/>
              </a:rPr>
              <a:t>fluorescent beads</a:t>
            </a:r>
            <a:endParaRPr lang="en-US" sz="3600" dirty="0">
              <a:solidFill>
                <a:srgbClr val="FF0000"/>
              </a:solidFill>
              <a:latin typeface="Times New Roman" panose="02020603050405020304" pitchFamily="18" charset="0"/>
              <a:cs typeface="B Nazanin" panose="00000400000000000000" pitchFamily="2" charset="-78"/>
            </a:endParaRPr>
          </a:p>
        </p:txBody>
      </p:sp>
      <p:sp>
        <p:nvSpPr>
          <p:cNvPr id="10" name="TextBox 9">
            <a:extLst>
              <a:ext uri="{FF2B5EF4-FFF2-40B4-BE49-F238E27FC236}">
                <a16:creationId xmlns:a16="http://schemas.microsoft.com/office/drawing/2014/main" id="{798E3AAE-1755-F7EF-9051-951E6D9F9A86}"/>
              </a:ext>
            </a:extLst>
          </p:cNvPr>
          <p:cNvSpPr txBox="1"/>
          <p:nvPr/>
        </p:nvSpPr>
        <p:spPr>
          <a:xfrm>
            <a:off x="6714133" y="1189796"/>
            <a:ext cx="6094324" cy="873572"/>
          </a:xfrm>
          <a:prstGeom prst="rect">
            <a:avLst/>
          </a:prstGeom>
          <a:noFill/>
        </p:spPr>
        <p:txBody>
          <a:bodyPr wrap="square">
            <a:spAutoFit/>
          </a:bodyPr>
          <a:lstStyle/>
          <a:p>
            <a:pPr>
              <a:lnSpc>
                <a:spcPct val="150000"/>
              </a:lnSpc>
            </a:pPr>
            <a:r>
              <a:rPr lang="en-US" b="1" u="sng" dirty="0">
                <a:latin typeface="Times New Roman" panose="02020603050405020304" pitchFamily="18" charset="0"/>
                <a:cs typeface="Times New Roman" panose="02020603050405020304" pitchFamily="18" charset="0"/>
              </a:rPr>
              <a:t>NIST reference materials</a:t>
            </a:r>
          </a:p>
          <a:p>
            <a:pPr>
              <a:lnSpc>
                <a:spcPct val="150000"/>
              </a:lnSpc>
            </a:pPr>
            <a:endParaRPr lang="en-US"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0095AB83-4DE5-1F4C-28DB-D1B2B0D81CB9}"/>
                  </a:ext>
                </a:extLst>
              </p14:cNvPr>
              <p14:cNvContentPartPr/>
              <p14:nvPr/>
            </p14:nvContentPartPr>
            <p14:xfrm>
              <a:off x="679672" y="3214649"/>
              <a:ext cx="10080" cy="15480"/>
            </p14:xfrm>
          </p:contentPart>
        </mc:Choice>
        <mc:Fallback>
          <p:pic>
            <p:nvPicPr>
              <p:cNvPr id="5" name="Ink 4">
                <a:extLst>
                  <a:ext uri="{FF2B5EF4-FFF2-40B4-BE49-F238E27FC236}">
                    <a16:creationId xmlns:a16="http://schemas.microsoft.com/office/drawing/2014/main" id="{0095AB83-4DE5-1F4C-28DB-D1B2B0D81CB9}"/>
                  </a:ext>
                </a:extLst>
              </p:cNvPr>
              <p:cNvPicPr/>
              <p:nvPr/>
            </p:nvPicPr>
            <p:blipFill>
              <a:blip r:embed="rId5"/>
              <a:stretch>
                <a:fillRect/>
              </a:stretch>
            </p:blipFill>
            <p:spPr>
              <a:xfrm>
                <a:off x="671032" y="3205649"/>
                <a:ext cx="27720" cy="33120"/>
              </a:xfrm>
              <a:prstGeom prst="rect">
                <a:avLst/>
              </a:prstGeom>
            </p:spPr>
          </p:pic>
        </mc:Fallback>
      </mc:AlternateContent>
      <p:sp>
        <p:nvSpPr>
          <p:cNvPr id="9" name="TextBox 8">
            <a:extLst>
              <a:ext uri="{FF2B5EF4-FFF2-40B4-BE49-F238E27FC236}">
                <a16:creationId xmlns:a16="http://schemas.microsoft.com/office/drawing/2014/main" id="{1A97B627-E475-5E7B-2A28-0671B8FF3267}"/>
              </a:ext>
            </a:extLst>
          </p:cNvPr>
          <p:cNvSpPr txBox="1"/>
          <p:nvPr/>
        </p:nvSpPr>
        <p:spPr>
          <a:xfrm>
            <a:off x="286829" y="4402218"/>
            <a:ext cx="6427304" cy="784830"/>
          </a:xfrm>
          <a:prstGeom prst="rect">
            <a:avLst/>
          </a:prstGeom>
          <a:noFill/>
        </p:spPr>
        <p:txBody>
          <a:bodyPr wrap="square">
            <a:spAutoFit/>
          </a:bodyPr>
          <a:lstStyle/>
          <a:p>
            <a:pPr marL="285750" indent="-285750">
              <a:lnSpc>
                <a:spcPct val="300000"/>
              </a:lnSpc>
              <a:buFont typeface="Arial" panose="020B0604020202020204" pitchFamily="34" charset="0"/>
              <a:buChar char="•"/>
            </a:pPr>
            <a:r>
              <a:rPr lang="fa-IR" b="1" dirty="0">
                <a:latin typeface="Times New Roman" panose="02020603050405020304" pitchFamily="18" charset="0"/>
                <a:cs typeface="B Nazanin" panose="00000400000000000000" pitchFamily="2" charset="-78"/>
              </a:rPr>
              <a:t>MFI </a:t>
            </a:r>
            <a:r>
              <a:rPr lang="en-US" b="1" dirty="0">
                <a:latin typeface="Times New Roman" panose="02020603050405020304" pitchFamily="18" charset="0"/>
                <a:cs typeface="B Nazanin" panose="00000400000000000000" pitchFamily="2" charset="-78"/>
              </a:rPr>
              <a:t>: </a:t>
            </a:r>
            <a:r>
              <a:rPr lang="fa-IR" b="1" dirty="0">
                <a:latin typeface="Times New Roman" panose="02020603050405020304" pitchFamily="18" charset="0"/>
                <a:cs typeface="B Nazanin" panose="00000400000000000000" pitchFamily="2" charset="-78"/>
              </a:rPr>
              <a:t>Mean Fluorescence</a:t>
            </a:r>
            <a:r>
              <a:rPr lang="en-US" b="1" dirty="0">
                <a:latin typeface="Times New Roman" panose="02020603050405020304" pitchFamily="18" charset="0"/>
                <a:cs typeface="B Nazanin" panose="00000400000000000000" pitchFamily="2" charset="-78"/>
              </a:rPr>
              <a:t> Intensity</a:t>
            </a:r>
            <a:endParaRPr lang="en-US" dirty="0">
              <a:latin typeface="Times New Roman" panose="02020603050405020304" pitchFamily="18" charset="0"/>
              <a:cs typeface="B Nazanin" panose="00000400000000000000" pitchFamily="2" charset="-78"/>
            </a:endParaRPr>
          </a:p>
        </p:txBody>
      </p:sp>
    </p:spTree>
    <p:extLst>
      <p:ext uri="{BB962C8B-B14F-4D97-AF65-F5344CB8AC3E}">
        <p14:creationId xmlns:p14="http://schemas.microsoft.com/office/powerpoint/2010/main" val="2110804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41DB11-2F3D-4D9A-51DB-A6A384ECAF1C}"/>
              </a:ext>
            </a:extLst>
          </p:cNvPr>
          <p:cNvSpPr>
            <a:spLocks noGrp="1"/>
          </p:cNvSpPr>
          <p:nvPr>
            <p:ph type="sldNum" sz="quarter" idx="12"/>
          </p:nvPr>
        </p:nvSpPr>
        <p:spPr/>
        <p:txBody>
          <a:bodyPr/>
          <a:lstStyle/>
          <a:p>
            <a:fld id="{111A70C6-53E1-4616-9BEB-862F2340207D}" type="slidenum">
              <a:rPr lang="en-US" smtClean="0"/>
              <a:t>7</a:t>
            </a:fld>
            <a:endParaRPr lang="en-US"/>
          </a:p>
        </p:txBody>
      </p:sp>
      <p:sp>
        <p:nvSpPr>
          <p:cNvPr id="4" name="TextBox 3">
            <a:extLst>
              <a:ext uri="{FF2B5EF4-FFF2-40B4-BE49-F238E27FC236}">
                <a16:creationId xmlns:a16="http://schemas.microsoft.com/office/drawing/2014/main" id="{625857A0-1425-1150-4F4D-6255D8742D89}"/>
              </a:ext>
            </a:extLst>
          </p:cNvPr>
          <p:cNvSpPr txBox="1"/>
          <p:nvPr/>
        </p:nvSpPr>
        <p:spPr>
          <a:xfrm>
            <a:off x="0" y="296304"/>
            <a:ext cx="11830878" cy="2795958"/>
          </a:xfrm>
          <a:prstGeom prst="rect">
            <a:avLst/>
          </a:prstGeom>
          <a:noFill/>
        </p:spPr>
        <p:txBody>
          <a:bodyPr wrap="square">
            <a:spAutoFit/>
          </a:bodyPr>
          <a:lstStyle/>
          <a:p>
            <a:pPr algn="r" rtl="1">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 200 bead </a:t>
            </a:r>
            <a:r>
              <a:rPr lang="en-US" sz="2400" dirty="0" err="1">
                <a:latin typeface="Times New Roman" panose="02020603050405020304" pitchFamily="18" charset="0"/>
                <a:cs typeface="B Nazanin" panose="00000400000000000000" pitchFamily="2" charset="-78"/>
              </a:rPr>
              <a:t>دستگاه</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برای</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هر</a:t>
            </a:r>
            <a:r>
              <a:rPr lang="en-US" sz="2400" dirty="0">
                <a:latin typeface="Times New Roman" panose="02020603050405020304" pitchFamily="18" charset="0"/>
                <a:cs typeface="B Nazanin" panose="00000400000000000000" pitchFamily="2" charset="-78"/>
              </a:rPr>
              <a:t> bead </a:t>
            </a:r>
            <a:r>
              <a:rPr lang="en-US" sz="2400" dirty="0" err="1">
                <a:latin typeface="Times New Roman" panose="02020603050405020304" pitchFamily="18" charset="0"/>
                <a:cs typeface="B Nazanin" panose="00000400000000000000" pitchFamily="2" charset="-78"/>
              </a:rPr>
              <a:t>یک</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عدد</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فلورسانس</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می‌دهد</a:t>
            </a:r>
            <a:r>
              <a:rPr lang="en-US" sz="2400" dirty="0">
                <a:latin typeface="Times New Roman" panose="02020603050405020304" pitchFamily="18" charset="0"/>
                <a:cs typeface="B Nazanin" panose="00000400000000000000" pitchFamily="2" charset="-78"/>
              </a:rPr>
              <a:t>. </a:t>
            </a:r>
            <a:endParaRPr lang="fa-IR" sz="24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r>
              <a:rPr lang="en-US" sz="2400" dirty="0" err="1">
                <a:latin typeface="Times New Roman" panose="02020603050405020304" pitchFamily="18" charset="0"/>
                <a:cs typeface="B Nazanin" panose="00000400000000000000" pitchFamily="2" charset="-78"/>
              </a:rPr>
              <a:t>مثال</a:t>
            </a:r>
            <a:r>
              <a:rPr lang="en-US" sz="2400" dirty="0">
                <a:latin typeface="Times New Roman" panose="02020603050405020304" pitchFamily="18" charset="0"/>
                <a:cs typeface="B Nazanin" panose="00000400000000000000" pitchFamily="2" charset="-78"/>
              </a:rPr>
              <a:t>: Bead 1 = 12100</a:t>
            </a:r>
          </a:p>
          <a:p>
            <a:pPr algn="r" rtl="1">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Bead 2 = 12450</a:t>
            </a:r>
          </a:p>
          <a:p>
            <a:pPr algn="r" rtl="1">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Bead 3 = 12300</a:t>
            </a:r>
          </a:p>
          <a:p>
            <a:pPr algn="r" rtl="1">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 Median fluorescence intensity = 12,300</a:t>
            </a:r>
          </a:p>
        </p:txBody>
      </p:sp>
      <p:sp>
        <p:nvSpPr>
          <p:cNvPr id="6" name="TextBox 5">
            <a:extLst>
              <a:ext uri="{FF2B5EF4-FFF2-40B4-BE49-F238E27FC236}">
                <a16:creationId xmlns:a16="http://schemas.microsoft.com/office/drawing/2014/main" id="{951874EB-84F3-D3EE-47CA-344C9E52D264}"/>
              </a:ext>
            </a:extLst>
          </p:cNvPr>
          <p:cNvSpPr txBox="1"/>
          <p:nvPr/>
        </p:nvSpPr>
        <p:spPr>
          <a:xfrm>
            <a:off x="212035" y="3171450"/>
            <a:ext cx="11569148" cy="3370153"/>
          </a:xfrm>
          <a:prstGeom prst="rect">
            <a:avLst/>
          </a:prstGeom>
          <a:noFill/>
        </p:spPr>
        <p:txBody>
          <a:bodyPr wrap="square">
            <a:spAutoFit/>
          </a:bodyPr>
          <a:lstStyle/>
          <a:p>
            <a:pPr algn="r" rtl="1">
              <a:lnSpc>
                <a:spcPct val="150000"/>
              </a:lnSpc>
              <a:buFont typeface="Arial" panose="020B0604020202020204" pitchFamily="34" charset="0"/>
              <a:buChar char="•"/>
            </a:pPr>
            <a:r>
              <a:rPr lang="en-US" sz="2400" dirty="0" err="1">
                <a:latin typeface="Times New Roman" panose="02020603050405020304" pitchFamily="18" charset="0"/>
                <a:cs typeface="B Nazanin" panose="00000400000000000000" pitchFamily="2" charset="-78"/>
              </a:rPr>
              <a:t>برای</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هر</a:t>
            </a:r>
            <a:r>
              <a:rPr lang="en-US" sz="2400" dirty="0">
                <a:latin typeface="Times New Roman" panose="02020603050405020304" pitchFamily="18" charset="0"/>
                <a:cs typeface="B Nazanin" panose="00000400000000000000" pitchFamily="2" charset="-78"/>
              </a:rPr>
              <a:t> bead </a:t>
            </a:r>
            <a:r>
              <a:rPr lang="fa-IR" sz="2400" dirty="0">
                <a:latin typeface="Times New Roman" panose="02020603050405020304" pitchFamily="18" charset="0"/>
                <a:cs typeface="B Nazanin" panose="00000400000000000000" pitchFamily="2" charset="-78"/>
              </a:rPr>
              <a:t> </a:t>
            </a:r>
            <a:r>
              <a:rPr lang="en-US" sz="2400" dirty="0">
                <a:latin typeface="Times New Roman" panose="02020603050405020304" pitchFamily="18" charset="0"/>
                <a:cs typeface="B Nazanin" panose="00000400000000000000" pitchFamily="2" charset="-78"/>
              </a:rPr>
              <a:t>و </a:t>
            </a:r>
            <a:r>
              <a:rPr lang="en-US" sz="2400" dirty="0" err="1">
                <a:latin typeface="Times New Roman" panose="02020603050405020304" pitchFamily="18" charset="0"/>
                <a:cs typeface="B Nazanin" panose="00000400000000000000" pitchFamily="2" charset="-78"/>
              </a:rPr>
              <a:t>هر</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کانال</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یک</a:t>
            </a:r>
            <a:r>
              <a:rPr lang="en-US" sz="2400" dirty="0">
                <a:latin typeface="Times New Roman" panose="02020603050405020304" pitchFamily="18" charset="0"/>
                <a:cs typeface="B Nazanin" panose="00000400000000000000" pitchFamily="2" charset="-78"/>
              </a:rPr>
              <a:t> Target MFI </a:t>
            </a:r>
            <a:r>
              <a:rPr lang="en-US" sz="2400" dirty="0" err="1">
                <a:latin typeface="Times New Roman" panose="02020603050405020304" pitchFamily="18" charset="0"/>
                <a:cs typeface="B Nazanin" panose="00000400000000000000" pitchFamily="2" charset="-78"/>
              </a:rPr>
              <a:t>یا</a:t>
            </a:r>
            <a:r>
              <a:rPr lang="en-US" sz="2400" dirty="0">
                <a:latin typeface="Times New Roman" panose="02020603050405020304" pitchFamily="18" charset="0"/>
                <a:cs typeface="B Nazanin" panose="00000400000000000000" pitchFamily="2" charset="-78"/>
              </a:rPr>
              <a:t> baseline </a:t>
            </a:r>
            <a:r>
              <a:rPr lang="fa-IR"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تعریف</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می‌شود</a:t>
            </a:r>
            <a:endParaRPr lang="fa-IR" sz="24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 MFI </a:t>
            </a:r>
            <a:r>
              <a:rPr lang="en-US" sz="2400" dirty="0" err="1">
                <a:latin typeface="Times New Roman" panose="02020603050405020304" pitchFamily="18" charset="0"/>
                <a:cs typeface="B Nazanin" panose="00000400000000000000" pitchFamily="2" charset="-78"/>
              </a:rPr>
              <a:t>امروز</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با</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مقدار</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مرجع</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قبلی</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همان</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کانال</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مقایسه</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می‌شود</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اگر</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اختلاف</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در</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محدوده</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قابل</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قبول</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باشد</a:t>
            </a:r>
            <a:r>
              <a:rPr lang="en-US" sz="2400" dirty="0">
                <a:latin typeface="Times New Roman" panose="02020603050405020304" pitchFamily="18" charset="0"/>
                <a:cs typeface="B Nazanin" panose="00000400000000000000" pitchFamily="2" charset="-78"/>
              </a:rPr>
              <a:t>، QC </a:t>
            </a:r>
            <a:r>
              <a:rPr lang="fa-IR"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آن</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شاخص</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قبول</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است</a:t>
            </a:r>
            <a:endParaRPr lang="fa-IR" sz="24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مثال</a:t>
            </a:r>
            <a:r>
              <a:rPr lang="en-US" sz="2400" dirty="0">
                <a:latin typeface="Times New Roman" panose="02020603050405020304" pitchFamily="18" charset="0"/>
                <a:cs typeface="B Nazanin" panose="00000400000000000000" pitchFamily="2" charset="-78"/>
              </a:rPr>
              <a:t>: Target MFI = 12,000</a:t>
            </a:r>
          </a:p>
          <a:p>
            <a:pPr algn="r" rtl="1">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MFI today = 12,240</a:t>
            </a:r>
          </a:p>
          <a:p>
            <a:pPr algn="r" rtl="1">
              <a:lnSpc>
                <a:spcPct val="150000"/>
              </a:lnSpc>
              <a:buFont typeface="Arial" panose="020B0604020202020204" pitchFamily="34" charset="0"/>
              <a:buChar char="•"/>
            </a:pPr>
            <a:r>
              <a:rPr lang="en-US" sz="2400" dirty="0" err="1">
                <a:latin typeface="Times New Roman" panose="02020603050405020304" pitchFamily="18" charset="0"/>
                <a:cs typeface="B Nazanin" panose="00000400000000000000" pitchFamily="2" charset="-78"/>
              </a:rPr>
              <a:t>اختلاف</a:t>
            </a:r>
            <a:r>
              <a:rPr lang="en-US" sz="2400" dirty="0">
                <a:latin typeface="Times New Roman" panose="02020603050405020304" pitchFamily="18" charset="0"/>
                <a:cs typeface="B Nazanin" panose="00000400000000000000" pitchFamily="2" charset="-78"/>
              </a:rPr>
              <a:t> = +2%</a:t>
            </a:r>
            <a:r>
              <a:rPr lang="fa-IR"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اگر</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محدوده</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پذیرش</a:t>
            </a:r>
            <a:r>
              <a:rPr lang="en-US" sz="2400" dirty="0">
                <a:latin typeface="Times New Roman" panose="02020603050405020304" pitchFamily="18" charset="0"/>
                <a:cs typeface="B Nazanin" panose="00000400000000000000" pitchFamily="2" charset="-78"/>
              </a:rPr>
              <a:t> ±5% </a:t>
            </a:r>
            <a:r>
              <a:rPr lang="en-US" sz="2400" dirty="0" err="1">
                <a:latin typeface="Times New Roman" panose="02020603050405020304" pitchFamily="18" charset="0"/>
                <a:cs typeface="B Nazanin" panose="00000400000000000000" pitchFamily="2" charset="-78"/>
              </a:rPr>
              <a:t>باشد</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نتیجه</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قابل</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قبول</a:t>
            </a:r>
            <a:r>
              <a:rPr lang="en-US" sz="2400" dirty="0">
                <a:latin typeface="Times New Roman" panose="02020603050405020304" pitchFamily="18" charset="0"/>
                <a:cs typeface="B Nazanin" panose="00000400000000000000" pitchFamily="2" charset="-78"/>
              </a:rPr>
              <a:t> </a:t>
            </a:r>
            <a:r>
              <a:rPr lang="en-US" sz="2400" dirty="0" err="1">
                <a:latin typeface="Times New Roman" panose="02020603050405020304" pitchFamily="18" charset="0"/>
                <a:cs typeface="B Nazanin" panose="00000400000000000000" pitchFamily="2" charset="-78"/>
              </a:rPr>
              <a:t>است</a:t>
            </a:r>
            <a:r>
              <a:rPr lang="en-US" sz="2400" dirty="0">
                <a:latin typeface="Times New Roman" panose="02020603050405020304" pitchFamily="18" charset="0"/>
                <a:cs typeface="B Nazanin" panose="00000400000000000000" pitchFamily="2" charset="-78"/>
              </a:rPr>
              <a:t>.</a:t>
            </a:r>
          </a:p>
        </p:txBody>
      </p:sp>
    </p:spTree>
    <p:extLst>
      <p:ext uri="{BB962C8B-B14F-4D97-AF65-F5344CB8AC3E}">
        <p14:creationId xmlns:p14="http://schemas.microsoft.com/office/powerpoint/2010/main" val="3156964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FDA6B0-EB88-17A2-2B10-449902483A91}"/>
              </a:ext>
            </a:extLst>
          </p:cNvPr>
          <p:cNvSpPr>
            <a:spLocks noGrp="1"/>
          </p:cNvSpPr>
          <p:nvPr>
            <p:ph type="sldNum" sz="quarter" idx="12"/>
          </p:nvPr>
        </p:nvSpPr>
        <p:spPr/>
        <p:txBody>
          <a:bodyPr/>
          <a:lstStyle/>
          <a:p>
            <a:fld id="{111A70C6-53E1-4616-9BEB-862F2340207D}" type="slidenum">
              <a:rPr lang="en-US" smtClean="0"/>
              <a:t>8</a:t>
            </a:fld>
            <a:endParaRPr lang="en-US"/>
          </a:p>
        </p:txBody>
      </p:sp>
      <p:graphicFrame>
        <p:nvGraphicFramePr>
          <p:cNvPr id="3" name="Table 2">
            <a:extLst>
              <a:ext uri="{FF2B5EF4-FFF2-40B4-BE49-F238E27FC236}">
                <a16:creationId xmlns:a16="http://schemas.microsoft.com/office/drawing/2014/main" id="{ECE4A6E4-E961-9023-D805-B6DA8E3F6C9A}"/>
              </a:ext>
            </a:extLst>
          </p:cNvPr>
          <p:cNvGraphicFramePr>
            <a:graphicFrameLocks noGrp="1"/>
          </p:cNvGraphicFramePr>
          <p:nvPr>
            <p:extLst>
              <p:ext uri="{D42A27DB-BD31-4B8C-83A1-F6EECF244321}">
                <p14:modId xmlns:p14="http://schemas.microsoft.com/office/powerpoint/2010/main" val="3080858212"/>
              </p:ext>
            </p:extLst>
          </p:nvPr>
        </p:nvGraphicFramePr>
        <p:xfrm>
          <a:off x="437322" y="1351722"/>
          <a:ext cx="10916478" cy="3535680"/>
        </p:xfrm>
        <a:graphic>
          <a:graphicData uri="http://schemas.openxmlformats.org/drawingml/2006/table">
            <a:tbl>
              <a:tblPr>
                <a:tableStyleId>{3B4B98B0-60AC-42C2-AFA5-B58CD77FA1E5}</a:tableStyleId>
              </a:tblPr>
              <a:tblGrid>
                <a:gridCol w="3638826">
                  <a:extLst>
                    <a:ext uri="{9D8B030D-6E8A-4147-A177-3AD203B41FA5}">
                      <a16:colId xmlns:a16="http://schemas.microsoft.com/office/drawing/2014/main" val="84034524"/>
                    </a:ext>
                  </a:extLst>
                </a:gridCol>
                <a:gridCol w="3638826">
                  <a:extLst>
                    <a:ext uri="{9D8B030D-6E8A-4147-A177-3AD203B41FA5}">
                      <a16:colId xmlns:a16="http://schemas.microsoft.com/office/drawing/2014/main" val="905703933"/>
                    </a:ext>
                  </a:extLst>
                </a:gridCol>
                <a:gridCol w="3638826">
                  <a:extLst>
                    <a:ext uri="{9D8B030D-6E8A-4147-A177-3AD203B41FA5}">
                      <a16:colId xmlns:a16="http://schemas.microsoft.com/office/drawing/2014/main" val="1623774077"/>
                    </a:ext>
                  </a:extLst>
                </a:gridCol>
              </a:tblGrid>
              <a:tr h="414649">
                <a:tc>
                  <a:txBody>
                    <a:bodyPr/>
                    <a:lstStyle/>
                    <a:p>
                      <a:pPr algn="ctr" rtl="1">
                        <a:buNone/>
                      </a:pPr>
                      <a:r>
                        <a:rPr lang="en-US" sz="2800" baseline="0" dirty="0" err="1">
                          <a:effectLst/>
                          <a:latin typeface="Times New Roman" panose="02020603050405020304" pitchFamily="18" charset="0"/>
                          <a:cs typeface="B Nazanin" panose="00000400000000000000" pitchFamily="2" charset="-78"/>
                        </a:rPr>
                        <a:t>درصد</a:t>
                      </a:r>
                      <a:r>
                        <a:rPr lang="en-US" sz="2800" baseline="0" dirty="0">
                          <a:effectLst/>
                          <a:latin typeface="Times New Roman" panose="02020603050405020304" pitchFamily="18" charset="0"/>
                          <a:cs typeface="B Nazanin" panose="00000400000000000000" pitchFamily="2" charset="-78"/>
                        </a:rPr>
                        <a:t> </a:t>
                      </a:r>
                      <a:r>
                        <a:rPr lang="en-US" sz="2800" baseline="0" dirty="0" err="1">
                          <a:effectLst/>
                          <a:latin typeface="Times New Roman" panose="02020603050405020304" pitchFamily="18" charset="0"/>
                          <a:cs typeface="B Nazanin" panose="00000400000000000000" pitchFamily="2" charset="-78"/>
                        </a:rPr>
                        <a:t>اختلاف</a:t>
                      </a:r>
                      <a:r>
                        <a:rPr lang="en-US" sz="2800" baseline="0" dirty="0">
                          <a:effectLst/>
                          <a:latin typeface="Times New Roman" panose="02020603050405020304" pitchFamily="18" charset="0"/>
                          <a:cs typeface="B Nazanin" panose="00000400000000000000" pitchFamily="2" charset="-78"/>
                        </a:rPr>
                        <a:t> </a:t>
                      </a:r>
                      <a:r>
                        <a:rPr lang="en-US" sz="2800" baseline="0" dirty="0" err="1">
                          <a:effectLst/>
                          <a:latin typeface="Times New Roman" panose="02020603050405020304" pitchFamily="18" charset="0"/>
                          <a:cs typeface="B Nazanin" panose="00000400000000000000" pitchFamily="2" charset="-78"/>
                        </a:rPr>
                        <a:t>از</a:t>
                      </a:r>
                      <a:r>
                        <a:rPr lang="en-US" sz="2800" baseline="0" dirty="0">
                          <a:effectLst/>
                          <a:latin typeface="Times New Roman" panose="02020603050405020304" pitchFamily="18" charset="0"/>
                          <a:cs typeface="B Nazanin" panose="00000400000000000000" pitchFamily="2" charset="-78"/>
                        </a:rPr>
                        <a:t> Target MFI</a:t>
                      </a:r>
                    </a:p>
                  </a:txBody>
                  <a:tcPr anchor="ctr"/>
                </a:tc>
                <a:tc>
                  <a:txBody>
                    <a:bodyPr/>
                    <a:lstStyle/>
                    <a:p>
                      <a:pPr algn="ctr" rtl="1">
                        <a:buNone/>
                      </a:pPr>
                      <a:r>
                        <a:rPr lang="en-US" sz="2800" baseline="0">
                          <a:effectLst/>
                          <a:latin typeface="Times New Roman" panose="02020603050405020304" pitchFamily="18" charset="0"/>
                          <a:cs typeface="B Nazanin" panose="00000400000000000000" pitchFamily="2" charset="-78"/>
                        </a:rPr>
                        <a:t>تفسیر</a:t>
                      </a:r>
                    </a:p>
                  </a:txBody>
                  <a:tcPr anchor="ctr"/>
                </a:tc>
                <a:tc>
                  <a:txBody>
                    <a:bodyPr/>
                    <a:lstStyle/>
                    <a:p>
                      <a:pPr algn="ctr" rtl="1">
                        <a:buNone/>
                      </a:pPr>
                      <a:r>
                        <a:rPr lang="en-US" sz="2800" baseline="0">
                          <a:effectLst/>
                          <a:latin typeface="Times New Roman" panose="02020603050405020304" pitchFamily="18" charset="0"/>
                          <a:cs typeface="B Nazanin" panose="00000400000000000000" pitchFamily="2" charset="-78"/>
                        </a:rPr>
                        <a:t>اقدام پیشنهادی</a:t>
                      </a:r>
                    </a:p>
                  </a:txBody>
                  <a:tcPr anchor="ctr"/>
                </a:tc>
                <a:extLst>
                  <a:ext uri="{0D108BD9-81ED-4DB2-BD59-A6C34878D82A}">
                    <a16:rowId xmlns:a16="http://schemas.microsoft.com/office/drawing/2014/main" val="3269312777"/>
                  </a:ext>
                </a:extLst>
              </a:tr>
              <a:tr h="414649">
                <a:tc>
                  <a:txBody>
                    <a:bodyPr/>
                    <a:lstStyle/>
                    <a:p>
                      <a:pPr algn="ctr" rtl="1">
                        <a:buNone/>
                      </a:pPr>
                      <a:r>
                        <a:rPr lang="en-US" sz="2800" baseline="0">
                          <a:effectLst/>
                          <a:latin typeface="Times New Roman" panose="02020603050405020304" pitchFamily="18" charset="0"/>
                          <a:cs typeface="B Nazanin" panose="00000400000000000000" pitchFamily="2" charset="-78"/>
                        </a:rPr>
                        <a:t>0 تا ±5%</a:t>
                      </a:r>
                    </a:p>
                  </a:txBody>
                  <a:tcPr anchor="ctr"/>
                </a:tc>
                <a:tc>
                  <a:txBody>
                    <a:bodyPr/>
                    <a:lstStyle/>
                    <a:p>
                      <a:pPr algn="ctr" rtl="1">
                        <a:buNone/>
                      </a:pPr>
                      <a:r>
                        <a:rPr lang="fa-IR" sz="2800" baseline="0">
                          <a:effectLst/>
                          <a:latin typeface="Times New Roman" panose="02020603050405020304" pitchFamily="18" charset="0"/>
                          <a:cs typeface="B Nazanin" panose="00000400000000000000" pitchFamily="2" charset="-78"/>
                        </a:rPr>
                        <a:t>بسیار خوب / قابل قبول</a:t>
                      </a:r>
                    </a:p>
                  </a:txBody>
                  <a:tcPr anchor="ctr"/>
                </a:tc>
                <a:tc>
                  <a:txBody>
                    <a:bodyPr/>
                    <a:lstStyle/>
                    <a:p>
                      <a:pPr algn="ctr" rtl="1">
                        <a:buNone/>
                      </a:pPr>
                      <a:r>
                        <a:rPr lang="en-US" sz="2800" baseline="0">
                          <a:effectLst/>
                          <a:latin typeface="Times New Roman" panose="02020603050405020304" pitchFamily="18" charset="0"/>
                          <a:cs typeface="B Nazanin" panose="00000400000000000000" pitchFamily="2" charset="-78"/>
                        </a:rPr>
                        <a:t>Pass</a:t>
                      </a:r>
                    </a:p>
                  </a:txBody>
                  <a:tcPr anchor="ctr"/>
                </a:tc>
                <a:extLst>
                  <a:ext uri="{0D108BD9-81ED-4DB2-BD59-A6C34878D82A}">
                    <a16:rowId xmlns:a16="http://schemas.microsoft.com/office/drawing/2014/main" val="1462091031"/>
                  </a:ext>
                </a:extLst>
              </a:tr>
              <a:tr h="414649">
                <a:tc>
                  <a:txBody>
                    <a:bodyPr/>
                    <a:lstStyle/>
                    <a:p>
                      <a:pPr algn="ctr" rtl="1">
                        <a:buNone/>
                      </a:pPr>
                      <a:r>
                        <a:rPr lang="en-US" sz="2800" baseline="0">
                          <a:effectLst/>
                          <a:latin typeface="Times New Roman" panose="02020603050405020304" pitchFamily="18" charset="0"/>
                          <a:cs typeface="B Nazanin" panose="00000400000000000000" pitchFamily="2" charset="-78"/>
                        </a:rPr>
                        <a:t>±5% تا ±10%</a:t>
                      </a:r>
                    </a:p>
                  </a:txBody>
                  <a:tcPr anchor="ctr"/>
                </a:tc>
                <a:tc>
                  <a:txBody>
                    <a:bodyPr/>
                    <a:lstStyle/>
                    <a:p>
                      <a:pPr algn="ctr" rtl="1">
                        <a:buNone/>
                      </a:pPr>
                      <a:r>
                        <a:rPr lang="fa-IR" sz="2800" baseline="0">
                          <a:effectLst/>
                          <a:latin typeface="Times New Roman" panose="02020603050405020304" pitchFamily="18" charset="0"/>
                          <a:cs typeface="B Nazanin" panose="00000400000000000000" pitchFamily="2" charset="-78"/>
                        </a:rPr>
                        <a:t>قابل قبول با احتیاط یا مرزی</a:t>
                      </a:r>
                    </a:p>
                  </a:txBody>
                  <a:tcPr anchor="ctr"/>
                </a:tc>
                <a:tc>
                  <a:txBody>
                    <a:bodyPr/>
                    <a:lstStyle/>
                    <a:p>
                      <a:pPr algn="ctr" rtl="1">
                        <a:buNone/>
                      </a:pPr>
                      <a:r>
                        <a:rPr lang="fa-IR" sz="2800" baseline="0">
                          <a:effectLst/>
                          <a:latin typeface="Times New Roman" panose="02020603050405020304" pitchFamily="18" charset="0"/>
                          <a:cs typeface="B Nazanin" panose="00000400000000000000" pitchFamily="2" charset="-78"/>
                        </a:rPr>
                        <a:t>بررسی روند روزهای قبل</a:t>
                      </a:r>
                    </a:p>
                  </a:txBody>
                  <a:tcPr anchor="ctr"/>
                </a:tc>
                <a:extLst>
                  <a:ext uri="{0D108BD9-81ED-4DB2-BD59-A6C34878D82A}">
                    <a16:rowId xmlns:a16="http://schemas.microsoft.com/office/drawing/2014/main" val="1380674173"/>
                  </a:ext>
                </a:extLst>
              </a:tr>
              <a:tr h="414649">
                <a:tc>
                  <a:txBody>
                    <a:bodyPr/>
                    <a:lstStyle/>
                    <a:p>
                      <a:pPr algn="ctr" rtl="1">
                        <a:buNone/>
                      </a:pPr>
                      <a:r>
                        <a:rPr lang="en-US" sz="2800" baseline="0">
                          <a:effectLst/>
                          <a:latin typeface="Times New Roman" panose="02020603050405020304" pitchFamily="18" charset="0"/>
                          <a:cs typeface="B Nazanin" panose="00000400000000000000" pitchFamily="2" charset="-78"/>
                        </a:rPr>
                        <a:t>±10% تا ±15%</a:t>
                      </a:r>
                    </a:p>
                  </a:txBody>
                  <a:tcPr anchor="ctr"/>
                </a:tc>
                <a:tc>
                  <a:txBody>
                    <a:bodyPr/>
                    <a:lstStyle/>
                    <a:p>
                      <a:pPr algn="ctr" rtl="1">
                        <a:buNone/>
                      </a:pPr>
                      <a:r>
                        <a:rPr lang="fa-IR" sz="2800" baseline="0">
                          <a:effectLst/>
                          <a:latin typeface="Times New Roman" panose="02020603050405020304" pitchFamily="18" charset="0"/>
                          <a:cs typeface="B Nazanin" panose="00000400000000000000" pitchFamily="2" charset="-78"/>
                        </a:rPr>
                        <a:t>مشکوک</a:t>
                      </a:r>
                    </a:p>
                  </a:txBody>
                  <a:tcPr anchor="ctr"/>
                </a:tc>
                <a:tc>
                  <a:txBody>
                    <a:bodyPr/>
                    <a:lstStyle/>
                    <a:p>
                      <a:pPr algn="ctr" rtl="1">
                        <a:buNone/>
                      </a:pPr>
                      <a:r>
                        <a:rPr lang="fa-IR" sz="2800" baseline="0">
                          <a:effectLst/>
                          <a:latin typeface="Times New Roman" panose="02020603050405020304" pitchFamily="18" charset="0"/>
                          <a:cs typeface="B Nazanin" panose="00000400000000000000" pitchFamily="2" charset="-78"/>
                        </a:rPr>
                        <a:t>تکرار bead و بررسی تنظیمات</a:t>
                      </a:r>
                    </a:p>
                  </a:txBody>
                  <a:tcPr anchor="ctr"/>
                </a:tc>
                <a:extLst>
                  <a:ext uri="{0D108BD9-81ED-4DB2-BD59-A6C34878D82A}">
                    <a16:rowId xmlns:a16="http://schemas.microsoft.com/office/drawing/2014/main" val="3661626962"/>
                  </a:ext>
                </a:extLst>
              </a:tr>
              <a:tr h="414649">
                <a:tc>
                  <a:txBody>
                    <a:bodyPr/>
                    <a:lstStyle/>
                    <a:p>
                      <a:pPr algn="ctr" rtl="1">
                        <a:buNone/>
                      </a:pPr>
                      <a:r>
                        <a:rPr lang="en-US" sz="2800" baseline="0">
                          <a:effectLst/>
                          <a:latin typeface="Times New Roman" panose="02020603050405020304" pitchFamily="18" charset="0"/>
                          <a:cs typeface="B Nazanin" panose="00000400000000000000" pitchFamily="2" charset="-78"/>
                        </a:rPr>
                        <a:t>±15% تا ±20%</a:t>
                      </a:r>
                    </a:p>
                  </a:txBody>
                  <a:tcPr anchor="ctr"/>
                </a:tc>
                <a:tc>
                  <a:txBody>
                    <a:bodyPr/>
                    <a:lstStyle/>
                    <a:p>
                      <a:pPr algn="ctr" rtl="1">
                        <a:buNone/>
                      </a:pPr>
                      <a:r>
                        <a:rPr lang="fa-IR" sz="2800" baseline="0">
                          <a:effectLst/>
                          <a:latin typeface="Times New Roman" panose="02020603050405020304" pitchFamily="18" charset="0"/>
                          <a:cs typeface="B Nazanin" panose="00000400000000000000" pitchFamily="2" charset="-78"/>
                        </a:rPr>
                        <a:t>نامطلوب</a:t>
                      </a:r>
                    </a:p>
                  </a:txBody>
                  <a:tcPr anchor="ctr"/>
                </a:tc>
                <a:tc>
                  <a:txBody>
                    <a:bodyPr/>
                    <a:lstStyle/>
                    <a:p>
                      <a:pPr algn="ctr" rtl="1">
                        <a:buNone/>
                      </a:pPr>
                      <a:r>
                        <a:rPr lang="fa-IR" sz="2800" baseline="0">
                          <a:effectLst/>
                          <a:latin typeface="Times New Roman" panose="02020603050405020304" pitchFamily="18" charset="0"/>
                          <a:cs typeface="B Nazanin" panose="00000400000000000000" pitchFamily="2" charset="-78"/>
                        </a:rPr>
                        <a:t>troubleshooting لازم است</a:t>
                      </a:r>
                    </a:p>
                  </a:txBody>
                  <a:tcPr anchor="ctr"/>
                </a:tc>
                <a:extLst>
                  <a:ext uri="{0D108BD9-81ED-4DB2-BD59-A6C34878D82A}">
                    <a16:rowId xmlns:a16="http://schemas.microsoft.com/office/drawing/2014/main" val="1051485129"/>
                  </a:ext>
                </a:extLst>
              </a:tr>
              <a:tr h="414649">
                <a:tc>
                  <a:txBody>
                    <a:bodyPr/>
                    <a:lstStyle/>
                    <a:p>
                      <a:pPr algn="ctr" rtl="1">
                        <a:buNone/>
                      </a:pPr>
                      <a:r>
                        <a:rPr lang="fa-IR" sz="2800" baseline="0" dirty="0">
                          <a:effectLst/>
                          <a:latin typeface="Times New Roman" panose="02020603050405020304" pitchFamily="18" charset="0"/>
                          <a:cs typeface="B Nazanin" panose="00000400000000000000" pitchFamily="2" charset="-78"/>
                        </a:rPr>
                        <a:t>بیشتر از ±20%</a:t>
                      </a:r>
                    </a:p>
                  </a:txBody>
                  <a:tcPr anchor="ctr"/>
                </a:tc>
                <a:tc>
                  <a:txBody>
                    <a:bodyPr/>
                    <a:lstStyle/>
                    <a:p>
                      <a:pPr algn="ctr" rtl="1">
                        <a:buNone/>
                      </a:pPr>
                      <a:r>
                        <a:rPr lang="fa-IR" sz="2800" baseline="0">
                          <a:effectLst/>
                          <a:latin typeface="Times New Roman" panose="02020603050405020304" pitchFamily="18" charset="0"/>
                          <a:cs typeface="B Nazanin" panose="00000400000000000000" pitchFamily="2" charset="-78"/>
                        </a:rPr>
                        <a:t>مردود</a:t>
                      </a:r>
                    </a:p>
                  </a:txBody>
                  <a:tcPr anchor="ctr"/>
                </a:tc>
                <a:tc>
                  <a:txBody>
                    <a:bodyPr/>
                    <a:lstStyle/>
                    <a:p>
                      <a:pPr algn="ctr" rtl="1">
                        <a:buNone/>
                      </a:pPr>
                      <a:r>
                        <a:rPr lang="fa-IR" sz="2800" baseline="0" dirty="0">
                          <a:effectLst/>
                          <a:latin typeface="Times New Roman" panose="02020603050405020304" pitchFamily="18" charset="0"/>
                          <a:cs typeface="B Nazanin" panose="00000400000000000000" pitchFamily="2" charset="-78"/>
                        </a:rPr>
                        <a:t>عدم پذیرش QC تا بررسی کامل</a:t>
                      </a:r>
                    </a:p>
                  </a:txBody>
                  <a:tcPr anchor="ctr"/>
                </a:tc>
                <a:extLst>
                  <a:ext uri="{0D108BD9-81ED-4DB2-BD59-A6C34878D82A}">
                    <a16:rowId xmlns:a16="http://schemas.microsoft.com/office/drawing/2014/main" val="1501666501"/>
                  </a:ext>
                </a:extLst>
              </a:tr>
            </a:tbl>
          </a:graphicData>
        </a:graphic>
      </p:graphicFrame>
    </p:spTree>
    <p:extLst>
      <p:ext uri="{BB962C8B-B14F-4D97-AF65-F5344CB8AC3E}">
        <p14:creationId xmlns:p14="http://schemas.microsoft.com/office/powerpoint/2010/main" val="1460486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DDCDED-8A9E-F691-0514-1D27742F704D}"/>
              </a:ext>
            </a:extLst>
          </p:cNvPr>
          <p:cNvSpPr>
            <a:spLocks noGrp="1"/>
          </p:cNvSpPr>
          <p:nvPr>
            <p:ph type="sldNum" sz="quarter" idx="12"/>
          </p:nvPr>
        </p:nvSpPr>
        <p:spPr/>
        <p:txBody>
          <a:bodyPr/>
          <a:lstStyle/>
          <a:p>
            <a:fld id="{111A70C6-53E1-4616-9BEB-862F2340207D}" type="slidenum">
              <a:rPr lang="en-US" smtClean="0"/>
              <a:t>9</a:t>
            </a:fld>
            <a:endParaRPr lang="en-US"/>
          </a:p>
        </p:txBody>
      </p:sp>
      <p:sp>
        <p:nvSpPr>
          <p:cNvPr id="6" name="TextBox 5">
            <a:extLst>
              <a:ext uri="{FF2B5EF4-FFF2-40B4-BE49-F238E27FC236}">
                <a16:creationId xmlns:a16="http://schemas.microsoft.com/office/drawing/2014/main" id="{E663E9E2-E989-763C-46F5-1E36C911D874}"/>
              </a:ext>
            </a:extLst>
          </p:cNvPr>
          <p:cNvSpPr txBox="1"/>
          <p:nvPr/>
        </p:nvSpPr>
        <p:spPr>
          <a:xfrm>
            <a:off x="231913" y="3513402"/>
            <a:ext cx="11728173" cy="2677656"/>
          </a:xfrm>
          <a:prstGeom prst="rect">
            <a:avLst/>
          </a:prstGeom>
          <a:noFill/>
        </p:spPr>
        <p:txBody>
          <a:bodyPr wrap="square">
            <a:spAutoFit/>
          </a:bodyPr>
          <a:lstStyle/>
          <a:p>
            <a:pPr marL="457200" indent="-457200" algn="r" rtl="1">
              <a:buFont typeface="Arial" panose="020B0604020202020204" pitchFamily="34" charset="0"/>
              <a:buChar char="•"/>
            </a:pPr>
            <a:r>
              <a:rPr lang="ar-SA" sz="2800" dirty="0">
                <a:latin typeface="Times New Roman" panose="02020603050405020304" pitchFamily="18" charset="0"/>
                <a:cs typeface="B Nazanin" panose="00000400000000000000" pitchFamily="2" charset="-78"/>
              </a:rPr>
              <a:t>هر کانال </a:t>
            </a:r>
            <a:r>
              <a:rPr lang="en-US" sz="2800" dirty="0">
                <a:latin typeface="Times New Roman" panose="02020603050405020304" pitchFamily="18" charset="0"/>
                <a:cs typeface="B Nazanin" panose="00000400000000000000" pitchFamily="2" charset="-78"/>
              </a:rPr>
              <a:t>Target MFI </a:t>
            </a:r>
            <a:r>
              <a:rPr lang="ar-SA" sz="2800" dirty="0">
                <a:latin typeface="Times New Roman" panose="02020603050405020304" pitchFamily="18" charset="0"/>
                <a:cs typeface="B Nazanin" panose="00000400000000000000" pitchFamily="2" charset="-78"/>
              </a:rPr>
              <a:t>مخصوص خودش را دارد. عدد </a:t>
            </a:r>
            <a:r>
              <a:rPr lang="en-US" sz="2800" dirty="0">
                <a:latin typeface="Times New Roman" panose="02020603050405020304" pitchFamily="18" charset="0"/>
                <a:cs typeface="B Nazanin" panose="00000400000000000000" pitchFamily="2" charset="-78"/>
              </a:rPr>
              <a:t> FITC </a:t>
            </a:r>
            <a:r>
              <a:rPr lang="ar-SA" sz="2800" dirty="0">
                <a:latin typeface="Times New Roman" panose="02020603050405020304" pitchFamily="18" charset="0"/>
                <a:cs typeface="B Nazanin" panose="00000400000000000000" pitchFamily="2" charset="-78"/>
              </a:rPr>
              <a:t>را نباید با </a:t>
            </a:r>
            <a:r>
              <a:rPr lang="en-US" sz="2800" dirty="0">
                <a:latin typeface="Times New Roman" panose="02020603050405020304" pitchFamily="18" charset="0"/>
                <a:cs typeface="B Nazanin" panose="00000400000000000000" pitchFamily="2" charset="-78"/>
              </a:rPr>
              <a:t>APC </a:t>
            </a:r>
            <a:r>
              <a:rPr lang="fa-IR" sz="2800" dirty="0">
                <a:latin typeface="Times New Roman" panose="02020603050405020304" pitchFamily="18" charset="0"/>
                <a:cs typeface="B Nazanin" panose="00000400000000000000" pitchFamily="2" charset="-78"/>
              </a:rPr>
              <a:t> </a:t>
            </a:r>
            <a:r>
              <a:rPr lang="ar-SA" sz="2800" dirty="0">
                <a:latin typeface="Times New Roman" panose="02020603050405020304" pitchFamily="18" charset="0"/>
                <a:cs typeface="B Nazanin" panose="00000400000000000000" pitchFamily="2" charset="-78"/>
              </a:rPr>
              <a:t>مقایسه کرد؛ بلکه </a:t>
            </a:r>
            <a:r>
              <a:rPr lang="en-US" sz="2800" dirty="0">
                <a:latin typeface="Times New Roman" panose="02020603050405020304" pitchFamily="18" charset="0"/>
                <a:cs typeface="B Nazanin" panose="00000400000000000000" pitchFamily="2" charset="-78"/>
              </a:rPr>
              <a:t>MFI </a:t>
            </a:r>
            <a:r>
              <a:rPr lang="fa-IR" sz="2800" dirty="0">
                <a:latin typeface="Times New Roman" panose="02020603050405020304" pitchFamily="18" charset="0"/>
                <a:cs typeface="B Nazanin" panose="00000400000000000000" pitchFamily="2" charset="-78"/>
              </a:rPr>
              <a:t> </a:t>
            </a:r>
            <a:r>
              <a:rPr lang="ar-SA" sz="2800" dirty="0">
                <a:latin typeface="Times New Roman" panose="02020603050405020304" pitchFamily="18" charset="0"/>
                <a:cs typeface="B Nazanin" panose="00000400000000000000" pitchFamily="2" charset="-78"/>
              </a:rPr>
              <a:t>امروز </a:t>
            </a:r>
            <a:r>
              <a:rPr lang="en-US" sz="2800" dirty="0">
                <a:latin typeface="Times New Roman" panose="02020603050405020304" pitchFamily="18" charset="0"/>
                <a:cs typeface="B Nazanin" panose="00000400000000000000" pitchFamily="2" charset="-78"/>
              </a:rPr>
              <a:t>FITC </a:t>
            </a:r>
            <a:r>
              <a:rPr lang="fa-IR" sz="2800" dirty="0">
                <a:latin typeface="Times New Roman" panose="02020603050405020304" pitchFamily="18" charset="0"/>
                <a:cs typeface="B Nazanin" panose="00000400000000000000" pitchFamily="2" charset="-78"/>
              </a:rPr>
              <a:t> </a:t>
            </a:r>
            <a:r>
              <a:rPr lang="ar-SA" sz="2800" dirty="0">
                <a:latin typeface="Times New Roman" panose="02020603050405020304" pitchFamily="18" charset="0"/>
                <a:cs typeface="B Nazanin" panose="00000400000000000000" pitchFamily="2" charset="-78"/>
              </a:rPr>
              <a:t>با </a:t>
            </a:r>
            <a:r>
              <a:rPr lang="en-US" sz="2800" dirty="0">
                <a:latin typeface="Times New Roman" panose="02020603050405020304" pitchFamily="18" charset="0"/>
                <a:cs typeface="B Nazanin" panose="00000400000000000000" pitchFamily="2" charset="-78"/>
              </a:rPr>
              <a:t>baseline </a:t>
            </a:r>
            <a:r>
              <a:rPr lang="fa-IR" sz="2800" dirty="0">
                <a:latin typeface="Times New Roman" panose="02020603050405020304" pitchFamily="18" charset="0"/>
                <a:cs typeface="B Nazanin" panose="00000400000000000000" pitchFamily="2" charset="-78"/>
              </a:rPr>
              <a:t> </a:t>
            </a:r>
            <a:r>
              <a:rPr lang="ar-SA" sz="2800" dirty="0">
                <a:latin typeface="Times New Roman" panose="02020603050405020304" pitchFamily="18" charset="0"/>
                <a:cs typeface="B Nazanin" panose="00000400000000000000" pitchFamily="2" charset="-78"/>
              </a:rPr>
              <a:t>قبلی </a:t>
            </a:r>
            <a:r>
              <a:rPr lang="en-US" sz="2800" dirty="0">
                <a:latin typeface="Times New Roman" panose="02020603050405020304" pitchFamily="18" charset="0"/>
                <a:cs typeface="B Nazanin" panose="00000400000000000000" pitchFamily="2" charset="-78"/>
              </a:rPr>
              <a:t>FITC </a:t>
            </a:r>
            <a:r>
              <a:rPr lang="fa-IR" sz="2800" dirty="0">
                <a:latin typeface="Times New Roman" panose="02020603050405020304" pitchFamily="18" charset="0"/>
                <a:cs typeface="B Nazanin" panose="00000400000000000000" pitchFamily="2" charset="-78"/>
              </a:rPr>
              <a:t> </a:t>
            </a:r>
            <a:r>
              <a:rPr lang="ar-SA" sz="2800" dirty="0">
                <a:latin typeface="Times New Roman" panose="02020603050405020304" pitchFamily="18" charset="0"/>
                <a:cs typeface="B Nazanin" panose="00000400000000000000" pitchFamily="2" charset="-78"/>
              </a:rPr>
              <a:t>مقایسه می‌شود.</a:t>
            </a:r>
          </a:p>
          <a:p>
            <a:pPr marL="457200" indent="-457200" algn="r" rtl="1">
              <a:buFont typeface="Arial" panose="020B0604020202020204" pitchFamily="34" charset="0"/>
              <a:buChar char="•"/>
            </a:pPr>
            <a:endParaRPr lang="ar-SA" sz="2800" dirty="0">
              <a:latin typeface="Times New Roman" panose="02020603050405020304" pitchFamily="18" charset="0"/>
              <a:cs typeface="B Nazanin" panose="00000400000000000000" pitchFamily="2" charset="-78"/>
            </a:endParaRPr>
          </a:p>
          <a:p>
            <a:pPr marL="457200" indent="-457200" algn="r" rtl="1">
              <a:buFont typeface="Arial" panose="020B0604020202020204" pitchFamily="34" charset="0"/>
              <a:buChar char="•"/>
            </a:pPr>
            <a:r>
              <a:rPr lang="ar-SA" sz="2800" dirty="0">
                <a:latin typeface="Times New Roman" panose="02020603050405020304" pitchFamily="18" charset="0"/>
                <a:cs typeface="B Nazanin" panose="00000400000000000000" pitchFamily="2" charset="-78"/>
              </a:rPr>
              <a:t>اگر فقط </a:t>
            </a:r>
            <a:r>
              <a:rPr lang="en-US" sz="2800" dirty="0">
                <a:latin typeface="Times New Roman" panose="02020603050405020304" pitchFamily="18" charset="0"/>
                <a:cs typeface="B Nazanin" panose="00000400000000000000" pitchFamily="2" charset="-78"/>
              </a:rPr>
              <a:t> MFI </a:t>
            </a:r>
            <a:r>
              <a:rPr lang="ar-SA" sz="2800" dirty="0">
                <a:latin typeface="Times New Roman" panose="02020603050405020304" pitchFamily="18" charset="0"/>
                <a:cs typeface="B Nazanin" panose="00000400000000000000" pitchFamily="2" charset="-78"/>
              </a:rPr>
              <a:t>کانال </a:t>
            </a:r>
            <a:r>
              <a:rPr lang="en-US" sz="2800" dirty="0">
                <a:latin typeface="Times New Roman" panose="02020603050405020304" pitchFamily="18" charset="0"/>
                <a:cs typeface="B Nazanin" panose="00000400000000000000" pitchFamily="2" charset="-78"/>
              </a:rPr>
              <a:t>PE  </a:t>
            </a:r>
            <a:r>
              <a:rPr lang="ar-SA" sz="2800" dirty="0">
                <a:latin typeface="Times New Roman" panose="02020603050405020304" pitchFamily="18" charset="0"/>
                <a:cs typeface="B Nazanin" panose="00000400000000000000" pitchFamily="2" charset="-78"/>
              </a:rPr>
              <a:t>تغییر کرده باشد، احتمالاً مشکل مربوط به مسیر اپتیکی یا </a:t>
            </a:r>
            <a:r>
              <a:rPr lang="en-US" sz="2800" dirty="0">
                <a:latin typeface="Times New Roman" panose="02020603050405020304" pitchFamily="18" charset="0"/>
                <a:cs typeface="B Nazanin" panose="00000400000000000000" pitchFamily="2" charset="-78"/>
              </a:rPr>
              <a:t>detector </a:t>
            </a:r>
            <a:r>
              <a:rPr lang="fa-IR" sz="2800" dirty="0">
                <a:latin typeface="Times New Roman" panose="02020603050405020304" pitchFamily="18" charset="0"/>
                <a:cs typeface="B Nazanin" panose="00000400000000000000" pitchFamily="2" charset="-78"/>
              </a:rPr>
              <a:t> </a:t>
            </a:r>
            <a:r>
              <a:rPr lang="ar-SA" sz="2800" dirty="0">
                <a:latin typeface="Times New Roman" panose="02020603050405020304" pitchFamily="18" charset="0"/>
                <a:cs typeface="B Nazanin" panose="00000400000000000000" pitchFamily="2" charset="-78"/>
              </a:rPr>
              <a:t>همان کانال است. اگر همه کانال‌های وابسته به یک لیزر افت کنند، ممکن است توان یا </a:t>
            </a:r>
            <a:r>
              <a:rPr lang="en-US" sz="2800" dirty="0">
                <a:latin typeface="Times New Roman" panose="02020603050405020304" pitchFamily="18" charset="0"/>
                <a:cs typeface="B Nazanin" panose="00000400000000000000" pitchFamily="2" charset="-78"/>
              </a:rPr>
              <a:t> alignment </a:t>
            </a:r>
            <a:r>
              <a:rPr lang="ar-SA" sz="2800" dirty="0">
                <a:latin typeface="Times New Roman" panose="02020603050405020304" pitchFamily="18" charset="0"/>
                <a:cs typeface="B Nazanin" panose="00000400000000000000" pitchFamily="2" charset="-78"/>
              </a:rPr>
              <a:t>آن لیزر مشکل داشته باشد.</a:t>
            </a:r>
          </a:p>
        </p:txBody>
      </p:sp>
      <p:grpSp>
        <p:nvGrpSpPr>
          <p:cNvPr id="21" name="Group 20">
            <a:extLst>
              <a:ext uri="{FF2B5EF4-FFF2-40B4-BE49-F238E27FC236}">
                <a16:creationId xmlns:a16="http://schemas.microsoft.com/office/drawing/2014/main" id="{E345CA08-72F1-2FE6-DA4E-CACADD46F40D}"/>
              </a:ext>
            </a:extLst>
          </p:cNvPr>
          <p:cNvGrpSpPr/>
          <p:nvPr/>
        </p:nvGrpSpPr>
        <p:grpSpPr>
          <a:xfrm>
            <a:off x="2756451" y="781878"/>
            <a:ext cx="6426384" cy="1957938"/>
            <a:chOff x="2756451" y="781878"/>
            <a:chExt cx="6426384" cy="1957938"/>
          </a:xfrm>
        </p:grpSpPr>
        <p:sp>
          <p:nvSpPr>
            <p:cNvPr id="8" name="TextBox 7">
              <a:extLst>
                <a:ext uri="{FF2B5EF4-FFF2-40B4-BE49-F238E27FC236}">
                  <a16:creationId xmlns:a16="http://schemas.microsoft.com/office/drawing/2014/main" id="{135EB31B-2C13-5200-078C-C0155468357D}"/>
                </a:ext>
              </a:extLst>
            </p:cNvPr>
            <p:cNvSpPr txBox="1"/>
            <p:nvPr/>
          </p:nvSpPr>
          <p:spPr>
            <a:xfrm>
              <a:off x="2756451" y="781878"/>
              <a:ext cx="6042992" cy="1957938"/>
            </a:xfrm>
            <a:prstGeom prst="rect">
              <a:avLst/>
            </a:prstGeom>
            <a:noFill/>
          </p:spPr>
          <p:txBody>
            <a:bodyPr wrap="square">
              <a:spAutoFit/>
            </a:bodyPr>
            <a:lstStyle/>
            <a:p>
              <a:pPr marL="342900" indent="-342900" algn="r" rtl="1">
                <a:buFont typeface="Arial" panose="020B0604020202020204" pitchFamily="34" charset="0"/>
                <a:buChar char="•"/>
              </a:pPr>
              <a:r>
                <a:rPr lang="ar-SA" sz="2400" dirty="0"/>
                <a:t>کانال	</a:t>
              </a:r>
              <a:r>
                <a:rPr lang="en-US" sz="2400" dirty="0"/>
                <a:t> Median fluorescence            </a:t>
              </a:r>
            </a:p>
            <a:p>
              <a:pPr marL="342900" indent="-342900" algn="r" rtl="1">
                <a:buFont typeface="Arial" panose="020B0604020202020204" pitchFamily="34" charset="0"/>
                <a:buChar char="•"/>
              </a:pPr>
              <a:r>
                <a:rPr lang="en-US" sz="2400" dirty="0"/>
                <a:t>FITC	12,000</a:t>
              </a:r>
            </a:p>
            <a:p>
              <a:pPr marL="342900" indent="-342900" algn="r" rtl="1">
                <a:buFont typeface="Arial" panose="020B0604020202020204" pitchFamily="34" charset="0"/>
                <a:buChar char="•"/>
              </a:pPr>
              <a:r>
                <a:rPr lang="en-US" sz="2400" dirty="0"/>
                <a:t>PE </a:t>
              </a:r>
              <a:r>
                <a:rPr lang="fa-IR" sz="2400" dirty="0"/>
                <a:t>   </a:t>
              </a:r>
              <a:r>
                <a:rPr lang="en-US" sz="2400" dirty="0"/>
                <a:t>	  25,000</a:t>
              </a:r>
            </a:p>
            <a:p>
              <a:pPr marL="342900" indent="-342900" algn="r" rtl="1">
                <a:buFont typeface="Arial" panose="020B0604020202020204" pitchFamily="34" charset="0"/>
                <a:buChar char="•"/>
              </a:pPr>
              <a:r>
                <a:rPr lang="en-US" sz="2400" dirty="0" err="1"/>
                <a:t>PerCP</a:t>
              </a:r>
              <a:r>
                <a:rPr lang="en-US" sz="2400" dirty="0"/>
                <a:t>	8,500</a:t>
              </a:r>
            </a:p>
            <a:p>
              <a:pPr marL="342900" indent="-342900" algn="r" rtl="1">
                <a:buFont typeface="Arial" panose="020B0604020202020204" pitchFamily="34" charset="0"/>
                <a:buChar char="•"/>
              </a:pPr>
              <a:r>
                <a:rPr lang="en-US" sz="2400" dirty="0"/>
                <a:t>APC	18,000              </a:t>
              </a:r>
              <a:r>
                <a:rPr lang="fa-IR" sz="2400" dirty="0"/>
                <a:t> </a:t>
              </a:r>
              <a:r>
                <a:rPr lang="en-US" sz="2400" dirty="0"/>
                <a:t> </a:t>
              </a:r>
            </a:p>
          </p:txBody>
        </p:sp>
        <p:cxnSp>
          <p:nvCxnSpPr>
            <p:cNvPr id="10" name="Straight Connector 9">
              <a:extLst>
                <a:ext uri="{FF2B5EF4-FFF2-40B4-BE49-F238E27FC236}">
                  <a16:creationId xmlns:a16="http://schemas.microsoft.com/office/drawing/2014/main" id="{0301416B-9987-EF8F-1667-D92689C0AD53}"/>
                </a:ext>
              </a:extLst>
            </p:cNvPr>
            <p:cNvCxnSpPr>
              <a:cxnSpLocks/>
            </p:cNvCxnSpPr>
            <p:nvPr/>
          </p:nvCxnSpPr>
          <p:spPr>
            <a:xfrm>
              <a:off x="7368209" y="781878"/>
              <a:ext cx="0" cy="1957938"/>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4199D3B7-B1CC-12CF-6C4E-06FC5CAC30DA}"/>
                </a:ext>
              </a:extLst>
            </p:cNvPr>
            <p:cNvCxnSpPr>
              <a:cxnSpLocks/>
            </p:cNvCxnSpPr>
            <p:nvPr/>
          </p:nvCxnSpPr>
          <p:spPr>
            <a:xfrm>
              <a:off x="3790121" y="1235695"/>
              <a:ext cx="5392714" cy="0"/>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1152D635-511E-328C-33FD-B31FAD308D09}"/>
                </a:ext>
              </a:extLst>
            </p:cNvPr>
            <p:cNvCxnSpPr>
              <a:cxnSpLocks/>
            </p:cNvCxnSpPr>
            <p:nvPr/>
          </p:nvCxnSpPr>
          <p:spPr>
            <a:xfrm>
              <a:off x="3790121" y="1944686"/>
              <a:ext cx="5392714" cy="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D965E1BC-5271-E0B3-89B8-08646512C559}"/>
                </a:ext>
              </a:extLst>
            </p:cNvPr>
            <p:cNvCxnSpPr>
              <a:cxnSpLocks/>
            </p:cNvCxnSpPr>
            <p:nvPr/>
          </p:nvCxnSpPr>
          <p:spPr>
            <a:xfrm>
              <a:off x="3790121" y="2295868"/>
              <a:ext cx="5392714" cy="0"/>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E63FA383-18AB-D5F1-B9BD-6DC8E42EDB2F}"/>
                </a:ext>
              </a:extLst>
            </p:cNvPr>
            <p:cNvCxnSpPr>
              <a:cxnSpLocks/>
            </p:cNvCxnSpPr>
            <p:nvPr/>
          </p:nvCxnSpPr>
          <p:spPr>
            <a:xfrm>
              <a:off x="3790121" y="1573625"/>
              <a:ext cx="5392714" cy="0"/>
            </a:xfrm>
            <a:prstGeom prst="line">
              <a:avLst/>
            </a:prstGeom>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1278296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C18AD6-B09B-5F5A-232B-819AE4AFB689}"/>
              </a:ext>
            </a:extLst>
          </p:cNvPr>
          <p:cNvSpPr txBox="1"/>
          <p:nvPr/>
        </p:nvSpPr>
        <p:spPr>
          <a:xfrm>
            <a:off x="186813" y="198792"/>
            <a:ext cx="4483158" cy="584775"/>
          </a:xfrm>
          <a:prstGeom prst="rect">
            <a:avLst/>
          </a:prstGeom>
          <a:noFill/>
        </p:spPr>
        <p:txBody>
          <a:bodyPr wrap="square">
            <a:spAutoFit/>
          </a:bodyPr>
          <a:lstStyle/>
          <a:p>
            <a:r>
              <a:rPr lang="en-US" sz="3200" b="1" dirty="0"/>
              <a:t>P</a:t>
            </a:r>
            <a:r>
              <a:rPr lang="fa-IR" sz="3200" b="1" dirty="0"/>
              <a:t>article</a:t>
            </a:r>
            <a:r>
              <a:rPr lang="en-US" sz="3200" b="1" dirty="0"/>
              <a:t> </a:t>
            </a:r>
            <a:r>
              <a:rPr lang="fa-IR" sz="3200" b="1" dirty="0"/>
              <a:t>alignment</a:t>
            </a:r>
            <a:endParaRPr lang="fa-IR" sz="3200" dirty="0"/>
          </a:p>
        </p:txBody>
      </p:sp>
      <p:pic>
        <p:nvPicPr>
          <p:cNvPr id="5" name="Picture 4">
            <a:extLst>
              <a:ext uri="{FF2B5EF4-FFF2-40B4-BE49-F238E27FC236}">
                <a16:creationId xmlns:a16="http://schemas.microsoft.com/office/drawing/2014/main" id="{85141C73-6935-31E2-992E-1284A759CC21}"/>
              </a:ext>
            </a:extLst>
          </p:cNvPr>
          <p:cNvPicPr>
            <a:picLocks noChangeAspect="1"/>
          </p:cNvPicPr>
          <p:nvPr/>
        </p:nvPicPr>
        <p:blipFill>
          <a:blip r:embed="rId3"/>
          <a:srcRect l="6450" t="14449"/>
          <a:stretch>
            <a:fillRect/>
          </a:stretch>
        </p:blipFill>
        <p:spPr>
          <a:xfrm>
            <a:off x="3537857" y="783566"/>
            <a:ext cx="5525774" cy="2292377"/>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EAB0815-B476-B050-B54A-95FCFAD92717}"/>
                  </a:ext>
                </a:extLst>
              </p:cNvPr>
              <p:cNvSpPr txBox="1"/>
              <p:nvPr/>
            </p:nvSpPr>
            <p:spPr>
              <a:xfrm>
                <a:off x="3114353" y="4550158"/>
                <a:ext cx="5963293" cy="1438855"/>
              </a:xfrm>
              <a:prstGeom prst="rect">
                <a:avLst/>
              </a:prstGeom>
              <a:noFill/>
            </p:spPr>
            <p:txBody>
              <a:bodyPr wrap="square">
                <a:spAutoFit/>
              </a:bodyPr>
              <a:lstStyle/>
              <a:p>
                <a:pPr algn="r" rtl="1">
                  <a:lnSpc>
                    <a:spcPct val="150000"/>
                  </a:lnSpc>
                  <a:buNone/>
                </a:pPr>
                <a:r>
                  <a:rPr lang="fa-IR" sz="2000" dirty="0">
                    <a:latin typeface="Times New Roman" panose="02020603050405020304" pitchFamily="18" charset="0"/>
                    <a:cs typeface="B Nazanin" panose="00000400000000000000" pitchFamily="2" charset="-78"/>
                  </a:rPr>
                  <a:t>اگر سلول از مرکز لیزر فاصله داشته باشد، مثلاً</a:t>
                </a:r>
                <a14:m>
                  <m:oMath xmlns:m="http://schemas.openxmlformats.org/officeDocument/2006/math">
                    <m:r>
                      <a:rPr lang="fa-IR" sz="2000" i="1">
                        <a:latin typeface="Cambria Math" panose="02040503050406030204" pitchFamily="18" charset="0"/>
                      </a:rPr>
                      <m:t>𝑟</m:t>
                    </m:r>
                  </m:oMath>
                </a14:m>
                <a:r>
                  <a:rPr lang="fa-IR" sz="2000" dirty="0">
                    <a:latin typeface="Times New Roman" panose="02020603050405020304" pitchFamily="18" charset="0"/>
                    <a:cs typeface="B Nazanin" panose="00000400000000000000" pitchFamily="2" charset="-78"/>
                  </a:rPr>
                  <a:t>  بزرگ‌تر شود:</a:t>
                </a:r>
              </a:p>
              <a:p>
                <a:pPr>
                  <a:lnSpc>
                    <a:spcPct val="150000"/>
                  </a:lnSpc>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𝐼</m:t>
                      </m:r>
                      <m:d>
                        <m:dPr>
                          <m:ctrlPr>
                            <a:rPr lang="en-US" sz="2000" i="1">
                              <a:latin typeface="Cambria Math" panose="02040503050406030204" pitchFamily="18" charset="0"/>
                            </a:rPr>
                          </m:ctrlPr>
                        </m:dPr>
                        <m:e>
                          <m:r>
                            <a:rPr lang="en-US" sz="2000" i="1">
                              <a:latin typeface="Cambria Math" panose="02040503050406030204" pitchFamily="18" charset="0"/>
                            </a:rPr>
                            <m:t>𝑟</m:t>
                          </m:r>
                        </m:e>
                      </m:d>
                      <m:r>
                        <a:rPr lang="en-US" sz="2000" i="0">
                          <a:latin typeface="Cambria Math" panose="02040503050406030204" pitchFamily="18" charset="0"/>
                        </a:rPr>
                        <m:t>&lt;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0">
                              <a:latin typeface="Cambria Math" panose="02040503050406030204" pitchFamily="18" charset="0"/>
                            </a:rPr>
                            <m:t>0</m:t>
                          </m:r>
                        </m:sub>
                      </m:sSub>
                    </m:oMath>
                  </m:oMathPara>
                </a14:m>
                <a:endParaRPr lang="en-US" sz="2000" dirty="0">
                  <a:latin typeface="Times New Roman" panose="02020603050405020304" pitchFamily="18" charset="0"/>
                  <a:cs typeface="B Nazanin" panose="00000400000000000000" pitchFamily="2" charset="-78"/>
                </a:endParaRPr>
              </a:p>
              <a:p>
                <a:pPr rtl="1">
                  <a:lnSpc>
                    <a:spcPct val="150000"/>
                  </a:lnSpc>
                  <a:buNone/>
                </a:pPr>
                <a:r>
                  <a:rPr lang="fa-IR" sz="2000" dirty="0">
                    <a:latin typeface="Times New Roman" panose="02020603050405020304" pitchFamily="18" charset="0"/>
                    <a:cs typeface="B Nazanin" panose="00000400000000000000" pitchFamily="2" charset="-78"/>
                  </a:rPr>
                  <a:t>پس فلورسانس کمتری تولید می‌کند</a:t>
                </a:r>
              </a:p>
            </p:txBody>
          </p:sp>
        </mc:Choice>
        <mc:Fallback>
          <p:sp>
            <p:nvSpPr>
              <p:cNvPr id="7" name="TextBox 6">
                <a:extLst>
                  <a:ext uri="{FF2B5EF4-FFF2-40B4-BE49-F238E27FC236}">
                    <a16:creationId xmlns:a16="http://schemas.microsoft.com/office/drawing/2014/main" id="{3EAB0815-B476-B050-B54A-95FCFAD92717}"/>
                  </a:ext>
                </a:extLst>
              </p:cNvPr>
              <p:cNvSpPr txBox="1">
                <a:spLocks noRot="1" noChangeAspect="1" noMove="1" noResize="1" noEditPoints="1" noAdjustHandles="1" noChangeArrowheads="1" noChangeShapeType="1" noTextEdit="1"/>
              </p:cNvSpPr>
              <p:nvPr/>
            </p:nvSpPr>
            <p:spPr>
              <a:xfrm>
                <a:off x="3114353" y="4550158"/>
                <a:ext cx="5963293" cy="1438855"/>
              </a:xfrm>
              <a:prstGeom prst="rect">
                <a:avLst/>
              </a:prstGeom>
              <a:blipFill>
                <a:blip r:embed="rId4"/>
                <a:stretch>
                  <a:fillRect l="-1125" r="-1022" b="-678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7E6F7A89-4640-FB7C-1A48-B9833B71FB47}"/>
                  </a:ext>
                </a:extLst>
              </p:cNvPr>
              <p:cNvSpPr txBox="1"/>
              <p:nvPr/>
            </p:nvSpPr>
            <p:spPr>
              <a:xfrm>
                <a:off x="5596894" y="2141664"/>
                <a:ext cx="6228734" cy="2262158"/>
              </a:xfrm>
              <a:prstGeom prst="rect">
                <a:avLst/>
              </a:prstGeom>
              <a:noFill/>
            </p:spPr>
            <p:txBody>
              <a:bodyPr wrap="square">
                <a:spAutoFit/>
              </a:bodyPr>
              <a:lstStyle/>
              <a:p>
                <a:pPr algn="r" rtl="1">
                  <a:lnSpc>
                    <a:spcPct val="150000"/>
                  </a:lnSpc>
                </a:pPr>
                <a14:m>
                  <m:oMath xmlns:m="http://schemas.openxmlformats.org/officeDocument/2006/math">
                    <m:r>
                      <m:rPr>
                        <m:nor/>
                      </m:rPr>
                      <a:rPr lang="en-US" sz="2400" b="0" i="0" dirty="0" smtClean="0">
                        <a:latin typeface="Times New Roman" panose="02020603050405020304" pitchFamily="18" charset="0"/>
                        <a:cs typeface="B Nazanin" panose="00000400000000000000" pitchFamily="2" charset="-78"/>
                      </a:rPr>
                      <m:t> </m:t>
                    </m:r>
                    <m:r>
                      <m:rPr>
                        <m:nor/>
                      </m:rPr>
                      <a:rPr lang="en-US" sz="2400" i="0" dirty="0">
                        <a:latin typeface="Times New Roman" panose="02020603050405020304" pitchFamily="18" charset="0"/>
                        <a:cs typeface="B Nazanin" panose="00000400000000000000" pitchFamily="2" charset="-78"/>
                      </a:rPr>
                      <m:t>:</m:t>
                    </m:r>
                    <m:r>
                      <a:rPr lang="en-US" sz="2400" i="1" smtClean="0">
                        <a:latin typeface="Cambria Math" panose="02040503050406030204" pitchFamily="18" charset="0"/>
                      </a:rPr>
                      <m:t>𝐼</m:t>
                    </m:r>
                    <m:d>
                      <m:dPr>
                        <m:ctrlPr>
                          <a:rPr lang="en-US" sz="2400" i="1" smtClean="0">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𝑟</m:t>
                        </m:r>
                      </m:e>
                    </m:d>
                  </m:oMath>
                </a14:m>
                <a:r>
                  <a:rPr lang="en-US" sz="2400" dirty="0" err="1">
                    <a:solidFill>
                      <a:schemeClr val="tx1"/>
                    </a:solidFill>
                    <a:latin typeface="Times New Roman" panose="02020603050405020304" pitchFamily="18" charset="0"/>
                    <a:cs typeface="B Nazanin" panose="00000400000000000000" pitchFamily="2" charset="-78"/>
                  </a:rPr>
                  <a:t>شدت</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لیزر</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در</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فاصله</a:t>
                </a:r>
                <a:r>
                  <a:rPr lang="en-US" sz="2400" dirty="0">
                    <a:solidFill>
                      <a:schemeClr val="tx1"/>
                    </a:solidFill>
                    <a:latin typeface="Times New Roman" panose="02020603050405020304" pitchFamily="18" charset="0"/>
                    <a:cs typeface="B Nazanin" panose="00000400000000000000" pitchFamily="2" charset="-78"/>
                  </a:rPr>
                  <a:t> </a:t>
                </a:r>
                <a14:m>
                  <m:oMath xmlns:m="http://schemas.openxmlformats.org/officeDocument/2006/math">
                    <m:r>
                      <a:rPr lang="en-US" sz="2400" i="1">
                        <a:solidFill>
                          <a:schemeClr val="tx1"/>
                        </a:solidFill>
                        <a:latin typeface="Cambria Math" panose="02040503050406030204" pitchFamily="18" charset="0"/>
                      </a:rPr>
                      <m:t>𝑟</m:t>
                    </m:r>
                  </m:oMath>
                </a14:m>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از</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مرکز</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پرتو</a:t>
                </a:r>
                <a:endParaRPr lang="fa-IR" sz="2400" dirty="0">
                  <a:solidFill>
                    <a:schemeClr val="tx1"/>
                  </a:solidFill>
                  <a:latin typeface="Times New Roman" panose="02020603050405020304" pitchFamily="18" charset="0"/>
                  <a:cs typeface="B Nazanin" panose="00000400000000000000" pitchFamily="2" charset="-78"/>
                </a:endParaRPr>
              </a:p>
              <a:p>
                <a:pPr algn="r" rtl="1">
                  <a:lnSpc>
                    <a:spcPct val="150000"/>
                  </a:lnSpc>
                </a:pPr>
                <a:r>
                  <a:rPr lang="en-US" sz="2400" dirty="0">
                    <a:solidFill>
                      <a:schemeClr val="tx1"/>
                    </a:solidFill>
                    <a:latin typeface="Times New Roman" panose="02020603050405020304" pitchFamily="18" charset="0"/>
                    <a:cs typeface="B Nazanin" panose="00000400000000000000" pitchFamily="2" charset="-78"/>
                  </a:rPr>
                  <a:t> </a:t>
                </a:r>
                <a14:m>
                  <m:oMath xmlns:m="http://schemas.openxmlformats.org/officeDocument/2006/math">
                    <m:sSub>
                      <m:sSubPr>
                        <m:ctrlPr>
                          <a:rPr lang="en-US" sz="2400" i="1">
                            <a:solidFill>
                              <a:schemeClr val="tx1"/>
                            </a:solidFill>
                            <a:latin typeface="Cambria Math" panose="02040503050406030204" pitchFamily="18" charset="0"/>
                          </a:rPr>
                        </m:ctrlPr>
                      </m:sSubPr>
                      <m:e>
                        <m:r>
                          <m:rPr>
                            <m:nor/>
                          </m:rPr>
                          <a:rPr lang="en-US" sz="2400" i="0" dirty="0">
                            <a:solidFill>
                              <a:schemeClr val="tx1"/>
                            </a:solidFill>
                            <a:latin typeface="Times New Roman" panose="02020603050405020304" pitchFamily="18" charset="0"/>
                            <a:cs typeface="B Nazanin" panose="00000400000000000000" pitchFamily="2" charset="-78"/>
                          </a:rPr>
                          <m:t>:</m:t>
                        </m:r>
                        <m:r>
                          <a:rPr lang="en-US" sz="2400" i="1">
                            <a:solidFill>
                              <a:schemeClr val="tx1"/>
                            </a:solidFill>
                            <a:latin typeface="Cambria Math" panose="02040503050406030204" pitchFamily="18" charset="0"/>
                          </a:rPr>
                          <m:t>𝐼</m:t>
                        </m:r>
                      </m:e>
                      <m:sub>
                        <m:r>
                          <a:rPr lang="en-US" sz="2400" i="0">
                            <a:solidFill>
                              <a:schemeClr val="tx1"/>
                            </a:solidFill>
                            <a:latin typeface="Cambria Math" panose="02040503050406030204" pitchFamily="18" charset="0"/>
                          </a:rPr>
                          <m:t>0</m:t>
                        </m:r>
                      </m:sub>
                    </m:sSub>
                  </m:oMath>
                </a14:m>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شدت</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در</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مرکز</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لیزر</a:t>
                </a:r>
                <a:endParaRPr lang="fa-IR" sz="2400" dirty="0">
                  <a:solidFill>
                    <a:schemeClr val="tx1"/>
                  </a:solidFill>
                  <a:latin typeface="Times New Roman" panose="02020603050405020304" pitchFamily="18" charset="0"/>
                  <a:cs typeface="B Nazanin" panose="00000400000000000000" pitchFamily="2" charset="-78"/>
                </a:endParaRPr>
              </a:p>
              <a:p>
                <a:pPr algn="r" rtl="1">
                  <a:lnSpc>
                    <a:spcPct val="150000"/>
                  </a:lnSpc>
                </a:pPr>
                <a:r>
                  <a:rPr lang="en-US" sz="2400" dirty="0">
                    <a:solidFill>
                      <a:schemeClr val="tx1"/>
                    </a:solidFill>
                    <a:latin typeface="Times New Roman" panose="02020603050405020304" pitchFamily="18" charset="0"/>
                    <a:cs typeface="B Nazanin" panose="00000400000000000000" pitchFamily="2" charset="-78"/>
                  </a:rPr>
                  <a:t>:</a:t>
                </a:r>
                <a14:m>
                  <m:oMath xmlns:m="http://schemas.openxmlformats.org/officeDocument/2006/math">
                    <m:r>
                      <a:rPr lang="en-US" sz="2400" i="1">
                        <a:solidFill>
                          <a:schemeClr val="tx1"/>
                        </a:solidFill>
                        <a:latin typeface="Cambria Math" panose="02040503050406030204" pitchFamily="18" charset="0"/>
                      </a:rPr>
                      <m:t>𝑟</m:t>
                    </m:r>
                  </m:oMath>
                </a14:m>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فاصله</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سلول</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از</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مرکز</a:t>
                </a:r>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پرتو</a:t>
                </a:r>
                <a:endParaRPr lang="fa-IR" sz="2400" dirty="0">
                  <a:solidFill>
                    <a:schemeClr val="tx1"/>
                  </a:solidFill>
                  <a:latin typeface="Times New Roman" panose="02020603050405020304" pitchFamily="18" charset="0"/>
                  <a:cs typeface="B Nazanin" panose="00000400000000000000" pitchFamily="2" charset="-78"/>
                </a:endParaRPr>
              </a:p>
              <a:p>
                <a:pPr algn="r" rtl="1">
                  <a:lnSpc>
                    <a:spcPct val="150000"/>
                  </a:lnSpc>
                </a:pPr>
                <a:r>
                  <a:rPr lang="en-US" sz="2400" dirty="0">
                    <a:solidFill>
                      <a:schemeClr val="tx1"/>
                    </a:solidFill>
                    <a:latin typeface="Times New Roman" panose="02020603050405020304" pitchFamily="18" charset="0"/>
                    <a:cs typeface="B Nazanin" panose="00000400000000000000" pitchFamily="2" charset="-78"/>
                  </a:rPr>
                  <a:t>:</a:t>
                </a:r>
                <a14:m>
                  <m:oMath xmlns:m="http://schemas.openxmlformats.org/officeDocument/2006/math">
                    <m:r>
                      <a:rPr lang="en-US" sz="2400" i="1">
                        <a:solidFill>
                          <a:schemeClr val="tx1"/>
                        </a:solidFill>
                        <a:latin typeface="Cambria Math" panose="02040503050406030204" pitchFamily="18" charset="0"/>
                      </a:rPr>
                      <m:t>𝑤</m:t>
                    </m:r>
                  </m:oMath>
                </a14:m>
                <a:r>
                  <a:rPr lang="en-US" sz="2400" dirty="0">
                    <a:solidFill>
                      <a:schemeClr val="tx1"/>
                    </a:solidFill>
                    <a:latin typeface="Times New Roman" panose="02020603050405020304" pitchFamily="18" charset="0"/>
                    <a:cs typeface="B Nazanin" panose="00000400000000000000" pitchFamily="2" charset="-78"/>
                  </a:rPr>
                  <a:t> </a:t>
                </a:r>
                <a:r>
                  <a:rPr lang="en-US" sz="2400" dirty="0" err="1">
                    <a:solidFill>
                      <a:schemeClr val="tx1"/>
                    </a:solidFill>
                    <a:latin typeface="Times New Roman" panose="02020603050405020304" pitchFamily="18" charset="0"/>
                    <a:cs typeface="B Nazanin" panose="00000400000000000000" pitchFamily="2" charset="-78"/>
                  </a:rPr>
                  <a:t>شعاع</a:t>
                </a:r>
                <a:r>
                  <a:rPr lang="en-US" sz="2400" dirty="0">
                    <a:solidFill>
                      <a:schemeClr val="tx1"/>
                    </a:solidFill>
                    <a:latin typeface="Times New Roman" panose="02020603050405020304" pitchFamily="18" charset="0"/>
                    <a:cs typeface="B Nazanin" panose="00000400000000000000" pitchFamily="2" charset="-78"/>
                  </a:rPr>
                  <a:t> beam waist</a:t>
                </a:r>
              </a:p>
            </p:txBody>
          </p:sp>
        </mc:Choice>
        <mc:Fallback>
          <p:sp>
            <p:nvSpPr>
              <p:cNvPr id="9" name="TextBox 8">
                <a:extLst>
                  <a:ext uri="{FF2B5EF4-FFF2-40B4-BE49-F238E27FC236}">
                    <a16:creationId xmlns:a16="http://schemas.microsoft.com/office/drawing/2014/main" id="{7E6F7A89-4640-FB7C-1A48-B9833B71FB47}"/>
                  </a:ext>
                </a:extLst>
              </p:cNvPr>
              <p:cNvSpPr txBox="1">
                <a:spLocks noRot="1" noChangeAspect="1" noMove="1" noResize="1" noEditPoints="1" noAdjustHandles="1" noChangeArrowheads="1" noChangeShapeType="1" noTextEdit="1"/>
              </p:cNvSpPr>
              <p:nvPr/>
            </p:nvSpPr>
            <p:spPr>
              <a:xfrm>
                <a:off x="5596894" y="2141664"/>
                <a:ext cx="6228734" cy="2262158"/>
              </a:xfrm>
              <a:prstGeom prst="rect">
                <a:avLst/>
              </a:prstGeom>
              <a:blipFill>
                <a:blip r:embed="rId5"/>
                <a:stretch>
                  <a:fillRect b="-6199"/>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EF6322B5-F121-C5C1-24CE-58C7EF853AFF}"/>
              </a:ext>
            </a:extLst>
          </p:cNvPr>
          <p:cNvSpPr>
            <a:spLocks noGrp="1"/>
          </p:cNvSpPr>
          <p:nvPr>
            <p:ph type="sldNum" sz="quarter" idx="12"/>
          </p:nvPr>
        </p:nvSpPr>
        <p:spPr/>
        <p:txBody>
          <a:bodyPr/>
          <a:lstStyle/>
          <a:p>
            <a:fld id="{111A70C6-53E1-4616-9BEB-862F2340207D}" type="slidenum">
              <a:rPr lang="en-US" smtClean="0"/>
              <a:t>10</a:t>
            </a:fld>
            <a:endParaRPr lang="en-US"/>
          </a:p>
        </p:txBody>
      </p:sp>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0B6D5F15-31B0-7E8E-B528-EA5D9342E301}"/>
                  </a:ext>
                </a:extLst>
              </p14:cNvPr>
              <p14:cNvContentPartPr/>
              <p14:nvPr/>
            </p14:nvContentPartPr>
            <p14:xfrm>
              <a:off x="12529491" y="4691743"/>
              <a:ext cx="17640" cy="10080"/>
            </p14:xfrm>
          </p:contentPart>
        </mc:Choice>
        <mc:Fallback>
          <p:pic>
            <p:nvPicPr>
              <p:cNvPr id="4" name="Ink 3">
                <a:extLst>
                  <a:ext uri="{FF2B5EF4-FFF2-40B4-BE49-F238E27FC236}">
                    <a16:creationId xmlns:a16="http://schemas.microsoft.com/office/drawing/2014/main" id="{0B6D5F15-31B0-7E8E-B528-EA5D9342E301}"/>
                  </a:ext>
                </a:extLst>
              </p:cNvPr>
              <p:cNvPicPr/>
              <p:nvPr/>
            </p:nvPicPr>
            <p:blipFill>
              <a:blip r:embed="rId7"/>
              <a:stretch>
                <a:fillRect/>
              </a:stretch>
            </p:blipFill>
            <p:spPr>
              <a:xfrm>
                <a:off x="12520851" y="4682743"/>
                <a:ext cx="35280" cy="27720"/>
              </a:xfrm>
              <a:prstGeom prst="rect">
                <a:avLst/>
              </a:prstGeom>
            </p:spPr>
          </p:pic>
        </mc:Fallback>
      </mc:AlternateContent>
      <p:sp>
        <p:nvSpPr>
          <p:cNvPr id="8" name="TextBox 7">
            <a:extLst>
              <a:ext uri="{FF2B5EF4-FFF2-40B4-BE49-F238E27FC236}">
                <a16:creationId xmlns:a16="http://schemas.microsoft.com/office/drawing/2014/main" id="{A29F6402-64CD-2AF6-E642-DAE74DE67CD2}"/>
              </a:ext>
            </a:extLst>
          </p:cNvPr>
          <p:cNvSpPr txBox="1"/>
          <p:nvPr/>
        </p:nvSpPr>
        <p:spPr>
          <a:xfrm>
            <a:off x="5596894" y="5878037"/>
            <a:ext cx="6294474" cy="461665"/>
          </a:xfrm>
          <a:prstGeom prst="rect">
            <a:avLst/>
          </a:prstGeom>
          <a:noFill/>
        </p:spPr>
        <p:txBody>
          <a:bodyPr wrap="square">
            <a:spAutoFit/>
          </a:bodyPr>
          <a:lstStyle/>
          <a:p>
            <a:pPr marL="457200" indent="-457200" algn="r" rtl="1">
              <a:buFont typeface="Arial" panose="020B0604020202020204" pitchFamily="34" charset="0"/>
              <a:buChar char="•"/>
            </a:pPr>
            <a:r>
              <a:rPr lang="fa-IR" sz="2400" dirty="0">
                <a:cs typeface="B Nazanin" panose="00000400000000000000" pitchFamily="2" charset="-78"/>
              </a:rPr>
              <a:t>استفاده از</a:t>
            </a:r>
            <a:r>
              <a:rPr lang="en-US" sz="2400" dirty="0">
                <a:cs typeface="B Nazanin" panose="00000400000000000000" pitchFamily="2" charset="-78"/>
              </a:rPr>
              <a:t> Bead </a:t>
            </a:r>
            <a:r>
              <a:rPr lang="en-US" sz="2400" dirty="0" err="1">
                <a:cs typeface="B Nazanin" panose="00000400000000000000" pitchFamily="2" charset="-78"/>
              </a:rPr>
              <a:t>یکنواخت</a:t>
            </a:r>
            <a:r>
              <a:rPr lang="en-US" sz="2400" dirty="0">
                <a:cs typeface="B Nazanin" panose="00000400000000000000" pitchFamily="2" charset="-78"/>
              </a:rPr>
              <a:t> و </a:t>
            </a:r>
            <a:r>
              <a:rPr lang="en-US" sz="2400" dirty="0" err="1">
                <a:cs typeface="B Nazanin" panose="00000400000000000000" pitchFamily="2" charset="-78"/>
              </a:rPr>
              <a:t>تک‌پیک</a:t>
            </a:r>
            <a:endParaRPr lang="en-US" sz="2400" dirty="0">
              <a:cs typeface="B Nazanin" panose="00000400000000000000" pitchFamily="2" charset="-78"/>
            </a:endParaRPr>
          </a:p>
        </p:txBody>
      </p:sp>
    </p:spTree>
    <p:extLst>
      <p:ext uri="{BB962C8B-B14F-4D97-AF65-F5344CB8AC3E}">
        <p14:creationId xmlns:p14="http://schemas.microsoft.com/office/powerpoint/2010/main" val="4262098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A93A23DF-6E99-B14E-D32E-4C68AF191BDB}"/>
              </a:ext>
            </a:extLst>
          </p:cNvPr>
          <p:cNvSpPr/>
          <p:nvPr/>
        </p:nvSpPr>
        <p:spPr>
          <a:xfrm>
            <a:off x="3153320" y="934441"/>
            <a:ext cx="5305530" cy="13163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E95B8280-0AA9-C90F-0BDA-44643507CE81}"/>
              </a:ext>
            </a:extLst>
          </p:cNvPr>
          <p:cNvSpPr txBox="1"/>
          <p:nvPr/>
        </p:nvSpPr>
        <p:spPr>
          <a:xfrm>
            <a:off x="1297479" y="197071"/>
            <a:ext cx="10737853" cy="2031325"/>
          </a:xfrm>
          <a:prstGeom prst="rect">
            <a:avLst/>
          </a:prstGeom>
          <a:noFill/>
        </p:spPr>
        <p:txBody>
          <a:bodyPr wrap="square">
            <a:spAutoFit/>
          </a:bodyPr>
          <a:lstStyle/>
          <a:p>
            <a:pPr algn="r" rtl="1">
              <a:buNone/>
            </a:pPr>
            <a:endParaRPr lang="en-US"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buNone/>
            </a:pPr>
            <a:endParaRPr lang="en-US" dirty="0">
              <a:latin typeface="Times New Roman" panose="02020603050405020304" pitchFamily="18" charset="0"/>
              <a:cs typeface="B Nazanin" panose="00000400000000000000" pitchFamily="2" charset="-78"/>
            </a:endParaRPr>
          </a:p>
          <a:p>
            <a:pPr algn="r" rtl="1">
              <a:buNone/>
            </a:pPr>
            <a:endParaRPr lang="en-US"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a:buNone/>
            </a:pPr>
            <a:endParaRPr lang="en-US" dirty="0">
              <a:latin typeface="Times New Roman" panose="02020603050405020304" pitchFamily="18" charset="0"/>
              <a:cs typeface="B Nazanin" panose="00000400000000000000" pitchFamily="2" charset="-78"/>
            </a:endParaRPr>
          </a:p>
        </p:txBody>
      </p:sp>
      <p:sp>
        <p:nvSpPr>
          <p:cNvPr id="2" name="Slide Number Placeholder 1">
            <a:extLst>
              <a:ext uri="{FF2B5EF4-FFF2-40B4-BE49-F238E27FC236}">
                <a16:creationId xmlns:a16="http://schemas.microsoft.com/office/drawing/2014/main" id="{16DAA2B7-7611-BDAE-D273-76A0E7515F2F}"/>
              </a:ext>
            </a:extLst>
          </p:cNvPr>
          <p:cNvSpPr>
            <a:spLocks noGrp="1"/>
          </p:cNvSpPr>
          <p:nvPr>
            <p:ph type="sldNum" sz="quarter" idx="12"/>
          </p:nvPr>
        </p:nvSpPr>
        <p:spPr/>
        <p:txBody>
          <a:bodyPr/>
          <a:lstStyle/>
          <a:p>
            <a:fld id="{111A70C6-53E1-4616-9BEB-862F2340207D}" type="slidenum">
              <a:rPr lang="en-US" smtClean="0"/>
              <a:t>11</a:t>
            </a:fld>
            <a:endParaRPr lang="en-US"/>
          </a:p>
        </p:txBody>
      </p:sp>
      <p:sp>
        <p:nvSpPr>
          <p:cNvPr id="5" name="TextBox 4">
            <a:extLst>
              <a:ext uri="{FF2B5EF4-FFF2-40B4-BE49-F238E27FC236}">
                <a16:creationId xmlns:a16="http://schemas.microsoft.com/office/drawing/2014/main" id="{27096709-D1C3-A5CB-5F00-E6F00C52BC47}"/>
              </a:ext>
            </a:extLst>
          </p:cNvPr>
          <p:cNvSpPr txBox="1"/>
          <p:nvPr/>
        </p:nvSpPr>
        <p:spPr>
          <a:xfrm>
            <a:off x="4891195" y="150450"/>
            <a:ext cx="4377733" cy="584775"/>
          </a:xfrm>
          <a:prstGeom prst="rect">
            <a:avLst/>
          </a:prstGeom>
          <a:noFill/>
        </p:spPr>
        <p:txBody>
          <a:bodyPr wrap="square">
            <a:spAutoFit/>
          </a:bodyPr>
          <a:lstStyle/>
          <a:p>
            <a:r>
              <a:rPr lang="en-US" sz="3200" b="1" dirty="0">
                <a:latin typeface="Times New Roman" panose="02020603050405020304" pitchFamily="18" charset="0"/>
                <a:cs typeface="B Nazanin" panose="00000400000000000000" pitchFamily="2" charset="-78"/>
              </a:rPr>
              <a:t>Resolution</a:t>
            </a:r>
            <a:endParaRPr lang="fa-IR" sz="3200" dirty="0">
              <a:latin typeface="Times New Roman" panose="02020603050405020304" pitchFamily="18" charset="0"/>
              <a:cs typeface="B Nazanin" panose="00000400000000000000" pitchFamily="2" charset="-78"/>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50DE121-FA85-E377-1C11-69E9CE0E45C5}"/>
                  </a:ext>
                </a:extLst>
              </p:cNvPr>
              <p:cNvSpPr txBox="1"/>
              <p:nvPr/>
            </p:nvSpPr>
            <p:spPr>
              <a:xfrm>
                <a:off x="156668" y="1160333"/>
                <a:ext cx="8160667" cy="933204"/>
              </a:xfrm>
              <a:prstGeom prst="rect">
                <a:avLst/>
              </a:prstGeom>
              <a:noFill/>
            </p:spPr>
            <p:txBody>
              <a:bodyPr wrap="square">
                <a:spAutoFit/>
              </a:bodyPr>
              <a:lstStyle/>
              <a:p>
                <a:pPr algn="r" rtl="1">
                  <a:buNone/>
                </a:pPr>
                <a:r>
                  <a:rPr lang="fa-IR" b="1" dirty="0">
                    <a:latin typeface="Times New Roman" panose="02020603050405020304" pitchFamily="18" charset="0"/>
                    <a:cs typeface="B Nazanin" panose="00000400000000000000" pitchFamily="2" charset="-78"/>
                  </a:rPr>
                  <a:t>رابطه Alignment با resolution</a:t>
                </a:r>
              </a:p>
              <a:p>
                <a:pPr algn="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𝑅</m:t>
                      </m:r>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𝑀𝐹</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0">
                                  <a:latin typeface="Cambria Math" panose="02040503050406030204" pitchFamily="18" charset="0"/>
                                </a:rPr>
                                <m:t>2</m:t>
                              </m:r>
                            </m:sub>
                          </m:sSub>
                          <m:r>
                            <a:rPr lang="en-US" i="0">
                              <a:latin typeface="Cambria Math" panose="02040503050406030204" pitchFamily="18" charset="0"/>
                            </a:rPr>
                            <m:t>−</m:t>
                          </m:r>
                          <m:r>
                            <a:rPr lang="en-US" i="1">
                              <a:latin typeface="Cambria Math" panose="02040503050406030204" pitchFamily="18" charset="0"/>
                            </a:rPr>
                            <m:t>𝑀𝐹</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0">
                                  <a:latin typeface="Cambria Math" panose="02040503050406030204" pitchFamily="18" charset="0"/>
                                </a:rPr>
                                <m:t>1</m:t>
                              </m:r>
                            </m:sub>
                          </m:sSub>
                        </m:num>
                        <m:den>
                          <m:r>
                            <a:rPr lang="en-US" i="1">
                              <a:latin typeface="Cambria Math" panose="02040503050406030204" pitchFamily="18" charset="0"/>
                            </a:rPr>
                            <m:t>𝑆</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1</m:t>
                              </m:r>
                            </m:sub>
                          </m:sSub>
                          <m:r>
                            <a:rPr lang="en-US" i="0">
                              <a:latin typeface="Cambria Math" panose="02040503050406030204" pitchFamily="18" charset="0"/>
                            </a:rPr>
                            <m:t>+</m:t>
                          </m:r>
                          <m:r>
                            <a:rPr lang="en-US" i="1">
                              <a:latin typeface="Cambria Math" panose="02040503050406030204" pitchFamily="18" charset="0"/>
                            </a:rPr>
                            <m:t>𝑆</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0">
                                  <a:latin typeface="Cambria Math" panose="02040503050406030204" pitchFamily="18" charset="0"/>
                                </a:rPr>
                                <m:t>2</m:t>
                              </m:r>
                            </m:sub>
                          </m:sSub>
                        </m:den>
                      </m:f>
                    </m:oMath>
                  </m:oMathPara>
                </a14:m>
                <a:endParaRPr lang="en-US" dirty="0">
                  <a:latin typeface="Times New Roman" panose="02020603050405020304" pitchFamily="18" charset="0"/>
                  <a:cs typeface="B Nazanin" panose="00000400000000000000" pitchFamily="2" charset="-78"/>
                </a:endParaRPr>
              </a:p>
            </p:txBody>
          </p:sp>
        </mc:Choice>
        <mc:Fallback xmlns="">
          <p:sp>
            <p:nvSpPr>
              <p:cNvPr id="9" name="TextBox 8">
                <a:extLst>
                  <a:ext uri="{FF2B5EF4-FFF2-40B4-BE49-F238E27FC236}">
                    <a16:creationId xmlns:a16="http://schemas.microsoft.com/office/drawing/2014/main" id="{150DE121-FA85-E377-1C11-69E9CE0E45C5}"/>
                  </a:ext>
                </a:extLst>
              </p:cNvPr>
              <p:cNvSpPr txBox="1">
                <a:spLocks noRot="1" noChangeAspect="1" noMove="1" noResize="1" noEditPoints="1" noAdjustHandles="1" noChangeArrowheads="1" noChangeShapeType="1" noTextEdit="1"/>
              </p:cNvSpPr>
              <p:nvPr/>
            </p:nvSpPr>
            <p:spPr>
              <a:xfrm>
                <a:off x="156668" y="1160333"/>
                <a:ext cx="8160667" cy="933204"/>
              </a:xfrm>
              <a:prstGeom prst="rect">
                <a:avLst/>
              </a:prstGeom>
              <a:blipFill>
                <a:blip r:embed="rId2"/>
                <a:stretch>
                  <a:fillRect t="-6536" r="-67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EA59C9DB-3461-3383-29D1-057480A7A4E9}"/>
              </a:ext>
            </a:extLst>
          </p:cNvPr>
          <p:cNvSpPr txBox="1"/>
          <p:nvPr/>
        </p:nvSpPr>
        <p:spPr>
          <a:xfrm>
            <a:off x="3228087" y="3525130"/>
            <a:ext cx="8807245" cy="2550698"/>
          </a:xfrm>
          <a:prstGeom prst="rect">
            <a:avLst/>
          </a:prstGeom>
          <a:noFill/>
        </p:spPr>
        <p:txBody>
          <a:bodyPr wrap="square">
            <a:spAutoFit/>
          </a:bodyPr>
          <a:lstStyle/>
          <a:p>
            <a:pPr algn="r" rtl="1">
              <a:lnSpc>
                <a:spcPct val="150000"/>
              </a:lnSpc>
              <a:buNone/>
            </a:pPr>
            <a:r>
              <a:rPr lang="fa-IR" dirty="0">
                <a:latin typeface="Times New Roman" panose="02020603050405020304" pitchFamily="18" charset="0"/>
                <a:cs typeface="B Nazanin" panose="00000400000000000000" pitchFamily="2" charset="-78"/>
              </a:rPr>
              <a:t>برای Alignment معمولاً از </a:t>
            </a:r>
            <a:r>
              <a:rPr lang="fa-IR" b="1" dirty="0">
                <a:latin typeface="Times New Roman" panose="02020603050405020304" pitchFamily="18" charset="0"/>
                <a:cs typeface="B Nazanin" panose="00000400000000000000" pitchFamily="2" charset="-78"/>
              </a:rPr>
              <a:t>alignment beads</a:t>
            </a:r>
            <a:r>
              <a:rPr lang="fa-IR" dirty="0">
                <a:latin typeface="Times New Roman" panose="02020603050405020304" pitchFamily="18" charset="0"/>
                <a:cs typeface="B Nazanin" panose="00000400000000000000" pitchFamily="2" charset="-78"/>
              </a:rPr>
              <a:t> یا </a:t>
            </a:r>
            <a:r>
              <a:rPr lang="fa-IR" b="1" dirty="0">
                <a:latin typeface="Times New Roman" panose="02020603050405020304" pitchFamily="18" charset="0"/>
                <a:cs typeface="B Nazanin" panose="00000400000000000000" pitchFamily="2" charset="-78"/>
              </a:rPr>
              <a:t>QC beads</a:t>
            </a:r>
            <a:r>
              <a:rPr lang="fa-IR" dirty="0">
                <a:latin typeface="Times New Roman" panose="02020603050405020304" pitchFamily="18" charset="0"/>
                <a:cs typeface="B Nazanin" panose="00000400000000000000" pitchFamily="2" charset="-78"/>
              </a:rPr>
              <a:t> استفاده می‌شود.</a:t>
            </a:r>
          </a:p>
          <a:p>
            <a:pPr algn="r" rtl="1">
              <a:lnSpc>
                <a:spcPct val="150000"/>
              </a:lnSpc>
              <a:buNone/>
            </a:pPr>
            <a:r>
              <a:rPr lang="fa-IR" dirty="0">
                <a:latin typeface="Times New Roman" panose="02020603050405020304" pitchFamily="18" charset="0"/>
                <a:cs typeface="B Nazanin" panose="00000400000000000000" pitchFamily="2" charset="-78"/>
              </a:rPr>
              <a:t>این بیدها باید:</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اندازه یکنواخت داشته باشند.</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فلورسانس یکنواخت داشته باشند.</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در کانال‌های مورد نظر سیگنال کافی بدهند.</a:t>
            </a:r>
          </a:p>
          <a:p>
            <a:pPr algn="r" rtl="1">
              <a:lnSpc>
                <a:spcPct val="15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پایدار و قابل تکرار باشند.</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AF9FEC9-353F-9733-DF10-5EF6A9952A3B}"/>
                  </a:ext>
                </a:extLst>
              </p:cNvPr>
              <p:cNvSpPr txBox="1"/>
              <p:nvPr/>
            </p:nvSpPr>
            <p:spPr>
              <a:xfrm>
                <a:off x="-1460360" y="2515763"/>
                <a:ext cx="7556360" cy="6109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𝑎𝑙𝑖𝑔𝑛</m:t>
                          </m:r>
                        </m:sub>
                      </m:sSub>
                      <m:r>
                        <a:rPr lang="en-US" i="0">
                          <a:latin typeface="Cambria Math" panose="02040503050406030204" pitchFamily="18" charset="0"/>
                        </a:rPr>
                        <m:t>=</m:t>
                      </m:r>
                      <m:f>
                        <m:fPr>
                          <m:ctrlPr>
                            <a:rPr lang="en-US" i="1" smtClean="0">
                              <a:latin typeface="Cambria Math" panose="02040503050406030204" pitchFamily="18" charset="0"/>
                            </a:rPr>
                          </m:ctrlPr>
                        </m:fPr>
                        <m:num>
                          <m:r>
                            <a:rPr lang="en-US" i="1">
                              <a:latin typeface="Cambria Math" panose="02040503050406030204" pitchFamily="18" charset="0"/>
                            </a:rPr>
                            <m:t>𝑀𝐹𝐼</m:t>
                          </m:r>
                        </m:num>
                        <m:den>
                          <m:r>
                            <a:rPr lang="en-US" i="1">
                              <a:latin typeface="Cambria Math" panose="02040503050406030204" pitchFamily="18" charset="0"/>
                            </a:rPr>
                            <m:t>𝑆𝐷</m:t>
                          </m:r>
                        </m:den>
                      </m:f>
                    </m:oMath>
                  </m:oMathPara>
                </a14:m>
                <a:endParaRPr lang="en-US" dirty="0"/>
              </a:p>
            </p:txBody>
          </p:sp>
        </mc:Choice>
        <mc:Fallback xmlns="">
          <p:sp>
            <p:nvSpPr>
              <p:cNvPr id="14" name="TextBox 13">
                <a:extLst>
                  <a:ext uri="{FF2B5EF4-FFF2-40B4-BE49-F238E27FC236}">
                    <a16:creationId xmlns:a16="http://schemas.microsoft.com/office/drawing/2014/main" id="{8AF9FEC9-353F-9733-DF10-5EF6A9952A3B}"/>
                  </a:ext>
                </a:extLst>
              </p:cNvPr>
              <p:cNvSpPr txBox="1">
                <a:spLocks noRot="1" noChangeAspect="1" noMove="1" noResize="1" noEditPoints="1" noAdjustHandles="1" noChangeArrowheads="1" noChangeShapeType="1" noTextEdit="1"/>
              </p:cNvSpPr>
              <p:nvPr/>
            </p:nvSpPr>
            <p:spPr>
              <a:xfrm>
                <a:off x="-1460360" y="2515763"/>
                <a:ext cx="7556360" cy="61093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3E970F6-0C8C-0E28-75A5-A6E81E8C9F11}"/>
                  </a:ext>
                </a:extLst>
              </p:cNvPr>
              <p:cNvSpPr txBox="1"/>
              <p:nvPr/>
            </p:nvSpPr>
            <p:spPr>
              <a:xfrm>
                <a:off x="5354935" y="2532641"/>
                <a:ext cx="7556360" cy="6183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𝑎𝑙𝑖𝑔𝑛</m:t>
                          </m:r>
                        </m:sub>
                      </m:sSub>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𝑀𝑒𝑑𝑖𝑎𝑛</m:t>
                          </m:r>
                        </m:num>
                        <m:den>
                          <m:r>
                            <a:rPr lang="en-US" i="1">
                              <a:latin typeface="Cambria Math" panose="02040503050406030204" pitchFamily="18" charset="0"/>
                            </a:rPr>
                            <m:t>𝑟𝑆𝐷</m:t>
                          </m:r>
                        </m:den>
                      </m:f>
                    </m:oMath>
                  </m:oMathPara>
                </a14:m>
                <a:endParaRPr lang="en-US" dirty="0"/>
              </a:p>
            </p:txBody>
          </p:sp>
        </mc:Choice>
        <mc:Fallback xmlns="">
          <p:sp>
            <p:nvSpPr>
              <p:cNvPr id="16" name="TextBox 15">
                <a:extLst>
                  <a:ext uri="{FF2B5EF4-FFF2-40B4-BE49-F238E27FC236}">
                    <a16:creationId xmlns:a16="http://schemas.microsoft.com/office/drawing/2014/main" id="{73E970F6-0C8C-0E28-75A5-A6E81E8C9F11}"/>
                  </a:ext>
                </a:extLst>
              </p:cNvPr>
              <p:cNvSpPr txBox="1">
                <a:spLocks noRot="1" noChangeAspect="1" noMove="1" noResize="1" noEditPoints="1" noAdjustHandles="1" noChangeArrowheads="1" noChangeShapeType="1" noTextEdit="1"/>
              </p:cNvSpPr>
              <p:nvPr/>
            </p:nvSpPr>
            <p:spPr>
              <a:xfrm>
                <a:off x="5354935" y="2532641"/>
                <a:ext cx="7556360" cy="61831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21317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668C65E0-954F-E982-25C6-430FA655BC1F}"/>
              </a:ext>
            </a:extLst>
          </p:cNvPr>
          <p:cNvSpPr/>
          <p:nvPr/>
        </p:nvSpPr>
        <p:spPr>
          <a:xfrm>
            <a:off x="6553199" y="3309814"/>
            <a:ext cx="5575163" cy="15818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35DE282-AEA4-2ABC-2C4A-D07513CE0008}"/>
                  </a:ext>
                </a:extLst>
              </p:cNvPr>
              <p:cNvSpPr txBox="1"/>
              <p:nvPr/>
            </p:nvSpPr>
            <p:spPr>
              <a:xfrm>
                <a:off x="88760" y="797897"/>
                <a:ext cx="11778344" cy="4145494"/>
              </a:xfrm>
              <a:prstGeom prst="rect">
                <a:avLst/>
              </a:prstGeom>
              <a:noFill/>
            </p:spPr>
            <p:txBody>
              <a:bodyPr wrap="square">
                <a:spAutoFit/>
              </a:bodyPr>
              <a:lstStyle/>
              <a:p>
                <a:pPr algn="r" rtl="1">
                  <a:buNone/>
                </a:pPr>
                <a:r>
                  <a:rPr lang="fa-IR" b="1" dirty="0">
                    <a:latin typeface="Times New Roman" panose="02020603050405020304" pitchFamily="18" charset="0"/>
                    <a:cs typeface="B Nazanin" panose="00000400000000000000" pitchFamily="2" charset="-78"/>
                  </a:rPr>
                  <a:t>مهم‌ترین شاخص عملی برای بررسی Alignment، CV یا coefficient of variation است</a:t>
                </a:r>
                <a:r>
                  <a:rPr lang="fa-IR" b="1" dirty="0">
                    <a:solidFill>
                      <a:srgbClr val="FF0000"/>
                    </a:solidFill>
                    <a:latin typeface="Times New Roman" panose="02020603050405020304" pitchFamily="18" charset="0"/>
                    <a:cs typeface="B Nazanin" panose="00000400000000000000" pitchFamily="2" charset="-78"/>
                  </a:rPr>
                  <a:t>.</a:t>
                </a:r>
              </a:p>
              <a:p>
                <a:pPr algn="r" rtl="1">
                  <a:buNone/>
                </a:pPr>
                <a:endParaRPr lang="fa-IR" dirty="0">
                  <a:latin typeface="Times New Roman" panose="02020603050405020304" pitchFamily="18" charset="0"/>
                  <a:cs typeface="B Nazanin" panose="00000400000000000000" pitchFamily="2" charset="-78"/>
                </a:endParaRPr>
              </a:p>
              <a:p>
                <a:pPr algn="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𝐶𝑉</m:t>
                      </m:r>
                      <m:d>
                        <m:dPr>
                          <m:ctrlPr>
                            <a:rPr lang="en-US" i="1">
                              <a:latin typeface="Cambria Math" panose="02040503050406030204" pitchFamily="18" charset="0"/>
                            </a:rPr>
                          </m:ctrlPr>
                        </m:dPr>
                        <m:e>
                          <m:r>
                            <a:rPr lang="en-US" b="0" i="0" smtClean="0">
                              <a:latin typeface="Cambria Math" panose="02040503050406030204" pitchFamily="18" charset="0"/>
                            </a:rPr>
                            <m:t>%</m:t>
                          </m:r>
                        </m:e>
                      </m:d>
                      <m:r>
                        <a:rPr lang="en-US" b="0" i="0"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𝑆𝐷</m:t>
                          </m:r>
                        </m:num>
                        <m:den>
                          <m:r>
                            <a:rPr lang="en-US" b="0" i="1" smtClean="0">
                              <a:latin typeface="Cambria Math" panose="02040503050406030204" pitchFamily="18" charset="0"/>
                            </a:rPr>
                            <m:t>𝑀𝑒𝑎𝑛</m:t>
                          </m:r>
                        </m:den>
                      </m:f>
                      <m:r>
                        <a:rPr lang="en-US" b="0" i="0" smtClean="0">
                          <a:latin typeface="Cambria Math" panose="02040503050406030204" pitchFamily="18" charset="0"/>
                        </a:rPr>
                        <m:t>×</m:t>
                      </m:r>
                      <m:r>
                        <a:rPr lang="en-US" b="0" i="0" smtClean="0">
                          <a:latin typeface="Cambria Math" panose="02040503050406030204" pitchFamily="18" charset="0"/>
                        </a:rPr>
                        <m:t>100</m:t>
                      </m:r>
                    </m:oMath>
                  </m:oMathPara>
                </a14:m>
                <a:endParaRPr lang="en-US"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یا اگر از robust SD استفاده شود:</a:t>
                </a:r>
              </a:p>
              <a:p>
                <a:pPr algn="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𝑟𝐶𝑉</m:t>
                      </m:r>
                      <m:d>
                        <m:dPr>
                          <m:ctrlPr>
                            <a:rPr lang="en-US" i="1">
                              <a:latin typeface="Cambria Math" panose="02040503050406030204" pitchFamily="18" charset="0"/>
                            </a:rPr>
                          </m:ctrlPr>
                        </m:dPr>
                        <m:e>
                          <m:r>
                            <a:rPr lang="en-US" b="0" i="0" smtClean="0">
                              <a:latin typeface="Cambria Math" panose="02040503050406030204" pitchFamily="18" charset="0"/>
                            </a:rPr>
                            <m:t>%</m:t>
                          </m:r>
                        </m:e>
                      </m:d>
                      <m:r>
                        <a:rPr lang="en-US" b="0" i="0"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𝑟𝑆𝐷</m:t>
                          </m:r>
                        </m:num>
                        <m:den>
                          <m:r>
                            <a:rPr lang="en-US" b="0" i="1" smtClean="0">
                              <a:latin typeface="Cambria Math" panose="02040503050406030204" pitchFamily="18" charset="0"/>
                            </a:rPr>
                            <m:t>𝑀𝑒𝑑𝑖𝑎𝑛</m:t>
                          </m:r>
                        </m:den>
                      </m:f>
                      <m:r>
                        <a:rPr lang="en-US" b="0" i="0" smtClean="0">
                          <a:latin typeface="Cambria Math" panose="02040503050406030204" pitchFamily="18" charset="0"/>
                        </a:rPr>
                        <m:t>×</m:t>
                      </m:r>
                      <m:r>
                        <a:rPr lang="en-US" b="0" i="0" smtClean="0">
                          <a:latin typeface="Cambria Math" panose="02040503050406030204" pitchFamily="18" charset="0"/>
                        </a:rPr>
                        <m:t>100</m:t>
                      </m:r>
                    </m:oMath>
                  </m:oMathPara>
                </a14:m>
                <a:endParaRPr lang="en-US"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14:m>
                  <m:oMath xmlns:m="http://schemas.openxmlformats.org/officeDocument/2006/math">
                    <m:r>
                      <a:rPr lang="fa-IR" b="0" i="1" smtClean="0">
                        <a:latin typeface="Cambria Math" panose="02040503050406030204" pitchFamily="18" charset="0"/>
                      </a:rPr>
                      <m:t>𝑆𝐷</m:t>
                    </m:r>
                  </m:oMath>
                </a14:m>
                <a:r>
                  <a:rPr lang="fa-IR" dirty="0">
                    <a:latin typeface="Times New Roman" panose="02020603050405020304" pitchFamily="18" charset="0"/>
                    <a:cs typeface="B Nazanin" panose="00000400000000000000" pitchFamily="2" charset="-78"/>
                  </a:rPr>
                  <a:t>: انحراف معیار شدت سیگنال بیدها</a:t>
                </a:r>
              </a:p>
              <a:p>
                <a:pPr algn="r" rtl="1">
                  <a:lnSpc>
                    <a:spcPct val="150000"/>
                  </a:lnSpc>
                  <a:buFont typeface="Arial" panose="020B0604020202020204" pitchFamily="34" charset="0"/>
                  <a:buChar char="•"/>
                </a:pPr>
                <a14:m>
                  <m:oMath xmlns:m="http://schemas.openxmlformats.org/officeDocument/2006/math">
                    <m:r>
                      <a:rPr lang="fa-IR" b="0" i="1" smtClean="0">
                        <a:latin typeface="Cambria Math" panose="02040503050406030204" pitchFamily="18" charset="0"/>
                      </a:rPr>
                      <m:t>𝑀𝑒𝑎𝑛</m:t>
                    </m:r>
                  </m:oMath>
                </a14:m>
                <a:r>
                  <a:rPr lang="fa-IR" dirty="0">
                    <a:latin typeface="Times New Roman" panose="02020603050405020304" pitchFamily="18" charset="0"/>
                    <a:cs typeface="B Nazanin" panose="00000400000000000000" pitchFamily="2" charset="-78"/>
                  </a:rPr>
                  <a:t>: میانگین شدت سیگنال بیدها</a:t>
                </a:r>
              </a:p>
              <a:p>
                <a:pPr algn="r" rtl="1">
                  <a:lnSpc>
                    <a:spcPct val="150000"/>
                  </a:lnSpc>
                  <a:buFont typeface="Arial" panose="020B0604020202020204" pitchFamily="34" charset="0"/>
                  <a:buChar char="•"/>
                </a:pPr>
                <a14:m>
                  <m:oMath xmlns:m="http://schemas.openxmlformats.org/officeDocument/2006/math">
                    <m:r>
                      <a:rPr lang="fa-IR" b="0" i="1" smtClean="0">
                        <a:latin typeface="Cambria Math" panose="02040503050406030204" pitchFamily="18" charset="0"/>
                      </a:rPr>
                      <m:t>𝑟𝑆𝐷</m:t>
                    </m:r>
                  </m:oMath>
                </a14:m>
                <a:r>
                  <a:rPr lang="fa-IR" dirty="0">
                    <a:latin typeface="Times New Roman" panose="02020603050405020304" pitchFamily="18" charset="0"/>
                    <a:cs typeface="B Nazanin" panose="00000400000000000000" pitchFamily="2" charset="-78"/>
                  </a:rPr>
                  <a:t>: robust standard deviation، کمتر حساس به outlierها</a:t>
                </a:r>
              </a:p>
              <a:p>
                <a:pPr algn="r" rtl="1">
                  <a:lnSpc>
                    <a:spcPct val="150000"/>
                  </a:lnSpc>
                  <a:buFont typeface="Arial" panose="020B0604020202020204" pitchFamily="34" charset="0"/>
                  <a:buChar char="•"/>
                </a:pPr>
                <a14:m>
                  <m:oMath xmlns:m="http://schemas.openxmlformats.org/officeDocument/2006/math">
                    <m:r>
                      <a:rPr lang="fa-IR" b="0" i="1" smtClean="0">
                        <a:latin typeface="Cambria Math" panose="02040503050406030204" pitchFamily="18" charset="0"/>
                      </a:rPr>
                      <m:t>𝑀𝑒𝑑𝑖𝑎𝑛</m:t>
                    </m:r>
                  </m:oMath>
                </a14:m>
                <a:r>
                  <a:rPr lang="fa-IR" dirty="0">
                    <a:latin typeface="Times New Roman" panose="02020603050405020304" pitchFamily="18" charset="0"/>
                    <a:cs typeface="B Nazanin" panose="00000400000000000000" pitchFamily="2" charset="-78"/>
                  </a:rPr>
                  <a:t>: میانه شدت سیگنال</a:t>
                </a:r>
              </a:p>
            </p:txBody>
          </p:sp>
        </mc:Choice>
        <mc:Fallback>
          <p:sp>
            <p:nvSpPr>
              <p:cNvPr id="3" name="TextBox 2">
                <a:extLst>
                  <a:ext uri="{FF2B5EF4-FFF2-40B4-BE49-F238E27FC236}">
                    <a16:creationId xmlns:a16="http://schemas.microsoft.com/office/drawing/2014/main" id="{E35DE282-AEA4-2ABC-2C4A-D07513CE0008}"/>
                  </a:ext>
                </a:extLst>
              </p:cNvPr>
              <p:cNvSpPr txBox="1">
                <a:spLocks noRot="1" noChangeAspect="1" noMove="1" noResize="1" noEditPoints="1" noAdjustHandles="1" noChangeArrowheads="1" noChangeShapeType="1" noTextEdit="1"/>
              </p:cNvSpPr>
              <p:nvPr/>
            </p:nvSpPr>
            <p:spPr>
              <a:xfrm>
                <a:off x="88760" y="797897"/>
                <a:ext cx="11778344" cy="4145494"/>
              </a:xfrm>
              <a:prstGeom prst="rect">
                <a:avLst/>
              </a:prstGeom>
              <a:blipFill>
                <a:blip r:embed="rId2"/>
                <a:stretch>
                  <a:fillRect t="-1618" r="-414" b="-176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4AD2744-6A84-4FF7-1B3B-913943A963FD}"/>
              </a:ext>
            </a:extLst>
          </p:cNvPr>
          <p:cNvSpPr>
            <a:spLocks noGrp="1"/>
          </p:cNvSpPr>
          <p:nvPr>
            <p:ph type="sldNum" sz="quarter" idx="12"/>
          </p:nvPr>
        </p:nvSpPr>
        <p:spPr/>
        <p:txBody>
          <a:bodyPr/>
          <a:lstStyle/>
          <a:p>
            <a:fld id="{111A70C6-53E1-4616-9BEB-862F2340207D}" type="slidenum">
              <a:rPr lang="en-US" smtClean="0"/>
              <a:t>12</a:t>
            </a:fld>
            <a:endParaRPr lang="en-US"/>
          </a:p>
        </p:txBody>
      </p:sp>
      <p:sp>
        <p:nvSpPr>
          <p:cNvPr id="6" name="Rectangle: Rounded Corners 5">
            <a:extLst>
              <a:ext uri="{FF2B5EF4-FFF2-40B4-BE49-F238E27FC236}">
                <a16:creationId xmlns:a16="http://schemas.microsoft.com/office/drawing/2014/main" id="{76A26485-5CA0-E02A-7991-87C5A5122B1A}"/>
              </a:ext>
            </a:extLst>
          </p:cNvPr>
          <p:cNvSpPr/>
          <p:nvPr/>
        </p:nvSpPr>
        <p:spPr>
          <a:xfrm>
            <a:off x="76198" y="3277156"/>
            <a:ext cx="6019802" cy="15818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4956FFB-5AA6-CF41-AFCF-641475690E6D}"/>
                  </a:ext>
                </a:extLst>
              </p:cNvPr>
              <p:cNvSpPr txBox="1"/>
              <p:nvPr/>
            </p:nvSpPr>
            <p:spPr>
              <a:xfrm>
                <a:off x="0" y="5710019"/>
                <a:ext cx="11353800" cy="646331"/>
              </a:xfrm>
              <a:prstGeom prst="rect">
                <a:avLst/>
              </a:prstGeom>
              <a:noFill/>
            </p:spPr>
            <p:txBody>
              <a:bodyPr wrap="square">
                <a:spAutoFit/>
              </a:bodyPr>
              <a:lstStyle/>
              <a:p>
                <a:pPr algn="r" rtl="1"/>
                <a:r>
                  <a:rPr lang="fa-IR" dirty="0">
                    <a:latin typeface="Times New Roman" panose="02020603050405020304" pitchFamily="18" charset="0"/>
                    <a:cs typeface="B Nazanin" panose="00000400000000000000" pitchFamily="2" charset="-78"/>
                  </a:rPr>
                  <a:t>در Alignment خوب، بیدها بیشترین تحریک را از لیزر دریافت می‌کنند و نور جمع‌آوری‌شده هم بهتر به detector می‌رسد. بنابراین معمولاً:</a:t>
                </a:r>
                <a:r>
                  <a:rPr lang="en-US" dirty="0">
                    <a:latin typeface="Times New Roman" panose="02020603050405020304" pitchFamily="18" charset="0"/>
                    <a:cs typeface="B Nazanin" panose="00000400000000000000" pitchFamily="2" charset="-78"/>
                  </a:rPr>
                  <a:t>   </a:t>
                </a:r>
                <a14:m>
                  <m:oMath xmlns:m="http://schemas.openxmlformats.org/officeDocument/2006/math">
                    <m:r>
                      <a:rPr lang="en-US" i="1">
                        <a:latin typeface="Cambria Math" panose="02040503050406030204" pitchFamily="18" charset="0"/>
                      </a:rPr>
                      <m:t>𝑀𝐹𝐼</m:t>
                    </m:r>
                    <m:r>
                      <a:rPr lang="en-US">
                        <a:latin typeface="Cambria Math" panose="02040503050406030204" pitchFamily="18" charset="0"/>
                      </a:rPr>
                      <m:t>↑</m:t>
                    </m:r>
                  </m:oMath>
                </a14:m>
                <a:endParaRPr lang="en-US" dirty="0">
                  <a:latin typeface="Times New Roman" panose="02020603050405020304" pitchFamily="18" charset="0"/>
                  <a:cs typeface="B Nazanin" panose="00000400000000000000" pitchFamily="2" charset="-78"/>
                </a:endParaRPr>
              </a:p>
              <a:p>
                <a:pPr algn="r" rtl="1">
                  <a:buNone/>
                </a:pPr>
                <a:r>
                  <a:rPr lang="en-US" dirty="0">
                    <a:latin typeface="Times New Roman" panose="02020603050405020304" pitchFamily="18" charset="0"/>
                    <a:cs typeface="B Nazanin" panose="00000400000000000000" pitchFamily="2" charset="-78"/>
                  </a:rPr>
                  <a:t> </a:t>
                </a:r>
                <a:endParaRPr lang="fa-IR" dirty="0">
                  <a:latin typeface="Times New Roman" panose="02020603050405020304" pitchFamily="18" charset="0"/>
                  <a:cs typeface="B Nazanin" panose="00000400000000000000" pitchFamily="2" charset="-78"/>
                </a:endParaRPr>
              </a:p>
            </p:txBody>
          </p:sp>
        </mc:Choice>
        <mc:Fallback xmlns="">
          <p:sp>
            <p:nvSpPr>
              <p:cNvPr id="10" name="TextBox 9">
                <a:extLst>
                  <a:ext uri="{FF2B5EF4-FFF2-40B4-BE49-F238E27FC236}">
                    <a16:creationId xmlns:a16="http://schemas.microsoft.com/office/drawing/2014/main" id="{04956FFB-5AA6-CF41-AFCF-641475690E6D}"/>
                  </a:ext>
                </a:extLst>
              </p:cNvPr>
              <p:cNvSpPr txBox="1">
                <a:spLocks noRot="1" noChangeAspect="1" noMove="1" noResize="1" noEditPoints="1" noAdjustHandles="1" noChangeArrowheads="1" noChangeShapeType="1" noTextEdit="1"/>
              </p:cNvSpPr>
              <p:nvPr/>
            </p:nvSpPr>
            <p:spPr>
              <a:xfrm>
                <a:off x="0" y="5710019"/>
                <a:ext cx="11353800" cy="646331"/>
              </a:xfrm>
              <a:prstGeom prst="rect">
                <a:avLst/>
              </a:prstGeom>
              <a:blipFill>
                <a:blip r:embed="rId3"/>
                <a:stretch>
                  <a:fillRect t="-9434" r="-37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44F9205-811B-FC47-5F3B-FE5B045CA155}"/>
              </a:ext>
            </a:extLst>
          </p:cNvPr>
          <p:cNvSpPr txBox="1"/>
          <p:nvPr/>
        </p:nvSpPr>
        <p:spPr>
          <a:xfrm>
            <a:off x="-1427705" y="3406342"/>
            <a:ext cx="7523704" cy="1323439"/>
          </a:xfrm>
          <a:prstGeom prst="rect">
            <a:avLst/>
          </a:prstGeom>
          <a:noFill/>
        </p:spPr>
        <p:txBody>
          <a:bodyPr wrap="square">
            <a:spAutoFit/>
          </a:bodyPr>
          <a:lstStyle/>
          <a:p>
            <a:pPr algn="r" rtl="1"/>
            <a:r>
              <a:rPr lang="en-US" sz="2000" b="1" dirty="0">
                <a:latin typeface="Times New Roman" panose="02020603050405020304" pitchFamily="18" charset="0"/>
                <a:cs typeface="B Nazanin" panose="00000400000000000000" pitchFamily="2" charset="-78"/>
              </a:rPr>
              <a:t>CV &lt; 1%</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عالی</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دستگاه</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بسیار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خوب</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تنظیم</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شده</a:t>
            </a:r>
            <a:endParaRPr lang="fa-IR" sz="2000" dirty="0">
              <a:latin typeface="Times New Roman" panose="02020603050405020304" pitchFamily="18" charset="0"/>
              <a:cs typeface="B Nazanin" panose="00000400000000000000" pitchFamily="2" charset="-78"/>
            </a:endParaRPr>
          </a:p>
          <a:p>
            <a:pPr algn="r" rtl="1"/>
            <a:r>
              <a:rPr lang="en-US" sz="2000" b="1" dirty="0">
                <a:latin typeface="Times New Roman" panose="02020603050405020304" pitchFamily="18" charset="0"/>
                <a:cs typeface="B Nazanin" panose="00000400000000000000" pitchFamily="2" charset="-78"/>
              </a:rPr>
              <a:t>1–3%</a:t>
            </a:r>
            <a:r>
              <a:rPr lang="fa-IR" sz="2000" b="1" dirty="0">
                <a:latin typeface="Times New Roman" panose="02020603050405020304" pitchFamily="18" charset="0"/>
                <a:cs typeface="B Nazanin" panose="00000400000000000000" pitchFamily="2" charset="-78"/>
              </a:rPr>
              <a:t> </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بسیار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خوب</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حالت</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استاندارد</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اکثر</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دستگاه‌ها</a:t>
            </a:r>
            <a:r>
              <a:rPr lang="en-US" sz="2000" dirty="0">
                <a:latin typeface="Times New Roman" panose="02020603050405020304" pitchFamily="18" charset="0"/>
                <a:cs typeface="B Nazanin" panose="00000400000000000000" pitchFamily="2" charset="-78"/>
              </a:rPr>
              <a:t> </a:t>
            </a:r>
            <a:endParaRPr lang="fa-IR" sz="2000" dirty="0">
              <a:latin typeface="Times New Roman" panose="02020603050405020304" pitchFamily="18" charset="0"/>
              <a:cs typeface="B Nazanin" panose="00000400000000000000" pitchFamily="2" charset="-78"/>
            </a:endParaRPr>
          </a:p>
          <a:p>
            <a:pPr algn="r" rtl="1"/>
            <a:r>
              <a:rPr lang="en-US" sz="2000" b="1" dirty="0">
                <a:latin typeface="Times New Roman" panose="02020603050405020304" pitchFamily="18" charset="0"/>
                <a:cs typeface="B Nazanin" panose="00000400000000000000" pitchFamily="2" charset="-78"/>
              </a:rPr>
              <a:t> 3–5%</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قابل</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قبول</a:t>
            </a:r>
            <a:endParaRPr lang="fa-IR" sz="2000" dirty="0">
              <a:latin typeface="Times New Roman" panose="02020603050405020304" pitchFamily="18" charset="0"/>
              <a:cs typeface="B Nazanin" panose="00000400000000000000" pitchFamily="2" charset="-78"/>
            </a:endParaRPr>
          </a:p>
          <a:p>
            <a:pPr algn="r" rtl="1"/>
            <a:r>
              <a:rPr lang="en-US" sz="2000" dirty="0">
                <a:latin typeface="Times New Roman" panose="02020603050405020304" pitchFamily="18" charset="0"/>
                <a:cs typeface="B Nazanin" panose="00000400000000000000" pitchFamily="2" charset="-78"/>
              </a:rPr>
              <a:t>  </a:t>
            </a:r>
            <a:r>
              <a:rPr lang="en-US" sz="2000" b="1" dirty="0">
                <a:latin typeface="Times New Roman" panose="02020603050405020304" pitchFamily="18" charset="0"/>
                <a:cs typeface="B Nazanin" panose="00000400000000000000" pitchFamily="2" charset="-78"/>
              </a:rPr>
              <a:t>&gt;5%</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نشان</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می‌دهد</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مشکل</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در</a:t>
            </a:r>
            <a:r>
              <a:rPr lang="en-US" sz="2000" dirty="0">
                <a:latin typeface="Times New Roman" panose="02020603050405020304" pitchFamily="18" charset="0"/>
                <a:cs typeface="B Nazanin" panose="00000400000000000000" pitchFamily="2" charset="-78"/>
              </a:rPr>
              <a:t> alignment، </a:t>
            </a:r>
            <a:r>
              <a:rPr lang="en-US" sz="2000" dirty="0" err="1">
                <a:latin typeface="Times New Roman" panose="02020603050405020304" pitchFamily="18" charset="0"/>
                <a:cs typeface="B Nazanin" panose="00000400000000000000" pitchFamily="2" charset="-78"/>
              </a:rPr>
              <a:t>جریان</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یا</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اپتیک</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وجود</a:t>
            </a:r>
            <a:r>
              <a:rPr lang="en-US" sz="2000" dirty="0">
                <a:latin typeface="Times New Roman" panose="02020603050405020304" pitchFamily="18" charset="0"/>
                <a:cs typeface="B Nazanin" panose="00000400000000000000" pitchFamily="2" charset="-78"/>
              </a:rPr>
              <a:t> </a:t>
            </a:r>
            <a:r>
              <a:rPr lang="en-US" sz="2000" dirty="0" err="1">
                <a:latin typeface="Times New Roman" panose="02020603050405020304" pitchFamily="18" charset="0"/>
                <a:cs typeface="B Nazanin" panose="00000400000000000000" pitchFamily="2" charset="-78"/>
              </a:rPr>
              <a:t>دارد</a:t>
            </a:r>
            <a:endParaRPr lang="en-US" sz="2000" dirty="0">
              <a:latin typeface="Times New Roman" panose="02020603050405020304" pitchFamily="18" charset="0"/>
              <a:cs typeface="B Nazanin" panose="00000400000000000000" pitchFamily="2" charset="-78"/>
            </a:endParaRPr>
          </a:p>
        </p:txBody>
      </p:sp>
      <p:sp>
        <p:nvSpPr>
          <p:cNvPr id="7" name="TextBox 6">
            <a:extLst>
              <a:ext uri="{FF2B5EF4-FFF2-40B4-BE49-F238E27FC236}">
                <a16:creationId xmlns:a16="http://schemas.microsoft.com/office/drawing/2014/main" id="{BDBAC0E5-9516-4F40-10D5-29ABB39654C7}"/>
              </a:ext>
            </a:extLst>
          </p:cNvPr>
          <p:cNvSpPr txBox="1"/>
          <p:nvPr/>
        </p:nvSpPr>
        <p:spPr>
          <a:xfrm>
            <a:off x="4011386" y="46168"/>
            <a:ext cx="6809014" cy="523220"/>
          </a:xfrm>
          <a:prstGeom prst="rect">
            <a:avLst/>
          </a:prstGeom>
          <a:noFill/>
        </p:spPr>
        <p:txBody>
          <a:bodyPr wrap="square">
            <a:spAutoFit/>
          </a:bodyPr>
          <a:lstStyle/>
          <a:p>
            <a:r>
              <a:rPr lang="fa-IR" sz="2800" b="1" dirty="0">
                <a:latin typeface="Times New Roman" panose="02020603050405020304" pitchFamily="18" charset="0"/>
                <a:cs typeface="B Nazanin" panose="00000400000000000000" pitchFamily="2" charset="-78"/>
              </a:rPr>
              <a:t>C</a:t>
            </a:r>
            <a:r>
              <a:rPr lang="en-US" sz="2800" b="1" dirty="0" err="1">
                <a:latin typeface="Times New Roman" panose="02020603050405020304" pitchFamily="18" charset="0"/>
                <a:cs typeface="B Nazanin" panose="00000400000000000000" pitchFamily="2" charset="-78"/>
              </a:rPr>
              <a:t>oefficient</a:t>
            </a:r>
            <a:r>
              <a:rPr lang="en-US" sz="2800" b="1" dirty="0">
                <a:latin typeface="Times New Roman" panose="02020603050405020304" pitchFamily="18" charset="0"/>
                <a:cs typeface="B Nazanin" panose="00000400000000000000" pitchFamily="2" charset="-78"/>
              </a:rPr>
              <a:t> of </a:t>
            </a:r>
            <a:r>
              <a:rPr lang="fa-IR" sz="2800" b="1" dirty="0">
                <a:latin typeface="Times New Roman" panose="02020603050405020304" pitchFamily="18" charset="0"/>
                <a:cs typeface="B Nazanin" panose="00000400000000000000" pitchFamily="2" charset="-78"/>
              </a:rPr>
              <a:t>V</a:t>
            </a:r>
            <a:r>
              <a:rPr lang="en-US" sz="2800" b="1" dirty="0" err="1">
                <a:latin typeface="Times New Roman" panose="02020603050405020304" pitchFamily="18" charset="0"/>
                <a:cs typeface="B Nazanin" panose="00000400000000000000" pitchFamily="2" charset="-78"/>
              </a:rPr>
              <a:t>ariation</a:t>
            </a:r>
            <a:r>
              <a:rPr lang="fa-IR" sz="2800" b="1" dirty="0">
                <a:latin typeface="Times New Roman" panose="02020603050405020304" pitchFamily="18" charset="0"/>
                <a:cs typeface="B Nazanin" panose="00000400000000000000" pitchFamily="2" charset="-78"/>
              </a:rPr>
              <a:t> </a:t>
            </a:r>
            <a:endParaRPr lang="en-US" sz="2800" dirty="0"/>
          </a:p>
        </p:txBody>
      </p:sp>
    </p:spTree>
    <p:extLst>
      <p:ext uri="{BB962C8B-B14F-4D97-AF65-F5344CB8AC3E}">
        <p14:creationId xmlns:p14="http://schemas.microsoft.com/office/powerpoint/2010/main" val="3400165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E5208D-07BF-1BCE-3095-7D8A691D35B3}"/>
              </a:ext>
            </a:extLst>
          </p:cNvPr>
          <p:cNvPicPr>
            <a:picLocks noChangeAspect="1"/>
          </p:cNvPicPr>
          <p:nvPr/>
        </p:nvPicPr>
        <p:blipFill>
          <a:blip r:embed="rId3"/>
          <a:stretch>
            <a:fillRect/>
          </a:stretch>
        </p:blipFill>
        <p:spPr>
          <a:xfrm>
            <a:off x="80387" y="1646216"/>
            <a:ext cx="5814370" cy="1831297"/>
          </a:xfrm>
          <a:prstGeom prst="rect">
            <a:avLst/>
          </a:prstGeom>
        </p:spPr>
      </p:pic>
      <p:sp>
        <p:nvSpPr>
          <p:cNvPr id="7" name="TextBox 6">
            <a:extLst>
              <a:ext uri="{FF2B5EF4-FFF2-40B4-BE49-F238E27FC236}">
                <a16:creationId xmlns:a16="http://schemas.microsoft.com/office/drawing/2014/main" id="{56CDAD21-648A-0C69-5C80-74C9B311CEC2}"/>
              </a:ext>
            </a:extLst>
          </p:cNvPr>
          <p:cNvSpPr txBox="1"/>
          <p:nvPr/>
        </p:nvSpPr>
        <p:spPr>
          <a:xfrm>
            <a:off x="1477108" y="1072167"/>
            <a:ext cx="9876692" cy="461665"/>
          </a:xfrm>
          <a:prstGeom prst="rect">
            <a:avLst/>
          </a:prstGeom>
          <a:noFill/>
        </p:spPr>
        <p:txBody>
          <a:bodyPr wrap="square">
            <a:spAutoFit/>
          </a:bodyPr>
          <a:lstStyle/>
          <a:p>
            <a:pPr algn="r" rtl="1">
              <a:buNone/>
            </a:pPr>
            <a:r>
              <a:rPr lang="fa-IR" sz="2400" dirty="0">
                <a:latin typeface="Times New Roman" panose="02020603050405020304" pitchFamily="18" charset="0"/>
                <a:cs typeface="B Nazanin" panose="00000400000000000000" pitchFamily="2" charset="-78"/>
              </a:rPr>
              <a:t>معیاری است برای اینکه ببینیم یک رنگ‌آمیزی چقدر خوب می‌تواند جمعیت مثبت را از منفی جدا کند.</a:t>
            </a:r>
          </a:p>
        </p:txBody>
      </p:sp>
      <p:sp>
        <p:nvSpPr>
          <p:cNvPr id="2" name="Slide Number Placeholder 1">
            <a:extLst>
              <a:ext uri="{FF2B5EF4-FFF2-40B4-BE49-F238E27FC236}">
                <a16:creationId xmlns:a16="http://schemas.microsoft.com/office/drawing/2014/main" id="{6B7410A0-DD6B-1805-4081-A26A014DB82C}"/>
              </a:ext>
            </a:extLst>
          </p:cNvPr>
          <p:cNvSpPr>
            <a:spLocks noGrp="1"/>
          </p:cNvSpPr>
          <p:nvPr>
            <p:ph type="sldNum" sz="quarter" idx="12"/>
          </p:nvPr>
        </p:nvSpPr>
        <p:spPr/>
        <p:txBody>
          <a:bodyPr/>
          <a:lstStyle/>
          <a:p>
            <a:fld id="{111A70C6-53E1-4616-9BEB-862F2340207D}" type="slidenum">
              <a:rPr lang="en-US" smtClean="0"/>
              <a:t>13</a:t>
            </a:fld>
            <a:endParaRPr lang="en-US"/>
          </a:p>
        </p:txBody>
      </p:sp>
      <p:sp>
        <p:nvSpPr>
          <p:cNvPr id="4" name="TextBox 3">
            <a:extLst>
              <a:ext uri="{FF2B5EF4-FFF2-40B4-BE49-F238E27FC236}">
                <a16:creationId xmlns:a16="http://schemas.microsoft.com/office/drawing/2014/main" id="{CB0FCC23-7B89-FB82-3F4C-9353632B716E}"/>
              </a:ext>
            </a:extLst>
          </p:cNvPr>
          <p:cNvSpPr txBox="1"/>
          <p:nvPr/>
        </p:nvSpPr>
        <p:spPr>
          <a:xfrm>
            <a:off x="5338187" y="231145"/>
            <a:ext cx="6094324" cy="523220"/>
          </a:xfrm>
          <a:prstGeom prst="rect">
            <a:avLst/>
          </a:prstGeom>
          <a:noFill/>
        </p:spPr>
        <p:txBody>
          <a:bodyPr wrap="square">
            <a:spAutoFit/>
          </a:bodyPr>
          <a:lstStyle/>
          <a:p>
            <a:r>
              <a:rPr lang="fa-IR" sz="2800" b="1" dirty="0">
                <a:latin typeface="Times New Roman" panose="02020603050405020304" pitchFamily="18" charset="0"/>
                <a:cs typeface="B Nazanin" panose="00000400000000000000" pitchFamily="2" charset="-78"/>
              </a:rPr>
              <a:t>Stain Index</a:t>
            </a:r>
            <a:endParaRPr lang="en-US" sz="2800" b="1" dirty="0"/>
          </a:p>
        </p:txBody>
      </p:sp>
      <p:graphicFrame>
        <p:nvGraphicFramePr>
          <p:cNvPr id="8" name="Table 7">
            <a:extLst>
              <a:ext uri="{FF2B5EF4-FFF2-40B4-BE49-F238E27FC236}">
                <a16:creationId xmlns:a16="http://schemas.microsoft.com/office/drawing/2014/main" id="{AC143630-0D4C-84A5-7A91-B5600F17062C}"/>
              </a:ext>
            </a:extLst>
          </p:cNvPr>
          <p:cNvGraphicFramePr>
            <a:graphicFrameLocks noGrp="1"/>
          </p:cNvGraphicFramePr>
          <p:nvPr>
            <p:extLst>
              <p:ext uri="{D42A27DB-BD31-4B8C-83A1-F6EECF244321}">
                <p14:modId xmlns:p14="http://schemas.microsoft.com/office/powerpoint/2010/main" val="2279915201"/>
              </p:ext>
            </p:extLst>
          </p:nvPr>
        </p:nvGraphicFramePr>
        <p:xfrm>
          <a:off x="2688283" y="3589897"/>
          <a:ext cx="7219390" cy="2195935"/>
        </p:xfrm>
        <a:graphic>
          <a:graphicData uri="http://schemas.openxmlformats.org/drawingml/2006/table">
            <a:tbl>
              <a:tblPr>
                <a:tableStyleId>{793D81CF-94F2-401A-BA57-92F5A7B2D0C5}</a:tableStyleId>
              </a:tblPr>
              <a:tblGrid>
                <a:gridCol w="3609695">
                  <a:extLst>
                    <a:ext uri="{9D8B030D-6E8A-4147-A177-3AD203B41FA5}">
                      <a16:colId xmlns:a16="http://schemas.microsoft.com/office/drawing/2014/main" val="3000955950"/>
                    </a:ext>
                  </a:extLst>
                </a:gridCol>
                <a:gridCol w="3609695">
                  <a:extLst>
                    <a:ext uri="{9D8B030D-6E8A-4147-A177-3AD203B41FA5}">
                      <a16:colId xmlns:a16="http://schemas.microsoft.com/office/drawing/2014/main" val="522826556"/>
                    </a:ext>
                  </a:extLst>
                </a:gridCol>
              </a:tblGrid>
              <a:tr h="439187">
                <a:tc>
                  <a:txBody>
                    <a:bodyPr/>
                    <a:lstStyle/>
                    <a:p>
                      <a:pPr algn="ctr">
                        <a:buNone/>
                      </a:pPr>
                      <a:r>
                        <a:rPr lang="en-US" dirty="0"/>
                        <a:t>Stain Index</a:t>
                      </a:r>
                    </a:p>
                  </a:txBody>
                  <a:tcPr anchor="ctr"/>
                </a:tc>
                <a:tc>
                  <a:txBody>
                    <a:bodyPr/>
                    <a:lstStyle/>
                    <a:p>
                      <a:pPr algn="ctr">
                        <a:buNone/>
                      </a:pPr>
                      <a:r>
                        <a:rPr lang="en-US"/>
                        <a:t>تفسیر</a:t>
                      </a:r>
                    </a:p>
                  </a:txBody>
                  <a:tcPr anchor="ctr"/>
                </a:tc>
                <a:extLst>
                  <a:ext uri="{0D108BD9-81ED-4DB2-BD59-A6C34878D82A}">
                    <a16:rowId xmlns:a16="http://schemas.microsoft.com/office/drawing/2014/main" val="2600006643"/>
                  </a:ext>
                </a:extLst>
              </a:tr>
              <a:tr h="439187">
                <a:tc>
                  <a:txBody>
                    <a:bodyPr/>
                    <a:lstStyle/>
                    <a:p>
                      <a:pPr algn="ctr" rtl="1">
                        <a:buNone/>
                      </a:pPr>
                      <a:r>
                        <a:rPr lang="fa-IR"/>
                        <a:t>کمتر از 1</a:t>
                      </a:r>
                    </a:p>
                  </a:txBody>
                  <a:tcPr anchor="ctr"/>
                </a:tc>
                <a:tc>
                  <a:txBody>
                    <a:bodyPr/>
                    <a:lstStyle/>
                    <a:p>
                      <a:pPr algn="ctr" rtl="1">
                        <a:buNone/>
                      </a:pPr>
                      <a:r>
                        <a:rPr lang="fa-IR"/>
                        <a:t>تفکیک ضعیف</a:t>
                      </a:r>
                    </a:p>
                  </a:txBody>
                  <a:tcPr anchor="ctr"/>
                </a:tc>
                <a:extLst>
                  <a:ext uri="{0D108BD9-81ED-4DB2-BD59-A6C34878D82A}">
                    <a16:rowId xmlns:a16="http://schemas.microsoft.com/office/drawing/2014/main" val="322460286"/>
                  </a:ext>
                </a:extLst>
              </a:tr>
              <a:tr h="439187">
                <a:tc>
                  <a:txBody>
                    <a:bodyPr/>
                    <a:lstStyle/>
                    <a:p>
                      <a:pPr algn="ctr" rtl="1">
                        <a:buNone/>
                      </a:pPr>
                      <a:r>
                        <a:rPr lang="fa-IR" dirty="0"/>
                        <a:t>1 تا 3</a:t>
                      </a:r>
                    </a:p>
                  </a:txBody>
                  <a:tcPr anchor="ctr"/>
                </a:tc>
                <a:tc>
                  <a:txBody>
                    <a:bodyPr/>
                    <a:lstStyle/>
                    <a:p>
                      <a:pPr algn="ctr" rtl="1">
                        <a:buNone/>
                      </a:pPr>
                      <a:r>
                        <a:rPr lang="fa-IR"/>
                        <a:t>تفکیک متوسط/مرزی</a:t>
                      </a:r>
                    </a:p>
                  </a:txBody>
                  <a:tcPr anchor="ctr"/>
                </a:tc>
                <a:extLst>
                  <a:ext uri="{0D108BD9-81ED-4DB2-BD59-A6C34878D82A}">
                    <a16:rowId xmlns:a16="http://schemas.microsoft.com/office/drawing/2014/main" val="507240838"/>
                  </a:ext>
                </a:extLst>
              </a:tr>
              <a:tr h="439187">
                <a:tc>
                  <a:txBody>
                    <a:bodyPr/>
                    <a:lstStyle/>
                    <a:p>
                      <a:pPr algn="ctr" rtl="1">
                        <a:buNone/>
                      </a:pPr>
                      <a:r>
                        <a:rPr lang="fa-IR"/>
                        <a:t>3 تا 10</a:t>
                      </a:r>
                    </a:p>
                  </a:txBody>
                  <a:tcPr anchor="ctr"/>
                </a:tc>
                <a:tc>
                  <a:txBody>
                    <a:bodyPr/>
                    <a:lstStyle/>
                    <a:p>
                      <a:pPr algn="ctr" rtl="1">
                        <a:buNone/>
                      </a:pPr>
                      <a:r>
                        <a:rPr lang="fa-IR"/>
                        <a:t>خوب</a:t>
                      </a:r>
                    </a:p>
                  </a:txBody>
                  <a:tcPr anchor="ctr"/>
                </a:tc>
                <a:extLst>
                  <a:ext uri="{0D108BD9-81ED-4DB2-BD59-A6C34878D82A}">
                    <a16:rowId xmlns:a16="http://schemas.microsoft.com/office/drawing/2014/main" val="1228770141"/>
                  </a:ext>
                </a:extLst>
              </a:tr>
              <a:tr h="439187">
                <a:tc>
                  <a:txBody>
                    <a:bodyPr/>
                    <a:lstStyle/>
                    <a:p>
                      <a:pPr algn="ctr" rtl="1">
                        <a:buNone/>
                      </a:pPr>
                      <a:r>
                        <a:rPr lang="fa-IR" dirty="0"/>
                        <a:t>بالای 10</a:t>
                      </a:r>
                    </a:p>
                  </a:txBody>
                  <a:tcPr anchor="ctr"/>
                </a:tc>
                <a:tc>
                  <a:txBody>
                    <a:bodyPr/>
                    <a:lstStyle/>
                    <a:p>
                      <a:pPr algn="ctr" rtl="1">
                        <a:buNone/>
                      </a:pPr>
                      <a:r>
                        <a:rPr lang="fa-IR" dirty="0"/>
                        <a:t>بسیار خوب</a:t>
                      </a:r>
                    </a:p>
                  </a:txBody>
                  <a:tcPr anchor="ctr"/>
                </a:tc>
                <a:extLst>
                  <a:ext uri="{0D108BD9-81ED-4DB2-BD59-A6C34878D82A}">
                    <a16:rowId xmlns:a16="http://schemas.microsoft.com/office/drawing/2014/main" val="1727669698"/>
                  </a:ext>
                </a:extLst>
              </a:tr>
            </a:tbl>
          </a:graphicData>
        </a:graphic>
      </p:graphicFrame>
    </p:spTree>
    <p:extLst>
      <p:ext uri="{BB962C8B-B14F-4D97-AF65-F5344CB8AC3E}">
        <p14:creationId xmlns:p14="http://schemas.microsoft.com/office/powerpoint/2010/main" val="3238527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DF84E01-B900-B142-5A1E-1E1D40A3AD7F}"/>
                  </a:ext>
                </a:extLst>
              </p:cNvPr>
              <p:cNvSpPr txBox="1"/>
              <p:nvPr/>
            </p:nvSpPr>
            <p:spPr>
              <a:xfrm>
                <a:off x="83089" y="252299"/>
                <a:ext cx="11710219" cy="5965031"/>
              </a:xfrm>
              <a:prstGeom prst="rect">
                <a:avLst/>
              </a:prstGeom>
              <a:noFill/>
            </p:spPr>
            <p:txBody>
              <a:bodyPr wrap="square">
                <a:spAutoFit/>
              </a:bodyPr>
              <a:lstStyle/>
              <a:p>
                <a:pPr algn="r" rtl="1">
                  <a:buNone/>
                </a:pPr>
                <a:r>
                  <a:rPr lang="fa-IR" sz="2000" b="1" dirty="0">
                    <a:solidFill>
                      <a:srgbClr val="FF0000"/>
                    </a:solidFill>
                    <a:latin typeface="Times New Roman" panose="02020603050405020304" pitchFamily="18" charset="0"/>
                    <a:cs typeface="B Nazanin" panose="00000400000000000000" pitchFamily="2" charset="-78"/>
                  </a:rPr>
                  <a:t>Stain Index برای چه استفاده می‌شود؟</a:t>
                </a:r>
                <a:endParaRPr lang="en-US" sz="2000" b="1" dirty="0">
                  <a:solidFill>
                    <a:srgbClr val="FF0000"/>
                  </a:solidFill>
                  <a:latin typeface="Times New Roman" panose="02020603050405020304" pitchFamily="18" charset="0"/>
                  <a:cs typeface="B Nazanin" panose="00000400000000000000" pitchFamily="2" charset="-78"/>
                </a:endParaRPr>
              </a:p>
              <a:p>
                <a:pPr algn="r" rtl="1">
                  <a:buNone/>
                </a:pPr>
                <a:endParaRPr lang="fa-IR" sz="2000" b="1" dirty="0">
                  <a:latin typeface="Times New Roman" panose="02020603050405020304" pitchFamily="18" charset="0"/>
                  <a:cs typeface="B Nazanin" panose="00000400000000000000" pitchFamily="2" charset="-78"/>
                </a:endParaRPr>
              </a:p>
              <a:p>
                <a:pPr marL="342900" indent="-342900" algn="r" rtl="1">
                  <a:buAutoNum type="arabicPeriod"/>
                </a:pPr>
                <a:r>
                  <a:rPr lang="fa-IR" sz="2000" b="1" dirty="0">
                    <a:latin typeface="Times New Roman" panose="02020603050405020304" pitchFamily="18" charset="0"/>
                    <a:cs typeface="B Nazanin" panose="00000400000000000000" pitchFamily="2" charset="-78"/>
                  </a:rPr>
                  <a:t>انتخاب بهترین فلوروکروم</a:t>
                </a:r>
                <a:endParaRPr lang="en-US" sz="2000" b="1" dirty="0">
                  <a:latin typeface="Times New Roman" panose="02020603050405020304" pitchFamily="18" charset="0"/>
                  <a:cs typeface="B Nazanin" panose="00000400000000000000" pitchFamily="2" charset="-78"/>
                </a:endParaRPr>
              </a:p>
              <a:p>
                <a:pPr algn="r" rtl="1"/>
                <a:endParaRPr lang="en-US" sz="2000" b="1" dirty="0">
                  <a:latin typeface="Times New Roman" panose="02020603050405020304" pitchFamily="18" charset="0"/>
                  <a:cs typeface="B Nazanin" panose="00000400000000000000" pitchFamily="2" charset="-78"/>
                </a:endParaRPr>
              </a:p>
              <a:p>
                <a:pPr algn="r" rtl="1"/>
                <a:r>
                  <a:rPr lang="fa-IR" sz="2000" dirty="0">
                    <a:latin typeface="Times New Roman" panose="02020603050405020304" pitchFamily="18" charset="0"/>
                    <a:cs typeface="B Nazanin" panose="00000400000000000000" pitchFamily="2" charset="-78"/>
                  </a:rPr>
                  <a:t>مثلاً برای یک مارکر کم</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‌بیان مثل 1PD- یا</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7 CCR، باید فلوروکرومی انتخاب شود که SI بالاتری بدهد.</a:t>
                </a:r>
              </a:p>
              <a:p>
                <a:pPr algn="r" rtl="1">
                  <a:buNone/>
                </a:pPr>
                <a:r>
                  <a:rPr lang="fa-IR" sz="2000" dirty="0">
                    <a:latin typeface="Times New Roman" panose="02020603050405020304" pitchFamily="18" charset="0"/>
                    <a:cs typeface="B Nazanin" panose="00000400000000000000" pitchFamily="2" charset="-78"/>
                  </a:rPr>
                  <a:t>ممکن است دو فلوروکروم MFI مشابه داشته باشند، ولی یکی spread بیشتری در منفی ایجاد کند و SI پایین‌تری داشته باشد.</a:t>
                </a:r>
              </a:p>
              <a:p>
                <a:pPr algn="r">
                  <a:buNone/>
                </a:pPr>
                <a:br>
                  <a:rPr lang="en-US" sz="2000" dirty="0">
                    <a:latin typeface="Times New Roman" panose="02020603050405020304" pitchFamily="18" charset="0"/>
                    <a:cs typeface="B Nazanin" panose="00000400000000000000" pitchFamily="2" charset="-78"/>
                  </a:rPr>
                </a:br>
                <a:endParaRPr lang="en-US" sz="2000" dirty="0">
                  <a:latin typeface="Times New Roman" panose="02020603050405020304" pitchFamily="18" charset="0"/>
                  <a:cs typeface="B Nazanin" panose="00000400000000000000" pitchFamily="2" charset="-78"/>
                </a:endParaRPr>
              </a:p>
              <a:p>
                <a:pPr algn="r" rtl="1">
                  <a:buNone/>
                </a:pPr>
                <a:r>
                  <a:rPr lang="fa-IR" sz="2000" b="1" dirty="0">
                    <a:latin typeface="Times New Roman" panose="02020603050405020304" pitchFamily="18" charset="0"/>
                    <a:cs typeface="B Nazanin" panose="00000400000000000000" pitchFamily="2" charset="-78"/>
                  </a:rPr>
                  <a:t>2. مقایسه آنتی‌بادی‌ها</a:t>
                </a:r>
                <a:endParaRPr lang="en-US" sz="2000" b="1" dirty="0">
                  <a:latin typeface="Times New Roman" panose="02020603050405020304" pitchFamily="18" charset="0"/>
                  <a:cs typeface="B Nazanin" panose="00000400000000000000" pitchFamily="2" charset="-78"/>
                </a:endParaRPr>
              </a:p>
              <a:p>
                <a:pPr algn="r" rtl="1">
                  <a:buNone/>
                </a:pPr>
                <a:endParaRPr lang="fa-IR" sz="2000" b="1" dirty="0">
                  <a:latin typeface="Times New Roman" panose="02020603050405020304" pitchFamily="18" charset="0"/>
                  <a:cs typeface="B Nazanin" panose="00000400000000000000" pitchFamily="2" charset="-78"/>
                </a:endParaRPr>
              </a:p>
              <a:p>
                <a:pPr algn="r" rtl="1">
                  <a:buNone/>
                </a:pPr>
                <a:r>
                  <a:rPr lang="fa-IR" sz="2000" dirty="0">
                    <a:latin typeface="Times New Roman" panose="02020603050405020304" pitchFamily="18" charset="0"/>
                    <a:cs typeface="B Nazanin" panose="00000400000000000000" pitchFamily="2" charset="-78"/>
                  </a:rPr>
                  <a:t>دو clone مختلف از یک antibody ممکن است positive signal متفاوتی بدهند. SI کمک می‌کند clone بهتر انتخاب شود.</a:t>
                </a:r>
              </a:p>
              <a:p>
                <a:pPr algn="r">
                  <a:buNone/>
                </a:pPr>
                <a:br>
                  <a:rPr lang="en-US" sz="2000" dirty="0">
                    <a:latin typeface="Times New Roman" panose="02020603050405020304" pitchFamily="18" charset="0"/>
                    <a:cs typeface="B Nazanin" panose="00000400000000000000" pitchFamily="2" charset="-78"/>
                  </a:rPr>
                </a:br>
                <a:br>
                  <a:rPr lang="en-US" sz="2000" dirty="0">
                    <a:latin typeface="Times New Roman" panose="02020603050405020304" pitchFamily="18" charset="0"/>
                    <a:cs typeface="B Nazanin" panose="00000400000000000000" pitchFamily="2" charset="-78"/>
                  </a:rPr>
                </a:br>
                <a:endParaRPr lang="en-US" sz="2000" dirty="0">
                  <a:latin typeface="Times New Roman" panose="02020603050405020304" pitchFamily="18" charset="0"/>
                  <a:cs typeface="B Nazanin" panose="00000400000000000000" pitchFamily="2" charset="-78"/>
                </a:endParaRPr>
              </a:p>
              <a:p>
                <a:pPr algn="r" rtl="1">
                  <a:buNone/>
                </a:pPr>
                <a:r>
                  <a:rPr lang="fa-IR" sz="2000" b="1" dirty="0">
                    <a:latin typeface="Times New Roman" panose="02020603050405020304" pitchFamily="18" charset="0"/>
                    <a:cs typeface="B Nazanin" panose="00000400000000000000" pitchFamily="2" charset="-78"/>
                  </a:rPr>
                  <a:t>3. بررسی اثر compensation و spillover</a:t>
                </a:r>
                <a:endParaRPr lang="en-US" sz="2000" b="1" dirty="0">
                  <a:latin typeface="Times New Roman" panose="02020603050405020304" pitchFamily="18" charset="0"/>
                  <a:cs typeface="B Nazanin" panose="00000400000000000000" pitchFamily="2" charset="-78"/>
                </a:endParaRPr>
              </a:p>
              <a:p>
                <a:pPr algn="just" rtl="1">
                  <a:buNone/>
                </a:pPr>
                <a:endParaRPr lang="fa-IR" sz="2000" b="1" dirty="0">
                  <a:latin typeface="Times New Roman" panose="02020603050405020304" pitchFamily="18" charset="0"/>
                  <a:cs typeface="B Nazanin" panose="00000400000000000000" pitchFamily="2" charset="-78"/>
                </a:endParaRPr>
              </a:p>
              <a:p>
                <a:pPr algn="just" rtl="1">
                  <a:buNone/>
                </a:pPr>
                <a:r>
                  <a:rPr lang="fa-IR" sz="2000" dirty="0">
                    <a:latin typeface="Times New Roman" panose="02020603050405020304" pitchFamily="18" charset="0"/>
                    <a:cs typeface="B Nazanin" panose="00000400000000000000" pitchFamily="2" charset="-78"/>
                  </a:rPr>
                  <a:t>در panelهای چندرنگ، spillover باعث افزایش spread جمعیت منفی در کانال‌های دیگر می‌شود. این افزایش spread باعث کاهش SI می‌شود.</a:t>
                </a:r>
              </a:p>
              <a:p>
                <a:pPr algn="just" rtl="1">
                  <a:buNone/>
                </a:pPr>
                <a:r>
                  <a:rPr lang="fa-IR" sz="2000" dirty="0">
                    <a:latin typeface="Times New Roman" panose="02020603050405020304" pitchFamily="18" charset="0"/>
                    <a:cs typeface="B Nazanin" panose="00000400000000000000" pitchFamily="2" charset="-78"/>
                  </a:rPr>
                  <a:t>مثلاً PE خیلی bright است و به کانال 5PE-Cy </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spilloverمی‌دهد. حتی بعد از compensation، spread ممکن است باقی بماند و </a:t>
                </a:r>
                <a14:m>
                  <m:oMath xmlns:m="http://schemas.openxmlformats.org/officeDocument/2006/math">
                    <m:r>
                      <a:rPr lang="fa-IR" sz="2000" i="1">
                        <a:latin typeface="Cambria Math" panose="02040503050406030204" pitchFamily="18" charset="0"/>
                      </a:rPr>
                      <m:t>𝑟𝑆</m:t>
                    </m:r>
                    <m:sSub>
                      <m:sSubPr>
                        <m:ctrlPr>
                          <a:rPr lang="fa-IR" sz="2000" i="1">
                            <a:latin typeface="Cambria Math" panose="02040503050406030204" pitchFamily="18" charset="0"/>
                          </a:rPr>
                        </m:ctrlPr>
                      </m:sSubPr>
                      <m:e>
                        <m:r>
                          <a:rPr lang="fa-IR" sz="2000" i="1">
                            <a:latin typeface="Cambria Math" panose="02040503050406030204" pitchFamily="18" charset="0"/>
                          </a:rPr>
                          <m:t>𝐷</m:t>
                        </m:r>
                      </m:e>
                      <m:sub>
                        <m:r>
                          <a:rPr lang="fa-IR" sz="2000" i="1">
                            <a:latin typeface="Cambria Math" panose="02040503050406030204" pitchFamily="18" charset="0"/>
                          </a:rPr>
                          <m:t>𝑛𝑒𝑔</m:t>
                        </m:r>
                      </m:sub>
                    </m:sSub>
                  </m:oMath>
                </a14:m>
                <a:r>
                  <a:rPr lang="fa-IR" sz="2000" dirty="0">
                    <a:latin typeface="Times New Roman" panose="02020603050405020304" pitchFamily="18" charset="0"/>
                    <a:cs typeface="B Nazanin" panose="00000400000000000000" pitchFamily="2" charset="-78"/>
                  </a:rPr>
                  <a:t>زیاد شود. در نتیجه SI برای marker ضعیف در آن کانال کم می‌شود.</a:t>
                </a:r>
              </a:p>
            </p:txBody>
          </p:sp>
        </mc:Choice>
        <mc:Fallback>
          <p:sp>
            <p:nvSpPr>
              <p:cNvPr id="3" name="TextBox 2">
                <a:extLst>
                  <a:ext uri="{FF2B5EF4-FFF2-40B4-BE49-F238E27FC236}">
                    <a16:creationId xmlns:a16="http://schemas.microsoft.com/office/drawing/2014/main" id="{3DF84E01-B900-B142-5A1E-1E1D40A3AD7F}"/>
                  </a:ext>
                </a:extLst>
              </p:cNvPr>
              <p:cNvSpPr txBox="1">
                <a:spLocks noRot="1" noChangeAspect="1" noMove="1" noResize="1" noEditPoints="1" noAdjustHandles="1" noChangeArrowheads="1" noChangeShapeType="1" noTextEdit="1"/>
              </p:cNvSpPr>
              <p:nvPr/>
            </p:nvSpPr>
            <p:spPr>
              <a:xfrm>
                <a:off x="83089" y="252299"/>
                <a:ext cx="11710219" cy="5965031"/>
              </a:xfrm>
              <a:prstGeom prst="rect">
                <a:avLst/>
              </a:prstGeom>
              <a:blipFill>
                <a:blip r:embed="rId2"/>
                <a:stretch>
                  <a:fillRect l="-1041" t="-1021" r="-573" b="-919"/>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A24DC07-46C6-1329-DFB1-B991D93F27AF}"/>
              </a:ext>
            </a:extLst>
          </p:cNvPr>
          <p:cNvSpPr>
            <a:spLocks noGrp="1"/>
          </p:cNvSpPr>
          <p:nvPr>
            <p:ph type="sldNum" sz="quarter" idx="12"/>
          </p:nvPr>
        </p:nvSpPr>
        <p:spPr/>
        <p:txBody>
          <a:bodyPr/>
          <a:lstStyle/>
          <a:p>
            <a:fld id="{111A70C6-53E1-4616-9BEB-862F2340207D}" type="slidenum">
              <a:rPr lang="en-US" smtClean="0"/>
              <a:t>14</a:t>
            </a:fld>
            <a:endParaRPr lang="en-US"/>
          </a:p>
        </p:txBody>
      </p:sp>
    </p:spTree>
    <p:extLst>
      <p:ext uri="{BB962C8B-B14F-4D97-AF65-F5344CB8AC3E}">
        <p14:creationId xmlns:p14="http://schemas.microsoft.com/office/powerpoint/2010/main" val="3969201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95BEA13-E0F3-BFC0-F1A0-AD80C1C3AAAD}"/>
                  </a:ext>
                </a:extLst>
              </p:cNvPr>
              <p:cNvSpPr txBox="1"/>
              <p:nvPr/>
            </p:nvSpPr>
            <p:spPr>
              <a:xfrm>
                <a:off x="265471" y="773473"/>
                <a:ext cx="11548797" cy="4620367"/>
              </a:xfrm>
              <a:prstGeom prst="rect">
                <a:avLst/>
              </a:prstGeom>
              <a:noFill/>
            </p:spPr>
            <p:txBody>
              <a:bodyPr wrap="square">
                <a:spAutoFit/>
              </a:bodyPr>
              <a:lstStyle/>
              <a:p>
                <a:pPr algn="r" rtl="1">
                  <a:lnSpc>
                    <a:spcPct val="150000"/>
                  </a:lnSpc>
                </a:pPr>
                <a:r>
                  <a:rPr lang="fa-IR" b="1" dirty="0">
                    <a:latin typeface="Times New Roman" panose="02020603050405020304" pitchFamily="18" charset="0"/>
                    <a:cs typeface="B Nazanin" panose="00000400000000000000" pitchFamily="2" charset="-78"/>
                  </a:rPr>
                  <a:t>چرا تنظیم درست PMT Voltage در کالیبراسیون حیاتی است؟</a:t>
                </a:r>
              </a:p>
              <a:p>
                <a:pPr algn="r" rtl="1">
                  <a:lnSpc>
                    <a:spcPct val="150000"/>
                  </a:lnSpc>
                </a:pPr>
                <a:r>
                  <a:rPr lang="fa-IR" dirty="0">
                    <a:latin typeface="Times New Roman" panose="02020603050405020304" pitchFamily="18" charset="0"/>
                    <a:cs typeface="B Nazanin" panose="00000400000000000000" pitchFamily="2" charset="-78"/>
                  </a:rPr>
                  <a:t>در فلوسایتومتری، تنظیم ولتاژ PMT باید دقیقاً در یک محدوده بهینه (Sweet Spot) انجام شود:</a:t>
                </a:r>
              </a:p>
              <a:p>
                <a:pPr algn="r" rtl="1">
                  <a:lnSpc>
                    <a:spcPct val="150000"/>
                  </a:lnSpc>
                </a:pPr>
                <a:r>
                  <a:rPr lang="fa-IR" b="1" dirty="0">
                    <a:latin typeface="Times New Roman" panose="02020603050405020304" pitchFamily="18" charset="0"/>
                    <a:cs typeface="B Nazanin" panose="00000400000000000000" pitchFamily="2" charset="-78"/>
                  </a:rPr>
                  <a:t>اگر ولتاژ خیلی کم باشد (Under-amplification):</a:t>
                </a:r>
                <a:endParaRPr lang="fa-IR" dirty="0">
                  <a:latin typeface="Times New Roman" panose="02020603050405020304" pitchFamily="18" charset="0"/>
                  <a:cs typeface="B Nazanin" panose="00000400000000000000" pitchFamily="2" charset="-78"/>
                </a:endParaRPr>
              </a:p>
              <a:p>
                <a:pPr algn="r" rtl="1">
                  <a:lnSpc>
                    <a:spcPct val="150000"/>
                  </a:lnSpc>
                </a:pPr>
                <a:r>
                  <a:rPr lang="fa-IR" dirty="0">
                    <a:latin typeface="Times New Roman" panose="02020603050405020304" pitchFamily="18" charset="0"/>
                    <a:cs typeface="B Nazanin" panose="00000400000000000000" pitchFamily="2" charset="-78"/>
                  </a:rPr>
                  <a:t>سیگنال‌های ضعیف سلول‌ها در نویز الکترونیکی دستگاه گم می‌شوند. به عبارت دیگر، ذرات منفی (Negatives) با نویز پس‌زمینه سیستم الکترونیکی هم‌پوشانی پیدا می‌کنند و شما نمی‌توانید جمعیت‌های با فلورسانس ضعیف (Dim) را از نویز تفکیک کنید.</a:t>
                </a:r>
              </a:p>
              <a:p>
                <a:pPr algn="r" rtl="1">
                  <a:lnSpc>
                    <a:spcPct val="150000"/>
                  </a:lnSpc>
                </a:pPr>
                <a:r>
                  <a:rPr lang="fa-IR" b="1" dirty="0">
                    <a:latin typeface="Times New Roman" panose="02020603050405020304" pitchFamily="18" charset="0"/>
                    <a:cs typeface="B Nazanin" panose="00000400000000000000" pitchFamily="2" charset="-78"/>
                  </a:rPr>
                  <a:t>اگر ولتاژ خیلی زیاد باشد (Over-amplification / Saturation):</a:t>
                </a:r>
                <a:endParaRPr lang="fa-IR" dirty="0">
                  <a:latin typeface="Times New Roman" panose="02020603050405020304" pitchFamily="18" charset="0"/>
                  <a:cs typeface="B Nazanin" panose="00000400000000000000" pitchFamily="2" charset="-78"/>
                </a:endParaRPr>
              </a:p>
              <a:p>
                <a:pPr algn="r" rtl="1">
                  <a:lnSpc>
                    <a:spcPct val="150000"/>
                  </a:lnSpc>
                </a:pPr>
                <a:r>
                  <a:rPr lang="fa-IR" dirty="0">
                    <a:latin typeface="Times New Roman" panose="02020603050405020304" pitchFamily="18" charset="0"/>
                    <a:cs typeface="B Nazanin" panose="00000400000000000000" pitchFamily="2" charset="-78"/>
                  </a:rPr>
                  <a:t>سیگنال‌های قوی (Bright) از حد بالایی آشکارساز و مبدل‌های دیجیتال (ADC) فراتر رفته و اصطلاحاً دستگاه </a:t>
                </a:r>
                <a:r>
                  <a:rPr lang="fa-IR" b="1" dirty="0">
                    <a:latin typeface="Times New Roman" panose="02020603050405020304" pitchFamily="18" charset="0"/>
                    <a:cs typeface="B Nazanin" panose="00000400000000000000" pitchFamily="2" charset="-78"/>
                  </a:rPr>
                  <a:t>اشباع (Saturate)</a:t>
                </a:r>
                <a:r>
                  <a:rPr lang="fa-IR" dirty="0">
                    <a:latin typeface="Times New Roman" panose="02020603050405020304" pitchFamily="18" charset="0"/>
                    <a:cs typeface="B Nazanin" panose="00000400000000000000" pitchFamily="2" charset="-78"/>
                  </a:rPr>
                  <a:t> می‌شود. در این حالت مقادیر واقعی ثبت نمی‌شوند و compensation به شدت خراب می‌شود.</a:t>
                </a:r>
              </a:p>
              <a:p>
                <a:pPr algn="r" rtl="1">
                  <a:lnSpc>
                    <a:spcPct val="150000"/>
                  </a:lnSpc>
                </a:pPr>
                <a:r>
                  <a:rPr lang="fa-IR" b="1" dirty="0">
                    <a:latin typeface="Times New Roman" panose="02020603050405020304" pitchFamily="18" charset="0"/>
                    <a:cs typeface="B Nazanin" panose="00000400000000000000" pitchFamily="2" charset="-78"/>
                  </a:rPr>
                  <a:t>هدف کالیبراسیون ولتاژ:</a:t>
                </a:r>
                <a:endParaRPr lang="fa-IR" dirty="0">
                  <a:latin typeface="Times New Roman" panose="02020603050405020304" pitchFamily="18" charset="0"/>
                  <a:cs typeface="B Nazanin" panose="00000400000000000000" pitchFamily="2" charset="-78"/>
                </a:endParaRPr>
              </a:p>
              <a:p>
                <a:pPr algn="r" rtl="1">
                  <a:lnSpc>
                    <a:spcPct val="150000"/>
                  </a:lnSpc>
                </a:pPr>
                <a:r>
                  <a:rPr lang="fa-IR" dirty="0">
                    <a:latin typeface="Times New Roman" panose="02020603050405020304" pitchFamily="18" charset="0"/>
                    <a:cs typeface="B Nazanin" panose="00000400000000000000" pitchFamily="2" charset="-78"/>
                  </a:rPr>
                  <a:t>یافتن کمترین ولتاژی است که در آن، سیگنال ناشی از ذرات (حتی ذرات بدون رنگ یا autofluorescence) از نویز الکترونیکی دستگاه کاملاً جدا شود (به این نقطه Voltage Characterization یا تعیین Minimum Voltage بر اساس معیارهایی مانند </a:t>
                </a:r>
                <a14:m>
                  <m:oMath xmlns:m="http://schemas.openxmlformats.org/officeDocument/2006/math">
                    <m:r>
                      <a:rPr lang="en-US" b="0" i="0" smtClean="0">
                        <a:latin typeface="Cambria Math" panose="02040503050406030204" pitchFamily="18" charset="0"/>
                      </a:rPr>
                      <m:t> </m:t>
                    </m:r>
                    <m:r>
                      <a:rPr lang="fa-IR" i="1">
                        <a:latin typeface="Cambria Math" panose="02040503050406030204" pitchFamily="18" charset="0"/>
                      </a:rPr>
                      <m:t>𝑟𝑆</m:t>
                    </m:r>
                    <m:sSub>
                      <m:sSubPr>
                        <m:ctrlPr>
                          <a:rPr lang="fa-IR" i="1">
                            <a:latin typeface="Cambria Math" panose="02040503050406030204" pitchFamily="18" charset="0"/>
                          </a:rPr>
                        </m:ctrlPr>
                      </m:sSubPr>
                      <m:e>
                        <m:r>
                          <a:rPr lang="fa-IR" i="1">
                            <a:latin typeface="Cambria Math" panose="02040503050406030204" pitchFamily="18" charset="0"/>
                          </a:rPr>
                          <m:t>𝐷</m:t>
                        </m:r>
                      </m:e>
                      <m:sub>
                        <m:r>
                          <a:rPr lang="fa-IR" i="1">
                            <a:latin typeface="Cambria Math" panose="02040503050406030204" pitchFamily="18" charset="0"/>
                          </a:rPr>
                          <m:t>𝐸𝑁</m:t>
                        </m:r>
                      </m:sub>
                    </m:sSub>
                  </m:oMath>
                </a14:m>
                <a:r>
                  <a:rPr lang="fa-IR" dirty="0">
                    <a:latin typeface="Times New Roman" panose="02020603050405020304" pitchFamily="18" charset="0"/>
                    <a:cs typeface="B Nazanin" panose="00000400000000000000" pitchFamily="2" charset="-78"/>
                  </a:rPr>
                  <a:t>می‌گویند).</a:t>
                </a:r>
              </a:p>
            </p:txBody>
          </p:sp>
        </mc:Choice>
        <mc:Fallback xmlns="">
          <p:sp>
            <p:nvSpPr>
              <p:cNvPr id="3" name="TextBox 2">
                <a:extLst>
                  <a:ext uri="{FF2B5EF4-FFF2-40B4-BE49-F238E27FC236}">
                    <a16:creationId xmlns:a16="http://schemas.microsoft.com/office/drawing/2014/main" id="{E95BEA13-E0F3-BFC0-F1A0-AD80C1C3AAAD}"/>
                  </a:ext>
                </a:extLst>
              </p:cNvPr>
              <p:cNvSpPr txBox="1">
                <a:spLocks noRot="1" noChangeAspect="1" noMove="1" noResize="1" noEditPoints="1" noAdjustHandles="1" noChangeArrowheads="1" noChangeShapeType="1" noTextEdit="1"/>
              </p:cNvSpPr>
              <p:nvPr/>
            </p:nvSpPr>
            <p:spPr>
              <a:xfrm>
                <a:off x="265471" y="773473"/>
                <a:ext cx="11548797" cy="4620367"/>
              </a:xfrm>
              <a:prstGeom prst="rect">
                <a:avLst/>
              </a:prstGeom>
              <a:blipFill>
                <a:blip r:embed="rId3"/>
                <a:stretch>
                  <a:fillRect l="-422" r="-422" b="-158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8C43324-F8A7-9643-054F-AC28AAD4D536}"/>
              </a:ext>
            </a:extLst>
          </p:cNvPr>
          <p:cNvSpPr txBox="1"/>
          <p:nvPr/>
        </p:nvSpPr>
        <p:spPr>
          <a:xfrm>
            <a:off x="377732" y="311808"/>
            <a:ext cx="6096000" cy="461665"/>
          </a:xfrm>
          <a:prstGeom prst="rect">
            <a:avLst/>
          </a:prstGeom>
          <a:noFill/>
        </p:spPr>
        <p:txBody>
          <a:bodyPr wrap="square">
            <a:spAutoFit/>
          </a:bodyPr>
          <a:lstStyle/>
          <a:p>
            <a:r>
              <a:rPr lang="fa-IR" sz="2400" b="1" dirty="0">
                <a:latin typeface="Times New Roman" panose="02020603050405020304" pitchFamily="18" charset="0"/>
                <a:cs typeface="B Nazanin" panose="00000400000000000000" pitchFamily="2" charset="-78"/>
              </a:rPr>
              <a:t>PMT Voltage </a:t>
            </a:r>
            <a:r>
              <a:rPr lang="en-US" sz="2400" b="1" dirty="0">
                <a:latin typeface="Times New Roman" panose="02020603050405020304" pitchFamily="18" charset="0"/>
                <a:cs typeface="B Nazanin" panose="00000400000000000000" pitchFamily="2" charset="-78"/>
              </a:rPr>
              <a:t> gain calibration</a:t>
            </a:r>
            <a:endParaRPr lang="en-US" sz="2400" dirty="0">
              <a:latin typeface="Times New Roman" panose="02020603050405020304" pitchFamily="18" charset="0"/>
              <a:cs typeface="B Nazanin" panose="00000400000000000000" pitchFamily="2" charset="-78"/>
            </a:endParaRPr>
          </a:p>
        </p:txBody>
      </p:sp>
      <p:sp>
        <p:nvSpPr>
          <p:cNvPr id="2" name="Slide Number Placeholder 1">
            <a:extLst>
              <a:ext uri="{FF2B5EF4-FFF2-40B4-BE49-F238E27FC236}">
                <a16:creationId xmlns:a16="http://schemas.microsoft.com/office/drawing/2014/main" id="{9B0CEB85-18D1-22C0-BDAB-868813BB310A}"/>
              </a:ext>
            </a:extLst>
          </p:cNvPr>
          <p:cNvSpPr>
            <a:spLocks noGrp="1"/>
          </p:cNvSpPr>
          <p:nvPr>
            <p:ph type="sldNum" sz="quarter" idx="12"/>
          </p:nvPr>
        </p:nvSpPr>
        <p:spPr/>
        <p:txBody>
          <a:bodyPr/>
          <a:lstStyle/>
          <a:p>
            <a:fld id="{111A70C6-53E1-4616-9BEB-862F2340207D}" type="slidenum">
              <a:rPr lang="en-US" smtClean="0"/>
              <a:t>15</a:t>
            </a:fld>
            <a:endParaRPr lang="en-US" dirty="0"/>
          </a:p>
        </p:txBody>
      </p:sp>
      <p:sp>
        <p:nvSpPr>
          <p:cNvPr id="12" name="TextBox 11">
            <a:extLst>
              <a:ext uri="{FF2B5EF4-FFF2-40B4-BE49-F238E27FC236}">
                <a16:creationId xmlns:a16="http://schemas.microsoft.com/office/drawing/2014/main" id="{7F4A387B-07FF-1916-95B1-40385F91DF22}"/>
              </a:ext>
            </a:extLst>
          </p:cNvPr>
          <p:cNvSpPr txBox="1"/>
          <p:nvPr/>
        </p:nvSpPr>
        <p:spPr>
          <a:xfrm>
            <a:off x="756138" y="5798145"/>
            <a:ext cx="6094324" cy="923330"/>
          </a:xfrm>
          <a:prstGeom prst="rect">
            <a:avLst/>
          </a:prstGeom>
          <a:noFill/>
        </p:spPr>
        <p:txBody>
          <a:bodyPr wrap="square">
            <a:spAutoFit/>
          </a:bodyPr>
          <a:lstStyle/>
          <a:p>
            <a:pPr>
              <a:buNone/>
            </a:pPr>
            <a:r>
              <a:rPr lang="en-US" dirty="0">
                <a:effectLst/>
                <a:latin typeface="Courier New" panose="02070309020205020404" pitchFamily="49" charset="0"/>
              </a:rPr>
              <a:t>Electronic noise floor: ██</a:t>
            </a:r>
          </a:p>
          <a:p>
            <a:pPr>
              <a:buNone/>
            </a:pPr>
            <a:r>
              <a:rPr lang="en-US" dirty="0">
                <a:effectLst/>
                <a:latin typeface="Courier New" panose="02070309020205020404" pitchFamily="49" charset="0"/>
              </a:rPr>
              <a:t>Negative signal:          ████</a:t>
            </a:r>
          </a:p>
          <a:p>
            <a:pPr>
              <a:buNone/>
            </a:pPr>
            <a:r>
              <a:rPr lang="en-US" dirty="0">
                <a:effectLst/>
                <a:latin typeface="Courier New" panose="02070309020205020404" pitchFamily="49" charset="0"/>
              </a:rPr>
              <a:t>Dim positive: </a:t>
            </a:r>
            <a:r>
              <a:rPr lang="en-US" dirty="0">
                <a:latin typeface="Courier New" panose="02070309020205020404" pitchFamily="49" charset="0"/>
              </a:rPr>
              <a:t>                 ██</a:t>
            </a:r>
            <a:endParaRPr lang="en-US" dirty="0"/>
          </a:p>
        </p:txBody>
      </p:sp>
    </p:spTree>
    <p:extLst>
      <p:ext uri="{BB962C8B-B14F-4D97-AF65-F5344CB8AC3E}">
        <p14:creationId xmlns:p14="http://schemas.microsoft.com/office/powerpoint/2010/main" val="227665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8C0C661-1251-91E2-6F4E-4B6DB08FD752}"/>
                  </a:ext>
                </a:extLst>
              </p:cNvPr>
              <p:cNvSpPr txBox="1"/>
              <p:nvPr/>
            </p:nvSpPr>
            <p:spPr>
              <a:xfrm>
                <a:off x="450744" y="-136964"/>
                <a:ext cx="11424565" cy="3270126"/>
              </a:xfrm>
              <a:prstGeom prst="rect">
                <a:avLst/>
              </a:prstGeom>
              <a:noFill/>
            </p:spPr>
            <p:txBody>
              <a:bodyPr wrap="square">
                <a:spAutoFit/>
              </a:bodyPr>
              <a:lstStyle/>
              <a:p>
                <a:pPr algn="r" rtl="1">
                  <a:lnSpc>
                    <a:spcPct val="150000"/>
                  </a:lnSpc>
                  <a:buNone/>
                </a:pPr>
                <a14:m>
                  <m:oMathPara xmlns:m="http://schemas.openxmlformats.org/officeDocument/2006/math">
                    <m:oMathParaPr>
                      <m:jc m:val="centerGroup"/>
                    </m:oMathParaPr>
                    <m:oMath xmlns:m="http://schemas.openxmlformats.org/officeDocument/2006/math">
                      <m:r>
                        <a:rPr lang="en-US" sz="4000" b="1" i="1">
                          <a:latin typeface="Cambria Math" panose="02040503050406030204" pitchFamily="18" charset="0"/>
                        </a:rPr>
                        <m:t>𝑺</m:t>
                      </m:r>
                      <m:sSub>
                        <m:sSubPr>
                          <m:ctrlPr>
                            <a:rPr lang="en-US" sz="4000" b="1" i="1">
                              <a:latin typeface="Cambria Math" panose="02040503050406030204" pitchFamily="18" charset="0"/>
                            </a:rPr>
                          </m:ctrlPr>
                        </m:sSubPr>
                        <m:e>
                          <m:r>
                            <a:rPr lang="en-US" sz="4000" b="1" i="1">
                              <a:latin typeface="Cambria Math" panose="02040503050406030204" pitchFamily="18" charset="0"/>
                            </a:rPr>
                            <m:t>𝑫</m:t>
                          </m:r>
                        </m:e>
                        <m:sub>
                          <m:r>
                            <a:rPr lang="en-US" sz="4000" b="1" i="1">
                              <a:latin typeface="Cambria Math" panose="02040503050406030204" pitchFamily="18" charset="0"/>
                            </a:rPr>
                            <m:t>𝑬𝑵</m:t>
                          </m:r>
                        </m:sub>
                      </m:sSub>
                    </m:oMath>
                  </m:oMathPara>
                </a14:m>
                <a:endParaRPr lang="en-US" sz="2400" b="1" dirty="0">
                  <a:latin typeface="Times New Roman" panose="02020603050405020304" pitchFamily="18" charset="0"/>
                  <a:cs typeface="B Nazanin" panose="00000400000000000000" pitchFamily="2" charset="-78"/>
                </a:endParaRPr>
              </a:p>
              <a:p>
                <a:pPr algn="r" rtl="1">
                  <a:lnSpc>
                    <a:spcPct val="150000"/>
                  </a:lnSpc>
                  <a:buNone/>
                </a:pPr>
                <a:r>
                  <a:rPr lang="fa-IR" sz="2400" b="1" dirty="0">
                    <a:latin typeface="Times New Roman" panose="02020603050405020304" pitchFamily="18" charset="0"/>
                    <a:cs typeface="B Nazanin" panose="00000400000000000000" pitchFamily="2" charset="-78"/>
                  </a:rPr>
                  <a:t>انحراف معیار نویز الکترونیک</a:t>
                </a:r>
                <a:endParaRPr lang="fa-IR" sz="2400" dirty="0">
                  <a:latin typeface="Times New Roman" panose="02020603050405020304" pitchFamily="18" charset="0"/>
                  <a:cs typeface="B Nazanin" panose="00000400000000000000" pitchFamily="2" charset="-78"/>
                </a:endParaRPr>
              </a:p>
              <a:p>
                <a:pPr algn="r" rtl="1">
                  <a:lnSpc>
                    <a:spcPct val="150000"/>
                  </a:lnSpc>
                  <a:buNone/>
                </a:pPr>
                <a:endParaRPr lang="en-US" sz="2400" i="1" dirty="0">
                  <a:latin typeface="Times New Roman" panose="02020603050405020304" pitchFamily="18" charset="0"/>
                  <a:cs typeface="B Nazanin" panose="00000400000000000000" pitchFamily="2" charset="-78"/>
                </a:endParaRPr>
              </a:p>
              <a:p>
                <a:pPr algn="r" rtl="1">
                  <a:lnSpc>
                    <a:spcPct val="150000"/>
                  </a:lnSpc>
                  <a:buNone/>
                </a:pPr>
                <a14:m>
                  <m:oMath xmlns:m="http://schemas.openxmlformats.org/officeDocument/2006/math">
                    <m:r>
                      <a:rPr lang="fa-IR" sz="2400" i="1">
                        <a:latin typeface="Cambria Math" panose="02040503050406030204" pitchFamily="18" charset="0"/>
                      </a:rPr>
                      <m:t>𝑆</m:t>
                    </m:r>
                    <m:sSub>
                      <m:sSubPr>
                        <m:ctrlPr>
                          <a:rPr lang="fa-IR" sz="2400" i="1">
                            <a:latin typeface="Cambria Math" panose="02040503050406030204" pitchFamily="18" charset="0"/>
                          </a:rPr>
                        </m:ctrlPr>
                      </m:sSubPr>
                      <m:e>
                        <m:r>
                          <a:rPr lang="fa-IR" sz="2400" i="1">
                            <a:latin typeface="Cambria Math" panose="02040503050406030204" pitchFamily="18" charset="0"/>
                          </a:rPr>
                          <m:t>𝐷</m:t>
                        </m:r>
                      </m:e>
                      <m:sub>
                        <m:r>
                          <a:rPr lang="fa-IR" sz="2400" i="1">
                            <a:latin typeface="Cambria Math" panose="02040503050406030204" pitchFamily="18" charset="0"/>
                          </a:rPr>
                          <m:t>𝐸𝑁</m:t>
                        </m:r>
                      </m:sub>
                    </m:sSub>
                  </m:oMath>
                </a14:m>
                <a:r>
                  <a:rPr lang="fa-IR" sz="2400" dirty="0">
                    <a:latin typeface="Times New Roman" panose="02020603050405020304" pitchFamily="18" charset="0"/>
                    <a:cs typeface="B Nazanin" panose="00000400000000000000" pitchFamily="2" charset="-78"/>
                  </a:rPr>
                  <a:t>پهنای نوساناتی است که فقط از خودِ مدار الکترونیکی، PMT، amplifier و سیستم readout دستگاه می‌آید، نه از </a:t>
                </a:r>
                <a:r>
                  <a:rPr lang="fa-IR" sz="2800" dirty="0">
                    <a:latin typeface="Times New Roman" panose="02020603050405020304" pitchFamily="18" charset="0"/>
                    <a:cs typeface="B Nazanin" panose="00000400000000000000" pitchFamily="2" charset="-78"/>
                  </a:rPr>
                  <a:t>نور</a:t>
                </a:r>
                <a:r>
                  <a:rPr lang="fa-IR" sz="2400" dirty="0">
                    <a:latin typeface="Times New Roman" panose="02020603050405020304" pitchFamily="18" charset="0"/>
                    <a:cs typeface="B Nazanin" panose="00000400000000000000" pitchFamily="2" charset="-78"/>
                  </a:rPr>
                  <a:t> واقعی سلول.</a:t>
                </a:r>
              </a:p>
            </p:txBody>
          </p:sp>
        </mc:Choice>
        <mc:Fallback>
          <p:sp>
            <p:nvSpPr>
              <p:cNvPr id="3" name="TextBox 2">
                <a:extLst>
                  <a:ext uri="{FF2B5EF4-FFF2-40B4-BE49-F238E27FC236}">
                    <a16:creationId xmlns:a16="http://schemas.microsoft.com/office/drawing/2014/main" id="{78C0C661-1251-91E2-6F4E-4B6DB08FD752}"/>
                  </a:ext>
                </a:extLst>
              </p:cNvPr>
              <p:cNvSpPr txBox="1">
                <a:spLocks noRot="1" noChangeAspect="1" noMove="1" noResize="1" noEditPoints="1" noAdjustHandles="1" noChangeArrowheads="1" noChangeShapeType="1" noTextEdit="1"/>
              </p:cNvSpPr>
              <p:nvPr/>
            </p:nvSpPr>
            <p:spPr>
              <a:xfrm>
                <a:off x="450744" y="-136964"/>
                <a:ext cx="11424565" cy="3270126"/>
              </a:xfrm>
              <a:prstGeom prst="rect">
                <a:avLst/>
              </a:prstGeom>
              <a:blipFill>
                <a:blip r:embed="rId2"/>
                <a:stretch>
                  <a:fillRect l="-1014" r="-800" b="-4291"/>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77D88B6-9BFF-9A8B-52D1-CD5AC282F5B4}"/>
              </a:ext>
            </a:extLst>
          </p:cNvPr>
          <p:cNvSpPr txBox="1"/>
          <p:nvPr/>
        </p:nvSpPr>
        <p:spPr>
          <a:xfrm>
            <a:off x="685344" y="2427679"/>
            <a:ext cx="10955363" cy="3377848"/>
          </a:xfrm>
          <a:prstGeom prst="rect">
            <a:avLst/>
          </a:prstGeom>
          <a:noFill/>
        </p:spPr>
        <p:txBody>
          <a:bodyPr wrap="square">
            <a:spAutoFit/>
          </a:bodyPr>
          <a:lstStyle/>
          <a:p>
            <a:pPr algn="ctr">
              <a:lnSpc>
                <a:spcPct val="150000"/>
              </a:lnSpc>
              <a:buNone/>
            </a:pPr>
            <a:endParaRPr lang="en-US" sz="2000" dirty="0">
              <a:effectLst/>
              <a:latin typeface="Times New Roman" panose="02020603050405020304" pitchFamily="18" charset="0"/>
              <a:cs typeface="B Nazanin" panose="00000400000000000000" pitchFamily="2" charset="-78"/>
            </a:endParaRPr>
          </a:p>
          <a:p>
            <a:pPr algn="ctr">
              <a:lnSpc>
                <a:spcPct val="150000"/>
              </a:lnSpc>
              <a:buNone/>
            </a:pPr>
            <a:r>
              <a:rPr lang="en-US" sz="2400" b="1" dirty="0" err="1">
                <a:effectLst/>
                <a:latin typeface="Times New Roman" panose="02020603050405020304" pitchFamily="18" charset="0"/>
                <a:cs typeface="B Nazanin" panose="00000400000000000000" pitchFamily="2" charset="-78"/>
              </a:rPr>
              <a:t>rSDbackground</a:t>
            </a:r>
            <a:r>
              <a:rPr lang="en-US" sz="2400" b="1" dirty="0">
                <a:latin typeface="Times New Roman" panose="02020603050405020304" pitchFamily="18" charset="0"/>
                <a:cs typeface="B Nazanin" panose="00000400000000000000" pitchFamily="2" charset="-78"/>
              </a:rPr>
              <a:t>​ ≈ 2.5×</a:t>
            </a:r>
            <a:r>
              <a:rPr lang="en-US" sz="2400" b="1" dirty="0">
                <a:effectLst/>
                <a:latin typeface="Times New Roman" panose="02020603050405020304" pitchFamily="18" charset="0"/>
                <a:cs typeface="B Nazanin" panose="00000400000000000000" pitchFamily="2" charset="-78"/>
              </a:rPr>
              <a:t>rSDEN</a:t>
            </a:r>
            <a:r>
              <a:rPr lang="en-US" sz="2400" dirty="0">
                <a:latin typeface="Times New Roman" panose="02020603050405020304" pitchFamily="18" charset="0"/>
                <a:cs typeface="B Nazanin" panose="00000400000000000000" pitchFamily="2" charset="-78"/>
              </a:rPr>
              <a:t>​</a:t>
            </a:r>
          </a:p>
          <a:p>
            <a:pPr algn="r" rtl="1">
              <a:lnSpc>
                <a:spcPct val="150000"/>
              </a:lnSpc>
              <a:buNone/>
            </a:pPr>
            <a:endParaRPr lang="en-US" sz="2000" dirty="0">
              <a:latin typeface="Times New Roman" panose="02020603050405020304" pitchFamily="18" charset="0"/>
              <a:cs typeface="B Nazanin" panose="00000400000000000000" pitchFamily="2" charset="-78"/>
            </a:endParaRPr>
          </a:p>
          <a:p>
            <a:pPr algn="just" rtl="1">
              <a:lnSpc>
                <a:spcPct val="150000"/>
              </a:lnSpc>
              <a:buNone/>
            </a:pPr>
            <a:r>
              <a:rPr lang="fa-IR" sz="2000" dirty="0">
                <a:latin typeface="Times New Roman" panose="02020603050405020304" pitchFamily="18" charset="0"/>
                <a:cs typeface="B Nazanin" panose="00000400000000000000" pitchFamily="2" charset="-78"/>
              </a:rPr>
              <a:t>هدفش این نیست که بگوید هرچه background بیشتر باشد بهتر است.</a:t>
            </a:r>
          </a:p>
          <a:p>
            <a:pPr algn="just" rtl="1">
              <a:lnSpc>
                <a:spcPct val="150000"/>
              </a:lnSpc>
              <a:buNone/>
            </a:pPr>
            <a:r>
              <a:rPr lang="fa-IR" sz="2000" dirty="0">
                <a:latin typeface="Times New Roman" panose="02020603050405020304" pitchFamily="18" charset="0"/>
                <a:cs typeface="B Nazanin" panose="00000400000000000000" pitchFamily="2" charset="-78"/>
              </a:rPr>
              <a:t>بلکه منظور این است که هنگام تنظیم ولتاژ detector، باید مطمئن شویم که توزیع background توسط خود detector به‌خوبی از کف نویز الکترونیکی جدا شده است.</a:t>
            </a:r>
            <a:r>
              <a:rPr lang="en-US" sz="2000" dirty="0">
                <a:latin typeface="Times New Roman" panose="02020603050405020304" pitchFamily="18" charset="0"/>
                <a:cs typeface="B Nazanin" panose="00000400000000000000" pitchFamily="2" charset="-78"/>
              </a:rPr>
              <a:t> </a:t>
            </a:r>
            <a:r>
              <a:rPr lang="fa-IR" sz="2000" dirty="0">
                <a:latin typeface="Times New Roman" panose="02020603050405020304" pitchFamily="18" charset="0"/>
                <a:cs typeface="B Nazanin" panose="00000400000000000000" pitchFamily="2" charset="-78"/>
              </a:rPr>
              <a:t>یعنی اگر ولتاژ PMT خیلی پایین باشد، سیگنال background آن‌قدر کوچک است که variation آن تقریباً توسط نویز الکترونیک محدود می‌شود.</a:t>
            </a:r>
          </a:p>
        </p:txBody>
      </p:sp>
      <p:sp>
        <p:nvSpPr>
          <p:cNvPr id="2" name="Slide Number Placeholder 1">
            <a:extLst>
              <a:ext uri="{FF2B5EF4-FFF2-40B4-BE49-F238E27FC236}">
                <a16:creationId xmlns:a16="http://schemas.microsoft.com/office/drawing/2014/main" id="{EAC07B2C-8CB9-7399-4235-3E19A6532976}"/>
              </a:ext>
            </a:extLst>
          </p:cNvPr>
          <p:cNvSpPr>
            <a:spLocks noGrp="1"/>
          </p:cNvSpPr>
          <p:nvPr>
            <p:ph type="sldNum" sz="quarter" idx="12"/>
          </p:nvPr>
        </p:nvSpPr>
        <p:spPr/>
        <p:txBody>
          <a:bodyPr/>
          <a:lstStyle/>
          <a:p>
            <a:fld id="{111A70C6-53E1-4616-9BEB-862F2340207D}" type="slidenum">
              <a:rPr lang="en-US" smtClean="0">
                <a:latin typeface="Times New Roman" panose="02020603050405020304" pitchFamily="18" charset="0"/>
                <a:cs typeface="B Nazanin" panose="00000400000000000000" pitchFamily="2" charset="-78"/>
              </a:rPr>
              <a:t>16</a:t>
            </a:fld>
            <a:endParaRPr lang="en-US">
              <a:latin typeface="Times New Roman" panose="02020603050405020304" pitchFamily="18" charset="0"/>
              <a:cs typeface="B Nazanin" panose="00000400000000000000" pitchFamily="2" charset="-78"/>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A3B9F77-10A8-DA4E-D88F-D0B57965A722}"/>
                  </a:ext>
                </a:extLst>
              </p:cNvPr>
              <p:cNvSpPr txBox="1"/>
              <p:nvPr/>
            </p:nvSpPr>
            <p:spPr>
              <a:xfrm>
                <a:off x="450744" y="5799351"/>
                <a:ext cx="11640841" cy="739561"/>
              </a:xfrm>
              <a:prstGeom prst="rect">
                <a:avLst/>
              </a:prstGeom>
              <a:noFill/>
            </p:spPr>
            <p:txBody>
              <a:bodyPr wrap="square">
                <a:spAutoFit/>
              </a:bodyPr>
              <a:lstStyle/>
              <a:p>
                <a:pPr algn="r">
                  <a:lnSpc>
                    <a:spcPct val="150000"/>
                  </a:lnSpc>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𝑟𝑆</m:t>
                      </m:r>
                      <m:sSubSup>
                        <m:sSubSupPr>
                          <m:ctrlPr>
                            <a:rPr lang="en-US" sz="2400" i="1">
                              <a:latin typeface="Cambria Math" panose="02040503050406030204" pitchFamily="18" charset="0"/>
                            </a:rPr>
                          </m:ctrlPr>
                        </m:sSubSupPr>
                        <m:e>
                          <m:r>
                            <a:rPr lang="en-US" sz="2400" i="1">
                              <a:latin typeface="Cambria Math" panose="02040503050406030204" pitchFamily="18" charset="0"/>
                            </a:rPr>
                            <m:t>𝐷</m:t>
                          </m:r>
                        </m:e>
                        <m:sub>
                          <m:r>
                            <a:rPr lang="en-US" sz="2400" i="1">
                              <a:latin typeface="Cambria Math" panose="02040503050406030204" pitchFamily="18" charset="0"/>
                            </a:rPr>
                            <m:t>𝑛𝑒𝑔</m:t>
                          </m:r>
                        </m:sub>
                        <m:sup>
                          <m:r>
                            <a:rPr lang="en-US" sz="2400" i="0">
                              <a:latin typeface="Cambria Math" panose="02040503050406030204" pitchFamily="18" charset="0"/>
                            </a:rPr>
                            <m:t>2</m:t>
                          </m:r>
                        </m:sup>
                      </m:sSubSup>
                      <m:r>
                        <a:rPr lang="en-US" sz="2400" i="0">
                          <a:latin typeface="Cambria Math" panose="02040503050406030204" pitchFamily="18" charset="0"/>
                        </a:rPr>
                        <m:t>=</m:t>
                      </m:r>
                      <m:r>
                        <a:rPr lang="en-US" sz="2400" i="1">
                          <a:latin typeface="Cambria Math" panose="02040503050406030204" pitchFamily="18" charset="0"/>
                        </a:rPr>
                        <m:t>𝑆</m:t>
                      </m:r>
                      <m:sSubSup>
                        <m:sSubSupPr>
                          <m:ctrlPr>
                            <a:rPr lang="en-US" sz="2400" i="1">
                              <a:latin typeface="Cambria Math" panose="02040503050406030204" pitchFamily="18" charset="0"/>
                            </a:rPr>
                          </m:ctrlPr>
                        </m:sSubSupPr>
                        <m:e>
                          <m:r>
                            <a:rPr lang="en-US" sz="2400" i="1">
                              <a:latin typeface="Cambria Math" panose="02040503050406030204" pitchFamily="18" charset="0"/>
                            </a:rPr>
                            <m:t>𝐷</m:t>
                          </m:r>
                        </m:e>
                        <m:sub>
                          <m:r>
                            <a:rPr lang="en-US" sz="2400" i="1">
                              <a:latin typeface="Cambria Math" panose="02040503050406030204" pitchFamily="18" charset="0"/>
                            </a:rPr>
                            <m:t>𝑒𝑙𝑒𝑐𝑡𝑟𝑜𝑛𝑖𝑐</m:t>
                          </m:r>
                        </m:sub>
                        <m:sup>
                          <m:r>
                            <a:rPr lang="en-US" sz="2400" i="0">
                              <a:latin typeface="Cambria Math" panose="02040503050406030204" pitchFamily="18" charset="0"/>
                            </a:rPr>
                            <m:t>2</m:t>
                          </m:r>
                        </m:sup>
                      </m:sSubSup>
                      <m:r>
                        <a:rPr lang="en-US" sz="2400" i="0">
                          <a:latin typeface="Cambria Math" panose="02040503050406030204" pitchFamily="18" charset="0"/>
                        </a:rPr>
                        <m:t>+</m:t>
                      </m:r>
                      <m:r>
                        <a:rPr lang="en-US" sz="2400" i="1">
                          <a:latin typeface="Cambria Math" panose="02040503050406030204" pitchFamily="18" charset="0"/>
                        </a:rPr>
                        <m:t>𝑆</m:t>
                      </m:r>
                      <m:sSubSup>
                        <m:sSubSupPr>
                          <m:ctrlPr>
                            <a:rPr lang="en-US" sz="2400" i="1">
                              <a:latin typeface="Cambria Math" panose="02040503050406030204" pitchFamily="18" charset="0"/>
                            </a:rPr>
                          </m:ctrlPr>
                        </m:sSubSupPr>
                        <m:e>
                          <m:r>
                            <a:rPr lang="en-US" sz="2400" i="1">
                              <a:latin typeface="Cambria Math" panose="02040503050406030204" pitchFamily="18" charset="0"/>
                            </a:rPr>
                            <m:t>𝐷</m:t>
                          </m:r>
                        </m:e>
                        <m:sub>
                          <m:r>
                            <a:rPr lang="en-US" sz="2400" i="1">
                              <a:latin typeface="Cambria Math" panose="02040503050406030204" pitchFamily="18" charset="0"/>
                            </a:rPr>
                            <m:t>𝑜𝑝𝑡𝑖𝑐𝑎𝑙</m:t>
                          </m:r>
                        </m:sub>
                        <m:sup>
                          <m:r>
                            <a:rPr lang="en-US" sz="2400" i="0">
                              <a:latin typeface="Cambria Math" panose="02040503050406030204" pitchFamily="18" charset="0"/>
                            </a:rPr>
                            <m:t>2</m:t>
                          </m:r>
                        </m:sup>
                      </m:sSubSup>
                      <m:r>
                        <a:rPr lang="en-US" sz="2400" i="0">
                          <a:latin typeface="Cambria Math" panose="02040503050406030204" pitchFamily="18" charset="0"/>
                        </a:rPr>
                        <m:t>+</m:t>
                      </m:r>
                      <m:r>
                        <a:rPr lang="en-US" sz="2400" i="1">
                          <a:latin typeface="Cambria Math" panose="02040503050406030204" pitchFamily="18" charset="0"/>
                        </a:rPr>
                        <m:t>𝑆</m:t>
                      </m:r>
                      <m:sSubSup>
                        <m:sSubSupPr>
                          <m:ctrlPr>
                            <a:rPr lang="en-US" sz="2400" i="1">
                              <a:latin typeface="Cambria Math" panose="02040503050406030204" pitchFamily="18" charset="0"/>
                            </a:rPr>
                          </m:ctrlPr>
                        </m:sSubSupPr>
                        <m:e>
                          <m:r>
                            <a:rPr lang="en-US" sz="2400" i="1">
                              <a:latin typeface="Cambria Math" panose="02040503050406030204" pitchFamily="18" charset="0"/>
                            </a:rPr>
                            <m:t>𝐷</m:t>
                          </m:r>
                        </m:e>
                        <m:sub>
                          <m:r>
                            <a:rPr lang="en-US" sz="2400" i="1">
                              <a:latin typeface="Cambria Math" panose="02040503050406030204" pitchFamily="18" charset="0"/>
                            </a:rPr>
                            <m:t>𝑏𝑖𝑜𝑙𝑜𝑔𝑖𝑐𝑎𝑙</m:t>
                          </m:r>
                        </m:sub>
                        <m:sup>
                          <m:r>
                            <a:rPr lang="en-US" sz="2400" i="0">
                              <a:latin typeface="Cambria Math" panose="02040503050406030204" pitchFamily="18" charset="0"/>
                            </a:rPr>
                            <m:t>2</m:t>
                          </m:r>
                        </m:sup>
                      </m:sSubSup>
                      <m:r>
                        <a:rPr lang="en-US" sz="2400" i="0">
                          <a:latin typeface="Cambria Math" panose="02040503050406030204" pitchFamily="18" charset="0"/>
                        </a:rPr>
                        <m:t>+</m:t>
                      </m:r>
                      <m:r>
                        <a:rPr lang="en-US" sz="2400" i="1">
                          <a:latin typeface="Cambria Math" panose="02040503050406030204" pitchFamily="18" charset="0"/>
                        </a:rPr>
                        <m:t>𝑆</m:t>
                      </m:r>
                      <m:sSubSup>
                        <m:sSubSupPr>
                          <m:ctrlPr>
                            <a:rPr lang="en-US" sz="2400" i="1">
                              <a:latin typeface="Cambria Math" panose="02040503050406030204" pitchFamily="18" charset="0"/>
                            </a:rPr>
                          </m:ctrlPr>
                        </m:sSubSupPr>
                        <m:e>
                          <m:r>
                            <a:rPr lang="en-US" sz="2400" i="1">
                              <a:latin typeface="Cambria Math" panose="02040503050406030204" pitchFamily="18" charset="0"/>
                            </a:rPr>
                            <m:t>𝐷</m:t>
                          </m:r>
                        </m:e>
                        <m:sub>
                          <m:r>
                            <a:rPr lang="en-US" sz="2400" i="1">
                              <a:latin typeface="Cambria Math" panose="02040503050406030204" pitchFamily="18" charset="0"/>
                            </a:rPr>
                            <m:t>𝑟𝑒𝑎𝑔𝑒𝑛𝑡</m:t>
                          </m:r>
                        </m:sub>
                        <m:sup>
                          <m:r>
                            <a:rPr lang="en-US" sz="2400" i="0">
                              <a:latin typeface="Cambria Math" panose="02040503050406030204" pitchFamily="18" charset="0"/>
                            </a:rPr>
                            <m:t>2</m:t>
                          </m:r>
                        </m:sup>
                      </m:sSubSup>
                      <m:r>
                        <a:rPr lang="en-US" sz="2400" i="0">
                          <a:latin typeface="Cambria Math" panose="02040503050406030204" pitchFamily="18" charset="0"/>
                        </a:rPr>
                        <m:t>+</m:t>
                      </m:r>
                      <m:r>
                        <a:rPr lang="en-US" sz="2400" i="1">
                          <a:latin typeface="Cambria Math" panose="02040503050406030204" pitchFamily="18" charset="0"/>
                        </a:rPr>
                        <m:t>𝑆</m:t>
                      </m:r>
                      <m:sSubSup>
                        <m:sSubSupPr>
                          <m:ctrlPr>
                            <a:rPr lang="en-US" sz="2400" i="1">
                              <a:latin typeface="Cambria Math" panose="02040503050406030204" pitchFamily="18" charset="0"/>
                            </a:rPr>
                          </m:ctrlPr>
                        </m:sSubSupPr>
                        <m:e>
                          <m:r>
                            <a:rPr lang="en-US" sz="2400" i="1">
                              <a:latin typeface="Cambria Math" panose="02040503050406030204" pitchFamily="18" charset="0"/>
                            </a:rPr>
                            <m:t>𝐷</m:t>
                          </m:r>
                        </m:e>
                        <m:sub>
                          <m:r>
                            <a:rPr lang="en-US" sz="2400" i="1">
                              <a:latin typeface="Cambria Math" panose="02040503050406030204" pitchFamily="18" charset="0"/>
                            </a:rPr>
                            <m:t>𝑠𝑝𝑖𝑙𝑙𝑜𝑣𝑒𝑟</m:t>
                          </m:r>
                        </m:sub>
                        <m:sup>
                          <m:r>
                            <a:rPr lang="en-US" sz="2400" i="0">
                              <a:latin typeface="Cambria Math" panose="02040503050406030204" pitchFamily="18" charset="0"/>
                            </a:rPr>
                            <m:t>2</m:t>
                          </m:r>
                        </m:sup>
                      </m:sSubSup>
                    </m:oMath>
                  </m:oMathPara>
                </a14:m>
                <a:endParaRPr lang="en-US" sz="2400" dirty="0">
                  <a:latin typeface="Times New Roman" panose="02020603050405020304" pitchFamily="18" charset="0"/>
                  <a:cs typeface="B Nazanin" panose="00000400000000000000" pitchFamily="2" charset="-78"/>
                </a:endParaRPr>
              </a:p>
            </p:txBody>
          </p:sp>
        </mc:Choice>
        <mc:Fallback>
          <p:sp>
            <p:nvSpPr>
              <p:cNvPr id="6" name="TextBox 5">
                <a:extLst>
                  <a:ext uri="{FF2B5EF4-FFF2-40B4-BE49-F238E27FC236}">
                    <a16:creationId xmlns:a16="http://schemas.microsoft.com/office/drawing/2014/main" id="{6A3B9F77-10A8-DA4E-D88F-D0B57965A722}"/>
                  </a:ext>
                </a:extLst>
              </p:cNvPr>
              <p:cNvSpPr txBox="1">
                <a:spLocks noRot="1" noChangeAspect="1" noMove="1" noResize="1" noEditPoints="1" noAdjustHandles="1" noChangeArrowheads="1" noChangeShapeType="1" noTextEdit="1"/>
              </p:cNvSpPr>
              <p:nvPr/>
            </p:nvSpPr>
            <p:spPr>
              <a:xfrm>
                <a:off x="450744" y="5799351"/>
                <a:ext cx="11640841" cy="73956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82012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AA42CDF-E069-BA89-F6A5-CCED1BBAAC2E}"/>
              </a:ext>
            </a:extLst>
          </p:cNvPr>
          <p:cNvGraphicFramePr>
            <a:graphicFrameLocks noGrp="1"/>
          </p:cNvGraphicFramePr>
          <p:nvPr>
            <p:extLst>
              <p:ext uri="{D42A27DB-BD31-4B8C-83A1-F6EECF244321}">
                <p14:modId xmlns:p14="http://schemas.microsoft.com/office/powerpoint/2010/main" val="3569591625"/>
              </p:ext>
            </p:extLst>
          </p:nvPr>
        </p:nvGraphicFramePr>
        <p:xfrm>
          <a:off x="2549071" y="4050048"/>
          <a:ext cx="6843486" cy="2194560"/>
        </p:xfrm>
        <a:graphic>
          <a:graphicData uri="http://schemas.openxmlformats.org/drawingml/2006/table">
            <a:tbl>
              <a:tblPr>
                <a:tableStyleId>{5940675A-B579-460E-94D1-54222C63F5DA}</a:tableStyleId>
              </a:tblPr>
              <a:tblGrid>
                <a:gridCol w="3421743">
                  <a:extLst>
                    <a:ext uri="{9D8B030D-6E8A-4147-A177-3AD203B41FA5}">
                      <a16:colId xmlns:a16="http://schemas.microsoft.com/office/drawing/2014/main" val="89540415"/>
                    </a:ext>
                  </a:extLst>
                </a:gridCol>
                <a:gridCol w="3421743">
                  <a:extLst>
                    <a:ext uri="{9D8B030D-6E8A-4147-A177-3AD203B41FA5}">
                      <a16:colId xmlns:a16="http://schemas.microsoft.com/office/drawing/2014/main" val="1743679481"/>
                    </a:ext>
                  </a:extLst>
                </a:gridCol>
              </a:tblGrid>
              <a:tr h="0">
                <a:tc>
                  <a:txBody>
                    <a:bodyPr/>
                    <a:lstStyle/>
                    <a:p>
                      <a:pPr algn="ctr" rtl="1">
                        <a:buNone/>
                      </a:pPr>
                      <a:r>
                        <a:rPr lang="en-US" b="1" baseline="0" dirty="0" err="1">
                          <a:solidFill>
                            <a:schemeClr val="tx1"/>
                          </a:solidFill>
                          <a:latin typeface="Times New Roman" panose="02020603050405020304" pitchFamily="18" charset="0"/>
                          <a:cs typeface="B Nazanin" panose="00000400000000000000" pitchFamily="2" charset="-78"/>
                        </a:rPr>
                        <a:t>اثر</a:t>
                      </a:r>
                      <a:r>
                        <a:rPr lang="en-US" b="1" baseline="0" dirty="0">
                          <a:solidFill>
                            <a:schemeClr val="tx1"/>
                          </a:solidFill>
                          <a:latin typeface="Times New Roman" panose="02020603050405020304" pitchFamily="18" charset="0"/>
                          <a:cs typeface="B Nazanin" panose="00000400000000000000" pitchFamily="2" charset="-78"/>
                        </a:rPr>
                        <a:t> </a:t>
                      </a:r>
                      <a:r>
                        <a:rPr lang="en-US" b="1" baseline="0" dirty="0" err="1">
                          <a:solidFill>
                            <a:schemeClr val="tx1"/>
                          </a:solidFill>
                          <a:latin typeface="Times New Roman" panose="02020603050405020304" pitchFamily="18" charset="0"/>
                          <a:cs typeface="B Nazanin" panose="00000400000000000000" pitchFamily="2" charset="-78"/>
                        </a:rPr>
                        <a:t>اصلی</a:t>
                      </a:r>
                      <a:endParaRPr lang="en-US" b="1" baseline="0" dirty="0">
                        <a:solidFill>
                          <a:schemeClr val="tx1"/>
                        </a:solidFill>
                        <a:latin typeface="Times New Roman" panose="02020603050405020304" pitchFamily="18" charset="0"/>
                        <a:cs typeface="B Nazanin" panose="00000400000000000000" pitchFamily="2" charset="-78"/>
                      </a:endParaRPr>
                    </a:p>
                  </a:txBody>
                  <a:tcPr anchor="ctr"/>
                </a:tc>
                <a:tc>
                  <a:txBody>
                    <a:bodyPr/>
                    <a:lstStyle/>
                    <a:p>
                      <a:pPr algn="ctr" rtl="1">
                        <a:buNone/>
                      </a:pPr>
                      <a:r>
                        <a:rPr lang="en-US" b="1" baseline="0" dirty="0" err="1">
                          <a:solidFill>
                            <a:schemeClr val="tx1"/>
                          </a:solidFill>
                          <a:latin typeface="Times New Roman" panose="02020603050405020304" pitchFamily="18" charset="0"/>
                          <a:cs typeface="B Nazanin" panose="00000400000000000000" pitchFamily="2" charset="-78"/>
                        </a:rPr>
                        <a:t>منبع</a:t>
                      </a:r>
                      <a:r>
                        <a:rPr lang="en-US" b="1" baseline="0" dirty="0">
                          <a:solidFill>
                            <a:schemeClr val="tx1"/>
                          </a:solidFill>
                          <a:latin typeface="Times New Roman" panose="02020603050405020304" pitchFamily="18" charset="0"/>
                          <a:cs typeface="B Nazanin" panose="00000400000000000000" pitchFamily="2" charset="-78"/>
                        </a:rPr>
                        <a:t> noise</a:t>
                      </a:r>
                    </a:p>
                  </a:txBody>
                  <a:tcPr anchor="ctr"/>
                </a:tc>
                <a:extLst>
                  <a:ext uri="{0D108BD9-81ED-4DB2-BD59-A6C34878D82A}">
                    <a16:rowId xmlns:a16="http://schemas.microsoft.com/office/drawing/2014/main" val="761781745"/>
                  </a:ext>
                </a:extLst>
              </a:tr>
              <a:tr h="0">
                <a:tc>
                  <a:txBody>
                    <a:bodyPr/>
                    <a:lstStyle/>
                    <a:p>
                      <a:pPr algn="ctr" rtl="1">
                        <a:buNone/>
                      </a:pPr>
                      <a:r>
                        <a:rPr lang="fa-IR" baseline="0" dirty="0">
                          <a:latin typeface="Times New Roman" panose="02020603050405020304" pitchFamily="18" charset="0"/>
                          <a:cs typeface="B Nazanin" panose="00000400000000000000" pitchFamily="2" charset="-78"/>
                        </a:rPr>
                        <a:t>نوسان الکترونیکی خروجی</a:t>
                      </a:r>
                    </a:p>
                  </a:txBody>
                  <a:tcPr anchor="ctr"/>
                </a:tc>
                <a:tc>
                  <a:txBody>
                    <a:bodyPr/>
                    <a:lstStyle/>
                    <a:p>
                      <a:pPr algn="ctr" rtl="1">
                        <a:buNone/>
                      </a:pPr>
                      <a:r>
                        <a:rPr lang="en-US" baseline="0" dirty="0">
                          <a:latin typeface="Times New Roman" panose="02020603050405020304" pitchFamily="18" charset="0"/>
                          <a:cs typeface="B Nazanin" panose="00000400000000000000" pitchFamily="2" charset="-78"/>
                        </a:rPr>
                        <a:t>PMT electronic noise</a:t>
                      </a:r>
                    </a:p>
                  </a:txBody>
                  <a:tcPr anchor="ctr"/>
                </a:tc>
                <a:extLst>
                  <a:ext uri="{0D108BD9-81ED-4DB2-BD59-A6C34878D82A}">
                    <a16:rowId xmlns:a16="http://schemas.microsoft.com/office/drawing/2014/main" val="152521298"/>
                  </a:ext>
                </a:extLst>
              </a:tr>
              <a:tr h="0">
                <a:tc>
                  <a:txBody>
                    <a:bodyPr/>
                    <a:lstStyle/>
                    <a:p>
                      <a:pPr algn="ctr" rtl="1">
                        <a:buNone/>
                      </a:pPr>
                      <a:r>
                        <a:rPr lang="fa-IR" baseline="0">
                          <a:latin typeface="Times New Roman" panose="02020603050405020304" pitchFamily="18" charset="0"/>
                          <a:cs typeface="B Nazanin" panose="00000400000000000000" pitchFamily="2" charset="-78"/>
                        </a:rPr>
                        <a:t>اضافه شدن خش‌خش/نوسان</a:t>
                      </a:r>
                    </a:p>
                  </a:txBody>
                  <a:tcPr anchor="ctr"/>
                </a:tc>
                <a:tc>
                  <a:txBody>
                    <a:bodyPr/>
                    <a:lstStyle/>
                    <a:p>
                      <a:pPr algn="ctr" rtl="1">
                        <a:buNone/>
                      </a:pPr>
                      <a:r>
                        <a:rPr lang="en-US" baseline="0" dirty="0">
                          <a:latin typeface="Times New Roman" panose="02020603050405020304" pitchFamily="18" charset="0"/>
                          <a:cs typeface="B Nazanin" panose="00000400000000000000" pitchFamily="2" charset="-78"/>
                        </a:rPr>
                        <a:t>Amplifier noise</a:t>
                      </a:r>
                    </a:p>
                  </a:txBody>
                  <a:tcPr anchor="ctr"/>
                </a:tc>
                <a:extLst>
                  <a:ext uri="{0D108BD9-81ED-4DB2-BD59-A6C34878D82A}">
                    <a16:rowId xmlns:a16="http://schemas.microsoft.com/office/drawing/2014/main" val="305222296"/>
                  </a:ext>
                </a:extLst>
              </a:tr>
              <a:tr h="0">
                <a:tc>
                  <a:txBody>
                    <a:bodyPr/>
                    <a:lstStyle/>
                    <a:p>
                      <a:pPr algn="ctr" rtl="1">
                        <a:buNone/>
                      </a:pPr>
                      <a:r>
                        <a:rPr lang="fa-IR" baseline="0" dirty="0">
                          <a:latin typeface="Times New Roman" panose="02020603050405020304" pitchFamily="18" charset="0"/>
                          <a:cs typeface="B Nazanin" panose="00000400000000000000" pitchFamily="2" charset="-78"/>
                        </a:rPr>
                        <a:t>تولید سیگنال بدون نور</a:t>
                      </a:r>
                    </a:p>
                  </a:txBody>
                  <a:tcPr anchor="ctr"/>
                </a:tc>
                <a:tc>
                  <a:txBody>
                    <a:bodyPr/>
                    <a:lstStyle/>
                    <a:p>
                      <a:pPr algn="ctr" rtl="1">
                        <a:buNone/>
                      </a:pPr>
                      <a:r>
                        <a:rPr lang="en-US" baseline="0" dirty="0">
                          <a:latin typeface="Times New Roman" panose="02020603050405020304" pitchFamily="18" charset="0"/>
                          <a:cs typeface="B Nazanin" panose="00000400000000000000" pitchFamily="2" charset="-78"/>
                        </a:rPr>
                        <a:t>Dark current</a:t>
                      </a:r>
                    </a:p>
                  </a:txBody>
                  <a:tcPr anchor="ctr"/>
                </a:tc>
                <a:extLst>
                  <a:ext uri="{0D108BD9-81ED-4DB2-BD59-A6C34878D82A}">
                    <a16:rowId xmlns:a16="http://schemas.microsoft.com/office/drawing/2014/main" val="182209131"/>
                  </a:ext>
                </a:extLst>
              </a:tr>
              <a:tr h="0">
                <a:tc>
                  <a:txBody>
                    <a:bodyPr/>
                    <a:lstStyle/>
                    <a:p>
                      <a:pPr algn="ctr" rtl="1">
                        <a:buNone/>
                      </a:pPr>
                      <a:r>
                        <a:rPr lang="fa-IR" baseline="0" dirty="0">
                          <a:latin typeface="Times New Roman" panose="02020603050405020304" pitchFamily="18" charset="0"/>
                          <a:cs typeface="B Nazanin" panose="00000400000000000000" pitchFamily="2" charset="-78"/>
                        </a:rPr>
                        <a:t>background فلورسانس ذاتی</a:t>
                      </a:r>
                    </a:p>
                  </a:txBody>
                  <a:tcPr anchor="ctr"/>
                </a:tc>
                <a:tc>
                  <a:txBody>
                    <a:bodyPr/>
                    <a:lstStyle/>
                    <a:p>
                      <a:pPr algn="ctr" rtl="1">
                        <a:buNone/>
                      </a:pPr>
                      <a:r>
                        <a:rPr lang="en-US" baseline="0" dirty="0">
                          <a:latin typeface="Times New Roman" panose="02020603050405020304" pitchFamily="18" charset="0"/>
                          <a:cs typeface="B Nazanin" panose="00000400000000000000" pitchFamily="2" charset="-78"/>
                        </a:rPr>
                        <a:t>Autofluorescence</a:t>
                      </a:r>
                    </a:p>
                  </a:txBody>
                  <a:tcPr anchor="ctr"/>
                </a:tc>
                <a:extLst>
                  <a:ext uri="{0D108BD9-81ED-4DB2-BD59-A6C34878D82A}">
                    <a16:rowId xmlns:a16="http://schemas.microsoft.com/office/drawing/2014/main" val="1882322485"/>
                  </a:ext>
                </a:extLst>
              </a:tr>
              <a:tr h="0">
                <a:tc>
                  <a:txBody>
                    <a:bodyPr/>
                    <a:lstStyle/>
                    <a:p>
                      <a:pPr algn="ctr" rtl="1">
                        <a:buNone/>
                      </a:pPr>
                      <a:r>
                        <a:rPr lang="fa-IR" baseline="0" dirty="0">
                          <a:latin typeface="Times New Roman" panose="02020603050405020304" pitchFamily="18" charset="0"/>
                          <a:cs typeface="B Nazanin" panose="00000400000000000000" pitchFamily="2" charset="-78"/>
                        </a:rPr>
                        <a:t>نوسان آماری در تعداد electron</a:t>
                      </a:r>
                    </a:p>
                  </a:txBody>
                  <a:tcPr anchor="ctr"/>
                </a:tc>
                <a:tc>
                  <a:txBody>
                    <a:bodyPr/>
                    <a:lstStyle/>
                    <a:p>
                      <a:pPr algn="ctr" rtl="1">
                        <a:buNone/>
                      </a:pPr>
                      <a:r>
                        <a:rPr lang="en-US" baseline="0" dirty="0">
                          <a:latin typeface="Times New Roman" panose="02020603050405020304" pitchFamily="18" charset="0"/>
                          <a:cs typeface="B Nazanin" panose="00000400000000000000" pitchFamily="2" charset="-78"/>
                        </a:rPr>
                        <a:t>Photoelectron statistics</a:t>
                      </a:r>
                    </a:p>
                  </a:txBody>
                  <a:tcPr anchor="ctr"/>
                </a:tc>
                <a:extLst>
                  <a:ext uri="{0D108BD9-81ED-4DB2-BD59-A6C34878D82A}">
                    <a16:rowId xmlns:a16="http://schemas.microsoft.com/office/drawing/2014/main" val="2261869756"/>
                  </a:ext>
                </a:extLst>
              </a:tr>
            </a:tbl>
          </a:graphicData>
        </a:graphic>
      </p:graphicFrame>
      <p:sp>
        <p:nvSpPr>
          <p:cNvPr id="5" name="TextBox 4">
            <a:extLst>
              <a:ext uri="{FF2B5EF4-FFF2-40B4-BE49-F238E27FC236}">
                <a16:creationId xmlns:a16="http://schemas.microsoft.com/office/drawing/2014/main" id="{5F203CC4-2FC9-BF93-DD28-3D4181CF2888}"/>
              </a:ext>
            </a:extLst>
          </p:cNvPr>
          <p:cNvSpPr txBox="1"/>
          <p:nvPr/>
        </p:nvSpPr>
        <p:spPr>
          <a:xfrm>
            <a:off x="385250" y="0"/>
            <a:ext cx="11421500" cy="3654847"/>
          </a:xfrm>
          <a:prstGeom prst="rect">
            <a:avLst/>
          </a:prstGeom>
          <a:noFill/>
        </p:spPr>
        <p:txBody>
          <a:bodyPr wrap="square">
            <a:spAutoFit/>
          </a:bodyPr>
          <a:lstStyle/>
          <a:p>
            <a:pPr algn="ctr" rtl="1">
              <a:buNone/>
            </a:pPr>
            <a:r>
              <a:rPr lang="fa-IR" sz="2400" b="1" dirty="0">
                <a:latin typeface="Times New Roman" panose="02020603050405020304" pitchFamily="18" charset="0"/>
                <a:cs typeface="B Nazanin" panose="00000400000000000000" pitchFamily="2" charset="-78"/>
              </a:rPr>
              <a:t>Noise</a:t>
            </a:r>
            <a:r>
              <a:rPr lang="fa-IR" dirty="0">
                <a:latin typeface="Times New Roman" panose="02020603050405020304" pitchFamily="18" charset="0"/>
                <a:cs typeface="B Nazanin" panose="00000400000000000000" pitchFamily="2" charset="-78"/>
              </a:rPr>
              <a:t> </a:t>
            </a:r>
          </a:p>
          <a:p>
            <a:pPr algn="r" rtl="1">
              <a:lnSpc>
                <a:spcPct val="150000"/>
              </a:lnSpc>
              <a:buNone/>
            </a:pPr>
            <a:r>
              <a:rPr lang="fa-IR" sz="2000" dirty="0">
                <a:latin typeface="Times New Roman" panose="02020603050405020304" pitchFamily="18" charset="0"/>
                <a:cs typeface="B Nazanin" panose="00000400000000000000" pitchFamily="2" charset="-78"/>
              </a:rPr>
              <a:t>یعنی سیگنال پس‌زمینه یا نوسانات تصادفی دستگاه که حتی وقتی نمونه‌ای فلورسانس ندارد هم دیده می‌شود.</a:t>
            </a:r>
          </a:p>
          <a:p>
            <a:pPr algn="r" rtl="1">
              <a:lnSpc>
                <a:spcPct val="150000"/>
              </a:lnSpc>
              <a:buNone/>
            </a:pPr>
            <a:r>
              <a:rPr lang="fa-IR" sz="2000" dirty="0">
                <a:latin typeface="Times New Roman" panose="02020603050405020304" pitchFamily="18" charset="0"/>
                <a:cs typeface="B Nazanin" panose="00000400000000000000" pitchFamily="2" charset="-78"/>
              </a:rPr>
              <a:t>در فلوسایتومتری منابع noise شامل:</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نویز الکترونیکی PMT</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نویز تقویت‌کننده‌ها</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dark current</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autofluorescence سلول</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نویز فوتونی (photoelectron statistics)</a:t>
            </a:r>
          </a:p>
        </p:txBody>
      </p:sp>
      <p:sp>
        <p:nvSpPr>
          <p:cNvPr id="2" name="Slide Number Placeholder 1">
            <a:extLst>
              <a:ext uri="{FF2B5EF4-FFF2-40B4-BE49-F238E27FC236}">
                <a16:creationId xmlns:a16="http://schemas.microsoft.com/office/drawing/2014/main" id="{5EB1F4F5-C916-0651-6984-73D8B7DE80FA}"/>
              </a:ext>
            </a:extLst>
          </p:cNvPr>
          <p:cNvSpPr>
            <a:spLocks noGrp="1"/>
          </p:cNvSpPr>
          <p:nvPr>
            <p:ph type="sldNum" sz="quarter" idx="12"/>
          </p:nvPr>
        </p:nvSpPr>
        <p:spPr/>
        <p:txBody>
          <a:bodyPr/>
          <a:lstStyle/>
          <a:p>
            <a:fld id="{111A70C6-53E1-4616-9BEB-862F2340207D}" type="slidenum">
              <a:rPr lang="en-US" smtClean="0"/>
              <a:t>17</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C3F7AF2-FB87-1952-08B4-982667E482A8}"/>
                  </a:ext>
                </a:extLst>
              </p:cNvPr>
              <p:cNvSpPr txBox="1"/>
              <p:nvPr/>
            </p:nvSpPr>
            <p:spPr>
              <a:xfrm>
                <a:off x="696686" y="6316643"/>
                <a:ext cx="10548256" cy="646331"/>
              </a:xfrm>
              <a:prstGeom prst="rect">
                <a:avLst/>
              </a:prstGeom>
              <a:noFill/>
            </p:spPr>
            <p:txBody>
              <a:bodyPr wrap="square">
                <a:spAutoFit/>
              </a:bodyPr>
              <a:lstStyle/>
              <a:p>
                <a:pPr algn="l" rtl="1">
                  <a:lnSpc>
                    <a:spcPct val="200000"/>
                  </a:lnSpc>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𝑏𝑎𝑐𝑘𝑔𝑟𝑜𝑢𝑛𝑑</m:t>
                      </m:r>
                      <m:r>
                        <a:rPr lang="en-US" i="0">
                          <a:latin typeface="Cambria Math" panose="02040503050406030204" pitchFamily="18" charset="0"/>
                        </a:rPr>
                        <m:t>=</m:t>
                      </m:r>
                      <m:r>
                        <a:rPr lang="en-US" i="1">
                          <a:latin typeface="Cambria Math" panose="02040503050406030204" pitchFamily="18" charset="0"/>
                        </a:rPr>
                        <m:t>𝑒𝑙𝑒𝑐𝑡𝑟𝑜𝑛𝑖𝑐</m:t>
                      </m:r>
                      <m:r>
                        <m:rPr>
                          <m:nor/>
                        </m:rPr>
                        <a:rPr lang="en-US" b="0" i="0">
                          <a:latin typeface="Times New Roman" panose="02020603050405020304" pitchFamily="18" charset="0"/>
                          <a:cs typeface="B Nazanin" panose="00000400000000000000" pitchFamily="2" charset="-78"/>
                        </a:rPr>
                        <m:t> </m:t>
                      </m:r>
                      <m:r>
                        <a:rPr lang="en-US" b="0" i="1">
                          <a:latin typeface="Cambria Math" panose="02040503050406030204" pitchFamily="18" charset="0"/>
                        </a:rPr>
                        <m:t>𝑛𝑜𝑖𝑠𝑒</m:t>
                      </m:r>
                      <m:r>
                        <a:rPr lang="en-US" b="0" i="0">
                          <a:latin typeface="Cambria Math" panose="02040503050406030204" pitchFamily="18" charset="0"/>
                        </a:rPr>
                        <m:t>+</m:t>
                      </m:r>
                      <m:r>
                        <a:rPr lang="en-US" b="0" i="1">
                          <a:latin typeface="Cambria Math" panose="02040503050406030204" pitchFamily="18" charset="0"/>
                        </a:rPr>
                        <m:t>𝑜𝑝𝑡𝑖𝑐𝑎𝑙</m:t>
                      </m:r>
                      <m:r>
                        <m:rPr>
                          <m:nor/>
                        </m:rPr>
                        <a:rPr lang="en-US" b="0" i="0">
                          <a:latin typeface="Times New Roman" panose="02020603050405020304" pitchFamily="18" charset="0"/>
                          <a:cs typeface="B Nazanin" panose="00000400000000000000" pitchFamily="2" charset="-78"/>
                        </a:rPr>
                        <m:t> </m:t>
                      </m:r>
                      <m:r>
                        <a:rPr lang="en-US" b="0" i="1">
                          <a:latin typeface="Cambria Math" panose="02040503050406030204" pitchFamily="18" charset="0"/>
                        </a:rPr>
                        <m:t>𝑏𝑎𝑐𝑘𝑔𝑟𝑜𝑢𝑛𝑑</m:t>
                      </m:r>
                      <m:r>
                        <a:rPr lang="en-US" b="0" i="0">
                          <a:latin typeface="Cambria Math" panose="02040503050406030204" pitchFamily="18" charset="0"/>
                        </a:rPr>
                        <m:t>+</m:t>
                      </m:r>
                      <m:r>
                        <a:rPr lang="en-US" b="0" i="1">
                          <a:latin typeface="Cambria Math" panose="02040503050406030204" pitchFamily="18" charset="0"/>
                        </a:rPr>
                        <m:t>𝑏𝑖𝑜𝑙𝑜𝑔𝑖𝑐𝑎𝑙</m:t>
                      </m:r>
                      <m:r>
                        <a:rPr lang="en-US" b="0" i="0">
                          <a:latin typeface="Cambria Math" panose="02040503050406030204" pitchFamily="18" charset="0"/>
                        </a:rPr>
                        <m:t>/</m:t>
                      </m:r>
                      <m:r>
                        <a:rPr lang="en-US" b="0" i="1">
                          <a:latin typeface="Cambria Math" panose="02040503050406030204" pitchFamily="18" charset="0"/>
                        </a:rPr>
                        <m:t>𝑟𝑒𝑎𝑔𝑒𝑛𝑡</m:t>
                      </m:r>
                      <m:r>
                        <m:rPr>
                          <m:nor/>
                        </m:rPr>
                        <a:rPr lang="en-US" b="0" i="0">
                          <a:latin typeface="Times New Roman" panose="02020603050405020304" pitchFamily="18" charset="0"/>
                          <a:cs typeface="B Nazanin" panose="00000400000000000000" pitchFamily="2" charset="-78"/>
                        </a:rPr>
                        <m:t> </m:t>
                      </m:r>
                      <m:r>
                        <a:rPr lang="en-US" b="0" i="1">
                          <a:latin typeface="Cambria Math" panose="02040503050406030204" pitchFamily="18" charset="0"/>
                        </a:rPr>
                        <m:t>𝑏𝑎𝑐𝑘𝑔𝑟𝑜𝑢𝑛𝑑</m:t>
                      </m:r>
                    </m:oMath>
                  </m:oMathPara>
                </a14:m>
                <a:endParaRPr lang="en-US" b="0" dirty="0">
                  <a:latin typeface="Times New Roman" panose="02020603050405020304" pitchFamily="18" charset="0"/>
                  <a:cs typeface="B Nazanin" panose="00000400000000000000" pitchFamily="2" charset="-78"/>
                </a:endParaRPr>
              </a:p>
            </p:txBody>
          </p:sp>
        </mc:Choice>
        <mc:Fallback xmlns="">
          <p:sp>
            <p:nvSpPr>
              <p:cNvPr id="8" name="TextBox 7">
                <a:extLst>
                  <a:ext uri="{FF2B5EF4-FFF2-40B4-BE49-F238E27FC236}">
                    <a16:creationId xmlns:a16="http://schemas.microsoft.com/office/drawing/2014/main" id="{EC3F7AF2-FB87-1952-08B4-982667E482A8}"/>
                  </a:ext>
                </a:extLst>
              </p:cNvPr>
              <p:cNvSpPr txBox="1">
                <a:spLocks noRot="1" noChangeAspect="1" noMove="1" noResize="1" noEditPoints="1" noAdjustHandles="1" noChangeArrowheads="1" noChangeShapeType="1" noTextEdit="1"/>
              </p:cNvSpPr>
              <p:nvPr/>
            </p:nvSpPr>
            <p:spPr>
              <a:xfrm>
                <a:off x="696686" y="6316643"/>
                <a:ext cx="10548256" cy="64633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11733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B0C3DB-CED0-C23B-A082-9496C7927F10}"/>
              </a:ext>
            </a:extLst>
          </p:cNvPr>
          <p:cNvSpPr txBox="1"/>
          <p:nvPr/>
        </p:nvSpPr>
        <p:spPr>
          <a:xfrm>
            <a:off x="3016237" y="801742"/>
            <a:ext cx="9175763" cy="1996700"/>
          </a:xfrm>
          <a:prstGeom prst="rect">
            <a:avLst/>
          </a:prstGeom>
          <a:noFill/>
        </p:spPr>
        <p:txBody>
          <a:bodyPr wrap="square">
            <a:spAutoFit/>
          </a:bodyPr>
          <a:lstStyle/>
          <a:p>
            <a:pPr algn="r" rtl="1">
              <a:buFont typeface="Arial" panose="020B0604020202020204" pitchFamily="34" charset="0"/>
              <a:buChar char="•"/>
            </a:pPr>
            <a:endParaRPr lang="en-US" dirty="0">
              <a:latin typeface="Times New Roman" panose="02020603050405020304" pitchFamily="18" charset="0"/>
              <a:cs typeface="B Nazanin" panose="00000400000000000000" pitchFamily="2" charset="-78"/>
            </a:endParaRPr>
          </a:p>
          <a:p>
            <a:pPr algn="r" rtl="1">
              <a:lnSpc>
                <a:spcPct val="150000"/>
              </a:lnSpc>
            </a:pPr>
            <a:r>
              <a:rPr lang="fa-IR" dirty="0">
                <a:latin typeface="Times New Roman" panose="02020603050405020304" pitchFamily="18" charset="0"/>
                <a:cs typeface="B Nazanin" panose="00000400000000000000" pitchFamily="2" charset="-78"/>
              </a:rPr>
              <a:t>بررسی تفکیک dimly stained particles از unstained particles</a:t>
            </a:r>
          </a:p>
          <a:p>
            <a:pPr algn="r" rtl="1">
              <a:lnSpc>
                <a:spcPct val="150000"/>
              </a:lnSpc>
            </a:pPr>
            <a:r>
              <a:rPr lang="fa-IR" dirty="0">
                <a:latin typeface="Times New Roman" panose="02020603050405020304" pitchFamily="18" charset="0"/>
                <a:cs typeface="B Nazanin" panose="00000400000000000000" pitchFamily="2" charset="-78"/>
              </a:rPr>
              <a:t>ارزیابی background noise</a:t>
            </a:r>
          </a:p>
          <a:p>
            <a:pPr algn="r" rtl="1">
              <a:lnSpc>
                <a:spcPct val="150000"/>
              </a:lnSpc>
            </a:pPr>
            <a:r>
              <a:rPr lang="fa-IR" dirty="0">
                <a:latin typeface="Times New Roman" panose="02020603050405020304" pitchFamily="18" charset="0"/>
                <a:cs typeface="B Nazanin" panose="00000400000000000000" pitchFamily="2" charset="-78"/>
              </a:rPr>
              <a:t>بررسی resolution و CV</a:t>
            </a:r>
          </a:p>
          <a:p>
            <a:pPr algn="r" rtl="1">
              <a:lnSpc>
                <a:spcPct val="150000"/>
              </a:lnSpc>
            </a:pPr>
            <a:r>
              <a:rPr lang="fa-IR" dirty="0">
                <a:latin typeface="Times New Roman" panose="02020603050405020304" pitchFamily="18" charset="0"/>
                <a:cs typeface="B Nazanin" panose="00000400000000000000" pitchFamily="2" charset="-78"/>
              </a:rPr>
              <a:t>هدف:</a:t>
            </a:r>
            <a:r>
              <a:rPr lang="en-US" dirty="0">
                <a:latin typeface="Times New Roman" panose="02020603050405020304" pitchFamily="18" charset="0"/>
                <a:cs typeface="B Nazanin" panose="00000400000000000000" pitchFamily="2" charset="-78"/>
              </a:rPr>
              <a:t> </a:t>
            </a:r>
            <a:r>
              <a:rPr lang="fa-IR" dirty="0">
                <a:latin typeface="Times New Roman" panose="02020603050405020304" pitchFamily="18" charset="0"/>
                <a:cs typeface="B Nazanin" panose="00000400000000000000" pitchFamily="2" charset="-78"/>
              </a:rPr>
              <a:t>اطمینان از عملکرد مناسب دستگاه برای شناسایی سیگنال‌های ضعیف</a:t>
            </a:r>
          </a:p>
        </p:txBody>
      </p:sp>
      <p:sp>
        <p:nvSpPr>
          <p:cNvPr id="4" name="Slide Number Placeholder 3">
            <a:extLst>
              <a:ext uri="{FF2B5EF4-FFF2-40B4-BE49-F238E27FC236}">
                <a16:creationId xmlns:a16="http://schemas.microsoft.com/office/drawing/2014/main" id="{EED84412-72D3-55EC-290E-244682E5BCFE}"/>
              </a:ext>
            </a:extLst>
          </p:cNvPr>
          <p:cNvSpPr>
            <a:spLocks noGrp="1"/>
          </p:cNvSpPr>
          <p:nvPr>
            <p:ph type="sldNum" sz="quarter" idx="12"/>
          </p:nvPr>
        </p:nvSpPr>
        <p:spPr/>
        <p:txBody>
          <a:bodyPr/>
          <a:lstStyle/>
          <a:p>
            <a:fld id="{111A70C6-53E1-4616-9BEB-862F2340207D}" type="slidenum">
              <a:rPr lang="en-US" smtClean="0"/>
              <a:t>18</a:t>
            </a:fld>
            <a:endParaRPr lang="en-US"/>
          </a:p>
        </p:txBody>
      </p:sp>
      <p:sp>
        <p:nvSpPr>
          <p:cNvPr id="7" name="Rectangle: Rounded Corners 6">
            <a:extLst>
              <a:ext uri="{FF2B5EF4-FFF2-40B4-BE49-F238E27FC236}">
                <a16:creationId xmlns:a16="http://schemas.microsoft.com/office/drawing/2014/main" id="{D334B613-82A6-6EA0-3D93-2B8BC1069B6F}"/>
              </a:ext>
            </a:extLst>
          </p:cNvPr>
          <p:cNvSpPr/>
          <p:nvPr/>
        </p:nvSpPr>
        <p:spPr>
          <a:xfrm>
            <a:off x="276797" y="4729316"/>
            <a:ext cx="6105832" cy="197533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B2B64402-FE84-91E5-3786-F7705A7602C0}"/>
              </a:ext>
            </a:extLst>
          </p:cNvPr>
          <p:cNvSpPr/>
          <p:nvPr/>
        </p:nvSpPr>
        <p:spPr>
          <a:xfrm>
            <a:off x="7142129" y="3108310"/>
            <a:ext cx="4999704" cy="34306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5" name="Picture 4" descr="منحنی کالیبراسیون - ویکی‌پدیا، دانشنامهٔ آزاد">
            <a:extLst>
              <a:ext uri="{FF2B5EF4-FFF2-40B4-BE49-F238E27FC236}">
                <a16:creationId xmlns:a16="http://schemas.microsoft.com/office/drawing/2014/main" id="{3F5316E0-0C8D-BF57-5399-357085FA061B}"/>
              </a:ext>
            </a:extLst>
          </p:cNvPr>
          <p:cNvPicPr>
            <a:picLocks noChangeAspect="1"/>
          </p:cNvPicPr>
          <p:nvPr/>
        </p:nvPicPr>
        <p:blipFill>
          <a:blip r:embed="rId3"/>
          <a:stretch>
            <a:fillRect/>
          </a:stretch>
        </p:blipFill>
        <p:spPr>
          <a:xfrm>
            <a:off x="50167" y="801742"/>
            <a:ext cx="6204155" cy="372249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621C9A8-E762-A41C-F233-C0BDD6F9226A}"/>
                  </a:ext>
                </a:extLst>
              </p:cNvPr>
              <p:cNvSpPr txBox="1"/>
              <p:nvPr/>
            </p:nvSpPr>
            <p:spPr>
              <a:xfrm>
                <a:off x="5443649" y="3284734"/>
                <a:ext cx="6471554" cy="2585323"/>
              </a:xfrm>
              <a:prstGeom prst="rect">
                <a:avLst/>
              </a:prstGeom>
              <a:noFill/>
            </p:spPr>
            <p:txBody>
              <a:bodyPr wrap="square">
                <a:spAutoFit/>
              </a:bodyPr>
              <a:lstStyle/>
              <a:p>
                <a:pPr algn="r" rtl="1">
                  <a:buNone/>
                </a:pPr>
                <a:r>
                  <a:rPr lang="fa-IR" b="1" dirty="0">
                    <a:latin typeface="Times New Roman" panose="02020603050405020304" pitchFamily="18" charset="0"/>
                    <a:cs typeface="B Nazanin" panose="00000400000000000000" pitchFamily="2" charset="-78"/>
                  </a:rPr>
                  <a:t>ارتباط با CV و Sensitivity</a:t>
                </a:r>
              </a:p>
              <a:p>
                <a:pPr algn="r">
                  <a:buNone/>
                </a:pPr>
                <a:endParaRPr lang="en-US" i="1" dirty="0">
                  <a:latin typeface="Times New Roman" panose="02020603050405020304" pitchFamily="18" charset="0"/>
                  <a:cs typeface="B Nazanin" panose="00000400000000000000" pitchFamily="2" charset="-78"/>
                </a:endParaRPr>
              </a:p>
              <a:p>
                <a:pPr algn="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m:t>
                      </m:r>
                      <m:r>
                        <a:rPr lang="en-US" i="0">
                          <a:latin typeface="Cambria Math" panose="02040503050406030204" pitchFamily="18" charset="0"/>
                        </a:rPr>
                        <m:t>/</m:t>
                      </m:r>
                      <m:r>
                        <a:rPr lang="en-US" i="1">
                          <a:latin typeface="Cambria Math" panose="02040503050406030204" pitchFamily="18" charset="0"/>
                        </a:rPr>
                        <m:t>𝑁</m:t>
                      </m:r>
                      <m:r>
                        <a:rPr lang="en-US" i="0">
                          <a:latin typeface="Cambria Math" panose="02040503050406030204" pitchFamily="18" charset="0"/>
                        </a:rPr>
                        <m:t>=</m:t>
                      </m:r>
                      <m:r>
                        <a:rPr lang="en-US" i="0">
                          <a:latin typeface="Cambria Math" panose="02040503050406030204" pitchFamily="18" charset="0"/>
                        </a:rPr>
                        <m:t>1</m:t>
                      </m:r>
                    </m:oMath>
                  </m:oMathPara>
                </a14:m>
                <a:endParaRPr lang="en-US" dirty="0">
                  <a:latin typeface="Times New Roman" panose="02020603050405020304" pitchFamily="18" charset="0"/>
                  <a:cs typeface="B Nazanin" panose="00000400000000000000" pitchFamily="2" charset="-78"/>
                </a:endParaRPr>
              </a:p>
              <a:p>
                <a:pPr algn="r" rtl="1">
                  <a:buNone/>
                </a:pPr>
                <a:endParaRPr lang="en-US"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یعنی سیگنال برابر نویز است --&gt; نزدیک LOD هستیم.</a:t>
                </a:r>
                <a:endParaRPr lang="en-US" dirty="0">
                  <a:latin typeface="Times New Roman" panose="02020603050405020304" pitchFamily="18" charset="0"/>
                  <a:cs typeface="B Nazanin" panose="00000400000000000000" pitchFamily="2" charset="-78"/>
                </a:endParaRPr>
              </a:p>
              <a:p>
                <a:pPr algn="r" rtl="1">
                  <a:buNone/>
                </a:pPr>
                <a:endParaRPr lang="fa-IR"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اگر:</a:t>
                </a:r>
              </a:p>
              <a:p>
                <a:pPr algn="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m:t>
                      </m:r>
                      <m:r>
                        <a:rPr lang="en-US" i="0">
                          <a:latin typeface="Cambria Math" panose="02040503050406030204" pitchFamily="18" charset="0"/>
                        </a:rPr>
                        <m:t>/</m:t>
                      </m:r>
                      <m:r>
                        <a:rPr lang="en-US" i="1">
                          <a:latin typeface="Cambria Math" panose="02040503050406030204" pitchFamily="18" charset="0"/>
                        </a:rPr>
                        <m:t>𝑁</m:t>
                      </m:r>
                      <m:r>
                        <a:rPr lang="en-US" i="0">
                          <a:latin typeface="Cambria Math" panose="02040503050406030204" pitchFamily="18" charset="0"/>
                        </a:rPr>
                        <m:t>≥</m:t>
                      </m:r>
                      <m:r>
                        <a:rPr lang="en-US" i="0">
                          <a:latin typeface="Cambria Math" panose="02040503050406030204" pitchFamily="18" charset="0"/>
                        </a:rPr>
                        <m:t>10</m:t>
                      </m:r>
                    </m:oMath>
                  </m:oMathPara>
                </a14:m>
                <a:endParaRPr lang="en-US"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معمولاً وارد محدوده LOQ شده‌ایم.</a:t>
                </a:r>
              </a:p>
            </p:txBody>
          </p:sp>
        </mc:Choice>
        <mc:Fallback xmlns="">
          <p:sp>
            <p:nvSpPr>
              <p:cNvPr id="8" name="TextBox 7">
                <a:extLst>
                  <a:ext uri="{FF2B5EF4-FFF2-40B4-BE49-F238E27FC236}">
                    <a16:creationId xmlns:a16="http://schemas.microsoft.com/office/drawing/2014/main" id="{F621C9A8-E762-A41C-F233-C0BDD6F9226A}"/>
                  </a:ext>
                </a:extLst>
              </p:cNvPr>
              <p:cNvSpPr txBox="1">
                <a:spLocks noRot="1" noChangeAspect="1" noMove="1" noResize="1" noEditPoints="1" noAdjustHandles="1" noChangeArrowheads="1" noChangeShapeType="1" noTextEdit="1"/>
              </p:cNvSpPr>
              <p:nvPr/>
            </p:nvSpPr>
            <p:spPr>
              <a:xfrm>
                <a:off x="5443649" y="3284734"/>
                <a:ext cx="6471554" cy="2585323"/>
              </a:xfrm>
              <a:prstGeom prst="rect">
                <a:avLst/>
              </a:prstGeom>
              <a:blipFill>
                <a:blip r:embed="rId4"/>
                <a:stretch>
                  <a:fillRect t="-2594" r="-753" b="-3538"/>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8E54610B-D05D-3FB5-62FF-DE4698352EE8}"/>
              </a:ext>
            </a:extLst>
          </p:cNvPr>
          <p:cNvSpPr txBox="1"/>
          <p:nvPr/>
        </p:nvSpPr>
        <p:spPr>
          <a:xfrm>
            <a:off x="5216826" y="153352"/>
            <a:ext cx="2074992" cy="584775"/>
          </a:xfrm>
          <a:prstGeom prst="rect">
            <a:avLst/>
          </a:prstGeom>
          <a:noFill/>
        </p:spPr>
        <p:txBody>
          <a:bodyPr wrap="none" rtlCol="0">
            <a:spAutoFit/>
          </a:bodyPr>
          <a:lstStyle/>
          <a:p>
            <a:r>
              <a:rPr lang="en-US" sz="3200" b="1" dirty="0"/>
              <a:t>LOD , LOQ</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CC3E300-A5F0-C2B9-223E-B37AF664FE71}"/>
                  </a:ext>
                </a:extLst>
              </p:cNvPr>
              <p:cNvSpPr txBox="1"/>
              <p:nvPr/>
            </p:nvSpPr>
            <p:spPr>
              <a:xfrm>
                <a:off x="-532870" y="4729316"/>
                <a:ext cx="6820123" cy="1718932"/>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𝐶𝑉</m:t>
                      </m:r>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𝑆</m:t>
                          </m:r>
                        </m:den>
                      </m:f>
                    </m:oMath>
                  </m:oMathPara>
                </a14:m>
                <a:endParaRPr lang="en-US" dirty="0">
                  <a:latin typeface="Times New Roman" panose="02020603050405020304" pitchFamily="18" charset="0"/>
                  <a:cs typeface="B Nazanin" panose="00000400000000000000" pitchFamily="2" charset="-78"/>
                </a:endParaRPr>
              </a:p>
              <a:p>
                <a:pPr algn="r" rtl="1">
                  <a:buNone/>
                </a:pPr>
                <a:r>
                  <a:rPr lang="fa-IR" dirty="0">
                    <a:latin typeface="Times New Roman" panose="02020603050405020304" pitchFamily="18" charset="0"/>
                    <a:cs typeface="B Nazanin" panose="00000400000000000000" pitchFamily="2" charset="-78"/>
                  </a:rPr>
                  <a:t>یا به‌صورت مفهومی، </a:t>
                </a:r>
                <a:r>
                  <a:rPr lang="fa-IR" b="1" dirty="0">
                    <a:latin typeface="Times New Roman" panose="02020603050405020304" pitchFamily="18" charset="0"/>
                    <a:cs typeface="B Nazanin" panose="00000400000000000000" pitchFamily="2" charset="-78"/>
                  </a:rPr>
                  <a:t>CV با نسبت نویز به سیگنال مرتبط است</a:t>
                </a:r>
                <a:r>
                  <a:rPr lang="fa-IR" dirty="0">
                    <a:latin typeface="Times New Roman" panose="02020603050405020304" pitchFamily="18" charset="0"/>
                    <a:cs typeface="B Nazanin" panose="00000400000000000000" pitchFamily="2" charset="-78"/>
                  </a:rPr>
                  <a:t>.</a:t>
                </a:r>
              </a:p>
              <a:p>
                <a:pPr algn="r" rtl="1">
                  <a:buNone/>
                </a:pPr>
                <a:r>
                  <a:rPr lang="fa-IR" b="1" dirty="0">
                    <a:latin typeface="Times New Roman" panose="02020603050405020304" pitchFamily="18" charset="0"/>
                    <a:cs typeface="B Nazanin" panose="00000400000000000000" pitchFamily="2" charset="-78"/>
                  </a:rPr>
                  <a:t>تفسیر</a:t>
                </a:r>
              </a:p>
              <a:p>
                <a:pPr algn="r" rtl="1">
                  <a:buFont typeface="Arial" panose="020B0604020202020204" pitchFamily="34" charset="0"/>
                  <a:buChar char="•"/>
                </a:pPr>
                <a:r>
                  <a:rPr lang="fa-IR" dirty="0">
                    <a:latin typeface="Times New Roman" panose="02020603050405020304" pitchFamily="18" charset="0"/>
                    <a:cs typeface="B Nazanin" panose="00000400000000000000" pitchFamily="2" charset="-78"/>
                  </a:rPr>
                  <a:t>اگر </a:t>
                </a:r>
                <a:r>
                  <a:rPr lang="fa-IR" b="1" dirty="0">
                    <a:latin typeface="Times New Roman" panose="02020603050405020304" pitchFamily="18" charset="0"/>
                    <a:cs typeface="B Nazanin" panose="00000400000000000000" pitchFamily="2" charset="-78"/>
                  </a:rPr>
                  <a:t>noise زیاد</a:t>
                </a:r>
                <a:r>
                  <a:rPr lang="fa-IR" dirty="0">
                    <a:latin typeface="Times New Roman" panose="02020603050405020304" pitchFamily="18" charset="0"/>
                    <a:cs typeface="B Nazanin" panose="00000400000000000000" pitchFamily="2" charset="-78"/>
                  </a:rPr>
                  <a:t> باشد، CV بالا می‌رود.</a:t>
                </a:r>
              </a:p>
              <a:p>
                <a:pPr algn="r" rtl="1">
                  <a:buFont typeface="Arial" panose="020B0604020202020204" pitchFamily="34" charset="0"/>
                  <a:buChar char="•"/>
                </a:pPr>
                <a:r>
                  <a:rPr lang="fa-IR" dirty="0">
                    <a:latin typeface="Times New Roman" panose="02020603050405020304" pitchFamily="18" charset="0"/>
                    <a:cs typeface="B Nazanin" panose="00000400000000000000" pitchFamily="2" charset="-78"/>
                  </a:rPr>
                  <a:t>اگر </a:t>
                </a:r>
                <a:r>
                  <a:rPr lang="fa-IR" b="1" dirty="0">
                    <a:latin typeface="Times New Roman" panose="02020603050405020304" pitchFamily="18" charset="0"/>
                    <a:cs typeface="B Nazanin" panose="00000400000000000000" pitchFamily="2" charset="-78"/>
                  </a:rPr>
                  <a:t>signal قوی‌تر</a:t>
                </a:r>
                <a:r>
                  <a:rPr lang="fa-IR" dirty="0">
                    <a:latin typeface="Times New Roman" panose="02020603050405020304" pitchFamily="18" charset="0"/>
                    <a:cs typeface="B Nazanin" panose="00000400000000000000" pitchFamily="2" charset="-78"/>
                  </a:rPr>
                  <a:t> باشد، CV پایین‌تر می‌آید.</a:t>
                </a:r>
              </a:p>
            </p:txBody>
          </p:sp>
        </mc:Choice>
        <mc:Fallback xmlns="">
          <p:sp>
            <p:nvSpPr>
              <p:cNvPr id="6" name="TextBox 5">
                <a:extLst>
                  <a:ext uri="{FF2B5EF4-FFF2-40B4-BE49-F238E27FC236}">
                    <a16:creationId xmlns:a16="http://schemas.microsoft.com/office/drawing/2014/main" id="{2CC3E300-A5F0-C2B9-223E-B37AF664FE71}"/>
                  </a:ext>
                </a:extLst>
              </p:cNvPr>
              <p:cNvSpPr txBox="1">
                <a:spLocks noRot="1" noChangeAspect="1" noMove="1" noResize="1" noEditPoints="1" noAdjustHandles="1" noChangeArrowheads="1" noChangeShapeType="1" noTextEdit="1"/>
              </p:cNvSpPr>
              <p:nvPr/>
            </p:nvSpPr>
            <p:spPr>
              <a:xfrm>
                <a:off x="-532870" y="4729316"/>
                <a:ext cx="6820123" cy="1718932"/>
              </a:xfrm>
              <a:prstGeom prst="rect">
                <a:avLst/>
              </a:prstGeom>
              <a:blipFill>
                <a:blip r:embed="rId5"/>
                <a:stretch>
                  <a:fillRect r="-805" b="-5674"/>
                </a:stretch>
              </a:blipFill>
            </p:spPr>
            <p:txBody>
              <a:bodyPr/>
              <a:lstStyle/>
              <a:p>
                <a:r>
                  <a:rPr lang="en-US">
                    <a:noFill/>
                  </a:rPr>
                  <a:t> </a:t>
                </a:r>
              </a:p>
            </p:txBody>
          </p:sp>
        </mc:Fallback>
      </mc:AlternateContent>
    </p:spTree>
    <p:extLst>
      <p:ext uri="{BB962C8B-B14F-4D97-AF65-F5344CB8AC3E}">
        <p14:creationId xmlns:p14="http://schemas.microsoft.com/office/powerpoint/2010/main" val="652209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54B7C31-BCE6-E1EE-713F-47E8FCE253E6}"/>
                  </a:ext>
                </a:extLst>
              </p:cNvPr>
              <p:cNvSpPr txBox="1"/>
              <p:nvPr/>
            </p:nvSpPr>
            <p:spPr>
              <a:xfrm>
                <a:off x="602901" y="172178"/>
                <a:ext cx="10825424" cy="6513643"/>
              </a:xfrm>
              <a:prstGeom prst="rect">
                <a:avLst/>
              </a:prstGeom>
              <a:noFill/>
            </p:spPr>
            <p:txBody>
              <a:bodyPr wrap="square">
                <a:spAutoFit/>
              </a:bodyPr>
              <a:lstStyle/>
              <a:p>
                <a:pPr algn="r" rtl="1">
                  <a:buNone/>
                </a:pPr>
                <a:r>
                  <a:rPr lang="fa-IR" sz="2400" b="1" dirty="0">
                    <a:latin typeface="Times New Roman" panose="02020603050405020304" pitchFamily="18" charset="0"/>
                    <a:cs typeface="B Nazanin" panose="00000400000000000000" pitchFamily="2" charset="-78"/>
                  </a:rPr>
                  <a:t>Dynamic range       </a:t>
                </a:r>
                <a:r>
                  <a:rPr lang="en-US" sz="2400" b="1" dirty="0">
                    <a:latin typeface="Times New Roman" panose="02020603050405020304" pitchFamily="18" charset="0"/>
                    <a:cs typeface="B Nazanin" panose="00000400000000000000" pitchFamily="2" charset="-78"/>
                  </a:rPr>
                  <a:t>:</a:t>
                </a:r>
                <a:r>
                  <a:rPr lang="fa-IR" sz="2400" b="1" dirty="0">
                    <a:latin typeface="Times New Roman" panose="02020603050405020304" pitchFamily="18" charset="0"/>
                    <a:cs typeface="B Nazanin" panose="00000400000000000000" pitchFamily="2" charset="-78"/>
                  </a:rPr>
                  <a:t>  </a:t>
                </a:r>
                <a:r>
                  <a:rPr lang="fa-IR" sz="2400" dirty="0">
                    <a:latin typeface="Times New Roman" panose="02020603050405020304" pitchFamily="18" charset="0"/>
                    <a:cs typeface="B Nazanin" panose="00000400000000000000" pitchFamily="2" charset="-78"/>
                  </a:rPr>
                  <a:t>      بازه‌ای از سیگنال که دستگاه می‌تواند به‌طور دقیق اندازه بگیرد.</a:t>
                </a:r>
                <a:endParaRPr lang="en-US" sz="2400" dirty="0">
                  <a:latin typeface="Times New Roman" panose="02020603050405020304" pitchFamily="18" charset="0"/>
                  <a:cs typeface="B Nazanin" panose="00000400000000000000" pitchFamily="2" charset="-78"/>
                </a:endParaRPr>
              </a:p>
              <a:p>
                <a:pPr algn="r" rtl="1">
                  <a:buNone/>
                </a:pPr>
                <a:endParaRPr lang="en-US" sz="2000" dirty="0">
                  <a:latin typeface="Times New Roman" panose="02020603050405020304" pitchFamily="18" charset="0"/>
                  <a:cs typeface="B Nazanin" panose="00000400000000000000" pitchFamily="2" charset="-78"/>
                </a:endParaRPr>
              </a:p>
              <a:p>
                <a:pPr algn="r" rtl="1">
                  <a:buNone/>
                </a:pPr>
                <a:endParaRPr lang="fa-IR" sz="2000" dirty="0">
                  <a:latin typeface="Times New Roman" panose="02020603050405020304" pitchFamily="18" charset="0"/>
                  <a:cs typeface="B Nazanin" panose="00000400000000000000" pitchFamily="2" charset="-78"/>
                </a:endParaRPr>
              </a:p>
              <a:p>
                <a:pPr algn="ctr">
                  <a:buNone/>
                </a:pPr>
                <a:r>
                  <a:rPr lang="en-US" sz="2400" dirty="0"/>
                  <a:t>Quantitative Dynamic Range=LOQ→LOL​</a:t>
                </a:r>
                <a:endParaRPr lang="fa-IR" sz="2400" dirty="0">
                  <a:latin typeface="Times New Roman" panose="02020603050405020304" pitchFamily="18" charset="0"/>
                  <a:cs typeface="B Nazanin" panose="00000400000000000000" pitchFamily="2" charset="-78"/>
                </a:endParaRPr>
              </a:p>
              <a:p>
                <a:pPr algn="r" rtl="1">
                  <a:buNone/>
                </a:pPr>
                <a:endParaRPr lang="fa-IR" sz="2000" dirty="0">
                  <a:latin typeface="Times New Roman" panose="02020603050405020304" pitchFamily="18" charset="0"/>
                  <a:cs typeface="B Nazanin" panose="00000400000000000000" pitchFamily="2" charset="-78"/>
                </a:endParaRPr>
              </a:p>
              <a:p>
                <a:pPr algn="r" rtl="1">
                  <a:buNone/>
                </a:pPr>
                <a:r>
                  <a:rPr lang="fa-IR" sz="2400" dirty="0">
                    <a:latin typeface="Times New Roman" panose="02020603050405020304" pitchFamily="18" charset="0"/>
                    <a:cs typeface="B Nazanin" panose="00000400000000000000" pitchFamily="2" charset="-78"/>
                  </a:rPr>
                  <a:t>در فلوسایتومتر معمولاً حدود: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a:latin typeface="Cambria Math" panose="02040503050406030204" pitchFamily="18" charset="0"/>
                          </a:rPr>
                          <m:t>4</m:t>
                        </m:r>
                      </m:sup>
                    </m:sSup>
                    <m:r>
                      <a:rPr lang="en-US" sz="2400">
                        <a:latin typeface="Cambria Math" panose="02040503050406030204" pitchFamily="18" charset="0"/>
                      </a:rPr>
                      <m:t>−</m:t>
                    </m:r>
                    <m:sSup>
                      <m:sSupPr>
                        <m:ctrlPr>
                          <a:rPr lang="en-US" sz="2400" i="1">
                            <a:latin typeface="Cambria Math" panose="02040503050406030204" pitchFamily="18" charset="0"/>
                          </a:rPr>
                        </m:ctrlPr>
                      </m:sSupPr>
                      <m:e>
                        <m:r>
                          <a:rPr lang="en-US" sz="2400">
                            <a:latin typeface="Cambria Math" panose="02040503050406030204" pitchFamily="18" charset="0"/>
                          </a:rPr>
                          <m:t>10</m:t>
                        </m:r>
                      </m:e>
                      <m:sup>
                        <m:r>
                          <a:rPr lang="en-US" sz="2400">
                            <a:latin typeface="Cambria Math" panose="02040503050406030204" pitchFamily="18" charset="0"/>
                          </a:rPr>
                          <m:t>5</m:t>
                        </m:r>
                      </m:sup>
                    </m:sSup>
                  </m:oMath>
                </a14:m>
                <a:endParaRPr lang="fa-IR" sz="2400" dirty="0">
                  <a:latin typeface="Times New Roman" panose="02020603050405020304" pitchFamily="18" charset="0"/>
                  <a:cs typeface="B Nazanin" panose="00000400000000000000" pitchFamily="2" charset="-78"/>
                </a:endParaRPr>
              </a:p>
              <a:p>
                <a:pPr algn="r">
                  <a:buNone/>
                </a:pPr>
                <a:endParaRPr lang="en-US" sz="2400" dirty="0">
                  <a:latin typeface="Times New Roman" panose="02020603050405020304" pitchFamily="18" charset="0"/>
                  <a:cs typeface="B Nazanin" panose="00000400000000000000" pitchFamily="2" charset="-78"/>
                </a:endParaRPr>
              </a:p>
              <a:p>
                <a:pPr algn="r" rtl="1">
                  <a:buNone/>
                </a:pPr>
                <a:r>
                  <a:rPr lang="fa-IR" sz="2400" dirty="0">
                    <a:latin typeface="Times New Roman" panose="02020603050405020304" pitchFamily="18" charset="0"/>
                    <a:cs typeface="B Nazanin" panose="00000400000000000000" pitchFamily="2" charset="-78"/>
                  </a:rPr>
                  <a:t>محدودیت‌های دو سر این بازه: </a:t>
                </a:r>
              </a:p>
              <a:p>
                <a:pPr algn="r" rtl="1">
                  <a:buNone/>
                </a:pPr>
                <a:endParaRPr lang="fa-IR" sz="2400" dirty="0">
                  <a:latin typeface="Times New Roman" panose="02020603050405020304" pitchFamily="18" charset="0"/>
                  <a:cs typeface="B Nazanin" panose="00000400000000000000" pitchFamily="2" charset="-78"/>
                </a:endParaRPr>
              </a:p>
              <a:p>
                <a:pPr algn="r" rtl="1">
                  <a:lnSpc>
                    <a:spcPct val="150000"/>
                  </a:lnSpc>
                  <a:buNone/>
                </a:pPr>
                <a:r>
                  <a:rPr lang="fa-IR" sz="2400" b="1" dirty="0">
                    <a:latin typeface="Times New Roman" panose="02020603050405020304" pitchFamily="18" charset="0"/>
                    <a:cs typeface="B Nazanin" panose="00000400000000000000" pitchFamily="2" charset="-78"/>
                  </a:rPr>
                  <a:t>حد پایین</a:t>
                </a:r>
              </a:p>
              <a:p>
                <a:pPr algn="r" rtl="1">
                  <a:lnSpc>
                    <a:spcPct val="150000"/>
                  </a:lnSpc>
                  <a:buNone/>
                </a:pPr>
                <a:r>
                  <a:rPr lang="fa-IR" sz="2400" dirty="0">
                    <a:latin typeface="Times New Roman" panose="02020603050405020304" pitchFamily="18" charset="0"/>
                    <a:cs typeface="B Nazanin" panose="00000400000000000000" pitchFamily="2" charset="-78"/>
                  </a:rPr>
                  <a:t>نویز دستگاه:</a:t>
                </a:r>
              </a:p>
              <a:p>
                <a:pPr algn="r">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electronic noise</a:t>
                </a:r>
              </a:p>
              <a:p>
                <a:pPr algn="r">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dark current</a:t>
                </a:r>
              </a:p>
              <a:p>
                <a:pPr algn="r">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autofluorescence</a:t>
                </a:r>
              </a:p>
              <a:p>
                <a:pPr algn="r" rtl="1">
                  <a:lnSpc>
                    <a:spcPct val="150000"/>
                  </a:lnSpc>
                  <a:buNone/>
                </a:pPr>
                <a:r>
                  <a:rPr lang="fa-IR" sz="2400" dirty="0">
                    <a:latin typeface="Times New Roman" panose="02020603050405020304" pitchFamily="18" charset="0"/>
                    <a:cs typeface="B Nazanin" panose="00000400000000000000" pitchFamily="2" charset="-78"/>
                  </a:rPr>
                  <a:t>که تعیین‌کننده LOD است.</a:t>
                </a:r>
              </a:p>
            </p:txBody>
          </p:sp>
        </mc:Choice>
        <mc:Fallback>
          <p:sp>
            <p:nvSpPr>
              <p:cNvPr id="7" name="TextBox 6">
                <a:extLst>
                  <a:ext uri="{FF2B5EF4-FFF2-40B4-BE49-F238E27FC236}">
                    <a16:creationId xmlns:a16="http://schemas.microsoft.com/office/drawing/2014/main" id="{C54B7C31-BCE6-E1EE-713F-47E8FCE253E6}"/>
                  </a:ext>
                </a:extLst>
              </p:cNvPr>
              <p:cNvSpPr txBox="1">
                <a:spLocks noRot="1" noChangeAspect="1" noMove="1" noResize="1" noEditPoints="1" noAdjustHandles="1" noChangeArrowheads="1" noChangeShapeType="1" noTextEdit="1"/>
              </p:cNvSpPr>
              <p:nvPr/>
            </p:nvSpPr>
            <p:spPr>
              <a:xfrm>
                <a:off x="602901" y="172178"/>
                <a:ext cx="10825424" cy="6513643"/>
              </a:xfrm>
              <a:prstGeom prst="rect">
                <a:avLst/>
              </a:prstGeom>
              <a:blipFill>
                <a:blip r:embed="rId3"/>
                <a:stretch>
                  <a:fillRect t="-1310" r="-901" b="-140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8CACA579-9814-580E-80A4-21EFB010D02F}"/>
              </a:ext>
            </a:extLst>
          </p:cNvPr>
          <p:cNvSpPr>
            <a:spLocks noGrp="1"/>
          </p:cNvSpPr>
          <p:nvPr>
            <p:ph type="sldNum" sz="quarter" idx="12"/>
          </p:nvPr>
        </p:nvSpPr>
        <p:spPr/>
        <p:txBody>
          <a:bodyPr/>
          <a:lstStyle/>
          <a:p>
            <a:fld id="{111A70C6-53E1-4616-9BEB-862F2340207D}" type="slidenum">
              <a:rPr lang="en-US" smtClean="0"/>
              <a:t>19</a:t>
            </a:fld>
            <a:endParaRPr lang="en-US"/>
          </a:p>
        </p:txBody>
      </p:sp>
      <p:sp>
        <p:nvSpPr>
          <p:cNvPr id="4" name="TextBox 3">
            <a:extLst>
              <a:ext uri="{FF2B5EF4-FFF2-40B4-BE49-F238E27FC236}">
                <a16:creationId xmlns:a16="http://schemas.microsoft.com/office/drawing/2014/main" id="{578B9EC9-6548-EC82-7F8C-E3C942E6A896}"/>
              </a:ext>
            </a:extLst>
          </p:cNvPr>
          <p:cNvSpPr txBox="1"/>
          <p:nvPr/>
        </p:nvSpPr>
        <p:spPr>
          <a:xfrm>
            <a:off x="-80387" y="2769561"/>
            <a:ext cx="6096000" cy="3370153"/>
          </a:xfrm>
          <a:prstGeom prst="rect">
            <a:avLst/>
          </a:prstGeom>
          <a:noFill/>
        </p:spPr>
        <p:txBody>
          <a:bodyPr wrap="square">
            <a:spAutoFit/>
          </a:bodyPr>
          <a:lstStyle/>
          <a:p>
            <a:pPr algn="r" rtl="1">
              <a:lnSpc>
                <a:spcPct val="150000"/>
              </a:lnSpc>
              <a:buNone/>
            </a:pPr>
            <a:r>
              <a:rPr lang="fa-IR" sz="2400" b="1" dirty="0">
                <a:latin typeface="Times New Roman" panose="02020603050405020304" pitchFamily="18" charset="0"/>
                <a:cs typeface="B Nazanin" panose="00000400000000000000" pitchFamily="2" charset="-78"/>
              </a:rPr>
              <a:t>حد بالا</a:t>
            </a:r>
          </a:p>
          <a:p>
            <a:pPr algn="r" rtl="1">
              <a:lnSpc>
                <a:spcPct val="150000"/>
              </a:lnSpc>
              <a:buNone/>
            </a:pPr>
            <a:r>
              <a:rPr lang="fa-IR" sz="2400" dirty="0">
                <a:latin typeface="Times New Roman" panose="02020603050405020304" pitchFamily="18" charset="0"/>
                <a:cs typeface="B Nazanin" panose="00000400000000000000" pitchFamily="2" charset="-78"/>
              </a:rPr>
              <a:t>اشباع detector:</a:t>
            </a:r>
          </a:p>
          <a:p>
            <a:pPr algn="r">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PMT saturation</a:t>
            </a:r>
          </a:p>
          <a:p>
            <a:pPr algn="r">
              <a:lnSpc>
                <a:spcPct val="150000"/>
              </a:lnSpc>
              <a:buFont typeface="Arial" panose="020B0604020202020204" pitchFamily="34" charset="0"/>
              <a:buChar char="•"/>
            </a:pPr>
            <a:r>
              <a:rPr lang="en-US" sz="2400" dirty="0">
                <a:latin typeface="Times New Roman" panose="02020603050405020304" pitchFamily="18" charset="0"/>
                <a:cs typeface="B Nazanin" panose="00000400000000000000" pitchFamily="2" charset="-78"/>
              </a:rPr>
              <a:t>ADC limit</a:t>
            </a:r>
          </a:p>
          <a:p>
            <a:pPr algn="r" rtl="1">
              <a:lnSpc>
                <a:spcPct val="150000"/>
              </a:lnSpc>
              <a:buNone/>
            </a:pPr>
            <a:r>
              <a:rPr lang="fa-IR" sz="2400" dirty="0">
                <a:latin typeface="Times New Roman" panose="02020603050405020304" pitchFamily="18" charset="0"/>
                <a:cs typeface="B Nazanin" panose="00000400000000000000" pitchFamily="2" charset="-78"/>
              </a:rPr>
              <a:t>در این حالت:</a:t>
            </a:r>
          </a:p>
          <a:p>
            <a:pPr algn="r" rtl="1">
              <a:lnSpc>
                <a:spcPct val="150000"/>
              </a:lnSpc>
              <a:buNone/>
            </a:pPr>
            <a:r>
              <a:rPr lang="fa-IR" sz="2400" dirty="0">
                <a:latin typeface="Times New Roman" panose="02020603050405020304" pitchFamily="18" charset="0"/>
                <a:cs typeface="B Nazanin" panose="00000400000000000000" pitchFamily="2" charset="-78"/>
              </a:rPr>
              <a:t>سیگنال واقعی بیشتر است اما دستگاه نمی‌تواند آن را ثبت کند.</a:t>
            </a:r>
          </a:p>
        </p:txBody>
      </p:sp>
    </p:spTree>
    <p:extLst>
      <p:ext uri="{BB962C8B-B14F-4D97-AF65-F5344CB8AC3E}">
        <p14:creationId xmlns:p14="http://schemas.microsoft.com/office/powerpoint/2010/main" val="1470405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2C29C8-D15C-B44C-2545-0A7425D60EFD}"/>
              </a:ext>
            </a:extLst>
          </p:cNvPr>
          <p:cNvSpPr txBox="1"/>
          <p:nvPr/>
        </p:nvSpPr>
        <p:spPr>
          <a:xfrm>
            <a:off x="258869" y="136525"/>
            <a:ext cx="11674262" cy="5563061"/>
          </a:xfrm>
          <a:prstGeom prst="rect">
            <a:avLst/>
          </a:prstGeom>
          <a:noFill/>
        </p:spPr>
        <p:txBody>
          <a:bodyPr wrap="square">
            <a:spAutoFit/>
          </a:bodyPr>
          <a:lstStyle/>
          <a:p>
            <a:pPr algn="r" rtl="1">
              <a:lnSpc>
                <a:spcPct val="200000"/>
              </a:lnSpc>
              <a:buNone/>
            </a:pPr>
            <a:r>
              <a:rPr lang="fa-IR" b="1" dirty="0">
                <a:solidFill>
                  <a:srgbClr val="FF0000"/>
                </a:solidFill>
                <a:latin typeface="Times New Roman" panose="02020603050405020304" pitchFamily="18" charset="0"/>
                <a:cs typeface="B Nazanin" panose="00000400000000000000" pitchFamily="2" charset="-78"/>
              </a:rPr>
              <a:t>استانداردسازی پراکندگی نور (Light Scatter Standardization)</a:t>
            </a:r>
          </a:p>
          <a:p>
            <a:pPr algn="r" rtl="1">
              <a:lnSpc>
                <a:spcPct val="200000"/>
              </a:lnSpc>
              <a:buNone/>
            </a:pPr>
            <a:r>
              <a:rPr lang="fa-IR" dirty="0">
                <a:latin typeface="Times New Roman" panose="02020603050405020304" pitchFamily="18" charset="0"/>
                <a:cs typeface="B Nazanin" panose="00000400000000000000" pitchFamily="2" charset="-78"/>
              </a:rPr>
              <a:t>برای یکنواخت کردن پاسخ scatter دستگاه، مخصوصاً FSC و SSC.</a:t>
            </a:r>
          </a:p>
          <a:p>
            <a:pPr algn="r" rtl="1">
              <a:lnSpc>
                <a:spcPct val="200000"/>
              </a:lnSpc>
              <a:buNone/>
            </a:pPr>
            <a:r>
              <a:rPr lang="fa-IR" b="1" dirty="0">
                <a:latin typeface="Times New Roman" panose="02020603050405020304" pitchFamily="18" charset="0"/>
                <a:cs typeface="B Nazanin" panose="00000400000000000000" pitchFamily="2" charset="-78"/>
              </a:rPr>
              <a:t>شامل:</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استفاده از ذرات با اندازه‌های مختلف</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مقایسه شدت scatter نسبی و مطلق</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بررسی پایداری scatter در طول زمان</a:t>
            </a:r>
          </a:p>
          <a:p>
            <a:pPr algn="r" rtl="1">
              <a:lnSpc>
                <a:spcPct val="200000"/>
              </a:lnSpc>
              <a:buNone/>
            </a:pPr>
            <a:r>
              <a:rPr lang="fa-IR" b="1" dirty="0">
                <a:latin typeface="Times New Roman" panose="02020603050405020304" pitchFamily="18" charset="0"/>
                <a:cs typeface="B Nazanin" panose="00000400000000000000" pitchFamily="2" charset="-78"/>
              </a:rPr>
              <a:t>هدف:</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پایش عملکرد دستگاه</a:t>
            </a:r>
          </a:p>
          <a:p>
            <a:pPr algn="r" rtl="1">
              <a:lnSpc>
                <a:spcPct val="200000"/>
              </a:lnSpc>
              <a:buFont typeface="Arial" panose="020B0604020202020204" pitchFamily="34" charset="0"/>
              <a:buChar char="•"/>
            </a:pPr>
            <a:r>
              <a:rPr lang="fa-IR" dirty="0">
                <a:latin typeface="Times New Roman" panose="02020603050405020304" pitchFamily="18" charset="0"/>
                <a:cs typeface="B Nazanin" panose="00000400000000000000" pitchFamily="2" charset="-78"/>
              </a:rPr>
              <a:t>ایجاد قابلیت مقایسه در یک نوع مشخص از دستگاه</a:t>
            </a:r>
          </a:p>
          <a:p>
            <a:pPr algn="r" rtl="1">
              <a:lnSpc>
                <a:spcPct val="200000"/>
              </a:lnSpc>
              <a:buNone/>
            </a:pPr>
            <a:r>
              <a:rPr lang="fa-IR" b="1" dirty="0">
                <a:latin typeface="Times New Roman" panose="02020603050405020304" pitchFamily="18" charset="0"/>
                <a:cs typeface="B Nazanin" panose="00000400000000000000" pitchFamily="2" charset="-78"/>
              </a:rPr>
              <a:t>scatter بین انواع مختلف دستگاه سخت است، ولی در یک مدل دستگاه و برای مانیتورینگ عملکرد امکان‌پذیر است</a:t>
            </a:r>
            <a:r>
              <a:rPr lang="fa-IR" dirty="0">
                <a:latin typeface="Times New Roman" panose="02020603050405020304" pitchFamily="18" charset="0"/>
                <a:cs typeface="B Nazanin" panose="00000400000000000000" pitchFamily="2" charset="-78"/>
              </a:rPr>
              <a:t>.</a:t>
            </a:r>
          </a:p>
        </p:txBody>
      </p:sp>
      <p:sp>
        <p:nvSpPr>
          <p:cNvPr id="2" name="Slide Number Placeholder 1">
            <a:extLst>
              <a:ext uri="{FF2B5EF4-FFF2-40B4-BE49-F238E27FC236}">
                <a16:creationId xmlns:a16="http://schemas.microsoft.com/office/drawing/2014/main" id="{A1818605-ADFF-BB4A-1D25-B705A464023F}"/>
              </a:ext>
            </a:extLst>
          </p:cNvPr>
          <p:cNvSpPr>
            <a:spLocks noGrp="1"/>
          </p:cNvSpPr>
          <p:nvPr>
            <p:ph type="sldNum" sz="quarter" idx="12"/>
          </p:nvPr>
        </p:nvSpPr>
        <p:spPr/>
        <p:txBody>
          <a:bodyPr/>
          <a:lstStyle/>
          <a:p>
            <a:fld id="{111A70C6-53E1-4616-9BEB-862F2340207D}" type="slidenum">
              <a:rPr lang="en-US" smtClean="0"/>
              <a:t>20</a:t>
            </a:fld>
            <a:endParaRPr lang="en-US"/>
          </a:p>
        </p:txBody>
      </p:sp>
      <p:sp>
        <p:nvSpPr>
          <p:cNvPr id="5" name="TextBox 4">
            <a:extLst>
              <a:ext uri="{FF2B5EF4-FFF2-40B4-BE49-F238E27FC236}">
                <a16:creationId xmlns:a16="http://schemas.microsoft.com/office/drawing/2014/main" id="{173F94A2-F84C-721A-440B-523B7869C558}"/>
              </a:ext>
            </a:extLst>
          </p:cNvPr>
          <p:cNvSpPr txBox="1"/>
          <p:nvPr/>
        </p:nvSpPr>
        <p:spPr>
          <a:xfrm>
            <a:off x="869634" y="3048391"/>
            <a:ext cx="6096000" cy="584775"/>
          </a:xfrm>
          <a:prstGeom prst="rect">
            <a:avLst/>
          </a:prstGeom>
          <a:noFill/>
        </p:spPr>
        <p:txBody>
          <a:bodyPr wrap="square">
            <a:spAutoFit/>
          </a:bodyPr>
          <a:lstStyle/>
          <a:p>
            <a:r>
              <a:rPr lang="en-US" sz="3200" dirty="0"/>
              <a:t>lo</a:t>
            </a:r>
            <a:r>
              <a:rPr lang="en-US" sz="3200" dirty="0">
                <a:effectLst/>
              </a:rPr>
              <a:t>g</a:t>
            </a:r>
            <a:r>
              <a:rPr lang="en-US" sz="3200" dirty="0"/>
              <a:t>(FSC)=</a:t>
            </a:r>
            <a:r>
              <a:rPr lang="en-US" sz="3200" dirty="0" err="1"/>
              <a:t>a⋅lo</a:t>
            </a:r>
            <a:r>
              <a:rPr lang="en-US" sz="3200" dirty="0" err="1">
                <a:effectLst/>
              </a:rPr>
              <a:t>g</a:t>
            </a:r>
            <a:r>
              <a:rPr lang="en-US" sz="3200" dirty="0"/>
              <a:t>(Diameter)+b</a:t>
            </a:r>
          </a:p>
        </p:txBody>
      </p:sp>
    </p:spTree>
    <p:extLst>
      <p:ext uri="{BB962C8B-B14F-4D97-AF65-F5344CB8AC3E}">
        <p14:creationId xmlns:p14="http://schemas.microsoft.com/office/powerpoint/2010/main" val="970935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577017-4411-9E13-2BDF-0BA9462B2FEF}"/>
              </a:ext>
            </a:extLst>
          </p:cNvPr>
          <p:cNvSpPr txBox="1"/>
          <p:nvPr/>
        </p:nvSpPr>
        <p:spPr>
          <a:xfrm>
            <a:off x="1457011" y="274157"/>
            <a:ext cx="10240889" cy="5401479"/>
          </a:xfrm>
          <a:prstGeom prst="rect">
            <a:avLst/>
          </a:prstGeom>
          <a:noFill/>
        </p:spPr>
        <p:txBody>
          <a:bodyPr wrap="square">
            <a:spAutoFit/>
          </a:bodyPr>
          <a:lstStyle/>
          <a:p>
            <a:pPr algn="r" rtl="1">
              <a:lnSpc>
                <a:spcPct val="150000"/>
              </a:lnSpc>
            </a:pPr>
            <a:r>
              <a:rPr lang="fa-IR" sz="2000" b="1" dirty="0">
                <a:solidFill>
                  <a:srgbClr val="FF0000"/>
                </a:solidFill>
                <a:latin typeface="Times New Roman" panose="02020603050405020304" pitchFamily="18" charset="0"/>
                <a:cs typeface="B Nazanin" panose="00000400000000000000" pitchFamily="2" charset="-78"/>
              </a:rPr>
              <a:t>استانداردسازی پروتکل آزمایش</a:t>
            </a:r>
          </a:p>
          <a:p>
            <a:pPr algn="r" rtl="1">
              <a:lnSpc>
                <a:spcPct val="200000"/>
              </a:lnSpc>
            </a:pPr>
            <a:r>
              <a:rPr lang="fa-IR" sz="2000" dirty="0">
                <a:latin typeface="Times New Roman" panose="02020603050405020304" pitchFamily="18" charset="0"/>
                <a:cs typeface="B Nazanin" panose="00000400000000000000" pitchFamily="2" charset="-78"/>
              </a:rPr>
              <a:t>فقط دستگاه مهم نیست؛ خود آزمایش هم باید استاندارد باشد.</a:t>
            </a:r>
          </a:p>
          <a:p>
            <a:pPr algn="r" rtl="1">
              <a:lnSpc>
                <a:spcPct val="200000"/>
              </a:lnSpc>
            </a:pPr>
            <a:r>
              <a:rPr lang="fa-IR" sz="2000" b="1" dirty="0">
                <a:latin typeface="Times New Roman" panose="02020603050405020304" pitchFamily="18" charset="0"/>
                <a:cs typeface="B Nazanin" panose="00000400000000000000" pitchFamily="2" charset="-78"/>
              </a:rPr>
              <a:t>شامل:</a:t>
            </a:r>
          </a:p>
          <a:p>
            <a:pPr algn="r" rtl="1">
              <a:lnSpc>
                <a:spcPct val="200000"/>
              </a:lnSpc>
            </a:pPr>
            <a:r>
              <a:rPr lang="fa-IR" sz="2000" dirty="0">
                <a:latin typeface="Times New Roman" panose="02020603050405020304" pitchFamily="18" charset="0"/>
                <a:cs typeface="B Nazanin" panose="00000400000000000000" pitchFamily="2" charset="-78"/>
              </a:rPr>
              <a:t>نوع نمونه و زمان نگهداری</a:t>
            </a:r>
          </a:p>
          <a:p>
            <a:pPr algn="r" rtl="1">
              <a:lnSpc>
                <a:spcPct val="200000"/>
              </a:lnSpc>
            </a:pPr>
            <a:r>
              <a:rPr lang="fa-IR" sz="2000" dirty="0">
                <a:latin typeface="Times New Roman" panose="02020603050405020304" pitchFamily="18" charset="0"/>
                <a:cs typeface="B Nazanin" panose="00000400000000000000" pitchFamily="2" charset="-78"/>
              </a:rPr>
              <a:t>شرایط رنگ‌آمیزی</a:t>
            </a:r>
          </a:p>
          <a:p>
            <a:pPr algn="r" rtl="1">
              <a:lnSpc>
                <a:spcPct val="200000"/>
              </a:lnSpc>
            </a:pPr>
            <a:r>
              <a:rPr lang="fa-IR" sz="2000" dirty="0">
                <a:latin typeface="Times New Roman" panose="02020603050405020304" pitchFamily="18" charset="0"/>
                <a:cs typeface="B Nazanin" panose="00000400000000000000" pitchFamily="2" charset="-78"/>
              </a:rPr>
              <a:t>غلظت آنتی‌بادی</a:t>
            </a:r>
          </a:p>
          <a:p>
            <a:pPr algn="r" rtl="1">
              <a:lnSpc>
                <a:spcPct val="200000"/>
              </a:lnSpc>
            </a:pPr>
            <a:r>
              <a:rPr lang="fa-IR" sz="2000" dirty="0">
                <a:latin typeface="Times New Roman" panose="02020603050405020304" pitchFamily="18" charset="0"/>
                <a:cs typeface="B Nazanin" panose="00000400000000000000" pitchFamily="2" charset="-78"/>
              </a:rPr>
              <a:t>زمان انکوباسیون</a:t>
            </a:r>
          </a:p>
          <a:p>
            <a:pPr algn="r" rtl="1">
              <a:lnSpc>
                <a:spcPct val="200000"/>
              </a:lnSpc>
            </a:pPr>
            <a:r>
              <a:rPr lang="fa-IR" sz="2000" dirty="0">
                <a:latin typeface="Times New Roman" panose="02020603050405020304" pitchFamily="18" charset="0"/>
                <a:cs typeface="B Nazanin" panose="00000400000000000000" pitchFamily="2" charset="-78"/>
              </a:rPr>
              <a:t>دمای انجام آزمایش</a:t>
            </a:r>
          </a:p>
          <a:p>
            <a:pPr algn="r" rtl="1">
              <a:lnSpc>
                <a:spcPct val="200000"/>
              </a:lnSpc>
            </a:pPr>
            <a:r>
              <a:rPr lang="fa-IR" sz="2000" dirty="0">
                <a:latin typeface="Times New Roman" panose="02020603050405020304" pitchFamily="18" charset="0"/>
                <a:cs typeface="B Nazanin" panose="00000400000000000000" pitchFamily="2" charset="-78"/>
              </a:rPr>
              <a:t>روش لیز سلول یا شستشو</a:t>
            </a:r>
          </a:p>
        </p:txBody>
      </p:sp>
      <p:sp>
        <p:nvSpPr>
          <p:cNvPr id="2" name="Slide Number Placeholder 1">
            <a:extLst>
              <a:ext uri="{FF2B5EF4-FFF2-40B4-BE49-F238E27FC236}">
                <a16:creationId xmlns:a16="http://schemas.microsoft.com/office/drawing/2014/main" id="{0993C3C2-556C-F332-8CE2-FD7A1E1E4B46}"/>
              </a:ext>
            </a:extLst>
          </p:cNvPr>
          <p:cNvSpPr>
            <a:spLocks noGrp="1"/>
          </p:cNvSpPr>
          <p:nvPr>
            <p:ph type="sldNum" sz="quarter" idx="12"/>
          </p:nvPr>
        </p:nvSpPr>
        <p:spPr/>
        <p:txBody>
          <a:bodyPr/>
          <a:lstStyle/>
          <a:p>
            <a:fld id="{111A70C6-53E1-4616-9BEB-862F2340207D}" type="slidenum">
              <a:rPr lang="en-US" smtClean="0"/>
              <a:t>21</a:t>
            </a:fld>
            <a:endParaRPr lang="en-US"/>
          </a:p>
        </p:txBody>
      </p:sp>
    </p:spTree>
    <p:extLst>
      <p:ext uri="{BB962C8B-B14F-4D97-AF65-F5344CB8AC3E}">
        <p14:creationId xmlns:p14="http://schemas.microsoft.com/office/powerpoint/2010/main" val="1978492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59FA54-8F22-51C3-014A-7E505AFC3A6B}"/>
              </a:ext>
            </a:extLst>
          </p:cNvPr>
          <p:cNvSpPr txBox="1"/>
          <p:nvPr/>
        </p:nvSpPr>
        <p:spPr>
          <a:xfrm>
            <a:off x="3993834" y="166908"/>
            <a:ext cx="7915275" cy="4939814"/>
          </a:xfrm>
          <a:prstGeom prst="rect">
            <a:avLst/>
          </a:prstGeom>
          <a:noFill/>
        </p:spPr>
        <p:txBody>
          <a:bodyPr wrap="square">
            <a:spAutoFit/>
          </a:bodyPr>
          <a:lstStyle/>
          <a:p>
            <a:pPr algn="r" rtl="1">
              <a:lnSpc>
                <a:spcPct val="200000"/>
              </a:lnSpc>
              <a:buNone/>
            </a:pPr>
            <a:r>
              <a:rPr lang="fa-IR" sz="2000" b="1" dirty="0">
                <a:solidFill>
                  <a:srgbClr val="FF0000"/>
                </a:solidFill>
                <a:latin typeface="Times New Roman" panose="02020603050405020304" pitchFamily="18" charset="0"/>
                <a:cs typeface="B Nazanin" panose="00000400000000000000" pitchFamily="2" charset="-78"/>
              </a:rPr>
              <a:t>استانداردسازی تحلیل داده‌ها</a:t>
            </a:r>
          </a:p>
          <a:p>
            <a:pPr algn="r" rtl="1">
              <a:lnSpc>
                <a:spcPct val="200000"/>
              </a:lnSpc>
              <a:buNone/>
            </a:pPr>
            <a:r>
              <a:rPr lang="fa-IR" sz="2000" dirty="0">
                <a:latin typeface="Times New Roman" panose="02020603050405020304" pitchFamily="18" charset="0"/>
                <a:cs typeface="B Nazanin" panose="00000400000000000000" pitchFamily="2" charset="-78"/>
              </a:rPr>
              <a:t>اگر تحلیل یکسان نباشد، حتی با دستگاه استاندارد هم نتایج متفاوت می‌شوند.</a:t>
            </a:r>
          </a:p>
          <a:p>
            <a:pPr algn="r" rtl="1">
              <a:lnSpc>
                <a:spcPct val="200000"/>
              </a:lnSpc>
              <a:buNone/>
            </a:pPr>
            <a:r>
              <a:rPr lang="fa-IR" sz="2000" b="1" dirty="0">
                <a:latin typeface="Times New Roman" panose="02020603050405020304" pitchFamily="18" charset="0"/>
                <a:cs typeface="B Nazanin" panose="00000400000000000000" pitchFamily="2" charset="-78"/>
              </a:rPr>
              <a:t>شامل:</a:t>
            </a:r>
          </a:p>
          <a:p>
            <a:pPr algn="r" rtl="1">
              <a:lnSpc>
                <a:spcPct val="20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استفاده از strategy یکسان برای gating</a:t>
            </a:r>
          </a:p>
          <a:p>
            <a:pPr algn="r" rtl="1">
              <a:lnSpc>
                <a:spcPct val="20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استفاده از کنترل‌های مناسب</a:t>
            </a:r>
          </a:p>
          <a:p>
            <a:pPr algn="r" rtl="1">
              <a:lnSpc>
                <a:spcPct val="200000"/>
              </a:lnSpc>
              <a:buNone/>
            </a:pPr>
            <a:r>
              <a:rPr lang="fa-IR" sz="2000" b="1" dirty="0">
                <a:latin typeface="Times New Roman" panose="02020603050405020304" pitchFamily="18" charset="0"/>
                <a:cs typeface="B Nazanin" panose="00000400000000000000" pitchFamily="2" charset="-78"/>
              </a:rPr>
              <a:t>هدف:</a:t>
            </a:r>
          </a:p>
          <a:p>
            <a:pPr algn="r" rtl="1">
              <a:lnSpc>
                <a:spcPct val="20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کاهش اختلاف بین اپراتورها</a:t>
            </a:r>
          </a:p>
          <a:p>
            <a:pPr algn="r" rtl="1">
              <a:lnSpc>
                <a:spcPct val="20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بهبود مقایسه‌پذیری نتایج</a:t>
            </a:r>
          </a:p>
        </p:txBody>
      </p:sp>
      <p:sp>
        <p:nvSpPr>
          <p:cNvPr id="2" name="Slide Number Placeholder 1">
            <a:extLst>
              <a:ext uri="{FF2B5EF4-FFF2-40B4-BE49-F238E27FC236}">
                <a16:creationId xmlns:a16="http://schemas.microsoft.com/office/drawing/2014/main" id="{6FFBF630-A4E0-29C0-5A12-42166D63A6C3}"/>
              </a:ext>
            </a:extLst>
          </p:cNvPr>
          <p:cNvSpPr>
            <a:spLocks noGrp="1"/>
          </p:cNvSpPr>
          <p:nvPr>
            <p:ph type="sldNum" sz="quarter" idx="12"/>
          </p:nvPr>
        </p:nvSpPr>
        <p:spPr/>
        <p:txBody>
          <a:bodyPr/>
          <a:lstStyle/>
          <a:p>
            <a:fld id="{111A70C6-53E1-4616-9BEB-862F2340207D}" type="slidenum">
              <a:rPr lang="en-US" smtClean="0"/>
              <a:t>22</a:t>
            </a:fld>
            <a:endParaRPr lang="en-US"/>
          </a:p>
        </p:txBody>
      </p:sp>
    </p:spTree>
    <p:extLst>
      <p:ext uri="{BB962C8B-B14F-4D97-AF65-F5344CB8AC3E}">
        <p14:creationId xmlns:p14="http://schemas.microsoft.com/office/powerpoint/2010/main" val="1591476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368AD0-DE97-9FE3-BCFE-59C3D81C8632}"/>
              </a:ext>
            </a:extLst>
          </p:cNvPr>
          <p:cNvSpPr txBox="1"/>
          <p:nvPr/>
        </p:nvSpPr>
        <p:spPr>
          <a:xfrm>
            <a:off x="2970490" y="0"/>
            <a:ext cx="9141402" cy="4208844"/>
          </a:xfrm>
          <a:prstGeom prst="rect">
            <a:avLst/>
          </a:prstGeom>
          <a:noFill/>
        </p:spPr>
        <p:txBody>
          <a:bodyPr wrap="square">
            <a:spAutoFit/>
          </a:bodyPr>
          <a:lstStyle/>
          <a:p>
            <a:pPr algn="r" rtl="1">
              <a:lnSpc>
                <a:spcPct val="150000"/>
              </a:lnSpc>
              <a:buNone/>
            </a:pPr>
            <a:r>
              <a:rPr lang="fa-IR" sz="2000" b="1" dirty="0">
                <a:solidFill>
                  <a:srgbClr val="FF0000"/>
                </a:solidFill>
                <a:latin typeface="Times New Roman" panose="02020603050405020304" pitchFamily="18" charset="0"/>
                <a:cs typeface="B Nazanin" panose="00000400000000000000" pitchFamily="2" charset="-78"/>
              </a:rPr>
              <a:t>استانداردسازی gating شامل چه چیزهایی می‌شود؟</a:t>
            </a:r>
            <a:endParaRPr lang="en-US" sz="2000" dirty="0">
              <a:latin typeface="Times New Roman" panose="02020603050405020304" pitchFamily="18" charset="0"/>
              <a:cs typeface="B Nazanin" panose="00000400000000000000" pitchFamily="2" charset="-78"/>
            </a:endParaRPr>
          </a:p>
          <a:p>
            <a:pPr algn="r" rtl="1">
              <a:lnSpc>
                <a:spcPct val="150000"/>
              </a:lnSpc>
              <a:buNone/>
            </a:pPr>
            <a:r>
              <a:rPr lang="fa-IR" sz="2000" b="1" dirty="0">
                <a:latin typeface="Times New Roman" panose="02020603050405020304" pitchFamily="18" charset="0"/>
                <a:cs typeface="B Nazanin" panose="00000400000000000000" pitchFamily="2" charset="-78"/>
              </a:rPr>
              <a:t>ثابت بودن ترتیب gating</a:t>
            </a:r>
          </a:p>
          <a:p>
            <a:pPr algn="r" rtl="1">
              <a:lnSpc>
                <a:spcPct val="150000"/>
              </a:lnSpc>
            </a:pPr>
            <a:r>
              <a:rPr lang="fa-IR" sz="2000" dirty="0">
                <a:latin typeface="Times New Roman" panose="02020603050405020304" pitchFamily="18" charset="0"/>
                <a:cs typeface="B Nazanin" panose="00000400000000000000" pitchFamily="2" charset="-78"/>
              </a:rPr>
              <a:t>مثلا :</a:t>
            </a:r>
          </a:p>
          <a:p>
            <a:pPr algn="r" rtl="1">
              <a:lnSpc>
                <a:spcPct val="150000"/>
              </a:lnSpc>
              <a:buFont typeface="+mj-lt"/>
              <a:buAutoNum type="arabicPeriod"/>
            </a:pPr>
            <a:r>
              <a:rPr lang="fa-IR" sz="2000" dirty="0">
                <a:latin typeface="Times New Roman" panose="02020603050405020304" pitchFamily="18" charset="0"/>
                <a:cs typeface="B Nazanin" panose="00000400000000000000" pitchFamily="2" charset="-78"/>
              </a:rPr>
              <a:t>حذف debris</a:t>
            </a:r>
          </a:p>
          <a:p>
            <a:pPr algn="r" rtl="1">
              <a:lnSpc>
                <a:spcPct val="150000"/>
              </a:lnSpc>
              <a:buFont typeface="+mj-lt"/>
              <a:buAutoNum type="arabicPeriod"/>
            </a:pPr>
            <a:r>
              <a:rPr lang="fa-IR" sz="2000" b="1" dirty="0">
                <a:latin typeface="Times New Roman" panose="02020603050405020304" pitchFamily="18" charset="0"/>
                <a:cs typeface="B Nazanin" panose="00000400000000000000" pitchFamily="2" charset="-78"/>
              </a:rPr>
              <a:t>حذف doublets</a:t>
            </a:r>
          </a:p>
          <a:p>
            <a:pPr algn="r" rtl="1">
              <a:lnSpc>
                <a:spcPct val="150000"/>
              </a:lnSpc>
              <a:buFont typeface="+mj-lt"/>
              <a:buAutoNum type="arabicPeriod"/>
            </a:pPr>
            <a:r>
              <a:rPr lang="fa-IR" sz="2000" dirty="0">
                <a:latin typeface="Times New Roman" panose="02020603050405020304" pitchFamily="18" charset="0"/>
                <a:cs typeface="B Nazanin" panose="00000400000000000000" pitchFamily="2" charset="-78"/>
              </a:rPr>
              <a:t>انتخاب live cells</a:t>
            </a:r>
          </a:p>
          <a:p>
            <a:pPr algn="r" rtl="1">
              <a:lnSpc>
                <a:spcPct val="150000"/>
              </a:lnSpc>
              <a:buFont typeface="+mj-lt"/>
              <a:buAutoNum type="arabicPeriod"/>
            </a:pPr>
            <a:r>
              <a:rPr lang="fa-IR" sz="2000" dirty="0">
                <a:latin typeface="Times New Roman" panose="02020603050405020304" pitchFamily="18" charset="0"/>
                <a:cs typeface="B Nazanin" panose="00000400000000000000" pitchFamily="2" charset="-78"/>
              </a:rPr>
              <a:t>انتخاب population هدف</a:t>
            </a:r>
          </a:p>
          <a:p>
            <a:pPr algn="r" rtl="1">
              <a:lnSpc>
                <a:spcPct val="150000"/>
              </a:lnSpc>
              <a:buFont typeface="+mj-lt"/>
              <a:buAutoNum type="arabicPeriod"/>
            </a:pPr>
            <a:r>
              <a:rPr lang="fa-IR" sz="2000" dirty="0">
                <a:latin typeface="Times New Roman" panose="02020603050405020304" pitchFamily="18" charset="0"/>
                <a:cs typeface="B Nazanin" panose="00000400000000000000" pitchFamily="2" charset="-78"/>
              </a:rPr>
              <a:t>تحلیل fluorescence</a:t>
            </a:r>
          </a:p>
          <a:p>
            <a:pPr algn="r" rtl="1">
              <a:lnSpc>
                <a:spcPct val="150000"/>
              </a:lnSpc>
              <a:buNone/>
            </a:pPr>
            <a:r>
              <a:rPr lang="fa-IR" sz="2000" dirty="0">
                <a:latin typeface="Times New Roman" panose="02020603050405020304" pitchFamily="18" charset="0"/>
                <a:cs typeface="B Nazanin" panose="00000400000000000000" pitchFamily="2" charset="-78"/>
              </a:rPr>
              <a:t>اگر این ترتیب عوض شود، خروجی هم عوض می‌شود.</a:t>
            </a:r>
          </a:p>
        </p:txBody>
      </p:sp>
      <p:sp>
        <p:nvSpPr>
          <p:cNvPr id="4" name="TextBox 3">
            <a:extLst>
              <a:ext uri="{FF2B5EF4-FFF2-40B4-BE49-F238E27FC236}">
                <a16:creationId xmlns:a16="http://schemas.microsoft.com/office/drawing/2014/main" id="{A6382739-1D26-66B8-4863-256E12780C0A}"/>
              </a:ext>
            </a:extLst>
          </p:cNvPr>
          <p:cNvSpPr txBox="1"/>
          <p:nvPr/>
        </p:nvSpPr>
        <p:spPr>
          <a:xfrm>
            <a:off x="198784" y="4307302"/>
            <a:ext cx="11832722" cy="2823850"/>
          </a:xfrm>
          <a:prstGeom prst="rect">
            <a:avLst/>
          </a:prstGeom>
          <a:noFill/>
        </p:spPr>
        <p:txBody>
          <a:bodyPr wrap="square">
            <a:spAutoFit/>
          </a:bodyPr>
          <a:lstStyle/>
          <a:p>
            <a:pPr algn="r" rtl="1">
              <a:lnSpc>
                <a:spcPct val="150000"/>
              </a:lnSpc>
              <a:buNone/>
            </a:pPr>
            <a:r>
              <a:rPr lang="en-US" sz="2000" b="1" dirty="0">
                <a:latin typeface="Times New Roman" panose="02020603050405020304" pitchFamily="18" charset="0"/>
                <a:cs typeface="B Nazanin" panose="00000400000000000000" pitchFamily="2" charset="-78"/>
              </a:rPr>
              <a:t>T</a:t>
            </a:r>
            <a:r>
              <a:rPr lang="fa-IR" sz="2000" b="1" dirty="0">
                <a:latin typeface="Times New Roman" panose="02020603050405020304" pitchFamily="18" charset="0"/>
                <a:cs typeface="B Nazanin" panose="00000400000000000000" pitchFamily="2" charset="-78"/>
              </a:rPr>
              <a:t>hreshold باید ثابت باشد.</a:t>
            </a:r>
          </a:p>
          <a:p>
            <a:pPr algn="r" rtl="1">
              <a:lnSpc>
                <a:spcPct val="150000"/>
              </a:lnSpc>
              <a:buNone/>
            </a:pPr>
            <a:r>
              <a:rPr lang="fa-IR" sz="2000" dirty="0">
                <a:latin typeface="Times New Roman" panose="02020603050405020304" pitchFamily="18" charset="0"/>
                <a:cs typeface="B Nazanin" panose="00000400000000000000" pitchFamily="2" charset="-78"/>
              </a:rPr>
              <a:t>چون اگر threshold عوض شود، eventهای واردشده به gate هم عوض میشوند. مثلاً اگر threshold پایین‌تر برود:</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events بیشتر وارد analysis می‌شوند</a:t>
            </a:r>
          </a:p>
          <a:p>
            <a:pPr algn="r" rtl="1">
              <a:lnSpc>
                <a:spcPct val="150000"/>
              </a:lnSpc>
              <a:buFont typeface="Arial" panose="020B0604020202020204" pitchFamily="34" charset="0"/>
              <a:buChar char="•"/>
            </a:pPr>
            <a:r>
              <a:rPr lang="fa-IR" sz="2000" dirty="0">
                <a:latin typeface="Times New Roman" panose="02020603050405020304" pitchFamily="18" charset="0"/>
                <a:cs typeface="B Nazanin" panose="00000400000000000000" pitchFamily="2" charset="-78"/>
              </a:rPr>
              <a:t>noise هم بیشتر وارد می‌شود</a:t>
            </a:r>
          </a:p>
          <a:p>
            <a:pPr algn="r" rtl="1">
              <a:lnSpc>
                <a:spcPct val="150000"/>
              </a:lnSpc>
            </a:pPr>
            <a:r>
              <a:rPr lang="fa-IR" sz="2000" dirty="0">
                <a:latin typeface="Times New Roman" panose="02020603050405020304" pitchFamily="18" charset="0"/>
                <a:cs typeface="B Nazanin" panose="00000400000000000000" pitchFamily="2" charset="-78"/>
              </a:rPr>
              <a:t>اگر بالاتر برود: dim particles ممکن است حذف شوند</a:t>
            </a:r>
          </a:p>
          <a:p>
            <a:pPr algn="r" rtl="1">
              <a:lnSpc>
                <a:spcPct val="150000"/>
              </a:lnSpc>
              <a:buNone/>
            </a:pPr>
            <a:endParaRPr lang="fa-IR" sz="2000" dirty="0">
              <a:latin typeface="Times New Roman" panose="02020603050405020304" pitchFamily="18" charset="0"/>
              <a:cs typeface="B Nazanin" panose="00000400000000000000" pitchFamily="2" charset="-78"/>
            </a:endParaRPr>
          </a:p>
        </p:txBody>
      </p:sp>
      <p:sp>
        <p:nvSpPr>
          <p:cNvPr id="5" name="Slide Number Placeholder 4">
            <a:extLst>
              <a:ext uri="{FF2B5EF4-FFF2-40B4-BE49-F238E27FC236}">
                <a16:creationId xmlns:a16="http://schemas.microsoft.com/office/drawing/2014/main" id="{2685F720-6D85-B357-00FC-3FE42E648C7C}"/>
              </a:ext>
            </a:extLst>
          </p:cNvPr>
          <p:cNvSpPr>
            <a:spLocks noGrp="1"/>
          </p:cNvSpPr>
          <p:nvPr>
            <p:ph type="sldNum" sz="quarter" idx="12"/>
          </p:nvPr>
        </p:nvSpPr>
        <p:spPr/>
        <p:txBody>
          <a:bodyPr/>
          <a:lstStyle/>
          <a:p>
            <a:fld id="{111A70C6-53E1-4616-9BEB-862F2340207D}" type="slidenum">
              <a:rPr lang="en-US" smtClean="0"/>
              <a:t>23</a:t>
            </a:fld>
            <a:endParaRPr lang="en-US"/>
          </a:p>
        </p:txBody>
      </p:sp>
    </p:spTree>
    <p:extLst>
      <p:ext uri="{BB962C8B-B14F-4D97-AF65-F5344CB8AC3E}">
        <p14:creationId xmlns:p14="http://schemas.microsoft.com/office/powerpoint/2010/main" val="2670391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BE3E90-F067-B629-1A9C-FAA7D2325496}"/>
              </a:ext>
            </a:extLst>
          </p:cNvPr>
          <p:cNvSpPr txBox="1"/>
          <p:nvPr/>
        </p:nvSpPr>
        <p:spPr>
          <a:xfrm>
            <a:off x="7596429" y="155379"/>
            <a:ext cx="4309193" cy="461665"/>
          </a:xfrm>
          <a:prstGeom prst="rect">
            <a:avLst/>
          </a:prstGeom>
          <a:noFill/>
        </p:spPr>
        <p:txBody>
          <a:bodyPr wrap="none" rtlCol="0">
            <a:spAutoFit/>
          </a:bodyPr>
          <a:lstStyle/>
          <a:p>
            <a:pPr algn="r" rtl="1"/>
            <a:r>
              <a:rPr lang="fa-IR" sz="2400" b="1" dirty="0">
                <a:latin typeface="Times New Roman" panose="02020603050405020304" pitchFamily="18" charset="0"/>
                <a:cs typeface="B Nazanin" panose="00000400000000000000" pitchFamily="2" charset="-78"/>
              </a:rPr>
              <a:t>چگونگی تشخیص سلول های </a:t>
            </a:r>
            <a:r>
              <a:rPr lang="en-US" sz="2400" b="1" dirty="0">
                <a:latin typeface="Times New Roman" panose="02020603050405020304" pitchFamily="18" charset="0"/>
                <a:cs typeface="B Nazanin" panose="00000400000000000000" pitchFamily="2" charset="-78"/>
              </a:rPr>
              <a:t>Doublet</a:t>
            </a:r>
          </a:p>
        </p:txBody>
      </p:sp>
      <p:sp>
        <p:nvSpPr>
          <p:cNvPr id="4" name="TextBox 3">
            <a:extLst>
              <a:ext uri="{FF2B5EF4-FFF2-40B4-BE49-F238E27FC236}">
                <a16:creationId xmlns:a16="http://schemas.microsoft.com/office/drawing/2014/main" id="{9352FF7B-38CE-1DF2-1523-9FD6DC262963}"/>
              </a:ext>
            </a:extLst>
          </p:cNvPr>
          <p:cNvSpPr txBox="1"/>
          <p:nvPr/>
        </p:nvSpPr>
        <p:spPr>
          <a:xfrm>
            <a:off x="210178" y="627945"/>
            <a:ext cx="6096000" cy="523220"/>
          </a:xfrm>
          <a:prstGeom prst="rect">
            <a:avLst/>
          </a:prstGeom>
          <a:noFill/>
        </p:spPr>
        <p:txBody>
          <a:bodyPr wrap="square">
            <a:spAutoFit/>
          </a:bodyPr>
          <a:lstStyle/>
          <a:p>
            <a:r>
              <a:rPr lang="en-US" sz="2800" b="1" dirty="0">
                <a:latin typeface="Times New Roman" panose="02020603050405020304" pitchFamily="18" charset="0"/>
                <a:cs typeface="B Nazanin" panose="00000400000000000000" pitchFamily="2" charset="-78"/>
              </a:rPr>
              <a:t>Area scaling factor</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87D3D88-71DB-3289-1B8E-49C4DF3342B0}"/>
                  </a:ext>
                </a:extLst>
              </p:cNvPr>
              <p:cNvSpPr txBox="1"/>
              <p:nvPr/>
            </p:nvSpPr>
            <p:spPr>
              <a:xfrm>
                <a:off x="-172278" y="1447357"/>
                <a:ext cx="12077900" cy="4893647"/>
              </a:xfrm>
              <a:prstGeom prst="rect">
                <a:avLst/>
              </a:prstGeom>
              <a:noFill/>
            </p:spPr>
            <p:txBody>
              <a:bodyPr wrap="square">
                <a:spAutoFit/>
              </a:bodyPr>
              <a:lstStyle/>
              <a:p>
                <a:pPr marR="0" lvl="0" algn="r" defTabSz="914400" rtl="1" eaLnBrk="1" fontAlgn="auto" latinLnBrk="0" hangingPunct="1">
                  <a:lnSpc>
                    <a:spcPct val="150000"/>
                  </a:lnSpc>
                  <a:spcBef>
                    <a:spcPts val="0"/>
                  </a:spcBef>
                  <a:spcAft>
                    <a:spcPts val="0"/>
                  </a:spcAft>
                  <a:buClrTx/>
                  <a:buSzTx/>
                  <a:tabLst/>
                  <a:defRPr/>
                </a:pPr>
                <a:r>
                  <a:rPr kumimoji="0" lang="fa-IR" sz="24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rPr>
                  <a:t>در فلوسایتومتری هر event به شکل یک پالس الکتریکی ثبت می‌شود. برای هر پالس سه پارامتر قابل اندازه‌گیری است:</a:t>
                </a:r>
              </a:p>
              <a:p>
                <a:pPr marR="0" lvl="0" algn="r" defTabSz="914400" rtl="1" eaLnBrk="1" fontAlgn="auto" latinLnBrk="0" hangingPunct="1">
                  <a:lnSpc>
                    <a:spcPct val="150000"/>
                  </a:lnSpc>
                  <a:spcBef>
                    <a:spcPts val="0"/>
                  </a:spcBef>
                  <a:spcAft>
                    <a:spcPts val="0"/>
                  </a:spcAft>
                  <a:buClrTx/>
                  <a:buSzTx/>
                  <a:tabLst/>
                  <a:defRPr/>
                </a:pPr>
                <a:endParaRPr kumimoji="0" lang="fa-IR" sz="24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endParaRPr>
              </a:p>
              <a:p>
                <a:pPr marL="0" marR="0" lvl="0" indent="0" algn="r" defTabSz="914400" rtl="1" eaLnBrk="1" fontAlgn="auto" latinLnBrk="0" hangingPunct="1">
                  <a:lnSpc>
                    <a:spcPct val="150000"/>
                  </a:lnSpc>
                  <a:spcBef>
                    <a:spcPts val="0"/>
                  </a:spcBef>
                  <a:spcAft>
                    <a:spcPts val="0"/>
                  </a:spcAft>
                  <a:buClrTx/>
                  <a:buSzTx/>
                  <a:tabLst/>
                  <a:defRPr/>
                </a:pPr>
                <a:r>
                  <a:rPr kumimoji="0" lang="fa-IR" sz="24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rPr>
                  <a:t>Height (H) → ارتفاع پالس</a:t>
                </a:r>
              </a:p>
              <a:p>
                <a:pPr marL="0" marR="0" lvl="0" indent="0" algn="r" defTabSz="914400" rtl="1" eaLnBrk="1" fontAlgn="auto" latinLnBrk="0" hangingPunct="1">
                  <a:lnSpc>
                    <a:spcPct val="150000"/>
                  </a:lnSpc>
                  <a:spcBef>
                    <a:spcPts val="0"/>
                  </a:spcBef>
                  <a:spcAft>
                    <a:spcPts val="0"/>
                  </a:spcAft>
                  <a:buClrTx/>
                  <a:buSzTx/>
                  <a:tabLst/>
                  <a:defRPr/>
                </a:pPr>
                <a:r>
                  <a:rPr kumimoji="0" lang="fa-IR" sz="24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rPr>
                  <a:t>Area (A) → مساحت زیر پالس</a:t>
                </a:r>
              </a:p>
              <a:p>
                <a:pPr marL="0" marR="0" lvl="0" indent="0" algn="r" defTabSz="914400" rtl="1" eaLnBrk="1" fontAlgn="auto" latinLnBrk="0" hangingPunct="1">
                  <a:lnSpc>
                    <a:spcPct val="150000"/>
                  </a:lnSpc>
                  <a:spcBef>
                    <a:spcPts val="0"/>
                  </a:spcBef>
                  <a:spcAft>
                    <a:spcPts val="0"/>
                  </a:spcAft>
                  <a:buClrTx/>
                  <a:buSzTx/>
                  <a:tabLst/>
                  <a:defRPr/>
                </a:pPr>
                <a:r>
                  <a:rPr kumimoji="0" lang="fa-IR" sz="24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rPr>
                  <a:t>Width (W) → مدت زمان پالس</a:t>
                </a:r>
                <a:endParaRPr kumimoji="0" lang="fa-IR" sz="1800" b="0" i="1" u="none" strike="noStrike" kern="1200" cap="none" spc="0" normalizeH="0" noProof="0" dirty="0">
                  <a:ln>
                    <a:noFill/>
                  </a:ln>
                  <a:solidFill>
                    <a:prstClr val="black"/>
                  </a:solidFill>
                  <a:effectLst/>
                  <a:uLnTx/>
                  <a:uFillTx/>
                  <a:latin typeface="Cambria Math" panose="02040503050406030204" pitchFamily="18" charset="0"/>
                  <a:ea typeface="+mn-ea"/>
                </a:endParaRPr>
              </a:p>
              <a:p>
                <a:pPr marR="0" lvl="0" algn="r" defTabSz="914400" rtl="0" eaLnBrk="1" fontAlgn="auto" latinLnBrk="0" hangingPunct="1">
                  <a:lnSpc>
                    <a:spcPct val="150000"/>
                  </a:lnSpc>
                  <a:spcBef>
                    <a:spcPts val="0"/>
                  </a:spcBef>
                  <a:spcAft>
                    <a:spcPts val="0"/>
                  </a:spcAft>
                  <a:buClrTx/>
                  <a:buSzTx/>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noProof="0" smtClean="0">
                          <a:ln>
                            <a:noFill/>
                          </a:ln>
                          <a:solidFill>
                            <a:prstClr val="black"/>
                          </a:solidFill>
                          <a:effectLst/>
                          <a:uLnTx/>
                          <a:uFillTx/>
                          <a:latin typeface="Cambria Math" panose="02040503050406030204" pitchFamily="18" charset="0"/>
                          <a:ea typeface="+mn-ea"/>
                        </a:rPr>
                        <m:t>𝑨𝒓𝒆𝒂</m:t>
                      </m:r>
                      <m:r>
                        <a:rPr kumimoji="0" lang="en-US" sz="2400" b="1" i="0" u="none" strike="noStrike" kern="1200" cap="none" spc="0" normalizeH="0" noProof="0" smtClean="0">
                          <a:ln>
                            <a:noFill/>
                          </a:ln>
                          <a:solidFill>
                            <a:prstClr val="black"/>
                          </a:solidFill>
                          <a:effectLst/>
                          <a:uLnTx/>
                          <a:uFillTx/>
                          <a:latin typeface="Cambria Math" panose="02040503050406030204" pitchFamily="18" charset="0"/>
                          <a:ea typeface="+mn-ea"/>
                        </a:rPr>
                        <m:t>≈</m:t>
                      </m:r>
                      <m:r>
                        <a:rPr kumimoji="0" lang="en-US" sz="2400" b="1" i="1" u="none" strike="noStrike" kern="1200" cap="none" spc="0" normalizeH="0" noProof="0" smtClean="0">
                          <a:ln>
                            <a:noFill/>
                          </a:ln>
                          <a:solidFill>
                            <a:prstClr val="black"/>
                          </a:solidFill>
                          <a:effectLst/>
                          <a:uLnTx/>
                          <a:uFillTx/>
                          <a:latin typeface="Cambria Math" panose="02040503050406030204" pitchFamily="18" charset="0"/>
                          <a:ea typeface="+mn-ea"/>
                        </a:rPr>
                        <m:t>𝑯𝒆𝒊𝒈𝒉𝒕</m:t>
                      </m:r>
                      <m:r>
                        <a:rPr kumimoji="0" lang="en-US" sz="2400" b="1" i="0" u="none" strike="noStrike" kern="1200" cap="none" spc="0" normalizeH="0" noProof="0" smtClean="0">
                          <a:ln>
                            <a:noFill/>
                          </a:ln>
                          <a:solidFill>
                            <a:prstClr val="black"/>
                          </a:solidFill>
                          <a:effectLst/>
                          <a:uLnTx/>
                          <a:uFillTx/>
                          <a:latin typeface="Cambria Math" panose="02040503050406030204" pitchFamily="18" charset="0"/>
                          <a:ea typeface="+mn-ea"/>
                        </a:rPr>
                        <m:t>×</m:t>
                      </m:r>
                      <m:r>
                        <a:rPr kumimoji="0" lang="en-US" sz="2400" b="1" i="1" u="none" strike="noStrike" kern="1200" cap="none" spc="0" normalizeH="0" noProof="0" smtClean="0">
                          <a:ln>
                            <a:noFill/>
                          </a:ln>
                          <a:solidFill>
                            <a:prstClr val="black"/>
                          </a:solidFill>
                          <a:effectLst/>
                          <a:uLnTx/>
                          <a:uFillTx/>
                          <a:latin typeface="Cambria Math" panose="02040503050406030204" pitchFamily="18" charset="0"/>
                          <a:ea typeface="+mn-ea"/>
                        </a:rPr>
                        <m:t>𝑾𝒊𝒅𝒕𝒉</m:t>
                      </m:r>
                    </m:oMath>
                  </m:oMathPara>
                </a14:m>
                <a:endParaRPr kumimoji="0" lang="fa-IR" sz="2400" b="1"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endParaRPr>
              </a:p>
              <a:p>
                <a:pPr marR="0" lvl="0" algn="r" defTabSz="914400" rtl="0" eaLnBrk="1" fontAlgn="auto" latinLnBrk="0" hangingPunct="1">
                  <a:lnSpc>
                    <a:spcPct val="150000"/>
                  </a:lnSpc>
                  <a:spcBef>
                    <a:spcPts val="0"/>
                  </a:spcBef>
                  <a:spcAft>
                    <a:spcPts val="0"/>
                  </a:spcAft>
                  <a:buClrTx/>
                  <a:buSzTx/>
                  <a:tabLst/>
                  <a:defRPr/>
                </a:pPr>
                <a:endParaRPr kumimoji="0" lang="en-US" sz="18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endParaRPr>
              </a:p>
              <a:p>
                <a:pPr marR="0" lvl="0" algn="r" defTabSz="914400" rtl="1" eaLnBrk="1" fontAlgn="auto" latinLnBrk="0" hangingPunct="1">
                  <a:lnSpc>
                    <a:spcPct val="150000"/>
                  </a:lnSpc>
                  <a:spcBef>
                    <a:spcPts val="0"/>
                  </a:spcBef>
                  <a:spcAft>
                    <a:spcPts val="0"/>
                  </a:spcAft>
                  <a:buClrTx/>
                  <a:buSzTx/>
                  <a:tabLst/>
                  <a:defRPr/>
                </a:pPr>
                <a:r>
                  <a:rPr kumimoji="0" lang="fa-IR" sz="2400" i="0" u="none" strike="noStrike" kern="1200" cap="none" spc="0" normalizeH="0" noProof="0" dirty="0">
                    <a:ln>
                      <a:noFill/>
                    </a:ln>
                    <a:solidFill>
                      <a:prstClr val="black"/>
                    </a:solidFill>
                    <a:effectLst/>
                    <a:uLnTx/>
                    <a:uFillTx/>
                    <a:latin typeface="Times New Roman" panose="02020603050405020304" pitchFamily="18" charset="0"/>
                    <a:ea typeface="+mn-ea"/>
                    <a:cs typeface="B Nazanin" panose="00000400000000000000" pitchFamily="2" charset="-78"/>
                  </a:rPr>
                  <a:t>اما در عمل، سیستم دیجیتال ممکن است area را دقیقاً با این نسبت ثبت نکند. برای اصلاح این موضوع از Area Scaling Factor استفاده می‌شود.</a:t>
                </a:r>
              </a:p>
            </p:txBody>
          </p:sp>
        </mc:Choice>
        <mc:Fallback>
          <p:sp>
            <p:nvSpPr>
              <p:cNvPr id="6" name="TextBox 5">
                <a:extLst>
                  <a:ext uri="{FF2B5EF4-FFF2-40B4-BE49-F238E27FC236}">
                    <a16:creationId xmlns:a16="http://schemas.microsoft.com/office/drawing/2014/main" id="{887D3D88-71DB-3289-1B8E-49C4DF3342B0}"/>
                  </a:ext>
                </a:extLst>
              </p:cNvPr>
              <p:cNvSpPr txBox="1">
                <a:spLocks noRot="1" noChangeAspect="1" noMove="1" noResize="1" noEditPoints="1" noAdjustHandles="1" noChangeArrowheads="1" noChangeShapeType="1" noTextEdit="1"/>
              </p:cNvSpPr>
              <p:nvPr/>
            </p:nvSpPr>
            <p:spPr>
              <a:xfrm>
                <a:off x="-172278" y="1447357"/>
                <a:ext cx="12077900" cy="4893647"/>
              </a:xfrm>
              <a:prstGeom prst="rect">
                <a:avLst/>
              </a:prstGeom>
              <a:blipFill>
                <a:blip r:embed="rId2"/>
                <a:stretch>
                  <a:fillRect r="-808" b="-2242"/>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A46B8D28-A4EA-AC2C-2967-8C62566F374D}"/>
              </a:ext>
            </a:extLst>
          </p:cNvPr>
          <p:cNvSpPr>
            <a:spLocks noGrp="1"/>
          </p:cNvSpPr>
          <p:nvPr>
            <p:ph type="sldNum" sz="quarter" idx="12"/>
          </p:nvPr>
        </p:nvSpPr>
        <p:spPr/>
        <p:txBody>
          <a:bodyPr/>
          <a:lstStyle/>
          <a:p>
            <a:fld id="{111A70C6-53E1-4616-9BEB-862F2340207D}" type="slidenum">
              <a:rPr lang="en-US" smtClean="0"/>
              <a:t>24</a:t>
            </a:fld>
            <a:endParaRPr lang="en-US"/>
          </a:p>
        </p:txBody>
      </p:sp>
    </p:spTree>
    <p:extLst>
      <p:ext uri="{BB962C8B-B14F-4D97-AF65-F5344CB8AC3E}">
        <p14:creationId xmlns:p14="http://schemas.microsoft.com/office/powerpoint/2010/main" val="12675366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14E3A5-6B05-6EFA-6613-8066BF04ECE5}"/>
              </a:ext>
            </a:extLst>
          </p:cNvPr>
          <p:cNvPicPr>
            <a:picLocks noChangeAspect="1"/>
          </p:cNvPicPr>
          <p:nvPr/>
        </p:nvPicPr>
        <p:blipFill>
          <a:blip r:embed="rId2">
            <a:extLst>
              <a:ext uri="{28A0092B-C50C-407E-A947-70E740481C1C}">
                <a14:useLocalDpi xmlns:a14="http://schemas.microsoft.com/office/drawing/2010/main" val="0"/>
              </a:ext>
            </a:extLst>
          </a:blip>
          <a:srcRect r="44755"/>
          <a:stretch>
            <a:fillRect/>
          </a:stretch>
        </p:blipFill>
        <p:spPr>
          <a:xfrm>
            <a:off x="2794000" y="582717"/>
            <a:ext cx="6019800" cy="6124366"/>
          </a:xfrm>
          <a:prstGeom prst="rect">
            <a:avLst/>
          </a:prstGeom>
        </p:spPr>
      </p:pic>
      <p:sp>
        <p:nvSpPr>
          <p:cNvPr id="4" name="Slide Number Placeholder 3">
            <a:extLst>
              <a:ext uri="{FF2B5EF4-FFF2-40B4-BE49-F238E27FC236}">
                <a16:creationId xmlns:a16="http://schemas.microsoft.com/office/drawing/2014/main" id="{6A2CFB6C-20A0-98AE-B48B-67CD9D970DBC}"/>
              </a:ext>
            </a:extLst>
          </p:cNvPr>
          <p:cNvSpPr>
            <a:spLocks noGrp="1"/>
          </p:cNvSpPr>
          <p:nvPr>
            <p:ph type="sldNum" sz="quarter" idx="12"/>
          </p:nvPr>
        </p:nvSpPr>
        <p:spPr/>
        <p:txBody>
          <a:bodyPr/>
          <a:lstStyle/>
          <a:p>
            <a:fld id="{111A70C6-53E1-4616-9BEB-862F2340207D}" type="slidenum">
              <a:rPr lang="en-US" smtClean="0"/>
              <a:t>25</a:t>
            </a:fld>
            <a:endParaRPr lang="en-US"/>
          </a:p>
        </p:txBody>
      </p:sp>
    </p:spTree>
    <p:extLst>
      <p:ext uri="{BB962C8B-B14F-4D97-AF65-F5344CB8AC3E}">
        <p14:creationId xmlns:p14="http://schemas.microsoft.com/office/powerpoint/2010/main" val="1291477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ABFCA5-7B2C-CD56-43C8-0CE1A081A4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700" y="295437"/>
            <a:ext cx="11150600" cy="6267126"/>
          </a:xfrm>
          <a:prstGeom prst="rect">
            <a:avLst/>
          </a:prstGeom>
        </p:spPr>
      </p:pic>
      <p:sp>
        <p:nvSpPr>
          <p:cNvPr id="4" name="Slide Number Placeholder 3">
            <a:extLst>
              <a:ext uri="{FF2B5EF4-FFF2-40B4-BE49-F238E27FC236}">
                <a16:creationId xmlns:a16="http://schemas.microsoft.com/office/drawing/2014/main" id="{8C5B4536-9B17-8C96-4A25-8561234A54AD}"/>
              </a:ext>
            </a:extLst>
          </p:cNvPr>
          <p:cNvSpPr>
            <a:spLocks noGrp="1"/>
          </p:cNvSpPr>
          <p:nvPr>
            <p:ph type="sldNum" sz="quarter" idx="12"/>
          </p:nvPr>
        </p:nvSpPr>
        <p:spPr/>
        <p:txBody>
          <a:bodyPr/>
          <a:lstStyle/>
          <a:p>
            <a:fld id="{111A70C6-53E1-4616-9BEB-862F2340207D}" type="slidenum">
              <a:rPr lang="en-US" smtClean="0"/>
              <a:t>26</a:t>
            </a:fld>
            <a:endParaRPr lang="en-US"/>
          </a:p>
        </p:txBody>
      </p:sp>
    </p:spTree>
    <p:extLst>
      <p:ext uri="{BB962C8B-B14F-4D97-AF65-F5344CB8AC3E}">
        <p14:creationId xmlns:p14="http://schemas.microsoft.com/office/powerpoint/2010/main" val="3260420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12EF2E-5748-1DB2-122C-8941E193690D}"/>
              </a:ext>
            </a:extLst>
          </p:cNvPr>
          <p:cNvSpPr txBox="1"/>
          <p:nvPr/>
        </p:nvSpPr>
        <p:spPr>
          <a:xfrm>
            <a:off x="119270" y="328565"/>
            <a:ext cx="11729830" cy="6140142"/>
          </a:xfrm>
          <a:prstGeom prst="rect">
            <a:avLst/>
          </a:prstGeom>
          <a:noFill/>
        </p:spPr>
        <p:txBody>
          <a:bodyPr wrap="square">
            <a:spAutoFit/>
          </a:bodyPr>
          <a:lstStyle/>
          <a:p>
            <a:pPr algn="r" rtl="1">
              <a:lnSpc>
                <a:spcPct val="150000"/>
              </a:lnSpc>
            </a:pPr>
            <a:r>
              <a:rPr lang="fa-IR" sz="2400" b="1" dirty="0">
                <a:latin typeface="Times New Roman" panose="02020603050405020304" pitchFamily="18" charset="0"/>
                <a:cs typeface="B Nazanin" panose="00000400000000000000" pitchFamily="2" charset="-78"/>
              </a:rPr>
              <a:t>Laser delay </a:t>
            </a:r>
            <a:endParaRPr lang="en-US" sz="2400" b="1" dirty="0">
              <a:latin typeface="Times New Roman" panose="02020603050405020304" pitchFamily="18" charset="0"/>
              <a:cs typeface="B Nazanin" panose="00000400000000000000" pitchFamily="2" charset="-78"/>
            </a:endParaRPr>
          </a:p>
          <a:p>
            <a:pPr algn="r" rtl="1">
              <a:lnSpc>
                <a:spcPct val="150000"/>
              </a:lnSpc>
            </a:pPr>
            <a:r>
              <a:rPr lang="fa-IR" sz="2400" dirty="0">
                <a:latin typeface="Times New Roman" panose="02020603050405020304" pitchFamily="18" charset="0"/>
                <a:cs typeface="B Nazanin" panose="00000400000000000000" pitchFamily="2" charset="-78"/>
              </a:rPr>
              <a:t>در فلوسایتومتری مربوط به هماهنگ کردن زمان ثبت سیگنال‌ها بین لیزرهای مختلف است.</a:t>
            </a:r>
          </a:p>
          <a:p>
            <a:pPr algn="just" rtl="1">
              <a:lnSpc>
                <a:spcPct val="150000"/>
              </a:lnSpc>
            </a:pPr>
            <a:r>
              <a:rPr lang="fa-IR" sz="2400" dirty="0">
                <a:latin typeface="Times New Roman" panose="02020603050405020304" pitchFamily="18" charset="0"/>
                <a:cs typeface="B Nazanin" panose="00000400000000000000" pitchFamily="2" charset="-78"/>
              </a:rPr>
              <a:t>در دستگاه‌های چندلیزری سلول هنگام عبور از جریان، همزمان توسط همه لیزرها تحریک نمی‌شود. سلول ابتدا از مقابل یک لیزر عبور می‌کند و بعد چند میکرومتر جلوتر به لیزر بعدی می‌رسد. بنابراین سیگنال‌های تولید شده </a:t>
            </a:r>
            <a:r>
              <a:rPr lang="fa-IR" sz="2400" u="sng" dirty="0">
                <a:latin typeface="Times New Roman" panose="02020603050405020304" pitchFamily="18" charset="0"/>
                <a:cs typeface="B Nazanin" panose="00000400000000000000" pitchFamily="2" charset="-78"/>
              </a:rPr>
              <a:t>در زمان‌های کمی متفاوت </a:t>
            </a:r>
            <a:r>
              <a:rPr lang="fa-IR" sz="2400" dirty="0">
                <a:latin typeface="Times New Roman" panose="02020603050405020304" pitchFamily="18" charset="0"/>
                <a:cs typeface="B Nazanin" panose="00000400000000000000" pitchFamily="2" charset="-78"/>
              </a:rPr>
              <a:t>ثبت می‌شوند.</a:t>
            </a:r>
          </a:p>
          <a:p>
            <a:pPr algn="r" rtl="1">
              <a:lnSpc>
                <a:spcPct val="150000"/>
              </a:lnSpc>
            </a:pPr>
            <a:endParaRPr lang="fa-IR" sz="2400" dirty="0">
              <a:latin typeface="Times New Roman" panose="02020603050405020304" pitchFamily="18" charset="0"/>
              <a:cs typeface="B Nazanin" panose="00000400000000000000" pitchFamily="2" charset="-78"/>
            </a:endParaRPr>
          </a:p>
          <a:p>
            <a:pPr algn="r" rtl="1">
              <a:lnSpc>
                <a:spcPct val="150000"/>
              </a:lnSpc>
            </a:pPr>
            <a:r>
              <a:rPr lang="fa-IR" sz="2400" b="1" dirty="0">
                <a:latin typeface="Times New Roman" panose="02020603050405020304" pitchFamily="18" charset="0"/>
                <a:cs typeface="B Nazanin" panose="00000400000000000000" pitchFamily="2" charset="-78"/>
              </a:rPr>
              <a:t>مشکل بدون Laser Delay: </a:t>
            </a:r>
          </a:p>
          <a:p>
            <a:pPr algn="r" rtl="1">
              <a:lnSpc>
                <a:spcPct val="150000"/>
              </a:lnSpc>
            </a:pPr>
            <a:r>
              <a:rPr lang="fa-IR" sz="2400" dirty="0">
                <a:latin typeface="Times New Roman" panose="02020603050405020304" pitchFamily="18" charset="0"/>
                <a:cs typeface="B Nazanin" panose="00000400000000000000" pitchFamily="2" charset="-78"/>
              </a:rPr>
              <a:t>اگر سیستم ثبت داده این اختلاف زمانی را اصلاح نکند:</a:t>
            </a:r>
          </a:p>
          <a:p>
            <a:pPr algn="r" rtl="1">
              <a:lnSpc>
                <a:spcPct val="150000"/>
              </a:lnSpc>
            </a:pPr>
            <a:r>
              <a:rPr lang="fa-IR" sz="2400" dirty="0">
                <a:latin typeface="Times New Roman" panose="02020603050405020304" pitchFamily="18" charset="0"/>
                <a:cs typeface="B Nazanin" panose="00000400000000000000" pitchFamily="2" charset="-78"/>
              </a:rPr>
              <a:t>سیگنال FITC (مثلاً از لیزر 488)</a:t>
            </a:r>
          </a:p>
          <a:p>
            <a:pPr algn="r" rtl="1">
              <a:lnSpc>
                <a:spcPct val="150000"/>
              </a:lnSpc>
            </a:pPr>
            <a:r>
              <a:rPr lang="fa-IR" sz="2400" dirty="0">
                <a:latin typeface="Times New Roman" panose="02020603050405020304" pitchFamily="18" charset="0"/>
                <a:cs typeface="B Nazanin" panose="00000400000000000000" pitchFamily="2" charset="-78"/>
              </a:rPr>
              <a:t>سیگنال APC (از لیزر 640)</a:t>
            </a:r>
          </a:p>
          <a:p>
            <a:pPr algn="r" rtl="1">
              <a:lnSpc>
                <a:spcPct val="150000"/>
              </a:lnSpc>
            </a:pPr>
            <a:r>
              <a:rPr lang="fa-IR" sz="2400" dirty="0">
                <a:latin typeface="Times New Roman" panose="02020603050405020304" pitchFamily="18" charset="0"/>
                <a:cs typeface="B Nazanin" panose="00000400000000000000" pitchFamily="2" charset="-78"/>
              </a:rPr>
              <a:t>ممکن است به دو سلول مختلف نسبت داده شوند.</a:t>
            </a:r>
          </a:p>
        </p:txBody>
      </p:sp>
      <p:sp>
        <p:nvSpPr>
          <p:cNvPr id="4" name="Slide Number Placeholder 3">
            <a:extLst>
              <a:ext uri="{FF2B5EF4-FFF2-40B4-BE49-F238E27FC236}">
                <a16:creationId xmlns:a16="http://schemas.microsoft.com/office/drawing/2014/main" id="{07EBCEC8-E4C2-E07A-F4F1-490837F63F7D}"/>
              </a:ext>
            </a:extLst>
          </p:cNvPr>
          <p:cNvSpPr>
            <a:spLocks noGrp="1"/>
          </p:cNvSpPr>
          <p:nvPr>
            <p:ph type="sldNum" sz="quarter" idx="12"/>
          </p:nvPr>
        </p:nvSpPr>
        <p:spPr/>
        <p:txBody>
          <a:bodyPr/>
          <a:lstStyle/>
          <a:p>
            <a:fld id="{111A70C6-53E1-4616-9BEB-862F2340207D}" type="slidenum">
              <a:rPr lang="en-US" smtClean="0"/>
              <a:t>27</a:t>
            </a:fld>
            <a:endParaRPr lang="en-US"/>
          </a:p>
        </p:txBody>
      </p:sp>
    </p:spTree>
    <p:extLst>
      <p:ext uri="{BB962C8B-B14F-4D97-AF65-F5344CB8AC3E}">
        <p14:creationId xmlns:p14="http://schemas.microsoft.com/office/powerpoint/2010/main" val="1189205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DCFE59-5FF7-1F18-C24B-7978DC54D192}"/>
              </a:ext>
            </a:extLst>
          </p:cNvPr>
          <p:cNvSpPr txBox="1"/>
          <p:nvPr/>
        </p:nvSpPr>
        <p:spPr>
          <a:xfrm>
            <a:off x="97133" y="179410"/>
            <a:ext cx="60960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ABC = Antibody Binding Capacity</a:t>
            </a:r>
          </a:p>
        </p:txBody>
      </p:sp>
      <p:sp>
        <p:nvSpPr>
          <p:cNvPr id="5" name="TextBox 4">
            <a:extLst>
              <a:ext uri="{FF2B5EF4-FFF2-40B4-BE49-F238E27FC236}">
                <a16:creationId xmlns:a16="http://schemas.microsoft.com/office/drawing/2014/main" id="{F550F0C4-89A3-58B8-D4D1-DD831073C2D4}"/>
              </a:ext>
            </a:extLst>
          </p:cNvPr>
          <p:cNvSpPr txBox="1"/>
          <p:nvPr/>
        </p:nvSpPr>
        <p:spPr>
          <a:xfrm>
            <a:off x="3436681" y="1133113"/>
            <a:ext cx="8561197" cy="3370153"/>
          </a:xfrm>
          <a:prstGeom prst="rect">
            <a:avLst/>
          </a:prstGeom>
          <a:noFill/>
        </p:spPr>
        <p:txBody>
          <a:bodyPr wrap="square">
            <a:spAutoFit/>
          </a:bodyPr>
          <a:lstStyle/>
          <a:p>
            <a:pPr algn="r" rtl="1">
              <a:lnSpc>
                <a:spcPct val="150000"/>
              </a:lnSpc>
              <a:buNone/>
            </a:pPr>
            <a:r>
              <a:rPr lang="fa-IR" sz="2400" dirty="0">
                <a:latin typeface="Times New Roman" panose="02020603050405020304" pitchFamily="18" charset="0"/>
                <a:cs typeface="B Nazanin" panose="00000400000000000000" pitchFamily="2" charset="-78"/>
              </a:rPr>
              <a:t>این پارامتر در فلوسایتومتری کمی (quantitative flow cytometry) استفاده می‌شود، مثل:</a:t>
            </a:r>
          </a:p>
          <a:p>
            <a:pPr algn="r" rtl="1">
              <a:lnSpc>
                <a:spcPct val="150000"/>
              </a:lnSpc>
              <a:buFont typeface="Arial" panose="020B0604020202020204" pitchFamily="34" charset="0"/>
              <a:buChar char="•"/>
            </a:pPr>
            <a:r>
              <a:rPr lang="fa-IR" sz="2400" dirty="0">
                <a:latin typeface="Times New Roman" panose="02020603050405020304" pitchFamily="18" charset="0"/>
                <a:cs typeface="B Nazanin" panose="00000400000000000000" pitchFamily="2" charset="-78"/>
              </a:rPr>
              <a:t>اندازه‌گیری تعداد واقعی گیرنده‌های سطحی سلول</a:t>
            </a:r>
          </a:p>
          <a:p>
            <a:pPr algn="r" rtl="1">
              <a:lnSpc>
                <a:spcPct val="150000"/>
              </a:lnSpc>
              <a:buFont typeface="Arial" panose="020B0604020202020204" pitchFamily="34" charset="0"/>
              <a:buChar char="•"/>
            </a:pPr>
            <a:r>
              <a:rPr lang="fa-IR" sz="2400" dirty="0">
                <a:latin typeface="Times New Roman" panose="02020603050405020304" pitchFamily="18" charset="0"/>
                <a:cs typeface="B Nazanin" panose="00000400000000000000" pitchFamily="2" charset="-78"/>
              </a:rPr>
              <a:t>مقایسه بیان مارکرها بین بیماران</a:t>
            </a:r>
          </a:p>
          <a:p>
            <a:pPr algn="r" rtl="1">
              <a:lnSpc>
                <a:spcPct val="150000"/>
              </a:lnSpc>
              <a:buFont typeface="Arial" panose="020B0604020202020204" pitchFamily="34" charset="0"/>
              <a:buChar char="•"/>
            </a:pPr>
            <a:r>
              <a:rPr lang="fa-IR" sz="2400" dirty="0">
                <a:latin typeface="Times New Roman" panose="02020603050405020304" pitchFamily="18" charset="0"/>
                <a:cs typeface="B Nazanin" panose="00000400000000000000" pitchFamily="2" charset="-78"/>
              </a:rPr>
              <a:t>پایش بیماری‌های خونی (مثلاً CD20 ، CD4)</a:t>
            </a:r>
          </a:p>
          <a:p>
            <a:pPr algn="r" rtl="1">
              <a:lnSpc>
                <a:spcPct val="150000"/>
              </a:lnSpc>
              <a:buFont typeface="Arial" panose="020B0604020202020204" pitchFamily="34" charset="0"/>
              <a:buChar char="•"/>
            </a:pPr>
            <a:r>
              <a:rPr lang="fa-IR" sz="2400" dirty="0">
                <a:latin typeface="Times New Roman" panose="02020603050405020304" pitchFamily="18" charset="0"/>
                <a:cs typeface="B Nazanin" panose="00000400000000000000" pitchFamily="2" charset="-78"/>
              </a:rPr>
              <a:t>استانداردسازی بین آزمایشگاه‌ها</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983B159-0C9A-701C-F3DE-B26C0705EF30}"/>
                  </a:ext>
                </a:extLst>
              </p:cNvPr>
              <p:cNvSpPr txBox="1"/>
              <p:nvPr/>
            </p:nvSpPr>
            <p:spPr>
              <a:xfrm>
                <a:off x="-1711062" y="3028429"/>
                <a:ext cx="8299938" cy="3386568"/>
              </a:xfrm>
              <a:prstGeom prst="rect">
                <a:avLst/>
              </a:prstGeom>
              <a:noFill/>
            </p:spPr>
            <p:txBody>
              <a:bodyPr wrap="square">
                <a:spAutoFit/>
              </a:bodyPr>
              <a:lstStyle/>
              <a:p>
                <a:pPr algn="r" rtl="1">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𝐴𝐵𝐶</m:t>
                      </m:r>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𝑀𝐸𝑆𝐹</m:t>
                          </m:r>
                        </m:num>
                        <m:den>
                          <m:r>
                            <a:rPr lang="en-US" sz="2400" i="1">
                              <a:latin typeface="Cambria Math" panose="02040503050406030204" pitchFamily="18" charset="0"/>
                            </a:rPr>
                            <m:t>𝐹</m:t>
                          </m:r>
                          <m:r>
                            <a:rPr lang="en-US" sz="2400" i="0">
                              <a:latin typeface="Cambria Math" panose="02040503050406030204" pitchFamily="18" charset="0"/>
                            </a:rPr>
                            <m:t>/</m:t>
                          </m:r>
                          <m:r>
                            <a:rPr lang="en-US" sz="2400" i="1">
                              <a:latin typeface="Cambria Math" panose="02040503050406030204" pitchFamily="18" charset="0"/>
                            </a:rPr>
                            <m:t>𝑃</m:t>
                          </m:r>
                        </m:den>
                      </m:f>
                    </m:oMath>
                  </m:oMathPara>
                </a14:m>
                <a:endParaRPr lang="en-US" sz="2400" dirty="0">
                  <a:latin typeface="Times New Roman" panose="02020603050405020304" pitchFamily="18" charset="0"/>
                  <a:cs typeface="B Nazanin" panose="00000400000000000000" pitchFamily="2" charset="-78"/>
                </a:endParaRPr>
              </a:p>
              <a:p>
                <a:pPr algn="r" rtl="1">
                  <a:buNone/>
                </a:pPr>
                <a:endParaRPr lang="en-US" sz="2400" dirty="0">
                  <a:latin typeface="Times New Roman" panose="02020603050405020304" pitchFamily="18" charset="0"/>
                  <a:cs typeface="B Nazanin" panose="00000400000000000000" pitchFamily="2" charset="-78"/>
                </a:endParaRPr>
              </a:p>
              <a:p>
                <a:pPr algn="r" rtl="1">
                  <a:buNone/>
                </a:pPr>
                <a:endParaRPr lang="en-US" sz="2400" dirty="0">
                  <a:latin typeface="Times New Roman" panose="02020603050405020304" pitchFamily="18" charset="0"/>
                  <a:cs typeface="B Nazanin" panose="00000400000000000000" pitchFamily="2" charset="-78"/>
                </a:endParaRPr>
              </a:p>
              <a:p>
                <a:pPr algn="r" rtl="1">
                  <a:buNone/>
                </a:pPr>
                <a:endParaRPr lang="en-US" sz="2400" dirty="0">
                  <a:latin typeface="Times New Roman" panose="02020603050405020304" pitchFamily="18" charset="0"/>
                  <a:cs typeface="B Nazanin" panose="00000400000000000000" pitchFamily="2" charset="-78"/>
                </a:endParaRPr>
              </a:p>
              <a:p>
                <a:pPr algn="r" rtl="1">
                  <a:buNone/>
                </a:pPr>
                <a:endParaRPr lang="en-US" sz="2400" dirty="0">
                  <a:latin typeface="Times New Roman" panose="02020603050405020304" pitchFamily="18" charset="0"/>
                  <a:cs typeface="B Nazanin" panose="00000400000000000000" pitchFamily="2" charset="-78"/>
                </a:endParaRPr>
              </a:p>
              <a:p>
                <a:pPr algn="r" rtl="1">
                  <a:buNone/>
                </a:pPr>
                <a:r>
                  <a:rPr lang="fa-IR" sz="2400" dirty="0">
                    <a:latin typeface="Times New Roman" panose="02020603050405020304" pitchFamily="18" charset="0"/>
                    <a:cs typeface="B Nazanin" panose="00000400000000000000" pitchFamily="2" charset="-78"/>
                  </a:rPr>
                  <a:t>مثال:</a:t>
                </a:r>
              </a:p>
              <a:p>
                <a:pPr algn="r" rtl="1">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𝐴𝐵𝐶</m:t>
                      </m:r>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20000</m:t>
                          </m:r>
                        </m:num>
                        <m:den>
                          <m:r>
                            <a:rPr lang="en-US" sz="2400" i="0">
                              <a:latin typeface="Cambria Math" panose="02040503050406030204" pitchFamily="18" charset="0"/>
                            </a:rPr>
                            <m:t>4</m:t>
                          </m:r>
                        </m:den>
                      </m:f>
                      <m:r>
                        <a:rPr lang="en-US" sz="2400" i="0">
                          <a:latin typeface="Cambria Math" panose="02040503050406030204" pitchFamily="18" charset="0"/>
                        </a:rPr>
                        <m:t>=</m:t>
                      </m:r>
                      <m:r>
                        <a:rPr lang="en-US" sz="2400" i="0">
                          <a:latin typeface="Cambria Math" panose="02040503050406030204" pitchFamily="18" charset="0"/>
                        </a:rPr>
                        <m:t>5000</m:t>
                      </m:r>
                    </m:oMath>
                  </m:oMathPara>
                </a14:m>
                <a:endParaRPr lang="en-US" sz="2400" dirty="0">
                  <a:latin typeface="Times New Roman" panose="02020603050405020304" pitchFamily="18" charset="0"/>
                  <a:cs typeface="B Nazanin" panose="00000400000000000000" pitchFamily="2" charset="-78"/>
                </a:endParaRPr>
              </a:p>
            </p:txBody>
          </p:sp>
        </mc:Choice>
        <mc:Fallback>
          <p:sp>
            <p:nvSpPr>
              <p:cNvPr id="7" name="TextBox 6">
                <a:extLst>
                  <a:ext uri="{FF2B5EF4-FFF2-40B4-BE49-F238E27FC236}">
                    <a16:creationId xmlns:a16="http://schemas.microsoft.com/office/drawing/2014/main" id="{A983B159-0C9A-701C-F3DE-B26C0705EF30}"/>
                  </a:ext>
                </a:extLst>
              </p:cNvPr>
              <p:cNvSpPr txBox="1">
                <a:spLocks noRot="1" noChangeAspect="1" noMove="1" noResize="1" noEditPoints="1" noAdjustHandles="1" noChangeArrowheads="1" noChangeShapeType="1" noTextEdit="1"/>
              </p:cNvSpPr>
              <p:nvPr/>
            </p:nvSpPr>
            <p:spPr>
              <a:xfrm>
                <a:off x="-1711062" y="3028429"/>
                <a:ext cx="8299938" cy="3386568"/>
              </a:xfrm>
              <a:prstGeom prst="rect">
                <a:avLst/>
              </a:prstGeom>
              <a:blipFill>
                <a:blip r:embed="rId2"/>
                <a:stretch>
                  <a:fillRect r="-117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DA71808-CB12-FFC9-1EC0-CFD7A7EB3931}"/>
              </a:ext>
            </a:extLst>
          </p:cNvPr>
          <p:cNvSpPr txBox="1"/>
          <p:nvPr/>
        </p:nvSpPr>
        <p:spPr>
          <a:xfrm>
            <a:off x="310662" y="4166415"/>
            <a:ext cx="8299938" cy="461665"/>
          </a:xfrm>
          <a:prstGeom prst="rect">
            <a:avLst/>
          </a:prstGeom>
          <a:noFill/>
        </p:spPr>
        <p:txBody>
          <a:bodyPr wrap="square">
            <a:spAutoFit/>
          </a:bodyPr>
          <a:lstStyle/>
          <a:p>
            <a:pPr>
              <a:buNone/>
            </a:pPr>
            <a:r>
              <a:rPr lang="en-US" sz="2400" b="1" dirty="0"/>
              <a:t>F/P ratio (Fluorophore per antibody)</a:t>
            </a:r>
            <a:endParaRPr lang="en-US" sz="2400" dirty="0"/>
          </a:p>
        </p:txBody>
      </p:sp>
      <p:sp>
        <p:nvSpPr>
          <p:cNvPr id="2" name="Slide Number Placeholder 1">
            <a:extLst>
              <a:ext uri="{FF2B5EF4-FFF2-40B4-BE49-F238E27FC236}">
                <a16:creationId xmlns:a16="http://schemas.microsoft.com/office/drawing/2014/main" id="{B7965DE4-427E-2DED-E48A-8CBB3AB32256}"/>
              </a:ext>
            </a:extLst>
          </p:cNvPr>
          <p:cNvSpPr>
            <a:spLocks noGrp="1"/>
          </p:cNvSpPr>
          <p:nvPr>
            <p:ph type="sldNum" sz="quarter" idx="12"/>
          </p:nvPr>
        </p:nvSpPr>
        <p:spPr/>
        <p:txBody>
          <a:bodyPr/>
          <a:lstStyle/>
          <a:p>
            <a:fld id="{111A70C6-53E1-4616-9BEB-862F2340207D}" type="slidenum">
              <a:rPr lang="en-US" smtClean="0"/>
              <a:t>28</a:t>
            </a:fld>
            <a:endParaRPr lang="en-US"/>
          </a:p>
        </p:txBody>
      </p:sp>
    </p:spTree>
    <p:extLst>
      <p:ext uri="{BB962C8B-B14F-4D97-AF65-F5344CB8AC3E}">
        <p14:creationId xmlns:p14="http://schemas.microsoft.com/office/powerpoint/2010/main" val="4414527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A5477D-2E53-A122-0BE7-42C902954406}"/>
              </a:ext>
            </a:extLst>
          </p:cNvPr>
          <p:cNvSpPr>
            <a:spLocks noGrp="1"/>
          </p:cNvSpPr>
          <p:nvPr>
            <p:ph type="sldNum" sz="quarter" idx="12"/>
          </p:nvPr>
        </p:nvSpPr>
        <p:spPr/>
        <p:txBody>
          <a:bodyPr/>
          <a:lstStyle/>
          <a:p>
            <a:fld id="{111A70C6-53E1-4616-9BEB-862F2340207D}" type="slidenum">
              <a:rPr lang="en-US" smtClean="0"/>
              <a:t>29</a:t>
            </a:fld>
            <a:endParaRPr lang="en-US"/>
          </a:p>
        </p:txBody>
      </p:sp>
      <p:sp>
        <p:nvSpPr>
          <p:cNvPr id="4" name="TextBox 3">
            <a:extLst>
              <a:ext uri="{FF2B5EF4-FFF2-40B4-BE49-F238E27FC236}">
                <a16:creationId xmlns:a16="http://schemas.microsoft.com/office/drawing/2014/main" id="{9864964E-D5C0-69EE-3809-01408FC5E320}"/>
              </a:ext>
            </a:extLst>
          </p:cNvPr>
          <p:cNvSpPr txBox="1"/>
          <p:nvPr/>
        </p:nvSpPr>
        <p:spPr>
          <a:xfrm>
            <a:off x="397565" y="136525"/>
            <a:ext cx="11396869" cy="6140142"/>
          </a:xfrm>
          <a:prstGeom prst="rect">
            <a:avLst/>
          </a:prstGeom>
          <a:noFill/>
        </p:spPr>
        <p:txBody>
          <a:bodyPr wrap="square">
            <a:spAutoFit/>
          </a:bodyPr>
          <a:lstStyle/>
          <a:p>
            <a:pPr algn="r" rtl="1">
              <a:lnSpc>
                <a:spcPct val="150000"/>
              </a:lnSpc>
              <a:buNone/>
            </a:pPr>
            <a:r>
              <a:rPr lang="fa-IR" sz="2400" b="1" dirty="0">
                <a:latin typeface="Times New Roman" panose="02020603050405020304" pitchFamily="18" charset="0"/>
                <a:cs typeface="B Nazanin" panose="00000400000000000000" pitchFamily="2" charset="-78"/>
              </a:rPr>
              <a:t>چرا Linearity برای Compensation مهم است؟</a:t>
            </a:r>
          </a:p>
          <a:p>
            <a:pPr algn="r" rtl="1">
              <a:lnSpc>
                <a:spcPct val="150000"/>
              </a:lnSpc>
              <a:buNone/>
            </a:pPr>
            <a:r>
              <a:rPr lang="fa-IR" sz="2400" dirty="0">
                <a:latin typeface="Times New Roman" panose="02020603050405020304" pitchFamily="18" charset="0"/>
                <a:cs typeface="B Nazanin" panose="00000400000000000000" pitchFamily="2" charset="-78"/>
              </a:rPr>
              <a:t>Compensation بر این فرض استوار است که سیگنال اصلی و مقدار spillover رابطه‌ای متناسب و خطی دارند. اگر یک detector در شدت‌های بالا غیرخطی یا اشباع شود:</a:t>
            </a:r>
            <a:endParaRPr lang="en-US" sz="2400" dirty="0">
              <a:latin typeface="Times New Roman" panose="02020603050405020304" pitchFamily="18" charset="0"/>
              <a:cs typeface="B Nazanin" panose="00000400000000000000" pitchFamily="2" charset="-78"/>
            </a:endParaRPr>
          </a:p>
          <a:p>
            <a:pPr algn="r" rtl="1">
              <a:lnSpc>
                <a:spcPct val="150000"/>
              </a:lnSpc>
              <a:buNone/>
            </a:pPr>
            <a:endParaRPr lang="fa-IR" sz="24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r>
              <a:rPr lang="fa-IR" sz="2400" dirty="0">
                <a:latin typeface="Times New Roman" panose="02020603050405020304" pitchFamily="18" charset="0"/>
                <a:cs typeface="B Nazanin" panose="00000400000000000000" pitchFamily="2" charset="-78"/>
              </a:rPr>
              <a:t>نسبت spillover ثابت نمی‌ماند.</a:t>
            </a:r>
            <a:endParaRPr lang="en-US" sz="2400" dirty="0">
              <a:latin typeface="Times New Roman" panose="02020603050405020304" pitchFamily="18" charset="0"/>
              <a:cs typeface="B Nazanin" panose="00000400000000000000" pitchFamily="2" charset="-78"/>
            </a:endParaRPr>
          </a:p>
          <a:p>
            <a:pPr algn="r" rtl="1">
              <a:lnSpc>
                <a:spcPct val="150000"/>
              </a:lnSpc>
            </a:pPr>
            <a:endParaRPr lang="fa-IR" sz="24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r>
              <a:rPr lang="fa-IR" sz="2400" dirty="0">
                <a:latin typeface="Times New Roman" panose="02020603050405020304" pitchFamily="18" charset="0"/>
                <a:cs typeface="B Nazanin" panose="00000400000000000000" pitchFamily="2" charset="-78"/>
              </a:rPr>
              <a:t>compensation برای جمعیت‌های روشن نادرست می‌شود.</a:t>
            </a:r>
            <a:endParaRPr lang="en-US" sz="24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endParaRPr lang="fa-IR" sz="24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r>
              <a:rPr lang="fa-IR" sz="2400" dirty="0">
                <a:latin typeface="Times New Roman" panose="02020603050405020304" pitchFamily="18" charset="0"/>
                <a:cs typeface="B Nazanin" panose="00000400000000000000" pitchFamily="2" charset="-78"/>
              </a:rPr>
              <a:t>جمعیت ممکن است بیش‌ازحد یا کمتر از حد compensate شود.</a:t>
            </a:r>
            <a:endParaRPr lang="en-US" sz="24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endParaRPr lang="fa-IR" sz="2400" dirty="0">
              <a:latin typeface="Times New Roman" panose="02020603050405020304" pitchFamily="18" charset="0"/>
              <a:cs typeface="B Nazanin" panose="00000400000000000000" pitchFamily="2" charset="-78"/>
            </a:endParaRPr>
          </a:p>
          <a:p>
            <a:pPr algn="r" rtl="1">
              <a:lnSpc>
                <a:spcPct val="150000"/>
              </a:lnSpc>
              <a:buFont typeface="Arial" panose="020B0604020202020204" pitchFamily="34" charset="0"/>
              <a:buChar char="•"/>
            </a:pPr>
            <a:r>
              <a:rPr lang="fa-IR" sz="2400" dirty="0">
                <a:latin typeface="Times New Roman" panose="02020603050405020304" pitchFamily="18" charset="0"/>
                <a:cs typeface="B Nazanin" panose="00000400000000000000" pitchFamily="2" charset="-78"/>
              </a:rPr>
              <a:t>داده‌های فلورسانس کمی قابل اعتماد نخواهند بود.</a:t>
            </a:r>
          </a:p>
        </p:txBody>
      </p:sp>
    </p:spTree>
    <p:extLst>
      <p:ext uri="{BB962C8B-B14F-4D97-AF65-F5344CB8AC3E}">
        <p14:creationId xmlns:p14="http://schemas.microsoft.com/office/powerpoint/2010/main" val="895379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1EA0D2-D485-FA4E-BDC0-0AB2D401EBA7}"/>
              </a:ext>
            </a:extLst>
          </p:cNvPr>
          <p:cNvSpPr>
            <a:spLocks noGrp="1"/>
          </p:cNvSpPr>
          <p:nvPr>
            <p:ph type="sldNum" sz="quarter" idx="12"/>
          </p:nvPr>
        </p:nvSpPr>
        <p:spPr/>
        <p:txBody>
          <a:bodyPr/>
          <a:lstStyle/>
          <a:p>
            <a:fld id="{111A70C6-53E1-4616-9BEB-862F2340207D}" type="slidenum">
              <a:rPr lang="en-US" smtClean="0"/>
              <a:t>30</a:t>
            </a:fld>
            <a:endParaRPr lang="en-US"/>
          </a:p>
        </p:txBody>
      </p:sp>
      <p:sp>
        <p:nvSpPr>
          <p:cNvPr id="3" name="TextBox 2">
            <a:extLst>
              <a:ext uri="{FF2B5EF4-FFF2-40B4-BE49-F238E27FC236}">
                <a16:creationId xmlns:a16="http://schemas.microsoft.com/office/drawing/2014/main" id="{F5262B99-489E-8FA1-4630-F2173D3AE2DD}"/>
              </a:ext>
            </a:extLst>
          </p:cNvPr>
          <p:cNvSpPr txBox="1"/>
          <p:nvPr/>
        </p:nvSpPr>
        <p:spPr>
          <a:xfrm>
            <a:off x="2280975" y="2502039"/>
            <a:ext cx="8701873" cy="1015663"/>
          </a:xfrm>
          <a:prstGeom prst="rect">
            <a:avLst/>
          </a:prstGeom>
          <a:noFill/>
        </p:spPr>
        <p:txBody>
          <a:bodyPr wrap="square" rtlCol="0">
            <a:spAutoFit/>
          </a:bodyPr>
          <a:lstStyle/>
          <a:p>
            <a:r>
              <a:rPr lang="en-US" sz="6000" dirty="0"/>
              <a:t>Thank For Your Attention</a:t>
            </a:r>
          </a:p>
        </p:txBody>
      </p:sp>
    </p:spTree>
    <p:extLst>
      <p:ext uri="{BB962C8B-B14F-4D97-AF65-F5344CB8AC3E}">
        <p14:creationId xmlns:p14="http://schemas.microsoft.com/office/powerpoint/2010/main" val="37474060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3245</TotalTime>
  <Words>2922</Words>
  <Application>Microsoft Office PowerPoint</Application>
  <PresentationFormat>Widescreen</PresentationFormat>
  <Paragraphs>440</Paragraphs>
  <Slides>30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vt:lpstr>
      <vt:lpstr>Aptos Display</vt:lpstr>
      <vt:lpstr>Arial</vt:lpstr>
      <vt:lpstr>B Nazanin</vt:lpstr>
      <vt:lpstr>Cambria Math</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Rahmati</dc:creator>
  <cp:lastModifiedBy>Ali Rahmati</cp:lastModifiedBy>
  <cp:revision>24</cp:revision>
  <dcterms:created xsi:type="dcterms:W3CDTF">2026-06-15T13:26:44Z</dcterms:created>
  <dcterms:modified xsi:type="dcterms:W3CDTF">2026-07-14T21:10:53Z</dcterms:modified>
</cp:coreProperties>
</file>